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revisa esta parte que no viéramos antes?</a:t>
            </a:r>
          </a:p>
          <a:p>
            <a:r>
              <a:t>N2: Ahora le toca al aparato. La Parte doce revisaba las tuberías; la Parte trece revisa los aparatos de gas conectados a la instalación: cómo queman, si devuelven humos al local y si sus dispositivos de seguridad funcionan. Aquí el protagonista es el monóxido de carbono, el CO, un gas que no se ve, no huele y mata sin avisar. Vas a ver los valores de CO y de dióxido de carbono que separan lo seguro de lo peligroso, y dos anexos con el procedimiento exacto de medida. Es la parte más técnica del tema y de las que más vidas salva.</a:t>
            </a:r>
          </a:p>
          <a:p>
            <a:r>
              <a:t>N1: ¿Por qué dices que salva vidas?</a:t>
            </a:r>
          </a:p>
          <a:p>
            <a:r>
              <a:t>N2: Porque las intoxicaciones por monóxido en viviendas casi siempre vienen de un aparato que quema mal o que devuelve los humos al local. Un buen control periódico del aparato detecta ese problema antes de que haya una desgracia. Así que ponte cómodo, que este vídeo es puro oficio de gasista. Vamos allá.</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significan estas cifras?</a:t>
            </a:r>
          </a:p>
          <a:p>
            <a:r>
              <a:t>N2: Son los tres números que gobiernan el vídeo. Cincuenta ppm es el límite del CO en el aire del local, el CO-ambiente: por encima de cincuenta partes por millón, la cosa es grave, principal. Mil ppm es el límite del CO medido dentro del conducto de humos del aparato, el CO de los productos de la combustión: si lo supera, la combustión es no higiénica, principal. Y dieciocho meses es cada cuánto, como máximo, hay que calibrar el analizador de combustión, tu aparato de medida. Ojo a no mezclar los dos primeros: cincuenta es del aire del local, mil es de dentro del conducto. Son medidas distintas en sitios distintos.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¿No es lo mismo revisar el aparato que hacerle el mantenimiento?</a:t>
            </a:r>
          </a:p>
          <a:p>
            <a:r>
              <a:t>N2: No, y es una confusión clásica que debes tener clara. El mantenimiento del aparato, o sea desmontarlo, limpiar el quemador, cambiar piezas, lo marca el fabricante y esta norma no lo cubre. La Parte trece se ocupa del control periódico, que es una comprobación de que el aparato, tal como está instalado, quema bien y es seguro. No lo desmontas: compruebas que funciona correctamente en sus condiciones reales.</a:t>
            </a:r>
          </a:p>
          <a:p>
            <a:r>
              <a:t>N1: ¿Me lo puedes poner con una comparación?</a:t>
            </a:r>
          </a:p>
          <a:p>
            <a:r>
              <a:t>N2: Claro. El mantenimiento es «poner a punto» el aparato, como llevar el coche al taller a cambiar aceite y filtros. El control periódico es «pasar la ITV»: no arreglas nada, verificas que cumple y es seguro para seguir en uso. Uno es del fabricante; el otro, del control periódico que hace la empresa habilitada. Con esa imagen no los vuelves a confundir: taller para mantener, ITV para controlar.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¿El procedimiento es igual que en las tuberías?</a:t>
            </a:r>
          </a:p>
          <a:p>
            <a:r>
              <a:t>N2: Muy parecido. Verificas que el aparato no tiene las anomalías del catálogo. Si el control sale favorable, emites el certificado; si detectas alguna anomalía, emites el informe de anomalías con el alcance, la situación en que queda la instalación y el plazo, y en ambos documentos incluyes recomendaciones de seguridad. Igual que en la Parte doce.</a:t>
            </a:r>
          </a:p>
          <a:p>
            <a:r>
              <a:t>N1: ¿Y la clasificación de anomalías cambia algo?</a:t>
            </a:r>
          </a:p>
          <a:p>
            <a:r>
              <a:t>N2: La lógica es la misma, pero aplicada al aparato. Anomalía principal: se subsana en el acto y, si no puedes, cortas el suministro de gas al aparato afectado; fíjate, solo a ese aparato, no a toda la casa. Anomalía secundaria: no obliga a cortar, el usuario la corrige en un máximo de seis meses. Y aquí hay un detalle importante: no existe la excepción de la fuga secundaria en quince días que veíamos en la Parte doce. ¿Por qué? Porque en la Parte trece hablamos de combustión, de cómo quema el aparato, no de estanquidad de tubería. Así que aquí solo hay dos plazos: ya, o seis meses.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es exactamente un revoco?</a:t>
            </a:r>
          </a:p>
          <a:p>
            <a:r>
              <a:t>N2: Revoco es que los productos de la combustión, los humos, en lugar de subir por el conducto y salir fuera, se devuelven al local. Es peligrosísimo, porque mete monóxido de carbono dentro de la casa. Se comprueba solo en aparatos de tipo B de tiro natural, que son los que dependen del tiro del conducto para evacuar. Si hay un revoco continuado, es anomalía principal AP uno.</a:t>
            </a:r>
          </a:p>
          <a:p>
            <a:r>
              <a:t>N1: ¿Y lo de los cincuenta ppm?</a:t>
            </a:r>
          </a:p>
          <a:p>
            <a:r>
              <a:t>N2: Ese es el otro disparador de la AP uno. Se mide el CO-ambiente, es decir, el monóxido en el aire del local, y si supera cincuenta partes por millón, es principal. Si en vez de medir el CO decides comprobar el revoco a través del dióxido de carbono ambiente, entonces el listón es de cinco mil partes por millón: por encima, principal. Los dos indican lo mismo: los humos se están quedando en la casa. Quédate con los dos números clave de la AP uno: cincuenta de monóxido y cinco mil de dióxido de carbono en el ambiente. En el siguiente slide vemos cómo se mide bien.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¿Por qué se mide con todo cerrado?</a:t>
            </a:r>
          </a:p>
          <a:p>
            <a:r>
              <a:t>N2: Porque queremos ver el caso más desfavorable, el peor escenario. Si midieras con las ventanas abiertas, el aire limpio diluiría el monóxido y te daría una lectura falsamente buena. Por eso la medida del CO-ambiente se hace con puertas y ventanas cerradas y con la campana extractora, si existe, apagada. Así compruebas qué pasa cuando la familia tiene la cocina cerrada en invierno, que es cuando de verdad hay riesgo.</a:t>
            </a:r>
          </a:p>
          <a:p>
            <a:r>
              <a:t>N1: ¿Y dónde pongo la sonda y cuánto espero?</a:t>
            </a:r>
          </a:p>
          <a:p>
            <a:r>
              <a:t>N2: La colocas aproximadamente a un metro del aparato y a un metro con ochenta de altura, que es más o menos la altura de la cara de una persona, porque es el aire que se respira. Pones el aparato en marcha en régimen estacionario y, en los tipo B y C, a la máxima potencia. Dejas pasar cinco minutos desde el arranque y entonces lees. Si el local tiene varios aparatos de tipo B, C o vitrocerámicas de fuegos cubiertos, los enciendes todos a la vez y compruebas de forma conjunta, y luego determinas cuál es el que produce el exceso. Las cifras a retener: un metro del aparato, uno con ochenta de altura, cinco minutos.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es la combustión no higiénica?</a:t>
            </a:r>
          </a:p>
          <a:p>
            <a:r>
              <a:t>N2: Es cuando el aparato quema tan mal que produce demasiado monóxido. Para verlo, se hace una comprobación de la combustión de los quemadores con un analizador, midiendo el CO corregido no diluido en los productos de la combustión, lo que llamamos CO de los productos de la combustión o CO-PdC. Esa medida se hace dentro del conducto, siguiendo el procedimiento del anexo A, con puertas y ventanas cerradas. Se considera combustión no higiénica, anomalía principal AP dos, cuando ese CO en los productos de la combustión supera las mil partes por millón.</a:t>
            </a:r>
          </a:p>
          <a:p>
            <a:r>
              <a:t>N1: Cuidado, ¿este mil no es el mismo cincuenta de antes?</a:t>
            </a:r>
          </a:p>
          <a:p>
            <a:r>
              <a:t>N2: Muy buena pregunta, y no: son medidas distintas. El cincuenta era CO-ambiente, en el aire del local. El mil es CO dentro del conducto de humos del aparato. No los mezcles nunca. Y una anomalía más, la AP tres: la inexistencia del dispositivo de control de contaminación de la atmósfera, el llamado dispositivo AS, en los aparatos que reglamentariamente deben llevarlo. Ese dispositivo corta el aparato si el ambiente se contamina; si falta donde es obligatorio, es principal.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¿Cómo puede una campana ser peligrosa?</a:t>
            </a:r>
          </a:p>
          <a:p>
            <a:r>
              <a:t>N2: Es un caso muy real de cocina. Tienes un calentador o caldera de tipo B de tiro natural y, al lado, una campana extractora o un extractor potente. Cuando la campana tira fuerte, puede succionar hacia el local los humos del calentador en vez de dejarlos subir por su conducto. A eso se le llama interferencia. Si no hay un dispositivo que evite esa interacción, como un enclavamiento, que apague uno cuando funciona el otro, o un detector de CO, entonces hay que comprobarlo.</a:t>
            </a:r>
          </a:p>
          <a:p>
            <a:r>
              <a:t>N1: ¿Y cómo se comprueba?</a:t>
            </a:r>
          </a:p>
          <a:p>
            <a:r>
              <a:t>N2: Con las puertas y ventanas cerradas y la campana funcionando a su máxima potencia, que es cuando más roba. Si en esas condiciones aparece revoco continuado o el CO-ambiente supera cincuenta partes por millón, o el dióxido de carbono ambiente supera cinco mil, es interferencia grave, anomalía principal AP cuatro. Fíjate que los umbrales son exactamente los mismos que en la AP uno; lo que cambia es la causa, la campana. Un truco práctico: si ya existe el enclavamiento o el detector entre la campana y el aparato, ni siquiera hace falta medir esto. Primero miras si está el dispositivo; si está, listo.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si el revoco o la interferencia son pequeños?</a:t>
            </a:r>
          </a:p>
          <a:p>
            <a:r>
              <a:t>N2: Entonces bajamos a la franja moderada, que es secundaria. La AS uno es el revoco moderado: cuando el CO-ambiente está por encima de quince y hasta cincuenta partes por millón, o el dióxido de carbono ambiente entre dos mil quinientos y cinco mil. La AS dos es la interferencia moderada de la campana, con esos mismos valores intermedios. No obligan a cortar, pero hay que corregirlas en seis meses.</a:t>
            </a:r>
          </a:p>
          <a:p>
            <a:r>
              <a:t>N1: En la interferencia moderada, ¿el usuario puede seguir usándolo todo?</a:t>
            </a:r>
          </a:p>
          <a:p>
            <a:r>
              <a:t>N2: Ahí hay una medida muy concreta que debes dejar. En la AS dos, la interferencia moderada, dejas instrucciones por escrito de no utilizar simultáneamente el aparato y la campana extractora hasta que se corrija la anomalía. Es decir, mientras no lo arreglen, o usan el calentador, o usan la campana, pero no los dos a la vez, porque juntos es cuando la campana roba el tiro. Fíjate en la escalera que se va formando: hasta quince, bien; de quince a cincuenta, moderado y secundario; más de cincuenta, grave y principal. Vamos a ordenarla del todo en el siguiente slide.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Se me juntan los números. ¿Me los ordenas?</a:t>
            </a:r>
          </a:p>
          <a:p>
            <a:r>
              <a:t>N2: Vamos a poner orden, que son dos escaleras que no puedes mezclar. Primera, el CO-ambiente, el del aire del local: hasta quince partes por millón está bien; entre quince y cincuenta es moderado, secundario, la AS uno o la AS dos; y por encima de cincuenta es grave, principal, la AP uno o la AP cuatro. Si en vez de monóxido mides dióxido de carbono ambiente, la misma escalera con otras cifras: hasta dos mil quinientos bien, entre dos mil quinientos y cinco mil moderado, más de cinco mil grave.</a:t>
            </a:r>
          </a:p>
          <a:p>
            <a:r>
              <a:t>N1: ¿Y la del conducto?</a:t>
            </a:r>
          </a:p>
          <a:p>
            <a:r>
              <a:t>N2: Esa es la segunda escalera, el CO en los productos de la combustión, medido dentro del conducto: hasta quinientas partes por millón es correcto; entre quinientas y mil es combustión deficiente, secundaria, la AS seis; y por encima de mil es combustión no higiénica, principal, la AP dos. La chuleta que lo resume todo: cincuenta es la del aire del local; quinientas y mil son las del conducto. Si tienes esos tres números, cincuenta, quinientas y mil, colocas cualquier medida en su sitio.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más anomalías secundarias hay?</a:t>
            </a:r>
          </a:p>
          <a:p>
            <a:r>
              <a:t>N2: Un grupo importante. La AS tres: que los dispositivos de seguridad por extinción o detección de llama no funcionen correctamente; esos dispositivos son los que cortan el gas si la llama se apaga, así que tienen que responder. La AS cuatro: la imposibilidad de comprobar los productos de la combustión en un aparato de tipo B o C, porque no hay una toma de muestras accesible en el conducto sin desmontar la carcasa; esto no se aplica a los radiadores murales de tipo C ni a las secadoras. La AS cinco: que no se acredite el mantenimiento obligatorio del aparato en las salas de máquinas de potencia instalada superior a setenta kilovatios.</a:t>
            </a:r>
          </a:p>
          <a:p>
            <a:r>
              <a:t>N1: ¿Y la AS-6?</a:t>
            </a:r>
          </a:p>
          <a:p>
            <a:r>
              <a:t>N2: La AS seis es la combustión deficiente: cuando el CO en los productos de la combustión, el del conducto, está por encima de quinientas y hasta mil partes por millón. Es el peldaño intermedio de la escalera del conducto: todavía no llega a las mil de la combustión no higiénica principal, pero ya no es correcta. Por eso es secundaria, seis meses. Fíjate cómo encaja con lo que acabamos de ordenar: quinientas y mil son las dos fronteras del CO dentro del conducto.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¿Cómo se prueban los fuegos de la cocina?</a:t>
            </a:r>
          </a:p>
          <a:p>
            <a:r>
              <a:t>N2: Con dos pruebas de taller muy clásicas que caen y que salvan vidas. La AS siete comprueba los mínimos: enciendes un fuego, lo pones al máximo y giras rápidamente el mando de golpe hasta el mínimo. Si la llama de alguno se apaga, el mínimo está mal regulado, y eso es la anomalía AS siete. ¿Por qué es peligroso? Porque una llama que se apaga sola deja salir gas sin quemar, y ese gas se acumula en la cocina.</a:t>
            </a:r>
          </a:p>
          <a:p>
            <a:r>
              <a:t>N1: ¿Y la AS-8 en qué se diferencia?</a:t>
            </a:r>
          </a:p>
          <a:p>
            <a:r>
              <a:t>N2: La AS ocho es más básica: el quemador directamente no funciona bien. No sale gas, está bloqueado, roto o desprendido, o el mando no responde. No es que se apague al mínimo como en la AS siete, es que el quemador o su mando están averiados. Las dos son secundarias, seis meses. La forma fácil de distinguirlas: AS siete, se apaga al bajar al mínimo; AS ocho, no va de ninguna manera. Son comprobaciones sencillas, sin aparatos, que cualquier gasista hace en dos minutos y que evitan sustos.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¿Cómo se toma bien la muestra de los humos?</a:t>
            </a:r>
          </a:p>
          <a:p>
            <a:r>
              <a:t>N2: El anexo A es el procedimiento normativo, el «cómo hacerlo bien». Pones el aparato en régimen estacionario y a la máxima potencia alcanzable. La toma se hace en el punto preparado a tal efecto; si no existe, se practica un orificio de diámetro mínimo de once milímetros lo más cerca posible del aparato, con útiles adecuados. La sonda se introduce perpendicular al conducto, de manera que su extremo quede en el eje de la vena de los productos de la combustión, es decir, en el centro del chorro de humos, que es donde la medida es representativa.</a:t>
            </a:r>
          </a:p>
          <a:p>
            <a:r>
              <a:t>N1: ¿Y qué hago con el agujero después?</a:t>
            </a:r>
          </a:p>
          <a:p>
            <a:r>
              <a:t>N2: Muy importante: una vez hecha la medición, tienes que obturar el orificio con un taponamiento que garantice la estanquidad en el tiempo, resistente a la temperatura de los humos, y que se pueda montar y desmontar cuantas veces haga falta para las próximas revisiones. No vale taparlo de cualquier forma: si no queda estanco, ese mismo agujero que hiciste para medir se convierte en una fuga de humos al local. La cifra que cae del anexo A es el diámetro: once milímetros.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¿Para qué sirve medir el oxígeno además del CO?</a:t>
            </a:r>
          </a:p>
          <a:p>
            <a:r>
              <a:t>N2: El oxígeno es tu chivato de calidad: te dice si la medida que estás tomando es fiable. Salvo en generadores de aire caliente, se mide también el valor simultáneo de O dos. Si ese oxígeno sale por encima del diez por ciento, medido en la parte superior del cortatiros en aparatos de tipo B, sospecha: seguramente la sonda está mal colocada o se ha producido una inversión de tiro, es decir, que entra aire de fuera y diluye los humos, dándote una lectura de CO más baja de la real.</a:t>
            </a:r>
          </a:p>
          <a:p>
            <a:r>
              <a:t>N1: ¿Y qué hago si me pasa eso?</a:t>
            </a:r>
          </a:p>
          <a:p>
            <a:r>
              <a:t>N2: No das por buena esa medida. Repites, recolocando la sonda; y si confirmas que hay inversión de tiro, colocas la sonda en la parte inferior del cortatiros, para captar los humos antes de que se mezclen con el aire ambiente. Una excepción: las calderas de condensación van por su cuenta, sus valores se ajustan a lo que indique el fabricante, así que ahí no aplica la regla del diez por ciento. En resumen: un oxígeno alto es una bandera roja que dice «no te fíes de esta lectura, algo va mal en la toma».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¿Cada cuánto hay que revisar el analizador?</a:t>
            </a:r>
          </a:p>
          <a:p>
            <a:r>
              <a:t>N2: Aquí vuelven los dieciocho meses, igual que el detector de fugas de la Parte once. El analizador de combustión debe someterse a una comprobación periódica por el fabricante o por un laboratorio acreditado según la Norma UNE-EN ISO/IEC diecisiete mil veinticinco, en ningún caso en periodos superiores a dieciocho meses. De esa comprobación se deja evidencia mediante un certificado en el que figuran las botellas patrón utilizadas, esos gases de referencia con concentración conocida con los que se ajusta el aparato.</a:t>
            </a:r>
          </a:p>
          <a:p>
            <a:r>
              <a:t>N1: ¿Y cuánto guardo esos papeles?</a:t>
            </a:r>
          </a:p>
          <a:p>
            <a:r>
              <a:t>N2: La empresa responsable del personal que hace el control debe guardar registro documental de esas comprobaciones durante cinco años. Y hay un requisito más de precisión: la incertidumbre de la calibración no debe superar el más menos cinco por ciento. Junta las cuatro cifras del anexo A, que caen tal cual: dieciocho meses de calibración, cinco años de registro, más menos cinco por ciento de incertidumbre y once milímetros del orificio de toma. Un analizador descalibrado te da una medida falsa y firmas como bueno un aparato peligroso; por eso es, literalmente, tu testigo, y hay que cuidarlo.</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¿Por qué hay un anexo aparte para estos aparatos?</a:t>
            </a:r>
          </a:p>
          <a:p>
            <a:r>
              <a:t>N2: Porque los aparatos suspendidos de calefacción por radiación de tipo A, típicos de naves y locales grandes, son distintos: no tienen conducto de evacuación. Calientan por radiación y sueltan los humos directamente al local. Como no hay conducto donde meter la sonda, no puedes medir el CO en un conducto; lo que se mide es el CO en el aire del propio local, y para eso está el anexo B.</a:t>
            </a:r>
          </a:p>
          <a:p>
            <a:r>
              <a:t>N1: ¿Y cómo se mide en un espacio tan grande?</a:t>
            </a:r>
          </a:p>
          <a:p>
            <a:r>
              <a:t>N2: Pones todos los aparatos del local en marcha, en régimen estacionario y a máxima potencia, y los dejas calentar quince minutos antes de empezar. Luego recorres el local con la sonda a un metro con ochenta de altura, que es la altura de las personas, tomando medidas en puntos representativos, al menos cada veinticinco metros cuadrados, porque el monóxido no se reparte igual por todo el espacio. En cada punto dejas la sonda al menos cinco minutos. Los equipos, igual que en el anexo A: calibración cada dieciocho meses, registro cinco años, incertidumbre más menos cinco por ciento. Cifras del anexo B: veinticinco metros cuadrados, uno con ochenta de altura, quince minutos de calentamiento y cinco minutos por punto.</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¿El papeleo es el mismo de siempre?</a:t>
            </a:r>
          </a:p>
          <a:p>
            <a:r>
              <a:t>N2: Sí, el circuito no cambia. Resultado favorable, certificado. Con defectos, informe de anomalías con el alcance, la situación y el plazo, siempre con recomendaciones de seguridad, entregado al usuario. Y las anomalías principales se comunican a la empresa distribuidora. Es el mismo esquema de las partes once y doce, así que a estas alturas ya te sale solo.</a:t>
            </a:r>
          </a:p>
          <a:p>
            <a:r>
              <a:t>N1: ¿Hay algo específico del aparato que no deba olvidar?</a:t>
            </a:r>
          </a:p>
          <a:p>
            <a:r>
              <a:t>N2: No olvides la AS cinco, que es muy de estas instalaciones: en las salas de máquinas de más de setenta kilovatios hay que acreditar el mantenimiento obligatorio del aparato, ese que hace el fabricante. Si no hay justificante de ese mantenimiento, es anomalía secundaria. Fíjate cómo se cierra el círculo: el mantenimiento no lo cubre esta norma, pero el control periódico sí comprueba que se haya hecho donde es obligatorio. Sin ese papel, y sin el certificado o informe, la revisión del aparato no existe.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Último resumen del tema. ¿Qué me llevo de la Parte trece?</a:t>
            </a:r>
          </a:p>
          <a:p>
            <a:r>
              <a:t>N2: Reconstruyamos el hilo y cerremos a lo grande. La Parte trece revisa el aparato: cómo quema, si devuelve humos y si sus seguridades funcionan; no la confundas con el mantenimiento, que lo marca el fabricante. El protagonista es el monóxido de carbono, el enemigo invisible que mata sin avisar. Y todo gira en torno a dos escaleras que no puedes mezclar: el CO en el aire del local, el CO-ambiente, con fronteras en quince y cincuenta partes por millón; y el CO dentro del conducto, con fronteras en quinientas y mil. Revoco es el humo que se devuelve al local en un tipo B de tiro natural, principal si es continuado. La campana puede robar el tiro, la AP cuatro. Y las pruebas de taller de la cocina: el mínimo que se apaga, AS siete, y el quemador que no va, AS ocho. Todo se mide con el analizador, tu testigo, que se calibra cada dieciocho meses, se guarda registro cinco años, tiene incertidumbre de más menos cinco por ciento y usa un orificio de once milímetros; el oxígeno por encima del diez por ciento te avisa de que la toma va mal.</a:t>
            </a:r>
          </a:p>
          <a:p>
            <a:r>
              <a:t>N1: ¿Y cómo cae, y qué me llevo del tema entero?</a:t>
            </a:r>
          </a:p>
          <a:p>
            <a:r>
              <a:t>N2: En el examen te van a dar valores de CO y tendrás que decir correcto, deficiente o no higiénico, y colocar cada número en su escalera; caerán el revoco, la campana, los dieciocho meses y las cifras del anexo B. En la obra, esto es lo que detecta el calentador que está intoxicando a una familia antes de que sea tarde. Y ahora mira atrás: en cuatro vídeos has recorrido las tres últimas partes de la UNE 60670. Sabes tocar una instalación en servicio sin liarla, la Parte once; sabes inspeccionar las tuberías y ponerles nota, en vivienda y en el edificio, la Parte doce; y sabes revisar el aparato y medir su combustión, la Parte trece. Has cerrado el Tema dieciséis completo. Ya no solo apruebas: piensas como un gasista con oficio, de los que dejan las casas seguras. Enhorabuena, y a por el siguiente tema con esa confianza.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731520"/>
            <a:ext cx="10515600" cy="548640"/>
          </a:xfrm>
          <a:prstGeom prst="rect">
            <a:avLst/>
          </a:prstGeom>
          <a:noFill/>
        </p:spPr>
        <p:txBody>
          <a:bodyPr wrap="square">
            <a:spAutoFit/>
          </a:bodyPr>
          <a:lstStyle/>
          <a:p>
            <a:r>
              <a:rPr sz="1400" b="1" i="0">
                <a:solidFill>
                  <a:srgbClr val="F4A24C"/>
                </a:solidFill>
                <a:latin typeface="Montserrat"/>
              </a:rPr>
              <a:t>VÍDEO 4 DE 4</a:t>
            </a:r>
          </a:p>
        </p:txBody>
      </p:sp>
      <p:sp>
        <p:nvSpPr>
          <p:cNvPr id="4" name="Rounded Rectangle 3"/>
          <p:cNvSpPr/>
          <p:nvPr/>
        </p:nvSpPr>
        <p:spPr>
          <a:xfrm>
            <a:off x="868680" y="2057400"/>
            <a:ext cx="1463040" cy="82296"/>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286000"/>
            <a:ext cx="10515600" cy="2011680"/>
          </a:xfrm>
          <a:prstGeom prst="rect">
            <a:avLst/>
          </a:prstGeom>
          <a:noFill/>
        </p:spPr>
        <p:txBody>
          <a:bodyPr wrap="square">
            <a:spAutoFit/>
          </a:bodyPr>
          <a:lstStyle/>
          <a:p>
            <a:r>
              <a:rPr sz="4000" b="1" i="0">
                <a:solidFill>
                  <a:srgbClr val="FFFFFF"/>
                </a:solidFill>
                <a:latin typeface="Montserrat"/>
              </a:rPr>
              <a:t>Control periódico de los aparatos</a:t>
            </a:r>
          </a:p>
          <a:p>
            <a:r>
              <a:rPr sz="2200" b="0" i="0">
                <a:solidFill>
                  <a:srgbClr val="CADCFC"/>
                </a:solidFill>
                <a:latin typeface="Montserrat"/>
              </a:rPr>
              <a:t>UNE 60670-13 · La ITV del aparato y el CO, el enemigo invisible</a:t>
            </a:r>
          </a:p>
        </p:txBody>
      </p:sp>
      <p:sp>
        <p:nvSpPr>
          <p:cNvPr id="6" name="TextBox 5"/>
          <p:cNvSpPr txBox="1"/>
          <p:nvPr/>
        </p:nvSpPr>
        <p:spPr>
          <a:xfrm>
            <a:off x="822960" y="5852160"/>
            <a:ext cx="10515600" cy="548640"/>
          </a:xfrm>
          <a:prstGeom prst="rect">
            <a:avLst/>
          </a:prstGeom>
          <a:noFill/>
        </p:spPr>
        <p:txBody>
          <a:bodyPr wrap="square">
            <a:spAutoFit/>
          </a:bodyPr>
          <a:lstStyle/>
          <a:p>
            <a:r>
              <a:rPr sz="1300" b="0" i="0">
                <a:solidFill>
                  <a:srgbClr val="CADCFC"/>
                </a:solidFill>
                <a:latin typeface="Montserrat"/>
              </a:rPr>
              <a:t>Tema 16 · UNE 60670-11/12/13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002 / 018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16 · UNE 60670-11/12/13</a:t>
            </a:r>
          </a:p>
        </p:txBody>
      </p:sp>
      <p:sp>
        <p:nvSpPr>
          <p:cNvPr id="5" name="TextBox 4"/>
          <p:cNvSpPr txBox="1"/>
          <p:nvPr/>
        </p:nvSpPr>
        <p:spPr>
          <a:xfrm>
            <a:off x="822960" y="502920"/>
            <a:ext cx="9144000" cy="914400"/>
          </a:xfrm>
          <a:prstGeom prst="rect">
            <a:avLst/>
          </a:prstGeom>
          <a:noFill/>
        </p:spPr>
        <p:txBody>
          <a:bodyPr wrap="square">
            <a:spAutoFit/>
          </a:bodyPr>
          <a:lstStyle/>
          <a:p>
            <a:r>
              <a:rPr sz="2700" b="1" i="0">
                <a:solidFill>
                  <a:srgbClr val="E8801A"/>
                </a:solidFill>
                <a:latin typeface="Montserrat"/>
              </a:rPr>
              <a:t>Sobre este vídeo</a:t>
            </a:r>
          </a:p>
        </p:txBody>
      </p:sp>
      <p:sp>
        <p:nvSpPr>
          <p:cNvPr id="6" name="Rounded Rectangle 5"/>
          <p:cNvSpPr/>
          <p:nvPr/>
        </p:nvSpPr>
        <p:spPr>
          <a:xfrm>
            <a:off x="868680" y="1234440"/>
            <a:ext cx="1463040" cy="73152"/>
          </a:xfrm>
          <a:prstGeom prst="round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2296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331720"/>
            <a:ext cx="3017520" cy="1463040"/>
          </a:xfrm>
          <a:prstGeom prst="rect">
            <a:avLst/>
          </a:prstGeom>
          <a:noFill/>
        </p:spPr>
        <p:txBody>
          <a:bodyPr wrap="square">
            <a:spAutoFit/>
          </a:bodyPr>
          <a:lstStyle/>
          <a:p>
            <a:pPr algn="ctr"/>
            <a:r>
              <a:rPr sz="6000" b="1" i="0">
                <a:solidFill>
                  <a:srgbClr val="1E2761"/>
                </a:solidFill>
                <a:latin typeface="Montserrat"/>
              </a:rPr>
              <a:t>50 ppm</a:t>
            </a:r>
          </a:p>
        </p:txBody>
      </p:sp>
      <p:sp>
        <p:nvSpPr>
          <p:cNvPr id="9" name="TextBox 8"/>
          <p:cNvSpPr txBox="1"/>
          <p:nvPr/>
        </p:nvSpPr>
        <p:spPr>
          <a:xfrm>
            <a:off x="1051560" y="3611880"/>
            <a:ext cx="2560320" cy="1005840"/>
          </a:xfrm>
          <a:prstGeom prst="rect">
            <a:avLst/>
          </a:prstGeom>
          <a:noFill/>
        </p:spPr>
        <p:txBody>
          <a:bodyPr wrap="square">
            <a:spAutoFit/>
          </a:bodyPr>
          <a:lstStyle/>
          <a:p>
            <a:pPr algn="ctr"/>
            <a:r>
              <a:rPr sz="1400" b="0" i="0">
                <a:solidFill>
                  <a:srgbClr val="1B2330"/>
                </a:solidFill>
                <a:latin typeface="Montserrat"/>
              </a:rPr>
              <a:t>CO-ambiente: por encima, grave</a:t>
            </a:r>
          </a:p>
        </p:txBody>
      </p:sp>
      <p:sp>
        <p:nvSpPr>
          <p:cNvPr id="10" name="Rounded Rectangle 9"/>
          <p:cNvSpPr/>
          <p:nvPr/>
        </p:nvSpPr>
        <p:spPr>
          <a:xfrm>
            <a:off x="461772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2331720"/>
            <a:ext cx="3017520" cy="1463040"/>
          </a:xfrm>
          <a:prstGeom prst="rect">
            <a:avLst/>
          </a:prstGeom>
          <a:noFill/>
        </p:spPr>
        <p:txBody>
          <a:bodyPr wrap="square">
            <a:spAutoFit/>
          </a:bodyPr>
          <a:lstStyle/>
          <a:p>
            <a:pPr algn="ctr"/>
            <a:r>
              <a:rPr sz="6000" b="1" i="0">
                <a:solidFill>
                  <a:srgbClr val="1E2761"/>
                </a:solidFill>
                <a:latin typeface="Montserrat"/>
              </a:rPr>
              <a:t>1000 ppm</a:t>
            </a:r>
          </a:p>
        </p:txBody>
      </p:sp>
      <p:sp>
        <p:nvSpPr>
          <p:cNvPr id="12" name="TextBox 11"/>
          <p:cNvSpPr txBox="1"/>
          <p:nvPr/>
        </p:nvSpPr>
        <p:spPr>
          <a:xfrm>
            <a:off x="4846320" y="3611880"/>
            <a:ext cx="2560320" cy="1005840"/>
          </a:xfrm>
          <a:prstGeom prst="rect">
            <a:avLst/>
          </a:prstGeom>
          <a:noFill/>
        </p:spPr>
        <p:txBody>
          <a:bodyPr wrap="square">
            <a:spAutoFit/>
          </a:bodyPr>
          <a:lstStyle/>
          <a:p>
            <a:pPr algn="ctr"/>
            <a:r>
              <a:rPr sz="1400" b="0" i="0">
                <a:solidFill>
                  <a:srgbClr val="1B2330"/>
                </a:solidFill>
                <a:latin typeface="Montserrat"/>
              </a:rPr>
              <a:t>CO en el conducto: no higiénica</a:t>
            </a:r>
          </a:p>
        </p:txBody>
      </p:sp>
      <p:sp>
        <p:nvSpPr>
          <p:cNvPr id="13" name="Rounded Rectangle 12"/>
          <p:cNvSpPr/>
          <p:nvPr/>
        </p:nvSpPr>
        <p:spPr>
          <a:xfrm>
            <a:off x="841248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12480" y="2331720"/>
            <a:ext cx="3017520" cy="1463040"/>
          </a:xfrm>
          <a:prstGeom prst="rect">
            <a:avLst/>
          </a:prstGeom>
          <a:noFill/>
        </p:spPr>
        <p:txBody>
          <a:bodyPr wrap="square">
            <a:spAutoFit/>
          </a:bodyPr>
          <a:lstStyle/>
          <a:p>
            <a:pPr algn="ctr"/>
            <a:r>
              <a:rPr sz="6000" b="1" i="0">
                <a:solidFill>
                  <a:srgbClr val="1E2761"/>
                </a:solidFill>
                <a:latin typeface="Montserrat"/>
              </a:rPr>
              <a:t>18 meses</a:t>
            </a:r>
          </a:p>
        </p:txBody>
      </p:sp>
      <p:sp>
        <p:nvSpPr>
          <p:cNvPr id="15" name="TextBox 14"/>
          <p:cNvSpPr txBox="1"/>
          <p:nvPr/>
        </p:nvSpPr>
        <p:spPr>
          <a:xfrm>
            <a:off x="8641080" y="3611880"/>
            <a:ext cx="2560320" cy="1005840"/>
          </a:xfrm>
          <a:prstGeom prst="rect">
            <a:avLst/>
          </a:prstGeom>
          <a:noFill/>
        </p:spPr>
        <p:txBody>
          <a:bodyPr wrap="square">
            <a:spAutoFit/>
          </a:bodyPr>
          <a:lstStyle/>
          <a:p>
            <a:pPr algn="ctr"/>
            <a:r>
              <a:rPr sz="1400" b="0" i="0">
                <a:solidFill>
                  <a:srgbClr val="1B2330"/>
                </a:solidFill>
                <a:latin typeface="Montserrat"/>
              </a:rPr>
              <a:t>calibración del analizador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003 / 018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16 · UNE 60670-11/12/13</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PARTE 13 · APARTADO 1</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Control periódico no es mantenimiento</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Revisa el aparato conectado, tal como está</a:t>
            </a:r>
          </a:p>
          <a:p>
            <a:pPr>
              <a:spcAft>
                <a:spcPts val="1100"/>
              </a:spcAft>
            </a:pPr>
            <a:r>
              <a:rPr sz="1600" b="1" i="0">
                <a:solidFill>
                  <a:srgbClr val="E8801A"/>
                </a:solidFill>
                <a:latin typeface="Montserrat"/>
              </a:rPr>
              <a:t>▸  </a:t>
            </a:r>
            <a:r>
              <a:rPr sz="1600" b="0" i="0">
                <a:solidFill>
                  <a:srgbClr val="1B2330"/>
                </a:solidFill>
                <a:latin typeface="Montserrat"/>
              </a:rPr>
              <a:t>Cómo quema, si evacúa, si es seguro</a:t>
            </a:r>
          </a:p>
          <a:p>
            <a:pPr>
              <a:spcAft>
                <a:spcPts val="1100"/>
              </a:spcAft>
            </a:pPr>
            <a:r>
              <a:rPr sz="1600" b="1" i="0">
                <a:solidFill>
                  <a:srgbClr val="E8801A"/>
                </a:solidFill>
                <a:latin typeface="Montserrat"/>
              </a:rPr>
              <a:t>▸  </a:t>
            </a:r>
            <a:r>
              <a:rPr sz="1600" b="0" i="0">
                <a:solidFill>
                  <a:srgbClr val="1B2330"/>
                </a:solidFill>
                <a:latin typeface="Montserrat"/>
              </a:rPr>
              <a:t>Mantenimiento: lo marca el fabricante</a:t>
            </a:r>
          </a:p>
          <a:p>
            <a:pPr>
              <a:spcAft>
                <a:spcPts val="1100"/>
              </a:spcAft>
            </a:pPr>
            <a:r>
              <a:rPr sz="1600" b="1" i="0">
                <a:solidFill>
                  <a:srgbClr val="E8801A"/>
                </a:solidFill>
                <a:latin typeface="Montserrat"/>
              </a:rPr>
              <a:t>▸  </a:t>
            </a:r>
            <a:r>
              <a:rPr sz="1600" b="0" i="0">
                <a:solidFill>
                  <a:srgbClr val="1B2330"/>
                </a:solidFill>
                <a:latin typeface="Montserrat"/>
              </a:rPr>
              <a:t>Esta norma no cubre el mantenimiento</a:t>
            </a:r>
          </a:p>
        </p:txBody>
      </p:sp>
      <p:sp>
        <p:nvSpPr>
          <p:cNvPr id="9" name="imgph" descr="IMGQ:technician checking gas boiler combustion"/>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technician checking gas boiler combustion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004 / 018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16 · UNE 60670-11/12/13</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PARTE 13 · APARTADO 2</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Procedimiento y clasificación</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Favorable: certificado; si no, informe</a:t>
            </a:r>
          </a:p>
          <a:p>
            <a:pPr>
              <a:spcAft>
                <a:spcPts val="1100"/>
              </a:spcAft>
            </a:pPr>
            <a:r>
              <a:rPr sz="1600" b="1" i="0">
                <a:solidFill>
                  <a:srgbClr val="E8801A"/>
                </a:solidFill>
                <a:latin typeface="Montserrat"/>
              </a:rPr>
              <a:t>▸  </a:t>
            </a:r>
            <a:r>
              <a:rPr sz="1600" b="0" i="0">
                <a:solidFill>
                  <a:srgbClr val="1B2330"/>
                </a:solidFill>
                <a:latin typeface="Montserrat"/>
              </a:rPr>
              <a:t>Principal: corta el gas a ese aparato</a:t>
            </a:r>
          </a:p>
          <a:p>
            <a:pPr>
              <a:spcAft>
                <a:spcPts val="1100"/>
              </a:spcAft>
            </a:pPr>
            <a:r>
              <a:rPr sz="1600" b="1" i="0">
                <a:solidFill>
                  <a:srgbClr val="E8801A"/>
                </a:solidFill>
                <a:latin typeface="Montserrat"/>
              </a:rPr>
              <a:t>▸  </a:t>
            </a:r>
            <a:r>
              <a:rPr sz="1600" b="0" i="0">
                <a:solidFill>
                  <a:srgbClr val="1B2330"/>
                </a:solidFill>
                <a:latin typeface="Montserrat"/>
              </a:rPr>
              <a:t>Secundaria: 6 meses</a:t>
            </a:r>
          </a:p>
          <a:p>
            <a:pPr>
              <a:spcAft>
                <a:spcPts val="1100"/>
              </a:spcAft>
            </a:pPr>
            <a:r>
              <a:rPr sz="1600" b="1" i="0">
                <a:solidFill>
                  <a:srgbClr val="E8801A"/>
                </a:solidFill>
                <a:latin typeface="Montserrat"/>
              </a:rPr>
              <a:t>▸  </a:t>
            </a:r>
            <a:r>
              <a:rPr sz="1600" b="0" i="0">
                <a:solidFill>
                  <a:srgbClr val="1B2330"/>
                </a:solidFill>
                <a:latin typeface="Montserrat"/>
              </a:rPr>
              <a:t>Aquí no hay excepción de 15 días</a:t>
            </a:r>
          </a:p>
        </p:txBody>
      </p:sp>
      <p:sp>
        <p:nvSpPr>
          <p:cNvPr id="9" name="imgph" descr="IMGQ:gas appliance inspection certificate document"/>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gas appliance inspection certificate document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005 / 018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16 · UNE 60670-11/12/13</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PARTE 13 · AP-1</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Revoco o CO-ambiente sobre 50 ppm</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Revoco continuado en tipo B de tiro natural</a:t>
            </a:r>
          </a:p>
          <a:p>
            <a:pPr>
              <a:spcAft>
                <a:spcPts val="1100"/>
              </a:spcAft>
            </a:pPr>
            <a:r>
              <a:rPr sz="1600" b="1" i="0">
                <a:solidFill>
                  <a:srgbClr val="E8801A"/>
                </a:solidFill>
                <a:latin typeface="Montserrat"/>
              </a:rPr>
              <a:t>▸  </a:t>
            </a:r>
            <a:r>
              <a:rPr sz="1600" b="0" i="0">
                <a:solidFill>
                  <a:srgbClr val="1B2330"/>
                </a:solidFill>
                <a:latin typeface="Montserrat"/>
              </a:rPr>
              <a:t>CO-ambiente en el local &gt; 50 ppm</a:t>
            </a:r>
          </a:p>
          <a:p>
            <a:pPr>
              <a:spcAft>
                <a:spcPts val="1100"/>
              </a:spcAft>
            </a:pPr>
            <a:r>
              <a:rPr sz="1600" b="1" i="0">
                <a:solidFill>
                  <a:srgbClr val="E8801A"/>
                </a:solidFill>
                <a:latin typeface="Montserrat"/>
              </a:rPr>
              <a:t>▸  </a:t>
            </a:r>
            <a:r>
              <a:rPr sz="1600" b="0" i="0">
                <a:solidFill>
                  <a:srgbClr val="1B2330"/>
                </a:solidFill>
                <a:latin typeface="Montserrat"/>
              </a:rPr>
              <a:t>Si se mide por CO₂: &gt; 5000 ppm</a:t>
            </a:r>
          </a:p>
          <a:p>
            <a:pPr>
              <a:spcAft>
                <a:spcPts val="1100"/>
              </a:spcAft>
            </a:pPr>
            <a:r>
              <a:rPr sz="1600" b="1" i="0">
                <a:solidFill>
                  <a:srgbClr val="E8801A"/>
                </a:solidFill>
                <a:latin typeface="Montserrat"/>
              </a:rPr>
              <a:t>▸  </a:t>
            </a:r>
            <a:r>
              <a:rPr sz="1600" b="0" i="0">
                <a:solidFill>
                  <a:srgbClr val="1B2330"/>
                </a:solidFill>
                <a:latin typeface="Montserrat"/>
              </a:rPr>
              <a:t>Anomalía principal AP-1</a:t>
            </a:r>
          </a:p>
        </p:txBody>
      </p:sp>
      <p:sp>
        <p:nvSpPr>
          <p:cNvPr id="9" name="imgph" descr="IMGQ:carbon monoxide alarm detector kitchen"/>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carbon monoxide alarm detector kitchen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006 / 018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16 · UNE 60670-11/12/13</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PARTE 13 · AP-1 · MEDIDA</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Cómo se mide el CO-ambiente</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Puertas y ventanas cerradas</a:t>
            </a:r>
          </a:p>
          <a:p>
            <a:pPr>
              <a:spcAft>
                <a:spcPts val="1100"/>
              </a:spcAft>
            </a:pPr>
            <a:r>
              <a:rPr sz="1600" b="1" i="0">
                <a:solidFill>
                  <a:srgbClr val="E8801A"/>
                </a:solidFill>
                <a:latin typeface="Montserrat"/>
              </a:rPr>
              <a:t>▸  </a:t>
            </a:r>
            <a:r>
              <a:rPr sz="1600" b="0" i="0">
                <a:solidFill>
                  <a:srgbClr val="1B2330"/>
                </a:solidFill>
                <a:latin typeface="Montserrat"/>
              </a:rPr>
              <a:t>Campana extractora apagada</a:t>
            </a:r>
          </a:p>
          <a:p>
            <a:pPr>
              <a:spcAft>
                <a:spcPts val="1100"/>
              </a:spcAft>
            </a:pPr>
            <a:r>
              <a:rPr sz="1600" b="1" i="0">
                <a:solidFill>
                  <a:srgbClr val="E8801A"/>
                </a:solidFill>
                <a:latin typeface="Montserrat"/>
              </a:rPr>
              <a:t>▸  </a:t>
            </a:r>
            <a:r>
              <a:rPr sz="1600" b="0" i="0">
                <a:solidFill>
                  <a:srgbClr val="1B2330"/>
                </a:solidFill>
                <a:latin typeface="Montserrat"/>
              </a:rPr>
              <a:t>Sonda a ≈ 1 m del aparato y 1,80 m de altura</a:t>
            </a:r>
          </a:p>
          <a:p>
            <a:pPr>
              <a:spcAft>
                <a:spcPts val="1100"/>
              </a:spcAft>
            </a:pPr>
            <a:r>
              <a:rPr sz="1600" b="1" i="0">
                <a:solidFill>
                  <a:srgbClr val="E8801A"/>
                </a:solidFill>
                <a:latin typeface="Montserrat"/>
              </a:rPr>
              <a:t>▸  </a:t>
            </a:r>
            <a:r>
              <a:rPr sz="1600" b="0" i="0">
                <a:solidFill>
                  <a:srgbClr val="1B2330"/>
                </a:solidFill>
                <a:latin typeface="Montserrat"/>
              </a:rPr>
              <a:t>Aparato al máximo; lectura a los 5 minutos</a:t>
            </a:r>
          </a:p>
        </p:txBody>
      </p:sp>
      <p:sp>
        <p:nvSpPr>
          <p:cNvPr id="9" name="imgph" descr="IMGQ:combustion analyzer probe near gas heater"/>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combustion analyzer probe near gas heater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007 / 018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16 · UNE 60670-11/12/13</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PARTE 13 · AP-2 Y AP-3</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Combustión no higiénica y falta de AS</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CO en el conducto (CO-PdC) &gt; 1000 ppm</a:t>
            </a:r>
          </a:p>
          <a:p>
            <a:pPr>
              <a:spcAft>
                <a:spcPts val="1100"/>
              </a:spcAft>
            </a:pPr>
            <a:r>
              <a:rPr sz="1600" b="1" i="0">
                <a:solidFill>
                  <a:srgbClr val="E8801A"/>
                </a:solidFill>
                <a:latin typeface="Montserrat"/>
              </a:rPr>
              <a:t>▸  </a:t>
            </a:r>
            <a:r>
              <a:rPr sz="1600" b="0" i="0">
                <a:solidFill>
                  <a:srgbClr val="1B2330"/>
                </a:solidFill>
                <a:latin typeface="Montserrat"/>
              </a:rPr>
              <a:t>Combustión no higiénica: principal AP-2</a:t>
            </a:r>
          </a:p>
          <a:p>
            <a:pPr>
              <a:spcAft>
                <a:spcPts val="1100"/>
              </a:spcAft>
            </a:pPr>
            <a:r>
              <a:rPr sz="1600" b="1" i="0">
                <a:solidFill>
                  <a:srgbClr val="E8801A"/>
                </a:solidFill>
                <a:latin typeface="Montserrat"/>
              </a:rPr>
              <a:t>▸  </a:t>
            </a:r>
            <a:r>
              <a:rPr sz="1600" b="0" i="0">
                <a:solidFill>
                  <a:srgbClr val="1B2330"/>
                </a:solidFill>
                <a:latin typeface="Montserrat"/>
              </a:rPr>
              <a:t>Procedimiento del anexo A</a:t>
            </a:r>
          </a:p>
          <a:p>
            <a:pPr>
              <a:spcAft>
                <a:spcPts val="1100"/>
              </a:spcAft>
            </a:pPr>
            <a:r>
              <a:rPr sz="1600" b="1" i="0">
                <a:solidFill>
                  <a:srgbClr val="E8801A"/>
                </a:solidFill>
                <a:latin typeface="Montserrat"/>
              </a:rPr>
              <a:t>▸  </a:t>
            </a:r>
            <a:r>
              <a:rPr sz="1600" b="0" i="0">
                <a:solidFill>
                  <a:srgbClr val="1B2330"/>
                </a:solidFill>
                <a:latin typeface="Montserrat"/>
              </a:rPr>
              <a:t>Falta del dispositivo de atmósfera: AP-3</a:t>
            </a:r>
          </a:p>
        </p:txBody>
      </p:sp>
      <p:sp>
        <p:nvSpPr>
          <p:cNvPr id="9" name="imgph" descr="IMGQ:flue gas analyzer measuring boiler exhaust"/>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flue gas analyzer measuring boiler exhaust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008 / 018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16 · UNE 60670-11/12/13</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PARTE 13 · AP-4</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La campana que roba el tiro</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Tipo B tiro natural junto a campana potente</a:t>
            </a:r>
          </a:p>
          <a:p>
            <a:pPr>
              <a:spcAft>
                <a:spcPts val="1100"/>
              </a:spcAft>
            </a:pPr>
            <a:r>
              <a:rPr sz="1600" b="1" i="0">
                <a:solidFill>
                  <a:srgbClr val="E8801A"/>
                </a:solidFill>
                <a:latin typeface="Montserrat"/>
              </a:rPr>
              <a:t>▸  </a:t>
            </a:r>
            <a:r>
              <a:rPr sz="1600" b="0" i="0">
                <a:solidFill>
                  <a:srgbClr val="1B2330"/>
                </a:solidFill>
                <a:latin typeface="Montserrat"/>
              </a:rPr>
              <a:t>Sin enclavamiento ni detector de CO</a:t>
            </a:r>
          </a:p>
          <a:p>
            <a:pPr>
              <a:spcAft>
                <a:spcPts val="1100"/>
              </a:spcAft>
            </a:pPr>
            <a:r>
              <a:rPr sz="1600" b="1" i="0">
                <a:solidFill>
                  <a:srgbClr val="E8801A"/>
                </a:solidFill>
                <a:latin typeface="Montserrat"/>
              </a:rPr>
              <a:t>▸  </a:t>
            </a:r>
            <a:r>
              <a:rPr sz="1600" b="0" i="0">
                <a:solidFill>
                  <a:srgbClr val="1B2330"/>
                </a:solidFill>
                <a:latin typeface="Montserrat"/>
              </a:rPr>
              <a:t>Con campana a tope: revoco o CO &gt; 50 ppm</a:t>
            </a:r>
          </a:p>
          <a:p>
            <a:pPr>
              <a:spcAft>
                <a:spcPts val="1100"/>
              </a:spcAft>
            </a:pPr>
            <a:r>
              <a:rPr sz="1600" b="1" i="0">
                <a:solidFill>
                  <a:srgbClr val="E8801A"/>
                </a:solidFill>
                <a:latin typeface="Montserrat"/>
              </a:rPr>
              <a:t>▸  </a:t>
            </a:r>
            <a:r>
              <a:rPr sz="1600" b="0" i="0">
                <a:solidFill>
                  <a:srgbClr val="1B2330"/>
                </a:solidFill>
                <a:latin typeface="Montserrat"/>
              </a:rPr>
              <a:t>Interferencia grave: principal AP-4</a:t>
            </a:r>
          </a:p>
        </p:txBody>
      </p:sp>
      <p:sp>
        <p:nvSpPr>
          <p:cNvPr id="9" name="imgph" descr="IMGQ:kitchen extractor hood over gas cooktop"/>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kitchen extractor hood over gas cooktop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009 / 018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16 · UNE 60670-11/12/13</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PARTE 13 · AS-1 Y AS-2</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Revoco e interferencia moderados</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CO-ambiente entre 15 y 50 ppm: moderado</a:t>
            </a:r>
          </a:p>
          <a:p>
            <a:pPr>
              <a:spcAft>
                <a:spcPts val="1100"/>
              </a:spcAft>
            </a:pPr>
            <a:r>
              <a:rPr sz="1600" b="1" i="0">
                <a:solidFill>
                  <a:srgbClr val="E8801A"/>
                </a:solidFill>
                <a:latin typeface="Montserrat"/>
              </a:rPr>
              <a:t>▸  </a:t>
            </a:r>
            <a:r>
              <a:rPr sz="1600" b="0" i="0">
                <a:solidFill>
                  <a:srgbClr val="1B2330"/>
                </a:solidFill>
                <a:latin typeface="Montserrat"/>
              </a:rPr>
              <a:t>Por CO₂: entre 2500 y 5000 ppm</a:t>
            </a:r>
          </a:p>
          <a:p>
            <a:pPr>
              <a:spcAft>
                <a:spcPts val="1100"/>
              </a:spcAft>
            </a:pPr>
            <a:r>
              <a:rPr sz="1600" b="1" i="0">
                <a:solidFill>
                  <a:srgbClr val="E8801A"/>
                </a:solidFill>
                <a:latin typeface="Montserrat"/>
              </a:rPr>
              <a:t>▸  </a:t>
            </a:r>
            <a:r>
              <a:rPr sz="1600" b="0" i="0">
                <a:solidFill>
                  <a:srgbClr val="1B2330"/>
                </a:solidFill>
                <a:latin typeface="Montserrat"/>
              </a:rPr>
              <a:t>AS-1 revoco; AS-2 campana</a:t>
            </a:r>
          </a:p>
          <a:p>
            <a:pPr>
              <a:spcAft>
                <a:spcPts val="1100"/>
              </a:spcAft>
            </a:pPr>
            <a:r>
              <a:rPr sz="1600" b="1" i="0">
                <a:solidFill>
                  <a:srgbClr val="E8801A"/>
                </a:solidFill>
                <a:latin typeface="Montserrat"/>
              </a:rPr>
              <a:t>▸  </a:t>
            </a:r>
            <a:r>
              <a:rPr sz="1600" b="0" i="0">
                <a:solidFill>
                  <a:srgbClr val="1B2330"/>
                </a:solidFill>
                <a:latin typeface="Montserrat"/>
              </a:rPr>
              <a:t>AS-2: instrucciones escritas de no usar a la vez</a:t>
            </a:r>
          </a:p>
        </p:txBody>
      </p:sp>
      <p:sp>
        <p:nvSpPr>
          <p:cNvPr id="9" name="imgph" descr="IMGQ:written safety instructions note kitchen appliance"/>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written safety instructions note kitchen appliance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010 / 018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16 · UNE 60670-11/12/13</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PARTE 13 · RESUMEN DE UMBRALES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Las dos escaleras del CO</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CO-ambiente: 15 y 50 ppm</a:t>
            </a:r>
          </a:p>
          <a:p>
            <a:pPr>
              <a:spcAft>
                <a:spcPts val="1100"/>
              </a:spcAft>
            </a:pPr>
            <a:r>
              <a:rPr sz="1600" b="1" i="0">
                <a:solidFill>
                  <a:srgbClr val="E8801A"/>
                </a:solidFill>
                <a:latin typeface="Montserrat"/>
              </a:rPr>
              <a:t>▸  </a:t>
            </a:r>
            <a:r>
              <a:rPr sz="1600" b="0" i="0">
                <a:solidFill>
                  <a:srgbClr val="1B2330"/>
                </a:solidFill>
                <a:latin typeface="Montserrat"/>
              </a:rPr>
              <a:t>CO₂-ambiente: 2500 y 5000 ppm</a:t>
            </a:r>
          </a:p>
          <a:p>
            <a:pPr>
              <a:spcAft>
                <a:spcPts val="1100"/>
              </a:spcAft>
            </a:pPr>
            <a:r>
              <a:rPr sz="1600" b="1" i="0">
                <a:solidFill>
                  <a:srgbClr val="E8801A"/>
                </a:solidFill>
                <a:latin typeface="Montserrat"/>
              </a:rPr>
              <a:t>▸  </a:t>
            </a:r>
            <a:r>
              <a:rPr sz="1600" b="0" i="0">
                <a:solidFill>
                  <a:srgbClr val="1B2330"/>
                </a:solidFill>
                <a:latin typeface="Montserrat"/>
              </a:rPr>
              <a:t>CO en conducto: 500 y 1000 ppm</a:t>
            </a:r>
          </a:p>
          <a:p>
            <a:pPr>
              <a:spcAft>
                <a:spcPts val="1100"/>
              </a:spcAft>
            </a:pPr>
            <a:r>
              <a:rPr sz="1600" b="1" i="0">
                <a:solidFill>
                  <a:srgbClr val="E8801A"/>
                </a:solidFill>
                <a:latin typeface="Montserrat"/>
              </a:rPr>
              <a:t>▸  </a:t>
            </a:r>
            <a:r>
              <a:rPr sz="1600" b="0" i="0">
                <a:solidFill>
                  <a:srgbClr val="1B2330"/>
                </a:solidFill>
                <a:latin typeface="Montserrat"/>
              </a:rPr>
              <a:t>50 es del aire; 500 y 1000, del conducto</a:t>
            </a:r>
          </a:p>
        </p:txBody>
      </p:sp>
      <p:sp>
        <p:nvSpPr>
          <p:cNvPr id="9" name="imgph" descr="IMGQ:digital gas analyzer display ppm reading"/>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digital gas analyzer display ppm reading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011 / 018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16 · UNE 60670-11/12/13</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PARTE 13 · AS-3, AS-4, AS-5, AS-6</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Seguridades, acceso y combustión deficiente</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AS-3: seguridad de llama no funciona</a:t>
            </a:r>
          </a:p>
          <a:p>
            <a:pPr>
              <a:spcAft>
                <a:spcPts val="1100"/>
              </a:spcAft>
            </a:pPr>
            <a:r>
              <a:rPr sz="1600" b="1" i="0">
                <a:solidFill>
                  <a:srgbClr val="E8801A"/>
                </a:solidFill>
                <a:latin typeface="Montserrat"/>
              </a:rPr>
              <a:t>▸  </a:t>
            </a:r>
            <a:r>
              <a:rPr sz="1600" b="0" i="0">
                <a:solidFill>
                  <a:srgbClr val="1B2330"/>
                </a:solidFill>
                <a:latin typeface="Montserrat"/>
              </a:rPr>
              <a:t>AS-4: no se puede tomar muestra de humos</a:t>
            </a:r>
          </a:p>
          <a:p>
            <a:pPr>
              <a:spcAft>
                <a:spcPts val="1100"/>
              </a:spcAft>
            </a:pPr>
            <a:r>
              <a:rPr sz="1600" b="1" i="0">
                <a:solidFill>
                  <a:srgbClr val="E8801A"/>
                </a:solidFill>
                <a:latin typeface="Montserrat"/>
              </a:rPr>
              <a:t>▸  </a:t>
            </a:r>
            <a:r>
              <a:rPr sz="1600" b="0" i="0">
                <a:solidFill>
                  <a:srgbClr val="1B2330"/>
                </a:solidFill>
                <a:latin typeface="Montserrat"/>
              </a:rPr>
              <a:t>AS-5: sin acreditar mantenimiento (&gt; 70 kW)</a:t>
            </a:r>
          </a:p>
          <a:p>
            <a:pPr>
              <a:spcAft>
                <a:spcPts val="1100"/>
              </a:spcAft>
            </a:pPr>
            <a:r>
              <a:rPr sz="1600" b="1" i="0">
                <a:solidFill>
                  <a:srgbClr val="E8801A"/>
                </a:solidFill>
                <a:latin typeface="Montserrat"/>
              </a:rPr>
              <a:t>▸  </a:t>
            </a:r>
            <a:r>
              <a:rPr sz="1600" b="0" i="0">
                <a:solidFill>
                  <a:srgbClr val="1B2330"/>
                </a:solidFill>
                <a:latin typeface="Montserrat"/>
              </a:rPr>
              <a:t>AS-6: CO en conducto entre 500 y 1000 ppm</a:t>
            </a:r>
          </a:p>
        </p:txBody>
      </p:sp>
      <p:sp>
        <p:nvSpPr>
          <p:cNvPr id="9" name="imgph" descr="IMGQ:gas burner flame sensor thermocouple"/>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gas burner flame sensor thermocouple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012 / 018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16 · UNE 60670-11/12/13</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PARTE 13 · AS-7 Y AS-8</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Los quemadores de la cocina</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AS-7: al pasar de máximo a mínimo, se apaga</a:t>
            </a:r>
          </a:p>
          <a:p>
            <a:pPr>
              <a:spcAft>
                <a:spcPts val="1100"/>
              </a:spcAft>
            </a:pPr>
            <a:r>
              <a:rPr sz="1600" b="1" i="0">
                <a:solidFill>
                  <a:srgbClr val="E8801A"/>
                </a:solidFill>
                <a:latin typeface="Montserrat"/>
              </a:rPr>
              <a:t>▸  </a:t>
            </a:r>
            <a:r>
              <a:rPr sz="1600" b="0" i="0">
                <a:solidFill>
                  <a:srgbClr val="1B2330"/>
                </a:solidFill>
                <a:latin typeface="Montserrat"/>
              </a:rPr>
              <a:t>Mínimo mal regulado deja salir gas</a:t>
            </a:r>
          </a:p>
          <a:p>
            <a:pPr>
              <a:spcAft>
                <a:spcPts val="1100"/>
              </a:spcAft>
            </a:pPr>
            <a:r>
              <a:rPr sz="1600" b="1" i="0">
                <a:solidFill>
                  <a:srgbClr val="E8801A"/>
                </a:solidFill>
                <a:latin typeface="Montserrat"/>
              </a:rPr>
              <a:t>▸  </a:t>
            </a:r>
            <a:r>
              <a:rPr sz="1600" b="0" i="0">
                <a:solidFill>
                  <a:srgbClr val="1B2330"/>
                </a:solidFill>
                <a:latin typeface="Montserrat"/>
              </a:rPr>
              <a:t>AS-8: el quemador no va (roto, bloqueado)</a:t>
            </a:r>
          </a:p>
        </p:txBody>
      </p:sp>
      <p:sp>
        <p:nvSpPr>
          <p:cNvPr id="9" name="imgph" descr="IMGQ:gas stove burner blue flame cooktop"/>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gas stove burner blue flame cooktop</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013 / 018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16 · UNE 60670-11/12/13</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PARTE 13 · ANEXO A</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Toma de muestras de la combustión</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Régimen estacionario, máxima potencia</a:t>
            </a:r>
          </a:p>
          <a:p>
            <a:pPr>
              <a:spcAft>
                <a:spcPts val="1100"/>
              </a:spcAft>
            </a:pPr>
            <a:r>
              <a:rPr sz="1600" b="1" i="0">
                <a:solidFill>
                  <a:srgbClr val="E8801A"/>
                </a:solidFill>
                <a:latin typeface="Montserrat"/>
              </a:rPr>
              <a:t>▸  </a:t>
            </a:r>
            <a:r>
              <a:rPr sz="1600" b="0" i="0">
                <a:solidFill>
                  <a:srgbClr val="1B2330"/>
                </a:solidFill>
                <a:latin typeface="Montserrat"/>
              </a:rPr>
              <a:t>Orificio de diámetro mínimo 11 mm</a:t>
            </a:r>
          </a:p>
          <a:p>
            <a:pPr>
              <a:spcAft>
                <a:spcPts val="1100"/>
              </a:spcAft>
            </a:pPr>
            <a:r>
              <a:rPr sz="1600" b="1" i="0">
                <a:solidFill>
                  <a:srgbClr val="E8801A"/>
                </a:solidFill>
                <a:latin typeface="Montserrat"/>
              </a:rPr>
              <a:t>▸  </a:t>
            </a:r>
            <a:r>
              <a:rPr sz="1600" b="0" i="0">
                <a:solidFill>
                  <a:srgbClr val="1B2330"/>
                </a:solidFill>
                <a:latin typeface="Montserrat"/>
              </a:rPr>
              <a:t>Sonda perpendicular, en el eje del humo</a:t>
            </a:r>
          </a:p>
          <a:p>
            <a:pPr>
              <a:spcAft>
                <a:spcPts val="1100"/>
              </a:spcAft>
            </a:pPr>
            <a:r>
              <a:rPr sz="1600" b="1" i="0">
                <a:solidFill>
                  <a:srgbClr val="E8801A"/>
                </a:solidFill>
                <a:latin typeface="Montserrat"/>
              </a:rPr>
              <a:t>▸  </a:t>
            </a:r>
            <a:r>
              <a:rPr sz="1600" b="0" i="0">
                <a:solidFill>
                  <a:srgbClr val="1B2330"/>
                </a:solidFill>
                <a:latin typeface="Montserrat"/>
              </a:rPr>
              <a:t>Al acabar, obturar con estanquidad</a:t>
            </a:r>
          </a:p>
        </p:txBody>
      </p:sp>
      <p:sp>
        <p:nvSpPr>
          <p:cNvPr id="9" name="imgph" descr="IMGQ:sampling hole drilled in flue pipe probe"/>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sampling hole drilled in flue pipe probe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014 / 018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16 · UNE 60670-11/12/13</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PARTE 13 · ANEXO A</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El O₂ te chiva si la medida es fiable</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Se mide también el O₂ simultáneo</a:t>
            </a:r>
          </a:p>
          <a:p>
            <a:pPr>
              <a:spcAft>
                <a:spcPts val="1100"/>
              </a:spcAft>
            </a:pPr>
            <a:r>
              <a:rPr sz="1600" b="1" i="0">
                <a:solidFill>
                  <a:srgbClr val="E8801A"/>
                </a:solidFill>
                <a:latin typeface="Montserrat"/>
              </a:rPr>
              <a:t>▸  </a:t>
            </a:r>
            <a:r>
              <a:rPr sz="1600" b="0" i="0">
                <a:solidFill>
                  <a:srgbClr val="1B2330"/>
                </a:solidFill>
                <a:latin typeface="Montserrat"/>
              </a:rPr>
              <a:t>O₂ &gt; 10 %: sonda mal o tiro invertido</a:t>
            </a:r>
          </a:p>
          <a:p>
            <a:pPr>
              <a:spcAft>
                <a:spcPts val="1100"/>
              </a:spcAft>
            </a:pPr>
            <a:r>
              <a:rPr sz="1600" b="1" i="0">
                <a:solidFill>
                  <a:srgbClr val="E8801A"/>
                </a:solidFill>
                <a:latin typeface="Montserrat"/>
              </a:rPr>
              <a:t>▸  </a:t>
            </a:r>
            <a:r>
              <a:rPr sz="1600" b="0" i="0">
                <a:solidFill>
                  <a:srgbClr val="1B2330"/>
                </a:solidFill>
                <a:latin typeface="Montserrat"/>
              </a:rPr>
              <a:t>Repetir; si hay inversión, medir más abajo</a:t>
            </a:r>
          </a:p>
          <a:p>
            <a:pPr>
              <a:spcAft>
                <a:spcPts val="1100"/>
              </a:spcAft>
            </a:pPr>
            <a:r>
              <a:rPr sz="1600" b="1" i="0">
                <a:solidFill>
                  <a:srgbClr val="E8801A"/>
                </a:solidFill>
                <a:latin typeface="Montserrat"/>
              </a:rPr>
              <a:t>▸  </a:t>
            </a:r>
            <a:r>
              <a:rPr sz="1600" b="0" i="0">
                <a:solidFill>
                  <a:srgbClr val="1B2330"/>
                </a:solidFill>
                <a:latin typeface="Montserrat"/>
              </a:rPr>
              <a:t>Condensación: seguir al fabricante</a:t>
            </a:r>
          </a:p>
        </p:txBody>
      </p:sp>
      <p:sp>
        <p:nvSpPr>
          <p:cNvPr id="9" name="imgph" descr="IMGQ:technician reading oxygen level flue gas analyzer"/>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technician reading oxygen level flue gas analyzer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015 / 018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16 · UNE 60670-11/12/13</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PARTE 13 · ANEXO A · EQUIPOS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El analizador es tu testigo</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Calibrar cada 18 meses como máximo</a:t>
            </a:r>
          </a:p>
          <a:p>
            <a:pPr>
              <a:spcAft>
                <a:spcPts val="1100"/>
              </a:spcAft>
            </a:pPr>
            <a:r>
              <a:rPr sz="1600" b="1" i="0">
                <a:solidFill>
                  <a:srgbClr val="E8801A"/>
                </a:solidFill>
                <a:latin typeface="Montserrat"/>
              </a:rPr>
              <a:t>▸  </a:t>
            </a:r>
            <a:r>
              <a:rPr sz="1600" b="0" i="0">
                <a:solidFill>
                  <a:srgbClr val="1B2330"/>
                </a:solidFill>
                <a:latin typeface="Montserrat"/>
              </a:rPr>
              <a:t>Laboratorio acreditado UNE-EN ISO/IEC 17025</a:t>
            </a:r>
          </a:p>
          <a:p>
            <a:pPr>
              <a:spcAft>
                <a:spcPts val="1100"/>
              </a:spcAft>
            </a:pPr>
            <a:r>
              <a:rPr sz="1600" b="1" i="0">
                <a:solidFill>
                  <a:srgbClr val="E8801A"/>
                </a:solidFill>
                <a:latin typeface="Montserrat"/>
              </a:rPr>
              <a:t>▸  </a:t>
            </a:r>
            <a:r>
              <a:rPr sz="1600" b="0" i="0">
                <a:solidFill>
                  <a:srgbClr val="1B2330"/>
                </a:solidFill>
                <a:latin typeface="Montserrat"/>
              </a:rPr>
              <a:t>Registro documental 5 años</a:t>
            </a:r>
          </a:p>
          <a:p>
            <a:pPr>
              <a:spcAft>
                <a:spcPts val="1100"/>
              </a:spcAft>
            </a:pPr>
            <a:r>
              <a:rPr sz="1600" b="1" i="0">
                <a:solidFill>
                  <a:srgbClr val="E8801A"/>
                </a:solidFill>
                <a:latin typeface="Montserrat"/>
              </a:rPr>
              <a:t>▸  </a:t>
            </a:r>
            <a:r>
              <a:rPr sz="1600" b="0" i="0">
                <a:solidFill>
                  <a:srgbClr val="1B2330"/>
                </a:solidFill>
                <a:latin typeface="Montserrat"/>
              </a:rPr>
              <a:t>Incertidumbre no mayor de ± 5 %</a:t>
            </a:r>
          </a:p>
        </p:txBody>
      </p:sp>
      <p:sp>
        <p:nvSpPr>
          <p:cNvPr id="9" name="imgph" descr="IMGQ:combustion analyzer calibration laboratory certificate"/>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combustion analyzer calibration laboratory certificate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016 / 018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16 · UNE 60670-11/12/13</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PARTE 13 · ANEXO B</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Aparatos de radiación tipo A (naves)</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Sin conducto: se mide el CO del aire</a:t>
            </a:r>
          </a:p>
          <a:p>
            <a:pPr>
              <a:spcAft>
                <a:spcPts val="1100"/>
              </a:spcAft>
            </a:pPr>
            <a:r>
              <a:rPr sz="1600" b="1" i="0">
                <a:solidFill>
                  <a:srgbClr val="E8801A"/>
                </a:solidFill>
                <a:latin typeface="Montserrat"/>
              </a:rPr>
              <a:t>▸  </a:t>
            </a:r>
            <a:r>
              <a:rPr sz="1600" b="0" i="0">
                <a:solidFill>
                  <a:srgbClr val="1B2330"/>
                </a:solidFill>
                <a:latin typeface="Montserrat"/>
              </a:rPr>
              <a:t>Sonda a 1,80 m, al menos cada 25 m²</a:t>
            </a:r>
          </a:p>
          <a:p>
            <a:pPr>
              <a:spcAft>
                <a:spcPts val="1100"/>
              </a:spcAft>
            </a:pPr>
            <a:r>
              <a:rPr sz="1600" b="1" i="0">
                <a:solidFill>
                  <a:srgbClr val="E8801A"/>
                </a:solidFill>
                <a:latin typeface="Montserrat"/>
              </a:rPr>
              <a:t>▸  </a:t>
            </a:r>
            <a:r>
              <a:rPr sz="1600" b="0" i="0">
                <a:solidFill>
                  <a:srgbClr val="1B2330"/>
                </a:solidFill>
                <a:latin typeface="Montserrat"/>
              </a:rPr>
              <a:t>15 minutos calentando antes de medir</a:t>
            </a:r>
          </a:p>
          <a:p>
            <a:pPr>
              <a:spcAft>
                <a:spcPts val="1100"/>
              </a:spcAft>
            </a:pPr>
            <a:r>
              <a:rPr sz="1600" b="1" i="0">
                <a:solidFill>
                  <a:srgbClr val="E8801A"/>
                </a:solidFill>
                <a:latin typeface="Montserrat"/>
              </a:rPr>
              <a:t>▸  </a:t>
            </a:r>
            <a:r>
              <a:rPr sz="1600" b="0" i="0">
                <a:solidFill>
                  <a:srgbClr val="1B2330"/>
                </a:solidFill>
                <a:latin typeface="Montserrat"/>
              </a:rPr>
              <a:t>5 minutos en cada punto</a:t>
            </a:r>
          </a:p>
        </p:txBody>
      </p:sp>
      <p:sp>
        <p:nvSpPr>
          <p:cNvPr id="9" name="imgph" descr="IMGQ:radiant heater suspended warehouse ceiling"/>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radiant heater suspended warehouse ceiling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017 / 018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16 · UNE 60670-11/12/13</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PARTE 13 · EL PAPELEO</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Documentar, avisar y el caso de salas</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Favorable: certificado; con defectos: informe</a:t>
            </a:r>
          </a:p>
          <a:p>
            <a:pPr>
              <a:spcAft>
                <a:spcPts val="1100"/>
              </a:spcAft>
            </a:pPr>
            <a:r>
              <a:rPr sz="1600" b="1" i="0">
                <a:solidFill>
                  <a:srgbClr val="E8801A"/>
                </a:solidFill>
                <a:latin typeface="Montserrat"/>
              </a:rPr>
              <a:t>▸  </a:t>
            </a:r>
            <a:r>
              <a:rPr sz="1600" b="0" i="0">
                <a:solidFill>
                  <a:srgbClr val="1B2330"/>
                </a:solidFill>
                <a:latin typeface="Montserrat"/>
              </a:rPr>
              <a:t>Al usuario; principales a la distribuidora</a:t>
            </a:r>
          </a:p>
          <a:p>
            <a:pPr>
              <a:spcAft>
                <a:spcPts val="1100"/>
              </a:spcAft>
            </a:pPr>
            <a:r>
              <a:rPr sz="1600" b="1" i="0">
                <a:solidFill>
                  <a:srgbClr val="E8801A"/>
                </a:solidFill>
                <a:latin typeface="Montserrat"/>
              </a:rPr>
              <a:t>▸  </a:t>
            </a:r>
            <a:r>
              <a:rPr sz="1600" b="0" i="0">
                <a:solidFill>
                  <a:srgbClr val="1B2330"/>
                </a:solidFill>
                <a:latin typeface="Montserrat"/>
              </a:rPr>
              <a:t>AS-5: acreditar mantenimiento en salas &gt; 70 kW</a:t>
            </a:r>
          </a:p>
        </p:txBody>
      </p:sp>
      <p:sp>
        <p:nvSpPr>
          <p:cNvPr id="9" name="imgph" descr="IMGQ:gas installer paperwork report boiler room"/>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gas installer paperwork report boiler room</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10515600" cy="457200"/>
          </a:xfrm>
          <a:prstGeom prst="rect">
            <a:avLst/>
          </a:prstGeom>
          <a:noFill/>
        </p:spPr>
        <p:txBody>
          <a:bodyPr wrap="square">
            <a:spAutoFit/>
          </a:bodyPr>
          <a:lstStyle/>
          <a:p>
            <a:r>
              <a:rPr sz="1400" b="1" i="0">
                <a:solidFill>
                  <a:srgbClr val="F4A24C"/>
                </a:solidFill>
                <a:latin typeface="Montserrat"/>
              </a:rPr>
              <a:t>LO QUE YA DOMINAS</a:t>
            </a:r>
          </a:p>
        </p:txBody>
      </p:sp>
      <p:sp>
        <p:nvSpPr>
          <p:cNvPr id="4" name="Rounded Rectangle 3"/>
          <p:cNvSpPr/>
          <p:nvPr/>
        </p:nvSpPr>
        <p:spPr>
          <a:xfrm>
            <a:off x="868680" y="1051560"/>
            <a:ext cx="1463040" cy="82296"/>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234440"/>
            <a:ext cx="10515600" cy="1097280"/>
          </a:xfrm>
          <a:prstGeom prst="rect">
            <a:avLst/>
          </a:prstGeom>
          <a:noFill/>
        </p:spPr>
        <p:txBody>
          <a:bodyPr wrap="square">
            <a:spAutoFit/>
          </a:bodyPr>
          <a:lstStyle/>
          <a:p>
            <a:r>
              <a:rPr sz="3400" b="1" i="0">
                <a:solidFill>
                  <a:srgbClr val="FFFFFF"/>
                </a:solidFill>
                <a:latin typeface="Montserrat"/>
              </a:rPr>
              <a:t>Ya plantas cara al enemigo invisible</a:t>
            </a:r>
          </a:p>
        </p:txBody>
      </p:sp>
      <p:sp>
        <p:nvSpPr>
          <p:cNvPr id="6" name="TextBox 5"/>
          <p:cNvSpPr txBox="1"/>
          <p:nvPr/>
        </p:nvSpPr>
        <p:spPr>
          <a:xfrm>
            <a:off x="822960" y="2606040"/>
            <a:ext cx="10515600" cy="2743200"/>
          </a:xfrm>
          <a:prstGeom prst="rect">
            <a:avLst/>
          </a:prstGeom>
          <a:noFill/>
        </p:spPr>
        <p:txBody>
          <a:bodyPr wrap="square">
            <a:spAutoFit/>
          </a:bodyPr>
          <a:lstStyle/>
          <a:p>
            <a:pPr>
              <a:spcAft>
                <a:spcPts val="1200"/>
              </a:spcAft>
            </a:pPr>
            <a:r>
              <a:rPr sz="2000" b="1" i="0">
                <a:solidFill>
                  <a:srgbClr val="F4A24C"/>
                </a:solidFill>
                <a:latin typeface="Montserrat"/>
              </a:rPr>
              <a:t>✓  </a:t>
            </a:r>
            <a:r>
              <a:rPr sz="1900" b="0" i="0">
                <a:solidFill>
                  <a:srgbClr val="FFFFFF"/>
                </a:solidFill>
                <a:latin typeface="Montserrat"/>
              </a:rPr>
              <a:t>CO-ambiente: 15, 50; CO en conducto: 500, 1000</a:t>
            </a:r>
          </a:p>
          <a:p>
            <a:pPr>
              <a:spcAft>
                <a:spcPts val="1200"/>
              </a:spcAft>
            </a:pPr>
            <a:r>
              <a:rPr sz="2000" b="1" i="0">
                <a:solidFill>
                  <a:srgbClr val="F4A24C"/>
                </a:solidFill>
                <a:latin typeface="Montserrat"/>
              </a:rPr>
              <a:t>✓  </a:t>
            </a:r>
            <a:r>
              <a:rPr sz="1900" b="0" i="0">
                <a:solidFill>
                  <a:srgbClr val="FFFFFF"/>
                </a:solidFill>
                <a:latin typeface="Montserrat"/>
              </a:rPr>
              <a:t>Revoco: el humo que se devuelve al local</a:t>
            </a:r>
          </a:p>
          <a:p>
            <a:pPr>
              <a:spcAft>
                <a:spcPts val="1200"/>
              </a:spcAft>
            </a:pPr>
            <a:r>
              <a:rPr sz="2000" b="1" i="0">
                <a:solidFill>
                  <a:srgbClr val="F4A24C"/>
                </a:solidFill>
                <a:latin typeface="Montserrat"/>
              </a:rPr>
              <a:t>✓  </a:t>
            </a:r>
            <a:r>
              <a:rPr sz="1900" b="0" i="0">
                <a:solidFill>
                  <a:srgbClr val="FFFFFF"/>
                </a:solidFill>
                <a:latin typeface="Montserrat"/>
              </a:rPr>
              <a:t>El analizador: 18 meses, 5 años, ± 5 %</a:t>
            </a:r>
          </a:p>
          <a:p>
            <a:pPr>
              <a:spcAft>
                <a:spcPts val="1200"/>
              </a:spcAft>
            </a:pPr>
            <a:r>
              <a:rPr sz="2000" b="1" i="0">
                <a:solidFill>
                  <a:srgbClr val="F4A24C"/>
                </a:solidFill>
                <a:latin typeface="Montserrat"/>
              </a:rPr>
              <a:t>✓  </a:t>
            </a:r>
            <a:r>
              <a:rPr sz="1900" b="0" i="0">
                <a:solidFill>
                  <a:srgbClr val="FFFFFF"/>
                </a:solidFill>
                <a:latin typeface="Montserrat"/>
              </a:rPr>
              <a:t>Control periódico no es mantenimiento</a:t>
            </a:r>
          </a:p>
        </p:txBody>
      </p:sp>
      <p:sp>
        <p:nvSpPr>
          <p:cNvPr id="7" name="Rounded Rectangle 6"/>
          <p:cNvSpPr/>
          <p:nvPr/>
        </p:nvSpPr>
        <p:spPr>
          <a:xfrm>
            <a:off x="822960" y="5532120"/>
            <a:ext cx="10515600" cy="822960"/>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5623560"/>
            <a:ext cx="10058400" cy="640080"/>
          </a:xfrm>
          <a:prstGeom prst="rect">
            <a:avLst/>
          </a:prstGeom>
          <a:noFill/>
        </p:spPr>
        <p:txBody>
          <a:bodyPr wrap="square">
            <a:spAutoFit/>
          </a:bodyPr>
          <a:lstStyle/>
          <a:p>
            <a:r>
              <a:rPr sz="1500" b="1" i="1">
                <a:solidFill>
                  <a:srgbClr val="1E2761"/>
                </a:solidFill>
                <a:latin typeface="Montserrat"/>
              </a:rPr>
              <a:t>Has cerrado el Tema 16. Sabes tocar, inspeccionar y medir: ya eres un gasista con oficio.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
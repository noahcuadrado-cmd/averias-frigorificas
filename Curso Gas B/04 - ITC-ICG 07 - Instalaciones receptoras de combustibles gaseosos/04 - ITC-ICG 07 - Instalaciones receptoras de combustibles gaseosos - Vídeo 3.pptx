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nos queda por ver para cerrar el tema?</a:t>
            </a:r>
          </a:p>
          <a:p>
            <a:r>
              <a:t>N2: Nos queda la vida de la instalación después de encenderla, que no es poco. Una instalación de gas no se acaba el día que arranca: hay que mantenerla viva y segura durante años. En este último vídeo vemos el mantenimiento y los controles periódicos, con la gran pareja inspección contra revisión; el procedimiento paso a paso cuando aparecen anomalías; qué cuenta como modificación de una instalación; y, para cerrar, el anexo con los modelos de impresos, del uno erre ge uno al cinco. Ojo a las cifras, que caen mucho: cinco años, tres meses, cinco días, quince días hábiles y diez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plazos que caen fijo en el examen. Cinco años es cada cuánto toca el control periódico, tanto la inspección como la revisión. Quince días hábiles es el plazo que te dan para corregir una anomalía secundaria por falta de estanquidad, de las leves. Y diez años es el tiempo que el distribuidor guarda en su base de datos la fecha y el resultado de cada inspección. Hay más plazos en el vídeo, pero si empiezas por estos tres ya tienes el armazón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montada, ¿de quién es la responsabilidad de que siga bien?</a:t>
            </a:r>
          </a:p>
          <a:p>
            <a:r>
              <a:t>N2: Del dueño. Igual que en el articulado del reglamento, el responsable del mantenimiento, la conservación y el buen uso de la instalación es el titular; y si no hay titular claro, los usuarios. Ellos tienen que mantenerla permanentemente en servicio con el nivel de seguridad adecuado y atender las recomendaciones que les dé el suministrador. El instalador y la compañía ayudan y avisan, pero el que responde año tras año es el propietario. Ahora bien, ojo a una cosa: cualquier modificación de la instalación la tiene que hacer siempre un instalador, nunca el usuario por su cuenta, y ese instalador emite un certificado que se queda el usuario. Tocar el gas no es cosa de aficionados.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Oigo inspección y revisión y me lío. ¿Cómo las distingo?</a:t>
            </a:r>
          </a:p>
          <a:p>
            <a:r>
              <a:t>N2: Con una sola pregunta, y este es el punto clave del tema: ¿la instalación está conectada a la red de distribución de una compañía? Si la respuesta es sí, gas natural de ciudad o gases del petróleo de red, entonces es una inspección, el apartado cuatro punto uno. Si la respuesta es no, por ejemplo un depósito propio en un chalé o unas bombonas, entonces es una revisión, el apartado cuatro punto dos. Las dos se hacen cada cinco años y comprueban casi lo mismo: estanquidad, conservación, combustión, ventilación, evacuación de humos. Las diferencias que caen las vemos luego, pero quédate con la pregunta madre: ¿hay red o no hay red? De ahí sale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inspecciona una instalación conectada a la red?</a:t>
            </a:r>
          </a:p>
          <a:p>
            <a:r>
              <a:t>N2: Cada cinco años, es una inspección quinquenal. Se cuenta desde la fecha de puesta en servicio o desde la última inspección, y hay que hacerla dentro del año natural en que vence ese plazo, no vale retrasarla sin más. La hacen las empresas instaladoras de gas habilitadas o los distribuidores, y le repercuten el coste al usuario; si la hace el distribuidor, no puede cobrar más que los costes regulados. Y un dato: la parte común del edificio, el montante compartido, también se inspecciona cada cinco años. Si te preguntan la periodicidad de la inspección periódica, la respuesta es cinco años, sin dudarlo.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inspección incluye el aparato o solo las tuberías?</a:t>
            </a:r>
          </a:p>
          <a:p>
            <a:r>
              <a:t>N2: Depende de la potencia, y este es el detalle que más se pregunta. En instalaciones de hasta setenta kilovatios, la inspección va desde la llave de usuario hasta los aparatos de gas, incluidos; es decir, el aparato sí entra. En instalaciones centralizadas de calefacción o de más de setenta kilovatios, va desde la llave de edificio hasta la conexión de los aparatos, pero excluidos; el aparato ya no entra. Y en instalaciones de más de cinco bar, desde la llave de acometida, aparatos también excluidos. La regla para no fallar: cuanto más grande es la instalación, más atrás empieza la inspección, de usuario a edificio a acometida, y el aparato se queda fuera. En las pequeñas domésticas, el aparato sí se mira.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comprueban exactamente durante la inspección?</a:t>
            </a:r>
          </a:p>
          <a:p>
            <a:r>
              <a:t>N2: Piénsalo como un recorrido de seguridad, de arriba abajo. Primero la estanquidad: ¿hay alguna fuga? Luego la conservación: ¿está la instalación en buen estado, sin corrosión ni golpes? Después la combustión higiénica de los aparatos: ¿queman limpio, sin exceso de monóxido? Los requisitos de ventilación y el volumen mínimo del local: ¿entra aire suficiente y el cuarto es lo bastante grande? Los sistemas de detección de gas, cuando sustituyen a la ventilación rápida. Y por último la correcta evacuación de los productos de la combustión: ¿salen bien los humos? Los procedimientos son la UNE sesenta mil seiscientos setenta guion doce y guion trece en baja presión, o la sesenta mil seiscientos veinte guion seis en alta.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versión de la norma se juzga una instalación antigua?</a:t>
            </a:r>
          </a:p>
          <a:p>
            <a:r>
              <a:t>N2: En general, con los criterios de la versión de la norma que estaba vigente cuando se puso en servicio, o cuando se modificó o amplió. Es justo: no puedes exigirle a una instalación de hace años que cumpla algo que no existía cuando se montó. Pero hay dos cosas tan peligrosas que se aplican siempre con la norma vigente de hoy, sin perdón por antigüedad. Una: tener un aparato de tipo a o de tipo be instalado en un dormitorio, o en un baño o ducha. Dos: no tener sistema de detección y corte de gas. Para adaptarse te dan de plazo hasta la siguiente inspección. La razón es de vida o muerte: un aparato que respira del cuarto donde duermes o te duchas es riesgo directo de intoxicación por monóxido; por eso eso no se tolera aunque la instalación sea vieja.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arranca el proceso de la inspección y quién puede hacerla?</a:t>
            </a:r>
          </a:p>
          <a:p>
            <a:r>
              <a:t>N2: El distribuidor tiene que avisar al usuario, con tres meses de antelación, de que le toca la inspección obligatoria; y la puede hacer una empresa instaladora habilitada o el propio distribuidor. Ahora, quién está autorizado a inspeccionar depende del tipo de instalación. Para las instalaciones individuales valen los instaladores de categoría a, be o ce. Para las comunes, solo a o be; la ce no llega a las comunes. Fíjate en lo que esto significa para ti: como sacas la be, vas a poder inspeccionar tanto individuales como comunes. La ce se queda solo en individuales. Átalo así: en comunes, a o be; la ce, fuera de comunes.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muchos plazos, ¿cómo no me hago un lío?</a:t>
            </a:r>
          </a:p>
          <a:p>
            <a:r>
              <a:t>N2: Te los pongo todos juntos, en orden, y verás que se recuerdan como una frasecita. Tres meses: es la antelación con que el distribuidor avisa de la obligación de inspección. Cinco días: la antelación mínima con que el distribuidor comunica la fecha de la visita cuando la hace él. Quince días hábiles: el plazo para corregir una anomalía secundaria por falta de estanquidad. Diez años: lo que el distribuidor guarda en su base de datos la fecha y el resultado de las inspecciones, consultable por la comunidad autónoma. Y por encima de todo, cinco años, la periodicidad. Truco para memorizar: avisa con tres meses, se planta con cinco días, arreglas en quince días hábiles y guarda diez años.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encuentro una anomalía en la inspección, ¿la arreglo yo mismo?</a:t>
            </a:r>
          </a:p>
          <a:p>
            <a:r>
              <a:t>N2: No, y esta es una regla de oro que se pregunta mucho: la misma empresa, o el mismo instalador, que hace la inspección no puede reparar las anomalías que ha detectado. Cuando aparecen anomalías, se remite a la distribuidora un informe de anomalías, con su plazo máximo de corrección, y se entrega copia al titular; pero la reparación la tiene que hacer otro. ¿Por qué? Para evitar el conflicto de interés. Es como que el profesor que te pone el examen no debería ser también quien te cobra las clases particulares para aprobarlo: se prestaría a inflar defectos para luego cobrarte el arreglo. Separando quien inspecciona de quien repara, el sistema es más honesto.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Es cuestión de gravedad. Una anomalía principal es grave: si no se puede corregir en el momento, se interrumpe el suministro y se precinta la parte de la instalación o el aparato afectado. Y grábate esto: todas las fugas se consideran anomalía principal, sin excepción. Una anomalía secundaria es menos grave: en lugar de cortar, se da un plazo para arreglarla, por ejemplo quince días hábiles si es una falta de estanquidad secundaria. Para volver a dar gas después de resolver una principal, la empresa instaladora emite un certificado de subsanación y hace el desprecintado. Asócialo: principal, precinto y corte; secundaria, plazo. Y la reina de las principales, siempre, la fuga.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revisión, ¿en qué se diferencia en la práctica?</a:t>
            </a:r>
          </a:p>
          <a:p>
            <a:r>
              <a:t>N2: La revisión es para las instalaciones que no están conectadas a una red de distribución: las que van con un depósito propio de gases del petróleo o con bombonas. Aquí no hay distribuidor por detrás, así que es el titular, o en su defecto el usuario, quien tiene que encargar la revisión a una empresa instaladora de gas, según la ITC-ICG cero nueve. Se hace cada cinco años, igual que la inspección, y comprueba prácticamente lo mismo. Dos diferencias que caen en examen: la revisión se hace coincidir con la revisión del depósito o los envases que alimentan la instalación, para hacerlo todo de una vez, y añade una comprobación extra que vemos ahora, la protección catódica.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protección catódica y por qué solo sale en la revisión?</a:t>
            </a:r>
          </a:p>
          <a:p>
            <a:r>
              <a:t>N2: La protección catódica es un sistema que evita que una tubería de acero enterrada se oxide y se corroa. Dicho en fácil, se le aplica una pequeña corriente eléctrica que engaña al metal para que no se lo coma la corrosión del terreno. Se comprueba solo en la revisión porque las instalaciones sin red, las de depósito propio, suelen llevar tramos de acero enterrado hasta el depósito, y esos son los que corren riesgo de corroerse bajo tierra. Regla práctica: si en una pregunta ves protección catódica, piensa automáticamente en revisión y en tubería de acero enterrada. En la inspección de las de red no aparece este punto.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 se firma cuando la revisión sale bien?</a:t>
            </a:r>
          </a:p>
          <a:p>
            <a:r>
              <a:t>N2: Cuando la visita es favorable, se entrega al usuario un certificado de revisión periódica, y hay dos modelos según el tramo. El uno erre ge guion cuatro es el de la revisión periódica de instalaciones individuales y aparatos no alimentados desde red. El uno erre ge guion cinco es el de la revisión de la instalación común, también sin red. Los dos certifican que no hay anomalías principales ni secundarias, y su validez es de cinco años, que es justo lo que tarda en tocar la siguiente. Fíjate en el matiz importante: estos dos, el cuatro y el cinco, son de revisión, o sea de instalaciones de depósito propio; no los confundas con la inspección de las de red, que no lleva número erre 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oficialmente que he modificado una instalación?</a:t>
            </a:r>
          </a:p>
          <a:p>
            <a:r>
              <a:t>N2: Hay tres casos, y el primero lleva un número que conviene memorizar. Uno: cuando cambias el material o el trazado en una longitud superior a un metro. Cambiar medio metro de tubo no cuenta; pasar de un metro, sí. Dos: cualquier ampliación de consumo. Y tres: sustituir un aparato por otro de características técnicas diferentes; cambiar una caldera por otra idéntica no dispara nada, pero por una distinta sí. Cuando ocurre cualquiera de estos, hay modificación oficial, y eso obliga a comunicarlo al suministrador. Retén la frase: más de un metro de material o trazado, es modificación.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hay modificación, ¿quién avisa a quién?</a:t>
            </a:r>
          </a:p>
          <a:p>
            <a:r>
              <a:t>N2: Es una cadena con cuatro eslabones, encádenala en orden. Primero, la empresa instaladora que ha hecho la modificación lo comunica al suministrador; el que modifica es quien avisa, no el usuario. Segundo, el suministrador solicita el enganche al distribuidor. Tercero, el distribuidor realiza las pruebas previas que marca el reglamento, para asegurarse de que la modificación quedó bien. Y cuarto, el coste de los derechos de enganche lo paga el usuario final. La frase para recordarlo: la instaladora comunica, el suministrador pide enganche, el distribuidor prueba y el usuario paga. Cada uno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los cinco modelos sin volverme loco?</a:t>
            </a:r>
          </a:p>
          <a:p>
            <a:r>
              <a:t>N2: No los memorices a lo bruto; míralos por parejas con una lógica. Los tres primeros, del uno erre ge uno al tres, son certificados de instalación, del montaje: el uno es la acometida interior, el dos la instalación común y el tres la individual. Los dos últimos, el cuatro y el cinco, son certificados de revisión periódica de instalaciones no alimentadas desde red, es decir, de depósito propio: el cuatro para individuales y el cinco para comunes. Fíjate en un detalle que se pregunta: los certificados de inspección de las instalaciones de red no tienen número erre ge; de esos, el anexo solo fija la información mínima. O sea, con número erre ge están el montaje y la revisión sin red; la inspección de red va sin número.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impresos piden un código y otros un número de póliza?</a:t>
            </a:r>
          </a:p>
          <a:p>
            <a:r>
              <a:t>N2: Porque el gas se identifica de forma distinta según el tipo. Para el gas natural, la instalación se identifica con el código del punto de suministro, ese código largo que en las facturas verás como cups. Para los gases del petróleo, el ge ele pe, se identifica con el número de póliza. Este par se repite en todos los impresos, así que si te lo aprendes, resuelves varias preguntas de golpe: gas natural igual a punto de suministro; ge ele pe igual a número de póliza. Y de ahí sale un detalle coherente: los impresos de revisión, los del ge ele pe de depósito, solo piden número de póliza, porque esas instalaciones no tienen punto de suministro de red. Ah, y el certificado de puesta en servicio es el único que pide datos del contador, número de serie y lectura inicial, porque es el momento en que el contador arranca a cero.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del tema. ¿Cómo lo cierro todo en la cabeza?</a:t>
            </a:r>
          </a:p>
          <a:p>
            <a:r>
              <a:t>N2: Vamos a reconstruir el hilo entero. Una instalación no se acaba al encenderla: el mantenimiento es del titular, y tú entras cuando hay que modificar o cuando toca el control periódico. Y ese control se decide con una sola pregunta: ¿hay red? Si la hay, inspección; si no, revisión. Las dos, cada cinco años. El alcance depende de la potencia, y el aparato entra en la inspección hasta setenta kilovatios y se queda fuera por encima. Los criterios son los de cuando se montó, salvo dos peligros, tipo a o be en dormitorio o baño y falta de detección, que van con la norma de hoy. Y cuando aparece una anomalía, la principal corta y precinta, la secundaria da plazo; todas las fugas son principales, y el que inspecciona nunca repara.</a:t>
            </a:r>
          </a:p>
          <a:p>
            <a:r>
              <a:t>N1: ¿Y cómo cae esto en el examen y en la obra?</a:t>
            </a:r>
          </a:p>
          <a:p>
            <a:r>
              <a:t>N2: En el examen caen las cifras, cinco años, tres meses, cinco días, quince días hábiles, diez años, y los pares que hemos atado: inspección con red y revisión sin red, del uno erre ge uno al cinco, gas natural con punto de suministro y ge ele pe con póliza, y la regla del metro para saber qué es modificación. En la obra, esto es lo que hace que una instalación siga siendo segura durante años en lugar de degradarse a ciegas hasta la fuga o el monóxido. Y fíjate dónde has llegado: con este tema ya sabes diseñar la instalación receptora, sacarle los papeles y ponerla en servicio, y mantenerla viva con sus inspecciones y revisiones. Has cerrado el corazón del Gas B, la ITC-ICG cero siete de principio a fin. Hoy no eres un poco más gasista que ayer: hoy ya piensas como un gasista.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e inspecciones</a:t>
            </a:r>
          </a:p>
          <a:p>
            <a:r>
              <a:rPr sz="2200" b="0" i="0">
                <a:solidFill>
                  <a:srgbClr val="CADCFC"/>
                </a:solidFill>
                <a:latin typeface="Montserrat"/>
              </a:rPr>
              <a:t>Inspección, revisión, modificación y modelos de impresos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hábiles: anomalía secundaria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10</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que se guardan los datos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4</a:t>
            </a:r>
          </a:p>
          <a:p>
            <a:pPr>
              <a:spcAft>
                <a:spcPts val="900"/>
              </a:spcAft>
            </a:pPr>
            <a:r>
              <a:rPr sz="1800" b="1" i="0">
                <a:solidFill>
                  <a:srgbClr val="E8801A"/>
                </a:solidFill>
                <a:latin typeface="Montserrat"/>
              </a:rPr>
              <a:t>02   </a:t>
            </a:r>
            <a:r>
              <a:rPr sz="1700" b="0" i="0">
                <a:solidFill>
                  <a:srgbClr val="1B2330"/>
                </a:solidFill>
                <a:latin typeface="Montserrat"/>
              </a:rPr>
              <a:t>Apartado 4.1</a:t>
            </a:r>
          </a:p>
          <a:p>
            <a:pPr>
              <a:spcAft>
                <a:spcPts val="900"/>
              </a:spcAft>
            </a:pPr>
            <a:r>
              <a:rPr sz="1800" b="1" i="0">
                <a:solidFill>
                  <a:srgbClr val="E8801A"/>
                </a:solidFill>
                <a:latin typeface="Montserrat"/>
              </a:rPr>
              <a:t>03   </a:t>
            </a:r>
            <a:r>
              <a:rPr sz="1700" b="0" i="0">
                <a:solidFill>
                  <a:srgbClr val="1B2330"/>
                </a:solidFill>
                <a:latin typeface="Montserrat"/>
              </a:rPr>
              <a:t>Apartado 4.1.1</a:t>
            </a:r>
          </a:p>
          <a:p>
            <a:pPr>
              <a:spcAft>
                <a:spcPts val="900"/>
              </a:spcAft>
            </a:pPr>
            <a:r>
              <a:rPr sz="1800" b="1" i="0">
                <a:solidFill>
                  <a:srgbClr val="E8801A"/>
                </a:solidFill>
                <a:latin typeface="Montserrat"/>
              </a:rPr>
              <a:t>04   </a:t>
            </a:r>
            <a:r>
              <a:rPr sz="1700" b="0" i="0">
                <a:solidFill>
                  <a:srgbClr val="1B2330"/>
                </a:solidFill>
                <a:latin typeface="Montserrat"/>
              </a:rPr>
              <a:t>Apartado 4.2</a:t>
            </a:r>
          </a:p>
          <a:p>
            <a:pPr>
              <a:spcAft>
                <a:spcPts val="900"/>
              </a:spcAft>
            </a:pPr>
            <a:r>
              <a:rPr sz="1800" b="1" i="0">
                <a:solidFill>
                  <a:srgbClr val="E8801A"/>
                </a:solidFill>
                <a:latin typeface="Montserrat"/>
              </a:rPr>
              <a:t>05   </a:t>
            </a:r>
            <a:r>
              <a:rPr sz="1700" b="0" i="0">
                <a:solidFill>
                  <a:srgbClr val="1B2330"/>
                </a:solidFill>
                <a:latin typeface="Montserrat"/>
              </a:rPr>
              <a:t>Apartado 5</a:t>
            </a:r>
          </a:p>
          <a:p>
            <a:pPr>
              <a:spcAft>
                <a:spcPts val="900"/>
              </a:spcAft>
            </a:pPr>
            <a:r>
              <a:rPr sz="1800" b="1" i="0">
                <a:solidFill>
                  <a:srgbClr val="E8801A"/>
                </a:solidFill>
                <a:latin typeface="Montserrat"/>
              </a:rPr>
              <a:t>06   </a:t>
            </a:r>
            <a:r>
              <a:rPr sz="1700" b="0" i="0">
                <a:solidFill>
                  <a:srgbClr val="1B2330"/>
                </a:solidFill>
                <a:latin typeface="Montserrat"/>
              </a:rPr>
              <a:t>Anexo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mantiene la instalación?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es el responsable</a:t>
            </a:r>
          </a:p>
          <a:p>
            <a:pPr>
              <a:spcAft>
                <a:spcPts val="1100"/>
              </a:spcAft>
            </a:pPr>
            <a:r>
              <a:rPr sz="1600" b="1" i="0">
                <a:solidFill>
                  <a:srgbClr val="E8801A"/>
                </a:solidFill>
                <a:latin typeface="Montserrat"/>
              </a:rPr>
              <a:t>▸  </a:t>
            </a:r>
            <a:r>
              <a:rPr sz="1600" b="0" i="0">
                <a:solidFill>
                  <a:srgbClr val="1B2330"/>
                </a:solidFill>
                <a:latin typeface="Montserrat"/>
              </a:rPr>
              <a:t>En su defecto, los usuarios</a:t>
            </a:r>
          </a:p>
          <a:p>
            <a:pPr>
              <a:spcAft>
                <a:spcPts val="1100"/>
              </a:spcAft>
            </a:pPr>
            <a:r>
              <a:rPr sz="1600" b="1" i="0">
                <a:solidFill>
                  <a:srgbClr val="E8801A"/>
                </a:solidFill>
                <a:latin typeface="Montserrat"/>
              </a:rPr>
              <a:t>▸  </a:t>
            </a:r>
            <a:r>
              <a:rPr sz="1600" b="0" i="0">
                <a:solidFill>
                  <a:srgbClr val="1B2330"/>
                </a:solidFill>
                <a:latin typeface="Montserrat"/>
              </a:rPr>
              <a:t>Modificaciones: siempre un instalador</a:t>
            </a:r>
          </a:p>
        </p:txBody>
      </p:sp>
      <p:sp>
        <p:nvSpPr>
          <p:cNvPr id="9" name="imgph" descr="IMGQ:homeowner checking gas boiler at ho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homeowner checking gas boiler at home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LA GRAN DISTINCIÓN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 una pregunta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¿Está conectada a la red?</a:t>
            </a:r>
          </a:p>
          <a:p>
            <a:pPr>
              <a:spcAft>
                <a:spcPts val="1100"/>
              </a:spcAft>
            </a:pPr>
            <a:r>
              <a:rPr sz="1600" b="1" i="0">
                <a:solidFill>
                  <a:srgbClr val="E8801A"/>
                </a:solidFill>
                <a:latin typeface="Montserrat"/>
              </a:rPr>
              <a:t>▸  </a:t>
            </a:r>
            <a:r>
              <a:rPr sz="1600" b="0" i="0">
                <a:solidFill>
                  <a:srgbClr val="1B2330"/>
                </a:solidFill>
                <a:latin typeface="Montserrat"/>
              </a:rPr>
              <a:t>Sí → inspección (4.1)</a:t>
            </a:r>
          </a:p>
          <a:p>
            <a:pPr>
              <a:spcAft>
                <a:spcPts val="1100"/>
              </a:spcAft>
            </a:pPr>
            <a:r>
              <a:rPr sz="1600" b="1" i="0">
                <a:solidFill>
                  <a:srgbClr val="E8801A"/>
                </a:solidFill>
                <a:latin typeface="Montserrat"/>
              </a:rPr>
              <a:t>▸  </a:t>
            </a:r>
            <a:r>
              <a:rPr sz="1600" b="0" i="0">
                <a:solidFill>
                  <a:srgbClr val="1B2330"/>
                </a:solidFill>
                <a:latin typeface="Montserrat"/>
              </a:rPr>
              <a:t>No → revisión (4.2)</a:t>
            </a:r>
          </a:p>
          <a:p>
            <a:pPr>
              <a:spcAft>
                <a:spcPts val="1100"/>
              </a:spcAft>
            </a:pPr>
            <a:r>
              <a:rPr sz="1600" b="1" i="0">
                <a:solidFill>
                  <a:srgbClr val="E8801A"/>
                </a:solidFill>
                <a:latin typeface="Montserrat"/>
              </a:rPr>
              <a:t>▸  </a:t>
            </a:r>
            <a:r>
              <a:rPr sz="1600" b="0" i="0">
                <a:solidFill>
                  <a:srgbClr val="1B2330"/>
                </a:solidFill>
                <a:latin typeface="Montserrat"/>
              </a:rPr>
              <a:t>Las dos: cada 5 años</a:t>
            </a:r>
          </a:p>
        </p:txBody>
      </p:sp>
      <p:sp>
        <p:nvSpPr>
          <p:cNvPr id="9" name="imgph" descr="IMGQ:gas meter connected to street distribution net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connected to street distribution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INSPECCIÓN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cada cinco años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alimentadas desde red</a:t>
            </a:r>
          </a:p>
          <a:p>
            <a:pPr>
              <a:spcAft>
                <a:spcPts val="1100"/>
              </a:spcAft>
            </a:pPr>
            <a:r>
              <a:rPr sz="1600" b="1" i="0">
                <a:solidFill>
                  <a:srgbClr val="E8801A"/>
                </a:solidFill>
                <a:latin typeface="Montserrat"/>
              </a:rPr>
              <a:t>▸  </a:t>
            </a:r>
            <a:r>
              <a:rPr sz="1600" b="0" i="0">
                <a:solidFill>
                  <a:srgbClr val="1B2330"/>
                </a:solidFill>
                <a:latin typeface="Montserrat"/>
              </a:rPr>
              <a:t>Dentro del año natural de vencimiento</a:t>
            </a:r>
          </a:p>
          <a:p>
            <a:pPr>
              <a:spcAft>
                <a:spcPts val="1100"/>
              </a:spcAft>
            </a:pPr>
            <a:r>
              <a:rPr sz="1600" b="1" i="0">
                <a:solidFill>
                  <a:srgbClr val="E8801A"/>
                </a:solidFill>
                <a:latin typeface="Montserrat"/>
              </a:rPr>
              <a:t>▸  </a:t>
            </a:r>
            <a:r>
              <a:rPr sz="1600" b="0" i="0">
                <a:solidFill>
                  <a:srgbClr val="1B2330"/>
                </a:solidFill>
                <a:latin typeface="Montserrat"/>
              </a:rPr>
              <a:t>La parte común, también cada 5 años</a:t>
            </a:r>
          </a:p>
        </p:txBody>
      </p:sp>
      <p:sp>
        <p:nvSpPr>
          <p:cNvPr id="9" name="imgph" descr="IMGQ:technician inspecting gas installation with checkli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inspecting gas installation with checklist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aparato, ¿entra o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70 kW: llave de usuario, aparatos incluidos</a:t>
            </a:r>
          </a:p>
          <a:p>
            <a:pPr>
              <a:spcAft>
                <a:spcPts val="1100"/>
              </a:spcAft>
            </a:pPr>
            <a:r>
              <a:rPr sz="1600" b="1" i="0">
                <a:solidFill>
                  <a:srgbClr val="E8801A"/>
                </a:solidFill>
                <a:latin typeface="Montserrat"/>
              </a:rPr>
              <a:t>▸  </a:t>
            </a:r>
            <a:r>
              <a:rPr sz="1600" b="0" i="0">
                <a:solidFill>
                  <a:srgbClr val="1B2330"/>
                </a:solidFill>
                <a:latin typeface="Montserrat"/>
              </a:rPr>
              <a:t>&gt; 70 kW: llave de edificio, excluidos</a:t>
            </a:r>
          </a:p>
          <a:p>
            <a:pPr>
              <a:spcAft>
                <a:spcPts val="1100"/>
              </a:spcAft>
            </a:pPr>
            <a:r>
              <a:rPr sz="1600" b="1" i="0">
                <a:solidFill>
                  <a:srgbClr val="E8801A"/>
                </a:solidFill>
                <a:latin typeface="Montserrat"/>
              </a:rPr>
              <a:t>▸  </a:t>
            </a:r>
            <a:r>
              <a:rPr sz="1600" b="0" i="0">
                <a:solidFill>
                  <a:srgbClr val="1B2330"/>
                </a:solidFill>
                <a:latin typeface="Montserrat"/>
              </a:rPr>
              <a:t>&gt; 5 bar: llave de acometida, excluidos</a:t>
            </a:r>
          </a:p>
        </p:txBody>
      </p:sp>
      <p:sp>
        <p:nvSpPr>
          <p:cNvPr id="9" name="imgph" descr="IMGQ:gas shut off valve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on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mira en la inspección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y conservación</a:t>
            </a:r>
          </a:p>
          <a:p>
            <a:pPr>
              <a:spcAft>
                <a:spcPts val="1100"/>
              </a:spcAft>
            </a:pPr>
            <a:r>
              <a:rPr sz="1600" b="1" i="0">
                <a:solidFill>
                  <a:srgbClr val="E8801A"/>
                </a:solidFill>
                <a:latin typeface="Montserrat"/>
              </a:rPr>
              <a:t>▸  </a:t>
            </a:r>
            <a:r>
              <a:rPr sz="1600" b="0" i="0">
                <a:solidFill>
                  <a:srgbClr val="1B2330"/>
                </a:solidFill>
                <a:latin typeface="Montserrat"/>
              </a:rPr>
              <a:t>Combustión higiénica</a:t>
            </a:r>
          </a:p>
          <a:p>
            <a:pPr>
              <a:spcAft>
                <a:spcPts val="1100"/>
              </a:spcAft>
            </a:pPr>
            <a:r>
              <a:rPr sz="1600" b="1" i="0">
                <a:solidFill>
                  <a:srgbClr val="E8801A"/>
                </a:solidFill>
                <a:latin typeface="Montserrat"/>
              </a:rPr>
              <a:t>▸  </a:t>
            </a:r>
            <a:r>
              <a:rPr sz="1600" b="0" i="0">
                <a:solidFill>
                  <a:srgbClr val="1B2330"/>
                </a:solidFill>
                <a:latin typeface="Montserrat"/>
              </a:rPr>
              <a:t>Ventilación y volumen del local</a:t>
            </a:r>
          </a:p>
          <a:p>
            <a:pPr>
              <a:spcAft>
                <a:spcPts val="1100"/>
              </a:spcAft>
            </a:pPr>
            <a:r>
              <a:rPr sz="1600" b="1" i="0">
                <a:solidFill>
                  <a:srgbClr val="E8801A"/>
                </a:solidFill>
                <a:latin typeface="Montserrat"/>
              </a:rPr>
              <a:t>▸  </a:t>
            </a:r>
            <a:r>
              <a:rPr sz="1600" b="0" i="0">
                <a:solidFill>
                  <a:srgbClr val="1B2330"/>
                </a:solidFill>
                <a:latin typeface="Montserrat"/>
              </a:rPr>
              <a:t>Detección de gas y evacuación de humos</a:t>
            </a:r>
          </a:p>
        </p:txBody>
      </p:sp>
      <p:sp>
        <p:nvSpPr>
          <p:cNvPr id="9" name="imgph" descr="IMGQ:blue gas flame on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on burner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CRITERIOS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excepción peligrosa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versión de cuando se montó</a:t>
            </a:r>
          </a:p>
          <a:p>
            <a:pPr>
              <a:spcAft>
                <a:spcPts val="1100"/>
              </a:spcAft>
            </a:pPr>
            <a:r>
              <a:rPr sz="1600" b="1" i="0">
                <a:solidFill>
                  <a:srgbClr val="E8801A"/>
                </a:solidFill>
                <a:latin typeface="Montserrat"/>
              </a:rPr>
              <a:t>▸  </a:t>
            </a:r>
            <a:r>
              <a:rPr sz="1600" b="0" i="0">
                <a:solidFill>
                  <a:srgbClr val="1B2330"/>
                </a:solidFill>
                <a:latin typeface="Montserrat"/>
              </a:rPr>
              <a:t>Salvo tipo A o B en dormitorio o baño</a:t>
            </a:r>
          </a:p>
          <a:p>
            <a:pPr>
              <a:spcAft>
                <a:spcPts val="1100"/>
              </a:spcAft>
            </a:pPr>
            <a:r>
              <a:rPr sz="1600" b="1" i="0">
                <a:solidFill>
                  <a:srgbClr val="E8801A"/>
                </a:solidFill>
                <a:latin typeface="Montserrat"/>
              </a:rPr>
              <a:t>▸  </a:t>
            </a:r>
            <a:r>
              <a:rPr sz="1600" b="0" i="0">
                <a:solidFill>
                  <a:srgbClr val="1B2330"/>
                </a:solidFill>
                <a:latin typeface="Montserrat"/>
              </a:rPr>
              <a:t>y falta de detección y corte de gas</a:t>
            </a:r>
          </a:p>
          <a:p>
            <a:pPr>
              <a:spcAft>
                <a:spcPts val="1100"/>
              </a:spcAft>
            </a:pPr>
            <a:r>
              <a:rPr sz="1600" b="1" i="0">
                <a:solidFill>
                  <a:srgbClr val="E8801A"/>
                </a:solidFill>
                <a:latin typeface="Montserrat"/>
              </a:rPr>
              <a:t>▸  </a:t>
            </a:r>
            <a:r>
              <a:rPr sz="1600" b="0" i="0">
                <a:solidFill>
                  <a:srgbClr val="1B2330"/>
                </a:solidFill>
                <a:latin typeface="Montserrat"/>
              </a:rPr>
              <a:t>Esos casos: norma de hoy</a:t>
            </a:r>
          </a:p>
        </p:txBody>
      </p:sp>
      <p:sp>
        <p:nvSpPr>
          <p:cNvPr id="9" name="imgph" descr="IMGQ:gas water heater installed in bath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installed in bathroom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PROCEDIMIENTO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Aviso y quién inspecciona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distribuidor avisa con 3 meses</a:t>
            </a:r>
          </a:p>
          <a:p>
            <a:pPr>
              <a:spcAft>
                <a:spcPts val="1100"/>
              </a:spcAft>
            </a:pPr>
            <a:r>
              <a:rPr sz="1600" b="1" i="0">
                <a:solidFill>
                  <a:srgbClr val="E8801A"/>
                </a:solidFill>
                <a:latin typeface="Montserrat"/>
              </a:rPr>
              <a:t>▸  </a:t>
            </a:r>
            <a:r>
              <a:rPr sz="1600" b="0" i="0">
                <a:solidFill>
                  <a:srgbClr val="1B2330"/>
                </a:solidFill>
                <a:latin typeface="Montserrat"/>
              </a:rPr>
              <a:t>Individuales: instaladores A, B o C</a:t>
            </a:r>
          </a:p>
          <a:p>
            <a:pPr>
              <a:spcAft>
                <a:spcPts val="1100"/>
              </a:spcAft>
            </a:pPr>
            <a:r>
              <a:rPr sz="1600" b="1" i="0">
                <a:solidFill>
                  <a:srgbClr val="E8801A"/>
                </a:solidFill>
                <a:latin typeface="Montserrat"/>
              </a:rPr>
              <a:t>▸  </a:t>
            </a:r>
            <a:r>
              <a:rPr sz="1600" b="0" i="0">
                <a:solidFill>
                  <a:srgbClr val="1B2330"/>
                </a:solidFill>
                <a:latin typeface="Montserrat"/>
              </a:rPr>
              <a:t>Comunes: solo A o B</a:t>
            </a:r>
          </a:p>
        </p:txBody>
      </p:sp>
      <p:sp>
        <p:nvSpPr>
          <p:cNvPr id="9" name="imgph" descr="IMGQ:gas installer showing professional ID c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showing professional ID card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PLAZOS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cifras del procedimiento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meses: aviso de la obligación</a:t>
            </a:r>
          </a:p>
          <a:p>
            <a:pPr>
              <a:spcAft>
                <a:spcPts val="1100"/>
              </a:spcAft>
            </a:pPr>
            <a:r>
              <a:rPr sz="1600" b="1" i="0">
                <a:solidFill>
                  <a:srgbClr val="E8801A"/>
                </a:solidFill>
                <a:latin typeface="Montserrat"/>
              </a:rPr>
              <a:t>▸  </a:t>
            </a:r>
            <a:r>
              <a:rPr sz="1600" b="0" i="0">
                <a:solidFill>
                  <a:srgbClr val="1B2330"/>
                </a:solidFill>
                <a:latin typeface="Montserrat"/>
              </a:rPr>
              <a:t>5 días: antelación de la visita</a:t>
            </a:r>
          </a:p>
          <a:p>
            <a:pPr>
              <a:spcAft>
                <a:spcPts val="1100"/>
              </a:spcAft>
            </a:pPr>
            <a:r>
              <a:rPr sz="1600" b="1" i="0">
                <a:solidFill>
                  <a:srgbClr val="E8801A"/>
                </a:solidFill>
                <a:latin typeface="Montserrat"/>
              </a:rPr>
              <a:t>▸  </a:t>
            </a:r>
            <a:r>
              <a:rPr sz="1600" b="0" i="0">
                <a:solidFill>
                  <a:srgbClr val="1B2330"/>
                </a:solidFill>
                <a:latin typeface="Montserrat"/>
              </a:rPr>
              <a:t>15 días hábiles: anomalía secundaria</a:t>
            </a:r>
          </a:p>
          <a:p>
            <a:pPr>
              <a:spcAft>
                <a:spcPts val="1100"/>
              </a:spcAft>
            </a:pPr>
            <a:r>
              <a:rPr sz="1600" b="1" i="0">
                <a:solidFill>
                  <a:srgbClr val="E8801A"/>
                </a:solidFill>
                <a:latin typeface="Montserrat"/>
              </a:rPr>
              <a:t>▸  </a:t>
            </a:r>
            <a:r>
              <a:rPr sz="1600" b="0" i="0">
                <a:solidFill>
                  <a:srgbClr val="1B2330"/>
                </a:solidFill>
                <a:latin typeface="Montserrat"/>
              </a:rPr>
              <a:t>10 años: se guardan los datos</a:t>
            </a:r>
          </a:p>
        </p:txBody>
      </p:sp>
      <p:sp>
        <p:nvSpPr>
          <p:cNvPr id="9" name="imgph" descr="IMGQ:calendar and clock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and clock on desk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IMPARCIALIDAD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que inspecciona no repara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Detectas anomalías → informe</a:t>
            </a:r>
          </a:p>
          <a:p>
            <a:pPr>
              <a:spcAft>
                <a:spcPts val="1100"/>
              </a:spcAft>
            </a:pPr>
            <a:r>
              <a:rPr sz="1600" b="1" i="0">
                <a:solidFill>
                  <a:srgbClr val="E8801A"/>
                </a:solidFill>
                <a:latin typeface="Montserrat"/>
              </a:rPr>
              <a:t>▸  </a:t>
            </a:r>
            <a:r>
              <a:rPr sz="1600" b="0" i="0">
                <a:solidFill>
                  <a:srgbClr val="1B2330"/>
                </a:solidFill>
                <a:latin typeface="Montserrat"/>
              </a:rPr>
              <a:t>No las arregla quien inspecciona</a:t>
            </a:r>
          </a:p>
          <a:p>
            <a:pPr>
              <a:spcAft>
                <a:spcPts val="1100"/>
              </a:spcAft>
            </a:pPr>
            <a:r>
              <a:rPr sz="1600" b="1" i="0">
                <a:solidFill>
                  <a:srgbClr val="E8801A"/>
                </a:solidFill>
                <a:latin typeface="Montserrat"/>
              </a:rPr>
              <a:t>▸  </a:t>
            </a:r>
            <a:r>
              <a:rPr sz="1600" b="0" i="0">
                <a:solidFill>
                  <a:srgbClr val="1B2330"/>
                </a:solidFill>
                <a:latin typeface="Montserrat"/>
              </a:rPr>
              <a:t>Evita el conflicto de interés</a:t>
            </a:r>
          </a:p>
        </p:txBody>
      </p:sp>
      <p:sp>
        <p:nvSpPr>
          <p:cNvPr id="9" name="imgph" descr="IMGQ:two gas technicians discussing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gas technicians discussing paperwork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ANOMALÍAS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corta, secundaria da plazo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 corte y precinto</a:t>
            </a:r>
          </a:p>
          <a:p>
            <a:pPr>
              <a:spcAft>
                <a:spcPts val="1100"/>
              </a:spcAft>
            </a:pPr>
            <a:r>
              <a:rPr sz="1600" b="1" i="0">
                <a:solidFill>
                  <a:srgbClr val="E8801A"/>
                </a:solidFill>
                <a:latin typeface="Montserrat"/>
              </a:rPr>
              <a:t>▸  </a:t>
            </a:r>
            <a:r>
              <a:rPr sz="1600" b="0" i="0">
                <a:solidFill>
                  <a:srgbClr val="1B2330"/>
                </a:solidFill>
                <a:latin typeface="Montserrat"/>
              </a:rPr>
              <a:t>Todas las fugas son principales</a:t>
            </a:r>
          </a:p>
          <a:p>
            <a:pPr>
              <a:spcAft>
                <a:spcPts val="1100"/>
              </a:spcAft>
            </a:pPr>
            <a:r>
              <a:rPr sz="1600" b="1" i="0">
                <a:solidFill>
                  <a:srgbClr val="E8801A"/>
                </a:solidFill>
                <a:latin typeface="Montserrat"/>
              </a:rPr>
              <a:t>▸  </a:t>
            </a:r>
            <a:r>
              <a:rPr sz="1600" b="0" i="0">
                <a:solidFill>
                  <a:srgbClr val="1B2330"/>
                </a:solidFill>
                <a:latin typeface="Montserrat"/>
              </a:rPr>
              <a:t>Secundaria → plazo de corrección</a:t>
            </a:r>
          </a:p>
          <a:p>
            <a:pPr>
              <a:spcAft>
                <a:spcPts val="1100"/>
              </a:spcAft>
            </a:pPr>
            <a:r>
              <a:rPr sz="1600" b="1" i="0">
                <a:solidFill>
                  <a:srgbClr val="E8801A"/>
                </a:solidFill>
                <a:latin typeface="Montserrat"/>
              </a:rPr>
              <a:t>▸  </a:t>
            </a:r>
            <a:r>
              <a:rPr sz="1600" b="0" i="0">
                <a:solidFill>
                  <a:srgbClr val="1B2330"/>
                </a:solidFill>
                <a:latin typeface="Montserrat"/>
              </a:rPr>
              <a:t>Volver a dar gas: certificado de subsanación</a:t>
            </a:r>
          </a:p>
        </p:txBody>
      </p:sp>
      <p:sp>
        <p:nvSpPr>
          <p:cNvPr id="9" name="imgph" descr="IMGQ:sealed and tagged gas valve shut of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and tagged gas valve shut off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fuera de la red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sin red (depósito o bombonas)</a:t>
            </a:r>
          </a:p>
          <a:p>
            <a:pPr>
              <a:spcAft>
                <a:spcPts val="1100"/>
              </a:spcAft>
            </a:pPr>
            <a:r>
              <a:rPr sz="1600" b="1" i="0">
                <a:solidFill>
                  <a:srgbClr val="E8801A"/>
                </a:solidFill>
                <a:latin typeface="Montserrat"/>
              </a:rPr>
              <a:t>▸  </a:t>
            </a:r>
            <a:r>
              <a:rPr sz="1600" b="0" i="0">
                <a:solidFill>
                  <a:srgbClr val="1B2330"/>
                </a:solidFill>
                <a:latin typeface="Montserrat"/>
              </a:rPr>
              <a:t>El titular la encarga a una instaladora</a:t>
            </a:r>
          </a:p>
          <a:p>
            <a:pPr>
              <a:spcAft>
                <a:spcPts val="1100"/>
              </a:spcAft>
            </a:pPr>
            <a:r>
              <a:rPr sz="1600" b="1" i="0">
                <a:solidFill>
                  <a:srgbClr val="E8801A"/>
                </a:solidFill>
                <a:latin typeface="Montserrat"/>
              </a:rPr>
              <a:t>▸  </a:t>
            </a:r>
            <a:r>
              <a:rPr sz="1600" b="0" i="0">
                <a:solidFill>
                  <a:srgbClr val="1B2330"/>
                </a:solidFill>
                <a:latin typeface="Montserrat"/>
              </a:rPr>
              <a:t>Cada 5 años; coincide con el depósito</a:t>
            </a:r>
          </a:p>
        </p:txBody>
      </p:sp>
      <p:sp>
        <p:nvSpPr>
          <p:cNvPr id="9" name="imgph" descr="IMGQ:LPG storage tank in garden of 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storage tank in garden of house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protección catódica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aparece en la revisión</a:t>
            </a:r>
          </a:p>
          <a:p>
            <a:pPr>
              <a:spcAft>
                <a:spcPts val="1100"/>
              </a:spcAft>
            </a:pPr>
            <a:r>
              <a:rPr sz="1600" b="1" i="0">
                <a:solidFill>
                  <a:srgbClr val="E8801A"/>
                </a:solidFill>
                <a:latin typeface="Montserrat"/>
              </a:rPr>
              <a:t>▸  </a:t>
            </a:r>
            <a:r>
              <a:rPr sz="1600" b="0" i="0">
                <a:solidFill>
                  <a:srgbClr val="1B2330"/>
                </a:solidFill>
                <a:latin typeface="Montserrat"/>
              </a:rPr>
              <a:t>Evita que el acero enterrado se corroa</a:t>
            </a:r>
          </a:p>
          <a:p>
            <a:pPr>
              <a:spcAft>
                <a:spcPts val="1100"/>
              </a:spcAft>
            </a:pPr>
            <a:r>
              <a:rPr sz="1600" b="1" i="0">
                <a:solidFill>
                  <a:srgbClr val="E8801A"/>
                </a:solidFill>
                <a:latin typeface="Montserrat"/>
              </a:rPr>
              <a:t>▸  </a:t>
            </a:r>
            <a:r>
              <a:rPr sz="1600" b="0" i="0">
                <a:solidFill>
                  <a:srgbClr val="1B2330"/>
                </a:solidFill>
                <a:latin typeface="Montserrat"/>
              </a:rPr>
              <a:t>Señal: piensa depósito y acero enterrado</a:t>
            </a:r>
          </a:p>
        </p:txBody>
      </p:sp>
      <p:sp>
        <p:nvSpPr>
          <p:cNvPr id="9" name="imgph" descr="IMGQ:buried steel gas pipe with cathodic protection ano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steel gas pipe with cathodic protection anode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IRG-4 e IRG-5: revisión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IRG-4: revisión individual, sin red</a:t>
            </a:r>
          </a:p>
          <a:p>
            <a:pPr>
              <a:spcAft>
                <a:spcPts val="1100"/>
              </a:spcAft>
            </a:pPr>
            <a:r>
              <a:rPr sz="1600" b="1" i="0">
                <a:solidFill>
                  <a:srgbClr val="E8801A"/>
                </a:solidFill>
                <a:latin typeface="Montserrat"/>
              </a:rPr>
              <a:t>▸  </a:t>
            </a:r>
            <a:r>
              <a:rPr sz="1600" b="0" i="0">
                <a:solidFill>
                  <a:srgbClr val="1B2330"/>
                </a:solidFill>
                <a:latin typeface="Montserrat"/>
              </a:rPr>
              <a:t>IRG-5: revisión común, sin red</a:t>
            </a:r>
          </a:p>
          <a:p>
            <a:pPr>
              <a:spcAft>
                <a:spcPts val="1100"/>
              </a:spcAft>
            </a:pPr>
            <a:r>
              <a:rPr sz="1600" b="1" i="0">
                <a:solidFill>
                  <a:srgbClr val="E8801A"/>
                </a:solidFill>
                <a:latin typeface="Montserrat"/>
              </a:rPr>
              <a:t>▸  </a:t>
            </a:r>
            <a:r>
              <a:rPr sz="1600" b="0" i="0">
                <a:solidFill>
                  <a:srgbClr val="1B2330"/>
                </a:solidFill>
                <a:latin typeface="Montserrat"/>
              </a:rPr>
              <a:t>Validez: cinco años</a:t>
            </a:r>
          </a:p>
        </p:txBody>
      </p:sp>
      <p:sp>
        <p:nvSpPr>
          <p:cNvPr id="9" name="imgph" descr="IMGQ:gas technician filling revision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filling revision certificate form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metro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de material o trazado &gt; 1 m</a:t>
            </a:r>
          </a:p>
          <a:p>
            <a:pPr>
              <a:spcAft>
                <a:spcPts val="1100"/>
              </a:spcAft>
            </a:pPr>
            <a:r>
              <a:rPr sz="1600" b="1" i="0">
                <a:solidFill>
                  <a:srgbClr val="E8801A"/>
                </a:solidFill>
                <a:latin typeface="Montserrat"/>
              </a:rPr>
              <a:t>▸  </a:t>
            </a:r>
            <a:r>
              <a:rPr sz="1600" b="0" i="0">
                <a:solidFill>
                  <a:srgbClr val="1B2330"/>
                </a:solidFill>
                <a:latin typeface="Montserrat"/>
              </a:rPr>
              <a:t>Ampliación de consumo</a:t>
            </a:r>
          </a:p>
          <a:p>
            <a:pPr>
              <a:spcAft>
                <a:spcPts val="1100"/>
              </a:spcAft>
            </a:pPr>
            <a:r>
              <a:rPr sz="1600" b="1" i="0">
                <a:solidFill>
                  <a:srgbClr val="E8801A"/>
                </a:solidFill>
                <a:latin typeface="Montserrat"/>
              </a:rPr>
              <a:t>▸  </a:t>
            </a:r>
            <a:r>
              <a:rPr sz="1600" b="0" i="0">
                <a:solidFill>
                  <a:srgbClr val="1B2330"/>
                </a:solidFill>
                <a:latin typeface="Montserrat"/>
              </a:rPr>
              <a:t>Cambio de aparato por otro distinto</a:t>
            </a:r>
          </a:p>
        </p:txBody>
      </p:sp>
      <p:sp>
        <p:nvSpPr>
          <p:cNvPr id="9" name="imgph" descr="IMGQ:installer replacing section of copp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replacing section of copper gas pipe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cadena de la modificación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Instaladora comunica al suministrador</a:t>
            </a:r>
          </a:p>
          <a:p>
            <a:pPr>
              <a:spcAft>
                <a:spcPts val="1100"/>
              </a:spcAft>
            </a:pPr>
            <a:r>
              <a:rPr sz="1600" b="1" i="0">
                <a:solidFill>
                  <a:srgbClr val="E8801A"/>
                </a:solidFill>
                <a:latin typeface="Montserrat"/>
              </a:rPr>
              <a:t>▸  </a:t>
            </a:r>
            <a:r>
              <a:rPr sz="1600" b="0" i="0">
                <a:solidFill>
                  <a:srgbClr val="1B2330"/>
                </a:solidFill>
                <a:latin typeface="Montserrat"/>
              </a:rPr>
              <a:t>Suministrador pide enganche al distribuidor</a:t>
            </a:r>
          </a:p>
          <a:p>
            <a:pPr>
              <a:spcAft>
                <a:spcPts val="1100"/>
              </a:spcAft>
            </a:pPr>
            <a:r>
              <a:rPr sz="1600" b="1" i="0">
                <a:solidFill>
                  <a:srgbClr val="E8801A"/>
                </a:solidFill>
                <a:latin typeface="Montserrat"/>
              </a:rPr>
              <a:t>▸  </a:t>
            </a:r>
            <a:r>
              <a:rPr sz="1600" b="0" i="0">
                <a:solidFill>
                  <a:srgbClr val="1B2330"/>
                </a:solidFill>
                <a:latin typeface="Montserrat"/>
              </a:rPr>
              <a:t>Distribuidor hace pruebas previas</a:t>
            </a:r>
          </a:p>
          <a:p>
            <a:pPr>
              <a:spcAft>
                <a:spcPts val="1100"/>
              </a:spcAft>
            </a:pPr>
            <a:r>
              <a:rPr sz="1600" b="1" i="0">
                <a:solidFill>
                  <a:srgbClr val="E8801A"/>
                </a:solidFill>
                <a:latin typeface="Montserrat"/>
              </a:rPr>
              <a:t>▸  </a:t>
            </a:r>
            <a:r>
              <a:rPr sz="1600" b="0" i="0">
                <a:solidFill>
                  <a:srgbClr val="1B2330"/>
                </a:solidFill>
                <a:latin typeface="Montserrat"/>
              </a:rPr>
              <a:t>El usuario final paga el enganche</a:t>
            </a:r>
          </a:p>
        </p:txBody>
      </p:sp>
      <p:sp>
        <p:nvSpPr>
          <p:cNvPr id="9" name="imgph" descr="IMGQ:gas technician connecting meter with too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connecting meter with tools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IMPRESOS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cinco modelos IRG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2, 3: instalación (montaje)</a:t>
            </a:r>
          </a:p>
          <a:p>
            <a:pPr>
              <a:spcAft>
                <a:spcPts val="1100"/>
              </a:spcAft>
            </a:pPr>
            <a:r>
              <a:rPr sz="1600" b="1" i="0">
                <a:solidFill>
                  <a:srgbClr val="E8801A"/>
                </a:solidFill>
                <a:latin typeface="Montserrat"/>
              </a:rPr>
              <a:t>▸  </a:t>
            </a:r>
            <a:r>
              <a:rPr sz="1600" b="0" i="0">
                <a:solidFill>
                  <a:srgbClr val="1B2330"/>
                </a:solidFill>
                <a:latin typeface="Montserrat"/>
              </a:rPr>
              <a:t>IRG-4, 5: revisión (sin red)</a:t>
            </a:r>
          </a:p>
          <a:p>
            <a:pPr>
              <a:spcAft>
                <a:spcPts val="1100"/>
              </a:spcAft>
            </a:pPr>
            <a:r>
              <a:rPr sz="1600" b="1" i="0">
                <a:solidFill>
                  <a:srgbClr val="E8801A"/>
                </a:solidFill>
                <a:latin typeface="Montserrat"/>
              </a:rPr>
              <a:t>▸  </a:t>
            </a:r>
            <a:r>
              <a:rPr sz="1600" b="0" i="0">
                <a:solidFill>
                  <a:srgbClr val="1B2330"/>
                </a:solidFill>
                <a:latin typeface="Montserrat"/>
              </a:rPr>
              <a:t>Inspección de red: sin número IRG</a:t>
            </a:r>
          </a:p>
        </p:txBody>
      </p:sp>
      <p:sp>
        <p:nvSpPr>
          <p:cNvPr id="9" name="imgph" descr="IMGQ:set of official technical forms on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set of official technical forms on 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INFORMACIÓN MÍNIMA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Gas natural o GLP: se identifican distinto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 punto de suministro</a:t>
            </a:r>
          </a:p>
          <a:p>
            <a:pPr>
              <a:spcAft>
                <a:spcPts val="1100"/>
              </a:spcAft>
            </a:pPr>
            <a:r>
              <a:rPr sz="1600" b="1" i="0">
                <a:solidFill>
                  <a:srgbClr val="E8801A"/>
                </a:solidFill>
                <a:latin typeface="Montserrat"/>
              </a:rPr>
              <a:t>▸  </a:t>
            </a:r>
            <a:r>
              <a:rPr sz="1600" b="0" i="0">
                <a:solidFill>
                  <a:srgbClr val="1B2330"/>
                </a:solidFill>
                <a:latin typeface="Montserrat"/>
              </a:rPr>
              <a:t>GLP → número de póliza</a:t>
            </a:r>
          </a:p>
          <a:p>
            <a:pPr>
              <a:spcAft>
                <a:spcPts val="1100"/>
              </a:spcAft>
            </a:pPr>
            <a:r>
              <a:rPr sz="1600" b="1" i="0">
                <a:solidFill>
                  <a:srgbClr val="E8801A"/>
                </a:solidFill>
                <a:latin typeface="Montserrat"/>
              </a:rPr>
              <a:t>▸  </a:t>
            </a:r>
            <a:r>
              <a:rPr sz="1600" b="0" i="0">
                <a:solidFill>
                  <a:srgbClr val="1B2330"/>
                </a:solidFill>
                <a:latin typeface="Montserrat"/>
              </a:rPr>
              <a:t>Aparece en todos los impresos</a:t>
            </a:r>
          </a:p>
        </p:txBody>
      </p:sp>
      <p:sp>
        <p:nvSpPr>
          <p:cNvPr id="9" name="imgph" descr="IMGQ:gas bill document with supply point co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bill document with supply point code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la ITC-ICG 07 de principio a fin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Inspección con red, revisión sin red: cada 5 años</a:t>
            </a:r>
          </a:p>
          <a:p>
            <a:pPr>
              <a:spcAft>
                <a:spcPts val="1200"/>
              </a:spcAft>
            </a:pPr>
            <a:r>
              <a:rPr sz="2000" b="1" i="0">
                <a:solidFill>
                  <a:srgbClr val="F4A24C"/>
                </a:solidFill>
                <a:latin typeface="Montserrat"/>
              </a:rPr>
              <a:t>✓  </a:t>
            </a:r>
            <a:r>
              <a:rPr sz="1900" b="0" i="0">
                <a:solidFill>
                  <a:srgbClr val="FFFFFF"/>
                </a:solidFill>
                <a:latin typeface="Montserrat"/>
              </a:rPr>
              <a:t>El aparato entra en la inspección hasta 70 kW</a:t>
            </a:r>
          </a:p>
          <a:p>
            <a:pPr>
              <a:spcAft>
                <a:spcPts val="1200"/>
              </a:spcAft>
            </a:pPr>
            <a:r>
              <a:rPr sz="2000" b="1" i="0">
                <a:solidFill>
                  <a:srgbClr val="F4A24C"/>
                </a:solidFill>
                <a:latin typeface="Montserrat"/>
              </a:rPr>
              <a:t>✓  </a:t>
            </a:r>
            <a:r>
              <a:rPr sz="1900" b="0" i="0">
                <a:solidFill>
                  <a:srgbClr val="FFFFFF"/>
                </a:solidFill>
                <a:latin typeface="Montserrat"/>
              </a:rPr>
              <a:t>Principal corta; secundaria da plazo</a:t>
            </a:r>
          </a:p>
          <a:p>
            <a:pPr>
              <a:spcAft>
                <a:spcPts val="1200"/>
              </a:spcAft>
            </a:pPr>
            <a:r>
              <a:rPr sz="2000" b="1" i="0">
                <a:solidFill>
                  <a:srgbClr val="F4A24C"/>
                </a:solidFill>
                <a:latin typeface="Montserrat"/>
              </a:rPr>
              <a:t>✓  </a:t>
            </a:r>
            <a:r>
              <a:rPr sz="1900" b="0" i="0">
                <a:solidFill>
                  <a:srgbClr val="FFFFFF"/>
                </a:solidFill>
                <a:latin typeface="Montserrat"/>
              </a:rPr>
              <a:t>IRG-1 a IRG-5 y la regla del metro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corazón del Gas B. De aquí sales sabiendo diseñar, legalizar y mantener una instalación.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
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 dice que aquí empieza de verdad el Gas B?</a:t>
            </a:r>
          </a:p>
          <a:p>
            <a:r>
              <a:t>N2: Mira, hasta ahora hemos visto el marco general, el reglamento y sus definiciones. Pero la instrucción que de verdad regula lo que tú montas con tus manos es esta, la ITC-ICG cero siete. Se ocupa de la instalación receptora, es decir, de todo el recorrido del gas desde que entra en el edificio hasta la llave del último aparato. En este primer vídeo vemos para qué sirve, a qué se aplica y, lo más técnico, cómo se diseña y se ejecuta: por dónde salen los humos, cómo son las chimeneas, los patios de ventilación, las salas de calderas y qué norma mandas según la presión. Son datos que caen sí o sí en el examen, así que aquí no sobra nada.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estos tres números por qué son tan importantes?</a:t>
            </a:r>
          </a:p>
          <a:p>
            <a:r>
              <a:t>N2: Porque son las tres fronteras que más se preguntan de este vídeo. Setenta kilovatios es el tope de potencia para poder sacar los humos por la fachada en un aparato estanco o de tiro forzado. Cinco bar es la raya que decide qué norma técnica sigues: por debajo una, por encima otra. Y veinticuatro con cuatro kilovatios es el límite del aparato de tiro natural que solo hace agua caliente para poder salir también por fachada. Si te quedas con estas tres cifras, ya llevas medio vídeo ganado.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¿Esto es solo para las tuberías?</a:t>
            </a:r>
          </a:p>
          <a:p>
            <a:r>
              <a:t>N2: Buena pregunta, y la respuesta es que no, va mucho más allá. Fíjate en tres palabras que aparecen juntas: diseño, ejecución y utilización. Eso significa que la instrucción no solo dice cómo se monta la instalación, sino también cómo se proyecta antes y cómo se usa y se mantiene después. Es el manual completo, de la cuna a la sepultura. Y ahora el detalle que se pregunta: además de las tuberías, regula los locales donde va todo, la cocina, el cuarto del contador, la sala de calderas, y también los aparatos que enchufas al final. Ejemplo de obra: si la caldera está bien montada pero la cocina no ventila como toca, la instalación no cumple, porque el local también entra en la norma.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es exactamente la instalación receptora?</a:t>
            </a:r>
          </a:p>
          <a:p>
            <a:r>
              <a:t>N2: Recupéralo del tema del reglamento: es todo el conjunto de tuberías y accesorios que va desde la llave de acometida, que se queda fuera y no cuenta, hasta las llaves de conexión de cada aparato, que sí cuentan. En el caso más completo tiene tres tramos metidos uno dentro de otro: primero la acometida interior, que entra de la calle al edificio; luego la instalación común, el montante que sube por el edificio; y por último la instalación individual, la de dentro de cada vivienda. La ITC-ICG cero siete es la que pone las reglas a todo ese conjunto. Si no tienes claros los tres tramos, párate un momento y repásalos, porque los vamos a usar todo el rato.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aprenderme a calcular esas normas?</a:t>
            </a:r>
          </a:p>
          <a:p>
            <a:r>
              <a:t>N2: Tranquilo, no. Nadie te va a pedir que calcules una chimenea de memoria. Lo que sí tienes que saber es quién manda en cada cosa. Para diseñar y calcular la chimenea de un edificio nuevo o rehabilitado, mandan tres normas: la UNE ciento veintitrés mil uno, y las dos UNE-EN trece mil trescientos ochenta y cuatro, la uno y la dos. Piensa que es como el plano de cálculo: te dice qué diámetro y qué tiro necesita la chimenea para que los humos salgan bien y no se te devuelvan a la vivienda. En el examen te preguntan la referencia de la norma, no el número final del cálculo.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cómo distingo qué norma es para el material?</a:t>
            </a:r>
          </a:p>
          <a:p>
            <a:r>
              <a:t>N2: Aquí hay solo dos opciones y un truco. Si la chimenea es metálica, normalmente de acero inoxidable, el material lo manda la UNE-EN mil ochocientos cincuenta y seis guion uno. Si no es metálica, por ejemplo de obra o cerámica, entonces la ene te e, ese hache, setenta y cuatro. El truco para no fallar: mil ochocientos cincuenta y seis es de metal. Repítelo un par de veces y ya no se te olvida. Por qué importa: una chimenea de un material que no aguanta la temperatura o los ácidos de la condensación se degrada, y una chimenea rota deja escapar humos con monóxido dentro del edificio.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salen los humos normalmente?</a:t>
            </a:r>
          </a:p>
          <a:p>
            <a:r>
              <a:t>N2: La regla general es fácil y conviene grabarla: los productos de la combustión salen por cubierta, es decir, por el tejado. Esa es la forma segura, porque arriba se dispersan y no molestan a nadie. Hay una excepción práctica para reformas: si el edificio ya tiene un conducto de evacuación que sirve para el nuevo aparato y cumple la reglamentación de hoy, aprovechas ese conducto que ya existe en lugar de abrir uno nuevo. Ejemplo de obra: cambias una caldera vieja por una nueva compatible y el humero de siempre vale, pues se reutiliza. Ahora bien, hay casos en que se permite sacar por fachada, y eso lo vemos en la siguiente.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puedo sacar los humos por la pared en vez de por el tejado?</a:t>
            </a:r>
          </a:p>
          <a:p>
            <a:r>
              <a:t>N2: Solo en dos casos pequeños y seguros, y estas dos cifras son de las estrella. Uno: aparatos estancos o de tiro forzado con potencia igual o menor de setenta kilovatios. Dos: aparatos de tiro natural que sirvan únicamente para agua caliente sanitaria, con potencia igual o menor de veinticuatro con cuatro kilovatios. Fíjate en la lógica: al tiro natural, que es el más primitivo, solo se le deja si es exclusivo de agua caliente y muy pequeño; a los estancos y de tiro forzado, que controlan mejor los humos, se les deja hasta setenta. Y una coletilla que se repite: sin perjuicio del RITE, que significa que aunque el gas te lo permita, el reglamento de calefacción puede poner condiciones extra. No se contradicen, se suman.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diferencia hay entre esos tres tipos?</a:t>
            </a:r>
          </a:p>
          <a:p>
            <a:r>
              <a:t>N2: Vamos de lo más seguro a lo menos. Un aparato estanco coge el aire de fuera y echa los humos fuera por un conducto cerrado; no toca en ningún momento el aire de la habitación, por eso es el más seguro. Uno de tiro forzado lleva un ventilador que empuja los humos hacia afuera; ayuda a que salgan aunque el conducto sea largo. Y uno de tiro natural deja que los humos suban solos, simplemente porque están calientes y pesan menos, como el humo de una hoguera. Entiende esto y entiendes las cifras de antes: cuanto más control tiene el aparato sobre sus humos, más margen te da el reglamento para sacarlos por fachada. Por eso los estancos y de tiro forzado llegan a setenta y el tiro natural se queda en veinticuatro con cuatro y solo para agua caliente.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tamaño tiene que tener el patio de ventilación?</a:t>
            </a:r>
          </a:p>
          <a:p>
            <a:r>
              <a:t>N2: Depende de si el edificio es de siempre o de obra nueva, y son dos fórmulas que no debes mezclar. En un edificio ya existente, la superficie en planta del patio tiene que ser al menos cero coma cinco por ene te, y nunca menos de cuatro metros cuadrados. En obra nueva se exige el doble, uno por ene te, y siempre más de seis metros cuadrados. ¿Qué es ese ene te? Simplemente el número de locales o viviendas que tiran sus humos a ese patio; cuantos más aparatos desembocan, más grande tiene que ser. La idea de fondo: en obra nueva, como se diseña desde cero, se pide más holgura. Un patio corto se convierte en una trampa de gases donde los aparatos no tiran y se acaban apagando.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el patio está tapado por arriba?</a:t>
            </a:r>
          </a:p>
          <a:p>
            <a:r>
              <a:t>N2: Entonces hay que dejar un hueco permanente al aire libre. Concretamente, el techado debe dejar libre una abertura de comunicación con el exterior de al menos el veinticinco por ciento de la sección en planta del patio, con un mínimo de cuatro metros cuadrados. Es puro sentido común: si tapas el patio y lo sellas del todo, los humos no tienen por dónde salir y se acumulan; sería una trampa de gases. Fíjate en la palabra permanente: no vale una ventana o una compuerta que alguien pueda cerrar un día de frío, tiene que estar siempre abierta. Una cuarta parte del patio abierta al cielo, como mínimo.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pasa cuando la caldera es muy grande?</a:t>
            </a:r>
          </a:p>
          <a:p>
            <a:r>
              <a:t>N2: Ata este cabo, que el número mágico son setenta kilovatios. Por encima de setenta, una caldera de calefacción o de agua caliente ya no es un aparato doméstico cualquiera: es maquinaria seria que tiene que ir en una sala de máquinas con las condiciones de la UNE sesenta mil seiscientos uno. Lo mismo vale para los equipos de llama directa de refrigeración por absorción y para los de generación eléctrica o cogeneración, si juntos pasan de setenta. Y ojo a la palabra conjunta: las potencias se suman. Tres equipos de treinta kilovatios trabajando juntos son noventa, así que pasan de setenta y toca sala de máquinas. Truco: sesenta mil seiscientos uno igual a salas de calderas. Por debajo de setenta, la norma general es la sesenta mil seiscientos setenta, que vemos ahora.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qué norma técnica tengo que seguir?</a:t>
            </a:r>
          </a:p>
          <a:p>
            <a:r>
              <a:t>N2: Lo decide la presión máxima de operación, y esta es de las preguntas más repetidas de todo el Gas B. Chuleta: hasta cinco bar, sigues la UNE sesenta mil seiscientos setenta, la de toda la vida para instalaciones receptoras normales; por encima de cinco bar, la UNE sesenta mil seiscientos veinte, la de alta presión. Como instalador de categoría be trabajarás casi siempre con la seiscientos setenta. Esa presión máxima de operación la verás escrita como eme o pe, del inglés, y es la presión más alta a la que la instalación trabaja de forma normal y continua; no la confundas con la de prueba ni con la de diseño. Memoriza el par: seiscientos setenta es baja presión hasta cinco bar; seiscientos veinte es alta presión por encima de cinco.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 aparato de circuito abierto conducido y por qué no puedo ponerlo donde quiera?</a:t>
            </a:r>
          </a:p>
          <a:p>
            <a:r>
              <a:t>N2: Vamos con calma. Circuito abierto quiere decir que el aparato coge el aire para quemar de la propia habitación; conducido quiere decir que los humos sí salen por un conducto. O sea, respira del cuarto pero echa el humo fuera. Como respira del cuarto, el reglamento no quiere que lo pongas en cualquier sitio: sí en galerías, terrazas, recintos o locales exclusivos para estos aparatos, y en locales de uso restringido como lavaderos o garajes individuales. En la cocina se puede, pero con una condición importante: que el extractor mecánico de la cocina no le robe el tiro al aparato, porque si el extractor tira más fuerte, invierte los humos y mete monóxido en la casa. Y la excepción que se pregunta: si el aparato es solo para agua caliente sanitaria, un calentador de toda la vida, estas limitaciones no le aplican.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tubería va enterrada, cambia algo?</a:t>
            </a:r>
          </a:p>
          <a:p>
            <a:r>
              <a:t>N2: Cambia bastante. Cuando la tubería va bajo tierra ya no valen las reglas de la tubería vista; se aplican las normas de acometidas, la UNE sesenta mil trescientos diez y la sesenta mil trescientos once. Truco corto: enterrado igual a trescientos diez y trescientos once. Y aquí un detalle práctico que cae en examen: antes de diseñar una acometida interior enterrada, tienes que preguntar al distribuidor de qué material es su red, porque tu tubería tiene que ser compatible con ella. No puedes unir bajo tierra cualquier material con cualquier otro, porque una unión mal casada se corroe y acaba en una fuga que no ves hasta que huele. Nunca improvises el material enterrado sin ese dato.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¿Qué me tengo que llevar de este vídeo?</a:t>
            </a:r>
          </a:p>
          <a:p>
            <a:r>
              <a:t>N2: Reconstruyamos el hilo. Primero, la ITC-ICG cero siete es tu manual de la instalación receptora: manda en el diseño, la ejecución y la utilización, e incluye los locales y los aparatos, no solo los tubos. Segundo, los humos son seguridad: salen por cubierta, y solo por fachada en casos pequeños, estancos o tiro forzado hasta setenta kilovatios y tiro natural de solo agua caliente hasta veinticuatro con cuatro. Tercero, la presión elige la norma: hasta cinco bar la sesenta mil seiscientos setenta, por encima la seiscientos veinte. Y cuarto, lo enterrado va por las normas de acometidas y lo gordo, por encima de setenta, a sala de máquinas con la sesenta mil seiscientos uno.</a:t>
            </a:r>
          </a:p>
          <a:p>
            <a:r>
              <a:t>N1: ¿Y cómo cae esto en el examen?</a:t>
            </a:r>
          </a:p>
          <a:p>
            <a:r>
              <a:t>N2: Te lo preguntan cruzado, con las cifras: te dan una potencia y un tipo de aparato y quieren saber si puede salir por fachada; o te dan una presión y quieren la norma. En la obra decide cosas muy reales: si dimensionas mal una chimenea o sacas humos por donde no toca, te tumban la puesta en servicio y le creas un problema de monóxido al vecino. Hoy ya eres más gasista que ayer: sabes por dónde tienen que salir los humos y con qué norma se monta cada cosa. En el siguiente vídeo damos el salto a los papeles: cuándo hace falta proyecto, qué pruebas se hacen y cómo una instalación pasa de estar montada a tener gas.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Instalaciones receptoras de gas</a:t>
            </a:r>
          </a:p>
          <a:p>
            <a:r>
              <a:rPr sz="2200" b="0" i="0">
                <a:solidFill>
                  <a:srgbClr val="CADCFC"/>
                </a:solidFill>
                <a:latin typeface="Montserrat"/>
              </a:rPr>
              <a:t>Objeto, campo de aplicación, diseño y ejecución</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04 · Reglamento · ITC-ICG 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70</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kW: tope para salir a fachada</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bar: frontera de norma UNE</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24,4</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kW: tiro natural solo para ACS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regula la ITC-ICG 07?</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Diseño, ejecución y utilización</a:t>
            </a:r>
          </a:p>
          <a:p>
            <a:pPr>
              <a:spcAft>
                <a:spcPts val="1000"/>
              </a:spcAft>
            </a:pPr>
            <a:r>
              <a:rPr sz="1600" b="1" i="0">
                <a:solidFill>
                  <a:srgbClr val="2E3A80"/>
                </a:solidFill>
                <a:latin typeface="Montserrat"/>
              </a:rPr>
              <a:t>•  </a:t>
            </a:r>
            <a:r>
              <a:rPr sz="1600" b="0" i="0">
                <a:solidFill>
                  <a:srgbClr val="1B2330"/>
                </a:solidFill>
                <a:latin typeface="Montserrat"/>
              </a:rPr>
              <a:t>Instalaciones receptoras de gas</a:t>
            </a:r>
          </a:p>
          <a:p>
            <a:pPr>
              <a:spcAft>
                <a:spcPts val="1000"/>
              </a:spcAft>
            </a:pPr>
            <a:r>
              <a:rPr sz="1600" b="1" i="0">
                <a:solidFill>
                  <a:srgbClr val="2E3A80"/>
                </a:solidFill>
                <a:latin typeface="Montserrat"/>
              </a:rPr>
              <a:t>•  </a:t>
            </a:r>
            <a:r>
              <a:rPr sz="1600" b="0" i="0">
                <a:solidFill>
                  <a:srgbClr val="1B2330"/>
                </a:solidFill>
                <a:latin typeface="Montserrat"/>
              </a:rPr>
              <a:t>También los locales y los aparatos</a:t>
            </a:r>
          </a:p>
          <a:p>
            <a:pPr>
              <a:spcAft>
                <a:spcPts val="1000"/>
              </a:spcAft>
            </a:pPr>
            <a:r>
              <a:rPr sz="1600" b="1" i="0">
                <a:solidFill>
                  <a:srgbClr val="2E3A80"/>
                </a:solidFill>
                <a:latin typeface="Montserrat"/>
              </a:rPr>
              <a:t>•  </a:t>
            </a:r>
            <a:r>
              <a:rPr sz="1600" b="0" i="0">
                <a:solidFill>
                  <a:srgbClr val="1B2330"/>
                </a:solidFill>
                <a:latin typeface="Montserrat"/>
              </a:rPr>
              <a:t>Fin: seguridad de personas y bienes</a:t>
            </a:r>
          </a:p>
        </p:txBody>
      </p:sp>
      <p:sp>
        <p:nvSpPr>
          <p:cNvPr id="8" name="imgph" descr="IMGQ:gas boiler installation in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installation in kitchen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instalación receptora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De la llave de acometida (fuera)</a:t>
            </a:r>
          </a:p>
          <a:p>
            <a:pPr>
              <a:spcAft>
                <a:spcPts val="1000"/>
              </a:spcAft>
            </a:pPr>
            <a:r>
              <a:rPr sz="1600" b="1" i="0">
                <a:solidFill>
                  <a:srgbClr val="2E3A80"/>
                </a:solidFill>
                <a:latin typeface="Montserrat"/>
              </a:rPr>
              <a:t>•  </a:t>
            </a:r>
            <a:r>
              <a:rPr sz="1600" b="0" i="0">
                <a:solidFill>
                  <a:srgbClr val="1B2330"/>
                </a:solidFill>
                <a:latin typeface="Montserrat"/>
              </a:rPr>
              <a:t>A la llave del aparato (dentro)</a:t>
            </a:r>
          </a:p>
          <a:p>
            <a:pPr>
              <a:spcAft>
                <a:spcPts val="1000"/>
              </a:spcAft>
            </a:pPr>
            <a:r>
              <a:rPr sz="1600" b="1" i="0">
                <a:solidFill>
                  <a:srgbClr val="2E3A80"/>
                </a:solidFill>
                <a:latin typeface="Montserrat"/>
              </a:rPr>
              <a:t>•  </a:t>
            </a:r>
            <a:r>
              <a:rPr sz="1600" b="0" i="0">
                <a:solidFill>
                  <a:srgbClr val="1B2330"/>
                </a:solidFill>
                <a:latin typeface="Montserrat"/>
              </a:rPr>
              <a:t>Tres tramos encajados</a:t>
            </a:r>
          </a:p>
          <a:p>
            <a:pPr>
              <a:spcAft>
                <a:spcPts val="1000"/>
              </a:spcAft>
            </a:pPr>
            <a:r>
              <a:rPr sz="1600" b="1" i="0">
                <a:solidFill>
                  <a:srgbClr val="2E3A80"/>
                </a:solidFill>
                <a:latin typeface="Montserrat"/>
              </a:rPr>
              <a:t>•  </a:t>
            </a:r>
            <a:r>
              <a:rPr sz="1600" b="0" i="0">
                <a:solidFill>
                  <a:srgbClr val="1B2330"/>
                </a:solidFill>
                <a:latin typeface="Montserrat"/>
              </a:rPr>
              <a:t>Acometida interior, común, individual</a:t>
            </a:r>
          </a:p>
        </p:txBody>
      </p:sp>
      <p:sp>
        <p:nvSpPr>
          <p:cNvPr id="8" name="imgph" descr="IMGQ:gas meter cabinet in building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in building wall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EVACUACIÓN DE HUMOS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Chimeneas: diseño y cálculo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Obra nueva y rehabilitación</a:t>
            </a:r>
          </a:p>
          <a:p>
            <a:pPr>
              <a:spcAft>
                <a:spcPts val="1000"/>
              </a:spcAft>
            </a:pPr>
            <a:r>
              <a:rPr sz="1600" b="1" i="0">
                <a:solidFill>
                  <a:srgbClr val="2E3A80"/>
                </a:solidFill>
                <a:latin typeface="Montserrat"/>
              </a:rPr>
              <a:t>•  </a:t>
            </a:r>
            <a:r>
              <a:rPr sz="1600" b="0" i="0">
                <a:solidFill>
                  <a:srgbClr val="1B2330"/>
                </a:solidFill>
                <a:latin typeface="Montserrat"/>
              </a:rPr>
              <a:t>UNE 123001</a:t>
            </a:r>
          </a:p>
          <a:p>
            <a:pPr>
              <a:spcAft>
                <a:spcPts val="1000"/>
              </a:spcAft>
            </a:pPr>
            <a:r>
              <a:rPr sz="1600" b="1" i="0">
                <a:solidFill>
                  <a:srgbClr val="2E3A80"/>
                </a:solidFill>
                <a:latin typeface="Montserrat"/>
              </a:rPr>
              <a:t>•  </a:t>
            </a:r>
            <a:r>
              <a:rPr sz="1600" b="0" i="0">
                <a:solidFill>
                  <a:srgbClr val="1B2330"/>
                </a:solidFill>
                <a:latin typeface="Montserrat"/>
              </a:rPr>
              <a:t>UNE-EN 13384-1 y 13384-2</a:t>
            </a:r>
          </a:p>
        </p:txBody>
      </p:sp>
      <p:sp>
        <p:nvSpPr>
          <p:cNvPr id="8" name="imgph" descr="IMGQ:metal chimney flue on building roof"/>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metal chimney flue on building roof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EVACUACIÓN DE HUMOS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Chimeneas: materiales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Metálicas: UNE-EN 1856-1</a:t>
            </a:r>
          </a:p>
          <a:p>
            <a:pPr>
              <a:spcAft>
                <a:spcPts val="1000"/>
              </a:spcAft>
            </a:pPr>
            <a:r>
              <a:rPr sz="1600" b="1" i="0">
                <a:solidFill>
                  <a:srgbClr val="2E3A80"/>
                </a:solidFill>
                <a:latin typeface="Montserrat"/>
              </a:rPr>
              <a:t>•  </a:t>
            </a:r>
            <a:r>
              <a:rPr sz="1600" b="0" i="0">
                <a:solidFill>
                  <a:srgbClr val="1B2330"/>
                </a:solidFill>
                <a:latin typeface="Montserrat"/>
              </a:rPr>
              <a:t>No metálicas: NTE-ISH-74</a:t>
            </a:r>
          </a:p>
          <a:p>
            <a:pPr>
              <a:spcAft>
                <a:spcPts val="1000"/>
              </a:spcAft>
            </a:pPr>
            <a:r>
              <a:rPr sz="1600" b="1" i="0">
                <a:solidFill>
                  <a:srgbClr val="2E3A80"/>
                </a:solidFill>
                <a:latin typeface="Montserrat"/>
              </a:rPr>
              <a:t>•  </a:t>
            </a:r>
            <a:r>
              <a:rPr sz="1600" b="0" i="0">
                <a:solidFill>
                  <a:srgbClr val="1B2330"/>
                </a:solidFill>
                <a:latin typeface="Montserrat"/>
              </a:rPr>
              <a:t>Truco: 1856 es de metal</a:t>
            </a:r>
          </a:p>
        </p:txBody>
      </p:sp>
      <p:sp>
        <p:nvSpPr>
          <p:cNvPr id="8" name="imgph" descr="IMGQ:stainless steel flue pipe s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stainless steel flue pipe section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EVACUACIÓN DE HUMOS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regla: por cubierta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Norma general: humos por el tejado</a:t>
            </a:r>
          </a:p>
          <a:p>
            <a:pPr>
              <a:spcAft>
                <a:spcPts val="1000"/>
              </a:spcAft>
            </a:pPr>
            <a:r>
              <a:rPr sz="1600" b="1" i="0">
                <a:solidFill>
                  <a:srgbClr val="2E3A80"/>
                </a:solidFill>
                <a:latin typeface="Montserrat"/>
              </a:rPr>
              <a:t>•  </a:t>
            </a:r>
            <a:r>
              <a:rPr sz="1600" b="0" i="0">
                <a:solidFill>
                  <a:srgbClr val="1B2330"/>
                </a:solidFill>
                <a:latin typeface="Montserrat"/>
              </a:rPr>
              <a:t>Reformas: si hay conducto adecuado</a:t>
            </a:r>
          </a:p>
          <a:p>
            <a:pPr>
              <a:spcAft>
                <a:spcPts val="1000"/>
              </a:spcAft>
            </a:pPr>
            <a:r>
              <a:rPr sz="1600" b="1" i="0">
                <a:solidFill>
                  <a:srgbClr val="2E3A80"/>
                </a:solidFill>
                <a:latin typeface="Montserrat"/>
              </a:rPr>
              <a:t>•  </a:t>
            </a:r>
            <a:r>
              <a:rPr sz="1600" b="0" i="0">
                <a:solidFill>
                  <a:srgbClr val="1B2330"/>
                </a:solidFill>
                <a:latin typeface="Montserrat"/>
              </a:rPr>
              <a:t>se usa el conducto existente</a:t>
            </a:r>
          </a:p>
        </p:txBody>
      </p:sp>
      <p:sp>
        <p:nvSpPr>
          <p:cNvPr id="8" name="imgph" descr="IMGQ:chimney outlets on roofto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chimney outlets on rooftop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SALIDA A FACHADA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Excepción: salida al exterior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Estancos o tiro forzado ≤ 70 kW</a:t>
            </a:r>
          </a:p>
          <a:p>
            <a:pPr>
              <a:spcAft>
                <a:spcPts val="1000"/>
              </a:spcAft>
            </a:pPr>
            <a:r>
              <a:rPr sz="1600" b="1" i="0">
                <a:solidFill>
                  <a:srgbClr val="2E3A80"/>
                </a:solidFill>
                <a:latin typeface="Montserrat"/>
              </a:rPr>
              <a:t>•  </a:t>
            </a:r>
            <a:r>
              <a:rPr sz="1600" b="0" i="0">
                <a:solidFill>
                  <a:srgbClr val="1B2330"/>
                </a:solidFill>
                <a:latin typeface="Montserrat"/>
              </a:rPr>
              <a:t>Tiro natural solo ACS ≤ 24,4 kW</a:t>
            </a:r>
          </a:p>
          <a:p>
            <a:pPr>
              <a:spcAft>
                <a:spcPts val="1000"/>
              </a:spcAft>
            </a:pPr>
            <a:r>
              <a:rPr sz="1600" b="1" i="0">
                <a:solidFill>
                  <a:srgbClr val="2E3A80"/>
                </a:solidFill>
                <a:latin typeface="Montserrat"/>
              </a:rPr>
              <a:t>•  </a:t>
            </a:r>
            <a:r>
              <a:rPr sz="1600" b="0" i="0">
                <a:solidFill>
                  <a:srgbClr val="1B2330"/>
                </a:solidFill>
                <a:latin typeface="Montserrat"/>
              </a:rPr>
              <a:t>Sin perjuicio del RITE</a:t>
            </a:r>
          </a:p>
        </p:txBody>
      </p:sp>
      <p:sp>
        <p:nvSpPr>
          <p:cNvPr id="8" name="imgph" descr="IMGQ:gas boiler flue outlet on facade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flue outlet on facade wall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TIPOS DE APARATO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Estanco, tiro forzado, tiro natural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Estanco: aire de fuera, humos fuera</a:t>
            </a:r>
          </a:p>
          <a:p>
            <a:pPr>
              <a:spcAft>
                <a:spcPts val="1000"/>
              </a:spcAft>
            </a:pPr>
            <a:r>
              <a:rPr sz="1600" b="1" i="0">
                <a:solidFill>
                  <a:srgbClr val="2E3A80"/>
                </a:solidFill>
                <a:latin typeface="Montserrat"/>
              </a:rPr>
              <a:t>•  </a:t>
            </a:r>
            <a:r>
              <a:rPr sz="1600" b="0" i="0">
                <a:solidFill>
                  <a:srgbClr val="1B2330"/>
                </a:solidFill>
                <a:latin typeface="Montserrat"/>
              </a:rPr>
              <a:t>Tiro forzado: un ventilador empuja</a:t>
            </a:r>
          </a:p>
          <a:p>
            <a:pPr>
              <a:spcAft>
                <a:spcPts val="1000"/>
              </a:spcAft>
            </a:pPr>
            <a:r>
              <a:rPr sz="1600" b="1" i="0">
                <a:solidFill>
                  <a:srgbClr val="2E3A80"/>
                </a:solidFill>
                <a:latin typeface="Montserrat"/>
              </a:rPr>
              <a:t>•  </a:t>
            </a:r>
            <a:r>
              <a:rPr sz="1600" b="0" i="0">
                <a:solidFill>
                  <a:srgbClr val="1B2330"/>
                </a:solidFill>
                <a:latin typeface="Montserrat"/>
              </a:rPr>
              <a:t>Tiro natural: suben solos por calor</a:t>
            </a:r>
          </a:p>
        </p:txBody>
      </p:sp>
      <p:sp>
        <p:nvSpPr>
          <p:cNvPr id="8" name="imgph" descr="IMGQ:sealed combustion gas boiler with concentric flu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sealed combustion gas boiler with concentric flue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PATIOS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Patios para aparatos conducidos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Edificio existente: 0,5 × NT (mín. 4 m²)</a:t>
            </a:r>
          </a:p>
          <a:p>
            <a:pPr>
              <a:spcAft>
                <a:spcPts val="1000"/>
              </a:spcAft>
            </a:pPr>
            <a:r>
              <a:rPr sz="1600" b="1" i="0">
                <a:solidFill>
                  <a:srgbClr val="2E3A80"/>
                </a:solidFill>
                <a:latin typeface="Montserrat"/>
              </a:rPr>
              <a:t>•  </a:t>
            </a:r>
            <a:r>
              <a:rPr sz="1600" b="0" i="0">
                <a:solidFill>
                  <a:srgbClr val="1B2330"/>
                </a:solidFill>
                <a:latin typeface="Montserrat"/>
              </a:rPr>
              <a:t>Obra nueva: 1 × NT (más de 6 m²)</a:t>
            </a:r>
          </a:p>
          <a:p>
            <a:pPr>
              <a:spcAft>
                <a:spcPts val="1000"/>
              </a:spcAft>
            </a:pPr>
            <a:r>
              <a:rPr sz="1600" b="1" i="0">
                <a:solidFill>
                  <a:srgbClr val="2E3A80"/>
                </a:solidFill>
                <a:latin typeface="Montserrat"/>
              </a:rPr>
              <a:t>•  </a:t>
            </a:r>
            <a:r>
              <a:rPr sz="1600" b="0" i="0">
                <a:solidFill>
                  <a:srgbClr val="1B2330"/>
                </a:solidFill>
                <a:latin typeface="Montserrat"/>
              </a:rPr>
              <a:t>NT = locales que tiran al patio</a:t>
            </a:r>
          </a:p>
        </p:txBody>
      </p:sp>
      <p:sp>
        <p:nvSpPr>
          <p:cNvPr id="8" name="imgph" descr="IMGQ:interior ventilation courtyard of apartment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interior ventilation courtyard of apartment building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PATIOS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 el patio está techado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Abertura permanente al exterior</a:t>
            </a:r>
          </a:p>
          <a:p>
            <a:pPr>
              <a:spcAft>
                <a:spcPts val="1000"/>
              </a:spcAft>
            </a:pPr>
            <a:r>
              <a:rPr sz="1600" b="1" i="0">
                <a:solidFill>
                  <a:srgbClr val="2E3A80"/>
                </a:solidFill>
                <a:latin typeface="Montserrat"/>
              </a:rPr>
              <a:t>•  </a:t>
            </a:r>
            <a:r>
              <a:rPr sz="1600" b="0" i="0">
                <a:solidFill>
                  <a:srgbClr val="1B2330"/>
                </a:solidFill>
                <a:latin typeface="Montserrat"/>
              </a:rPr>
              <a:t>25 % de la sección en planta</a:t>
            </a:r>
          </a:p>
          <a:p>
            <a:pPr>
              <a:spcAft>
                <a:spcPts val="1000"/>
              </a:spcAft>
            </a:pPr>
            <a:r>
              <a:rPr sz="1600" b="1" i="0">
                <a:solidFill>
                  <a:srgbClr val="2E3A80"/>
                </a:solidFill>
                <a:latin typeface="Montserrat"/>
              </a:rPr>
              <a:t>•  </a:t>
            </a:r>
            <a:r>
              <a:rPr sz="1600" b="0" i="0">
                <a:solidFill>
                  <a:srgbClr val="1B2330"/>
                </a:solidFill>
                <a:latin typeface="Montserrat"/>
              </a:rPr>
              <a:t>Mínimo 4 m²</a:t>
            </a:r>
          </a:p>
        </p:txBody>
      </p:sp>
      <p:sp>
        <p:nvSpPr>
          <p:cNvPr id="8" name="imgph" descr="IMGQ:covered courtyard with open ventilation grille at to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covered courtyard with open ventilation grille at top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GRANDES POTENCIAS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Más de 70 kW: sala de máquinas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Calderas &gt; 70 kW → UNE 60601</a:t>
            </a:r>
          </a:p>
          <a:p>
            <a:pPr>
              <a:spcAft>
                <a:spcPts val="1000"/>
              </a:spcAft>
            </a:pPr>
            <a:r>
              <a:rPr sz="1600" b="1" i="0">
                <a:solidFill>
                  <a:srgbClr val="2E3A80"/>
                </a:solidFill>
                <a:latin typeface="Montserrat"/>
              </a:rPr>
              <a:t>•  </a:t>
            </a:r>
            <a:r>
              <a:rPr sz="1600" b="0" i="0">
                <a:solidFill>
                  <a:srgbClr val="1B2330"/>
                </a:solidFill>
                <a:latin typeface="Montserrat"/>
              </a:rPr>
              <a:t>También absorción y cogeneración</a:t>
            </a:r>
          </a:p>
          <a:p>
            <a:pPr>
              <a:spcAft>
                <a:spcPts val="1000"/>
              </a:spcAft>
            </a:pPr>
            <a:r>
              <a:rPr sz="1600" b="1" i="0">
                <a:solidFill>
                  <a:srgbClr val="2E3A80"/>
                </a:solidFill>
                <a:latin typeface="Montserrat"/>
              </a:rPr>
              <a:t>•  </a:t>
            </a:r>
            <a:r>
              <a:rPr sz="1600" b="0" i="0">
                <a:solidFill>
                  <a:srgbClr val="1B2330"/>
                </a:solidFill>
                <a:latin typeface="Montserrat"/>
              </a:rPr>
              <a:t>Potencia conjunta: se suma</a:t>
            </a:r>
          </a:p>
        </p:txBody>
      </p:sp>
      <p:sp>
        <p:nvSpPr>
          <p:cNvPr id="8" name="imgph" descr="IMGQ:industrial gas boiler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gas boiler room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NORMA SEGÚN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frontera de los 5 bar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Hasta 5 bar → UNE 60670</a:t>
            </a:r>
          </a:p>
          <a:p>
            <a:pPr>
              <a:spcAft>
                <a:spcPts val="1000"/>
              </a:spcAft>
            </a:pPr>
            <a:r>
              <a:rPr sz="1600" b="1" i="0">
                <a:solidFill>
                  <a:srgbClr val="2E3A80"/>
                </a:solidFill>
                <a:latin typeface="Montserrat"/>
              </a:rPr>
              <a:t>•  </a:t>
            </a:r>
            <a:r>
              <a:rPr sz="1600" b="0" i="0">
                <a:solidFill>
                  <a:srgbClr val="1B2330"/>
                </a:solidFill>
                <a:latin typeface="Montserrat"/>
              </a:rPr>
              <a:t>Más de 5 bar → UNE 60620</a:t>
            </a:r>
          </a:p>
          <a:p>
            <a:pPr>
              <a:spcAft>
                <a:spcPts val="1000"/>
              </a:spcAft>
            </a:pPr>
            <a:r>
              <a:rPr sz="1600" b="1" i="0">
                <a:solidFill>
                  <a:srgbClr val="2E3A80"/>
                </a:solidFill>
                <a:latin typeface="Montserrat"/>
              </a:rPr>
              <a:t>•  </a:t>
            </a:r>
            <a:r>
              <a:rPr sz="1600" b="0" i="0">
                <a:solidFill>
                  <a:srgbClr val="1B2330"/>
                </a:solidFill>
                <a:latin typeface="Montserrat"/>
              </a:rPr>
              <a:t>MOP: presión máxima de operación</a:t>
            </a:r>
          </a:p>
        </p:txBody>
      </p:sp>
      <p:sp>
        <p:nvSpPr>
          <p:cNvPr id="8" name="imgph" descr="IMGQ:gas pressure regulator and gau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and gauge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UBICACIÓN DE APARATOS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Circuito abierto conducido: dónde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Galerías, terrazas, locales exclusivos</a:t>
            </a:r>
          </a:p>
          <a:p>
            <a:pPr>
              <a:spcAft>
                <a:spcPts val="1000"/>
              </a:spcAft>
            </a:pPr>
            <a:r>
              <a:rPr sz="1600" b="1" i="0">
                <a:solidFill>
                  <a:srgbClr val="2E3A80"/>
                </a:solidFill>
                <a:latin typeface="Montserrat"/>
              </a:rPr>
              <a:t>•  </a:t>
            </a:r>
            <a:r>
              <a:rPr sz="1600" b="0" i="0">
                <a:solidFill>
                  <a:srgbClr val="1B2330"/>
                </a:solidFill>
                <a:latin typeface="Montserrat"/>
              </a:rPr>
              <a:t>Lavaderos, garajes individuales</a:t>
            </a:r>
          </a:p>
          <a:p>
            <a:pPr>
              <a:spcAft>
                <a:spcPts val="1000"/>
              </a:spcAft>
            </a:pPr>
            <a:r>
              <a:rPr sz="1600" b="1" i="0">
                <a:solidFill>
                  <a:srgbClr val="2E3A80"/>
                </a:solidFill>
                <a:latin typeface="Montserrat"/>
              </a:rPr>
              <a:t>•  </a:t>
            </a:r>
            <a:r>
              <a:rPr sz="1600" b="0" i="0">
                <a:solidFill>
                  <a:srgbClr val="1B2330"/>
                </a:solidFill>
                <a:latin typeface="Montserrat"/>
              </a:rPr>
              <a:t>En cocina: sin robar el tiro al extractor</a:t>
            </a:r>
          </a:p>
          <a:p>
            <a:pPr>
              <a:spcAft>
                <a:spcPts val="1000"/>
              </a:spcAft>
            </a:pPr>
            <a:r>
              <a:rPr sz="1600" b="1" i="0">
                <a:solidFill>
                  <a:srgbClr val="2E3A80"/>
                </a:solidFill>
                <a:latin typeface="Montserrat"/>
              </a:rPr>
              <a:t>•  </a:t>
            </a:r>
            <a:r>
              <a:rPr sz="1600" b="0" i="0">
                <a:solidFill>
                  <a:srgbClr val="1B2330"/>
                </a:solidFill>
                <a:latin typeface="Montserrat"/>
              </a:rPr>
              <a:t>Solo ACS: sin estas limitaciones</a:t>
            </a:r>
          </a:p>
        </p:txBody>
      </p:sp>
      <p:sp>
        <p:nvSpPr>
          <p:cNvPr id="8" name="imgph" descr="IMGQ:wall mounted gas water heater in laundry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wall mounted gas water heater in laundry room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TRAMOS ENTERRADOS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Tubería bajo tierra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Enterrado → UNE 60310 y 60311</a:t>
            </a:r>
          </a:p>
          <a:p>
            <a:pPr>
              <a:spcAft>
                <a:spcPts val="1000"/>
              </a:spcAft>
            </a:pPr>
            <a:r>
              <a:rPr sz="1600" b="1" i="0">
                <a:solidFill>
                  <a:srgbClr val="2E3A80"/>
                </a:solidFill>
                <a:latin typeface="Montserrat"/>
              </a:rPr>
              <a:t>•  </a:t>
            </a:r>
            <a:r>
              <a:rPr sz="1600" b="0" i="0">
                <a:solidFill>
                  <a:srgbClr val="1B2330"/>
                </a:solidFill>
                <a:latin typeface="Montserrat"/>
              </a:rPr>
              <a:t>Consulta el material al distribuidor</a:t>
            </a:r>
          </a:p>
          <a:p>
            <a:pPr>
              <a:spcAft>
                <a:spcPts val="1000"/>
              </a:spcAft>
            </a:pPr>
            <a:r>
              <a:rPr sz="1600" b="1" i="0">
                <a:solidFill>
                  <a:srgbClr val="2E3A80"/>
                </a:solidFill>
                <a:latin typeface="Montserrat"/>
              </a:rPr>
              <a:t>•  </a:t>
            </a:r>
            <a:r>
              <a:rPr sz="1600" b="0" i="0">
                <a:solidFill>
                  <a:srgbClr val="1B2330"/>
                </a:solidFill>
                <a:latin typeface="Montserrat"/>
              </a:rPr>
              <a:t>Debe ser compatible con la red</a:t>
            </a:r>
          </a:p>
        </p:txBody>
      </p:sp>
      <p:sp>
        <p:nvSpPr>
          <p:cNvPr id="8" name="imgph" descr="IMGQ:buried yellow gas pipe in tr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buried yellow gas pipe in trench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diseñar la salida de humos</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ITC-ICG 07 manda: diseño, ejecución y uso</a:t>
            </a:r>
          </a:p>
          <a:p>
            <a:pPr>
              <a:spcAft>
                <a:spcPts val="1200"/>
              </a:spcAft>
            </a:pPr>
            <a:r>
              <a:rPr sz="2000" b="1" i="0">
                <a:solidFill>
                  <a:srgbClr val="CADCFC"/>
                </a:solidFill>
                <a:latin typeface="Montserrat"/>
              </a:rPr>
              <a:t>✓  </a:t>
            </a:r>
            <a:r>
              <a:rPr sz="1900" b="0" i="0">
                <a:solidFill>
                  <a:srgbClr val="FFFFFF"/>
                </a:solidFill>
                <a:latin typeface="Montserrat"/>
              </a:rPr>
              <a:t>Humos por cubierta; fachada solo ≤ 70 y 24,4 kW</a:t>
            </a:r>
          </a:p>
          <a:p>
            <a:pPr>
              <a:spcAft>
                <a:spcPts val="1200"/>
              </a:spcAft>
            </a:pPr>
            <a:r>
              <a:rPr sz="2000" b="1" i="0">
                <a:solidFill>
                  <a:srgbClr val="CADCFC"/>
                </a:solidFill>
                <a:latin typeface="Montserrat"/>
              </a:rPr>
              <a:t>✓  </a:t>
            </a:r>
            <a:r>
              <a:rPr sz="1900" b="0" i="0">
                <a:solidFill>
                  <a:srgbClr val="FFFFFF"/>
                </a:solidFill>
                <a:latin typeface="Montserrat"/>
              </a:rPr>
              <a:t>La presión decide la norma: 5 bar, la raya</a:t>
            </a:r>
          </a:p>
          <a:p>
            <a:pPr>
              <a:spcAft>
                <a:spcPts val="1200"/>
              </a:spcAft>
            </a:pPr>
            <a:r>
              <a:rPr sz="2000" b="1" i="0">
                <a:solidFill>
                  <a:srgbClr val="CADCFC"/>
                </a:solidFill>
                <a:latin typeface="Montserrat"/>
              </a:rPr>
              <a:t>✓  </a:t>
            </a:r>
            <a:r>
              <a:rPr sz="1900" b="0" i="0">
                <a:solidFill>
                  <a:srgbClr val="FFFFFF"/>
                </a:solidFill>
                <a:latin typeface="Montserrat"/>
              </a:rPr>
              <a:t>Enterrado y grandes potencias, reglas propias</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Con esto ya colocas cada norma en su sitio. Vamos a por los papeles y la puesta en servicio.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
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 tan importante toda esta parte de papeles?</a:t>
            </a:r>
          </a:p>
          <a:p>
            <a:r>
              <a:t>N2: Porque montar la instalación es solo la mitad del trabajo; la otra mitad son los papeles y el arranque. En este vídeo recorremos toda la parte administrativa de la ITC-ICG cero siete: si hace falta autorización, cuándo se exige proyecto, qué pruebas hay que hacer antes de entregar, qué certificados se emiten y, sobre todo, el procedimiento paso a paso de la puesta en servicio, con contrato y sin contrato. Aquí caen preguntas de cifras, potencias y presiones, y preguntas de quién hace qué, así que fíjate bien en los agentes: instaladora, distribuidor, suministrador y usuario.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dicen estos números antes de empezar?</a:t>
            </a:r>
          </a:p>
          <a:p>
            <a:r>
              <a:t>N2: Te resumen el vídeo. Setenta kilovatios es la potencia a partir de la cual una instalación individual necesita proyecto; por debajo, con el certificado del instalador basta. Dos mil kilovatios es el listón para las instalaciones comunes y para las acometidas interiores. Y nueve son los pasos que sigue el distribuidor para dejar una instalación en servicio, desde comprobar la documentación hasta firmar el certificado. Si retienes estos tres, ya tienes el esqueleto de todo lo administrativo.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pedir permiso a la Administración antes de montar?</a:t>
            </a:r>
          </a:p>
          <a:p>
            <a:r>
              <a:t>N2: No, y este punto, aunque es corto, se pregunta. Para ejecutar una instalación receptora no necesitas ninguna autorización administrativa previa; no hay que pedir un permiso y quedarte esperando a que te digan que sí. Basta con hacer las cosas bien, documentarlas con sus certificados y, en algún caso concreto, comunicarlas después. Recuerda la diferencia del tema del reglamento: autorización es pedir permiso antes, y se reserva para casos gordos; comunicación es avisar después. Aquí, para el simple hecho de montar, ni una ni la otra. Arrancas la obra sin papeleo previo.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cuándo me obligan a hacer un proyecto?</a:t>
            </a:r>
          </a:p>
          <a:p>
            <a:r>
              <a:t>N2: Aquí tienes que memorizar tres números y una regla de presión. Una instalación individual necesita proyecto si pasa de setenta kilovatios. Una instalación común, si pasa de dos mil. Una acometida interior, también si pasa de dos mil. Y por encima de todo manda la presión: si la instalación se alimenta de una red que trabaja a más de cinco bar, necesita proyecto siempre, sea cual sea el uso y la potencia. El truco: la individual salta antes, con setenta, porque es la pequeña; la común y la acometida aguantan hasta dos mil. Y añade dos casos más: cuando se usan técnicas o materiales nuevos, y cuando por sus características no se puede cumplir algún requisito sin bajar la seguridad. Saber esto te evita arrancar una obra que luego no se puede legalizar.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Instalación individual. ¿Cuántos kilovatios tiene que superar para obligarte a hacer proyecto?</a:t>
            </a:r>
          </a:p>
          <a:p>
            <a:r>
              <a:t>N2: Recuerda que la individual es la pequeña de la familia, así que salta antes que la común y la acometida. Una de las opciones es justo el listón de esas dos grandes, no las confundas.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setenta?</a:t>
            </a:r>
          </a:p>
          <a:p>
            <a:r>
              <a:t>N2: Porque una instalación individual necesita proyecto en cuanto pasa de setenta kilovatios. Los dos mil son el listón de la común y de la acometida interior, que son mayores. La lógica: la pequeña salta antes. Y por encima de todo, si la red da más de cinco bar, siempre hay proyecto, sea cual sea la potencia.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amplío una instalación que ya tenía, ¿también necesito proyecto?</a:t>
            </a:r>
          </a:p>
          <a:p>
            <a:r>
              <a:t>N2: Depende de cuánto la amplíes. La regla es esta: si al ampliar superas en un treinta por ciento la potencia de diseño que tenía la instalación al proyectarse, entonces sí necesitas proyecto. También si con la ampliación entras en cualquiera de los supuestos que ya vimos, por ejemplo si te pasas de setenta en una individual. La idea de fondo es lógica: una ampliación pequeña no obliga a nada, pero crecer más de un treinta por ciento ya es harina de otro costal. Es la forma que tiene el reglamento de evitar que alguien engorde una instalación poco a poco, a base de ampliaciones sueltas, sin que nadie la controle con un proyecto.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papel sale del proyecto?</a:t>
            </a:r>
          </a:p>
          <a:p>
            <a:r>
              <a:t>N2: Van siempre de la mano estas dos ideas: proyecto y dirección de obra. Siempre que una instalación necesita proyecto, hay un técnico competente que dirige la obra y que, al acabar, firma un certificado de dirección de obra. Es su forma de decir: yo he vigilado que esto se monte según el proyecto. Y al revés: si no hay proyecto, que es lo normal en las instalaciones domésticas pequeñas, no hay dirección de obra ni ese certificado. Asócialo como una pareja fija: proyecto implica dirección de obra. En el examen te lo pueden preguntar justo así, para ver si sabes que uno arrastra al otro.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prueba hay que hacer antes de entregar la instalación?</a:t>
            </a:r>
          </a:p>
          <a:p>
            <a:r>
              <a:t>N2: La prueba de estanquidad, que es la más importante. Estanquidad significa que la instalación no tiene fugas, que no se escapa ni una burbuja de gas por ninguna unión. Antes de entregar, tú, la empresa instaladora, tienes que probarlo, siguiendo la UNE sesenta mil seiscientos setenta guion ocho si es baja presión, o la UNE sesenta mil seiscientos veinte si es alta. Y el resultado positivo se hace constar en el certificado de instalación, o sea, queda por escrito y firmado. Recuerda un matiz del tema del reglamento: la prueba la hace quien monta; no la confundas con la inspección, que la hace un tercero distinto. Una estanquidad mal hecha acaba en olor a gas y, en lo grave, en una deflagración.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entregar la instalación hay que probar que no tiene fugas. ¿Quién hace esa prueba de estanquidad?</a:t>
            </a:r>
          </a:p>
          <a:p>
            <a:r>
              <a:t>N2: Piensa en el matiz del reglamento entre probar e inspeccionar. La prueba de entrega la hace quien ha montado; la inspección, en cambio, la hace un tercero. No mezcles los dos papeles.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instaladora?</a:t>
            </a:r>
          </a:p>
          <a:p>
            <a:r>
              <a:t>N2: Porque la prueba de estanquidad de entrega la realiza la propia empresa instaladora, la que ha montado, siguiendo la UNE sesenta mil seiscientos setenta guion ocho en baja o la seiscientos veinte en alta, y el resultado favorable se hace constar en el certificado de instalación. El distribuidor aparece después, en la puesta en servicio; no lo confundas con la prueba de entrega. Truco: quien monta, prueba.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con la parte enterrada hay algo especial?</a:t>
            </a:r>
          </a:p>
          <a:p>
            <a:r>
              <a:t>N2: Sí, un detalle de orden que conviene tener claro. Si la instalación tiene acometida interior enterrada, la empresa instaladora tiene que entregar al distribuidor el certificado de esa acometida antes de la puesta en marcha, es decir, antes de dar gas. La lógica es de puro sentido común: lo que va enterrado, una vez tapado, ya no se puede revisar a simple vista. Así que el distribuidor quiere en la mano el papel que garantiza que se probó y que quedó bien, antes de permitir que circule el gas. Primero el certificado sobre la mesa; después, el gas. Nunca al revés.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¿Cuántos certificados de instalación hay y en qué se diferencian?</a:t>
            </a:r>
          </a:p>
          <a:p>
            <a:r>
              <a:t>N2: Hay tres, uno por cada tramo de la receptora, y no conviene mezclarlos. El uno erre ge guion uno es el de la acometida interior, el tramo de entrada; este es el único que insiste en las pruebas de resistencia mecánica y estanquidad según las normas de acometidas, y el único que menciona la servidumbre de paso. El uno erre ge guion dos es el de la instalación común, el montante compartido del edificio. Y el uno erre ge guion tres es el de la instalación individual, lo de dentro de la vivienda. Los tres llevan croquis: trazado, material, longitudes, diámetros, accesorios y caudales por tramo. Piensa en el croquis como el plano de tu trabajo, para que quien venga detrás entienda por dónde va cada tubo sin abrir la pared.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dices que solo uno de ellos habla de aparatos?</a:t>
            </a:r>
          </a:p>
          <a:p>
            <a:r>
              <a:t>N2: Porque de los tres certificados, solo el individual, el uno erre ge guion tres, tiene que listar los aparatos de consumo conectados o previstos, indicando su consumo calorífico nominal, es decir, cuántos kilovatios consume cada uno. Y tiene toda la lógica: es el único tramo que llega de verdad hasta los aparatos, dentro de la vivienda. El de la acometida y el de la común se quedan por el camino, en la entrada y en el montante, así que no tienen aparatos que listar. Truco para el examen: si una pregunta habla de listar aparatos y su potencia, piensa siempre en el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certificados, uno por tramo. ¿Cuál es el que tiene que listar los aparatos de consumo con sus kilovatios?</a:t>
            </a:r>
          </a:p>
          <a:p>
            <a:r>
              <a:t>N2: Piensa en cuál de los tres tramos llega de verdad hasta los aparatos dentro de la casa. Los otros dos se quedan por el camino, en la entrada y en el montante.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individual?</a:t>
            </a:r>
          </a:p>
          <a:p>
            <a:r>
              <a:t>N2: Porque el uno erre ge guion tres, el de la instalación individual, es el único tramo que llega hasta los aparatos dentro de la vivienda; por eso es el único que los lista con su consumo calorífico nominal. El de la acometida y el de la común se quedan en la entrada y en el montante, sin aparatos que anotar. Truco: si la pregunta habla de listar aparatos y potencias, piensa siempre en el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las chimeneas de un edificio nuevo hay que certificarlas aparte?</a:t>
            </a:r>
          </a:p>
          <a:p>
            <a:r>
              <a:t>N2: Sí. Si la instalación alimenta a un edificio de nueva planta y ese edificio tiene chimeneas para evacuar los humos, antes de la puesta en servicio hace falta una certificación que acredite que esas chimeneas cumplen las normas de diseño y cálculo y las de materiales que ya vimos en el primer vídeo. Ahora, si el certificado de dirección de obra ya incluye esa acreditación, no hace falta nada más. Pero si no la incluye, tiene que extenderla el técnico facultativo competente responsable de la construcción o un organismo de control. En resumen: alguien con autoridad técnica firma que las chimeneas están bien calculadas y son del material correcto, antes de dar gas.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doy gas al edificio pero hay viviendas sin contrato, ¿qué hago con esas llaves?</a:t>
            </a:r>
          </a:p>
          <a:p>
            <a:r>
              <a:t>N2: Muy buena, porque es lo habitual: das gas al montante, pero muchas viviendas todavía no tienen contrato. Esas llaves de inicio hay que dejarlas cerradas, bloqueadas y precintadas, para que nadie las abra por su cuenta; el precinto es como el sello que salta si alguien lo toca. Y si además la instalación individual o el aparato ni siquiera están montados, se taponan, que es poner un tapón físico en la boca de la llave. Es seguridad pura: puede haber gas en el montante, pero tiene que ser imposible que salga por una salida sin terminar. Lo mismo con las llaves de conexión de los aparatos que están pendientes de instalar o de arrancar.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purgar la instalación?</a:t>
            </a:r>
          </a:p>
          <a:p>
            <a:r>
              <a:t>N2: Purgar es sacar el aire que hay dentro de la tubería antes de dejarla llena de gas. Piénsalo así: la tubería recién montada está llena de aire; si metes gas de golpe, durante un rato dentro se forma una mezcla de aire y gas, y esa mezcla, en cierta proporción, es explosiva; puede arder con una simple chispa. A esa proporción peligrosa se le llama estar dentro de los límites de inflamabilidad. Purgar bien es barrer ese aire, normalmente empujándolo con el propio gas o con un gas inerte, hasta que dentro solo quede gas, ya fuera del rango explosivo. Es una de las operaciones más delicadas del arranque: purgar mal es arriesgar una deflagración al primer chispazo.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la vivienda va a tener contrato normal, ¿por dónde se empieza?</a:t>
            </a:r>
          </a:p>
          <a:p>
            <a:r>
              <a:t>N2: Primero, antes de nada, el futuro usuario tiene que formalizar la póliza de abono o el contrato de suministro con el suministrador, aportando su documentación. Sin contrato no hay puesta en servicio. Una vez firmado, en las instalaciones alimentadas desde una red de distribución, el usuario, o el suministrador en su nombre, solicita al distribuidor la puesta en servicio. Y es el distribuidor, con personal propio o autorizado, quien viene a hacer las pruebas y a dar el gas. Esta misma solicitud vale también cuando se modifica una instalación. Fíjate en el orden: contrato primero, solicitud después, y el distribuidor ejecuta.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hace exactamente el distribuidor, paso a paso?</a:t>
            </a:r>
          </a:p>
          <a:p>
            <a:r>
              <a:t>N2: Son nueve pasos que se parten en dos bloques muy fáciles de recordar. Del uno al cinco, comprobar: que la documentación esté completa, que las partes visibles y accesibles cumplan la normativa, que los locales donde van los aparatos y sus conductos de humos estén bien, que las válvulas se maniobren, y, si hay una estación de regulación, que funcionen sus sistemas de regulación y de seguridad. Del seis al nueve, rematar: precintar el equipo de medida, o sea el contador, verificar la estanquidad, dejar la instalación en servicio si todo va favorable, y extender un certificado de pruebas previas y puesta en servicio, con copia para el titular. La regla mental: primero compruebo, y solo si va bien, doy gas y firmo. El paso seis, precintar el contador, es el que lo deja oficial.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¿Siempre da el gas el distribuidor?</a:t>
            </a:r>
          </a:p>
          <a:p>
            <a:r>
              <a:t>N2: No, depende de si hay red por detrás. Si la instalación se alimenta desde una red de distribución, gas natural o gases del petróleo de red, la puesta en servicio la hace el distribuidor, con personal propio o autorizado, a petición del usuario o del suministrador. Pero si la instalación no se alimenta desde red, por ejemplo con un depósito propio, entonces esas mismas pruebas previas y ese mismo certificado los hace el suministrador. Fíjate: el procedimiento es idéntico, lo único que cambia es quién lo ejecuta. En el examen les gusta jugar justo con este cambio de agente, así que quédate con la pregunta clave: ¿hay red o no?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la instalación se deja acabada pero sin dar de alta el suministro?</a:t>
            </a:r>
          </a:p>
          <a:p>
            <a:r>
              <a:t>N2: Ese es el caso sin contrato de suministro domiciliario: la instalación se termina, pero todavía no se contrata el gas. Aquí no interviene el distribuidor para ninguna puesta en servicio. Es la empresa instaladora, la que ha hecho el montaje, quien realiza las pruebas y verificaciones de entrega, básicamente la estanquidad, y emite, en todos los casos, el certificado de instalación, del que entrega copia al titular. Fíjate en la expresión en todos los casos: ese certificado no es opcional, siempre se entrega. Es la garantía en papel de que lo que se ha montado está probado y en condiciones, aunque todavía no tenga gas.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una casa lleva mucho tiempo sin gas, ¿se reengancha sin más?</a:t>
            </a:r>
          </a:p>
          <a:p>
            <a:r>
              <a:t>N2: No, y aquí vuelve una regla que ya salió en el articulado del reglamento: la regla del año. Si una instalación estuvo más de un año sin suministro después de haberse resuelto el contrato, al volver a darle gas se trata como si fuera una instalación nueva. No se reengancha y ya está. La distribuidora comprueba que existe el certificado de la instalación individual archivado y, a continuación, rehace el certificado de pruebas previas y puesta en servicio, con todas sus comprobaciones. La idea, fácil de retener: más de un año parada, borrón y cuenta nueva. Es lógico, porque en un año una instalación abandonada puede haberse degradado sin que nadie la mire.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avisar a la Administración cuando acabo?</a:t>
            </a:r>
          </a:p>
          <a:p>
            <a:r>
              <a:t>N2: Solo en un caso, y es fácil de recordar: si la instalación necesitaba proyecto, por las potencias o la presión que vimos, entonces se comunica a la Administración. Si no necesitaba proyecto, que es lo normal en lo doméstico, no hace falta comunicar nada. Pero ojo con una trampa: aunque no comuniques, el suministrador tiene que guardar la documentación de la instalación y tenerla lista por si la Administración la pide. O sea, no comunicar no es lo mismo que no documentar. El papel siempre existe y siempre está disponible; lo que cambia es si además hay que enviar el aviso o no.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Recapitulando, ¿qué me llevo de todo lo administrativo?</a:t>
            </a:r>
          </a:p>
          <a:p>
            <a:r>
              <a:t>N2: Vamos a reconstruirlo con sentido. Montar es media faena; la otra media son los papeles y el arranque. Para montar no hace falta autorización, pero sí saber cuándo hace falta proyecto: individual por encima de setenta kilovatios, común y acometida por encima de dos mil, y siempre que se pase de cinco bar. Y proyecto arrastra dirección de obra. Antes de entregar, la prueba estrella es la estanquidad, que la hace quien monta y queda en el certificado de instalación. Los certificados son tres, uno por tramo, y solo el individual, el uno erre ge guion tres, lista los aparatos. Y la puesta en servicio sigue un orden sagrado: primero comprobar, y solo si va bien, precintar el contador, probar la estanquidad, dar gas y firmar.</a:t>
            </a:r>
          </a:p>
          <a:p>
            <a:r>
              <a:t>N1: ¿Cómo se pregunta esto y para qué me sirve en la obra?</a:t>
            </a:r>
          </a:p>
          <a:p>
            <a:r>
              <a:t>N2: En el examen caen las cifras, setenta, dos mil, cinco bar, treinta por ciento, y el juego de quién hace qué: distribuidor con red, suministrador sin red, instaladora sin contrato. En la obra, esto decide si puedes legalizar o no lo que montas y quién firma cada papel; equivocarte aquí es quedarte con una instalación acabada que no se puede poner en servicio. Hoy ya sabes llevar una instalación desde el último tubo hasta tener gas y sello. Eres más gasista que ayer. En el último vídeo cerramos el tema con la vida de la instalación: mantenimiento, inspecciones y revisiones, anomalías y los modelos de impresos. Te espero para el gran final.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Documentación y puesta en servicio</a:t>
            </a:r>
          </a:p>
          <a:p>
            <a:r>
              <a:rPr sz="2200" b="0" i="0">
                <a:solidFill>
                  <a:srgbClr val="CADCFC"/>
                </a:solidFill>
                <a:latin typeface="Montserrat"/>
              </a:rPr>
              <a:t>Proyecto, certificados y arranque de la instalación</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04 · Reglamento · ITC-ICG 07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70</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kW: proyecto en instalación individual</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2.000</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kW: proyecto en común y acometida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9</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pasos de la puesta en servicio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3.1</a:t>
            </a:r>
          </a:p>
          <a:p>
            <a:pPr>
              <a:spcAft>
                <a:spcPts val="900"/>
              </a:spcAft>
            </a:pPr>
            <a:r>
              <a:rPr sz="1800" b="1" i="0">
                <a:solidFill>
                  <a:srgbClr val="E8801A"/>
                </a:solidFill>
                <a:latin typeface="Montserrat"/>
              </a:rPr>
              <a:t>02   </a:t>
            </a:r>
            <a:r>
              <a:rPr sz="1700" b="0" i="0">
                <a:solidFill>
                  <a:srgbClr val="1B2330"/>
                </a:solidFill>
                <a:latin typeface="Montserrat"/>
              </a:rPr>
              <a:t>Apartado 3.2</a:t>
            </a:r>
          </a:p>
          <a:p>
            <a:pPr>
              <a:spcAft>
                <a:spcPts val="900"/>
              </a:spcAft>
            </a:pPr>
            <a:r>
              <a:rPr sz="1800" b="1" i="0">
                <a:solidFill>
                  <a:srgbClr val="E8801A"/>
                </a:solidFill>
                <a:latin typeface="Montserrat"/>
              </a:rPr>
              <a:t>03   </a:t>
            </a:r>
            <a:r>
              <a:rPr sz="1700" b="0" i="0">
                <a:solidFill>
                  <a:srgbClr val="1B2330"/>
                </a:solidFill>
                <a:latin typeface="Montserrat"/>
              </a:rPr>
              <a:t>Apartado 3.3</a:t>
            </a:r>
          </a:p>
          <a:p>
            <a:pPr>
              <a:spcAft>
                <a:spcPts val="900"/>
              </a:spcAft>
            </a:pPr>
            <a:r>
              <a:rPr sz="1800" b="1" i="0">
                <a:solidFill>
                  <a:srgbClr val="E8801A"/>
                </a:solidFill>
                <a:latin typeface="Montserrat"/>
              </a:rPr>
              <a:t>04   </a:t>
            </a:r>
            <a:r>
              <a:rPr sz="1700" b="0" i="0">
                <a:solidFill>
                  <a:srgbClr val="1B2330"/>
                </a:solidFill>
                <a:latin typeface="Montserrat"/>
              </a:rPr>
              <a:t>Apartado 3.4</a:t>
            </a:r>
          </a:p>
          <a:p>
            <a:pPr>
              <a:spcAft>
                <a:spcPts val="900"/>
              </a:spcAft>
            </a:pPr>
            <a:r>
              <a:rPr sz="1800" b="1" i="0">
                <a:solidFill>
                  <a:srgbClr val="E8801A"/>
                </a:solidFill>
                <a:latin typeface="Montserrat"/>
              </a:rPr>
              <a:t>05   </a:t>
            </a:r>
            <a:r>
              <a:rPr sz="1700" b="0" i="0">
                <a:solidFill>
                  <a:srgbClr val="1B2330"/>
                </a:solidFill>
                <a:latin typeface="Montserrat"/>
              </a:rPr>
              <a:t>Apartado 3.5</a:t>
            </a:r>
          </a:p>
          <a:p>
            <a:pPr>
              <a:spcAft>
                <a:spcPts val="900"/>
              </a:spcAft>
            </a:pPr>
            <a:r>
              <a:rPr sz="1800" b="1" i="0">
                <a:solidFill>
                  <a:srgbClr val="E8801A"/>
                </a:solidFill>
                <a:latin typeface="Montserrat"/>
              </a:rPr>
              <a:t>06   </a:t>
            </a:r>
            <a:r>
              <a:rPr sz="1700" b="0" i="0">
                <a:solidFill>
                  <a:srgbClr val="1B2330"/>
                </a:solidFill>
                <a:latin typeface="Montserrat"/>
              </a:rPr>
              <a:t>Apartado 3.5.1</a:t>
            </a:r>
          </a:p>
          <a:p>
            <a:pPr>
              <a:spcAft>
                <a:spcPts val="900"/>
              </a:spcAft>
            </a:pPr>
            <a:r>
              <a:rPr sz="1800" b="1" i="0">
                <a:solidFill>
                  <a:srgbClr val="E8801A"/>
                </a:solidFill>
                <a:latin typeface="Montserrat"/>
              </a:rPr>
              <a:t>07   </a:t>
            </a:r>
            <a:r>
              <a:rPr sz="1700" b="0" i="0">
                <a:solidFill>
                  <a:srgbClr val="1B2330"/>
                </a:solidFill>
                <a:latin typeface="Montserrat"/>
              </a:rPr>
              <a:t>Apartado 3.5.2</a:t>
            </a:r>
          </a:p>
          <a:p>
            <a:pPr>
              <a:spcAft>
                <a:spcPts val="900"/>
              </a:spcAft>
            </a:pPr>
            <a:r>
              <a:rPr sz="1800" b="1" i="0">
                <a:solidFill>
                  <a:srgbClr val="E8801A"/>
                </a:solidFill>
                <a:latin typeface="Montserrat"/>
              </a:rPr>
              <a:t>08   </a:t>
            </a:r>
            <a:r>
              <a:rPr sz="1700" b="0" i="0">
                <a:solidFill>
                  <a:srgbClr val="1B2330"/>
                </a:solidFill>
                <a:latin typeface="Montserrat"/>
              </a:rPr>
              <a:t>Apartado 3.6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3.1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¿Necesito permiso para montar?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precisa autorización administrativa</a:t>
            </a:r>
          </a:p>
          <a:p>
            <a:pPr>
              <a:spcAft>
                <a:spcPts val="1100"/>
              </a:spcAft>
            </a:pPr>
            <a:r>
              <a:rPr sz="1600" b="1" i="0">
                <a:solidFill>
                  <a:srgbClr val="E8801A"/>
                </a:solidFill>
                <a:latin typeface="Montserrat"/>
              </a:rPr>
              <a:t>▸  </a:t>
            </a:r>
            <a:r>
              <a:rPr sz="1600" b="0" i="0">
                <a:solidFill>
                  <a:srgbClr val="1B2330"/>
                </a:solidFill>
                <a:latin typeface="Montserrat"/>
              </a:rPr>
              <a:t>Basta hacerlo bien y documentarlo</a:t>
            </a:r>
          </a:p>
          <a:p>
            <a:pPr>
              <a:spcAft>
                <a:spcPts val="1100"/>
              </a:spcAft>
            </a:pPr>
            <a:r>
              <a:rPr sz="1600" b="1" i="0">
                <a:solidFill>
                  <a:srgbClr val="E8801A"/>
                </a:solidFill>
                <a:latin typeface="Montserrat"/>
              </a:rPr>
              <a:t>▸  </a:t>
            </a:r>
            <a:r>
              <a:rPr sz="1600" b="0" i="0">
                <a:solidFill>
                  <a:srgbClr val="1B2330"/>
                </a:solidFill>
                <a:latin typeface="Montserrat"/>
              </a:rPr>
              <a:t>Comunicar solo en ciertos casos</a:t>
            </a:r>
          </a:p>
        </p:txBody>
      </p:sp>
      <p:sp>
        <p:nvSpPr>
          <p:cNvPr id="9" name="imgph" descr="IMGQ:gas installer working on pipe with wrench"/>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installer working on pipe with wrench</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PROYECTO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¿Cuándo hace falta proyecto?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 &gt; 70 kW</a:t>
            </a:r>
          </a:p>
          <a:p>
            <a:pPr>
              <a:spcAft>
                <a:spcPts val="1100"/>
              </a:spcAft>
            </a:pPr>
            <a:r>
              <a:rPr sz="1600" b="1" i="0">
                <a:solidFill>
                  <a:srgbClr val="E8801A"/>
                </a:solidFill>
                <a:latin typeface="Montserrat"/>
              </a:rPr>
              <a:t>▸  </a:t>
            </a:r>
            <a:r>
              <a:rPr sz="1600" b="0" i="0">
                <a:solidFill>
                  <a:srgbClr val="1B2330"/>
                </a:solidFill>
                <a:latin typeface="Montserrat"/>
              </a:rPr>
              <a:t>Común &gt; 2.000 kW</a:t>
            </a:r>
          </a:p>
          <a:p>
            <a:pPr>
              <a:spcAft>
                <a:spcPts val="1100"/>
              </a:spcAft>
            </a:pPr>
            <a:r>
              <a:rPr sz="1600" b="1" i="0">
                <a:solidFill>
                  <a:srgbClr val="E8801A"/>
                </a:solidFill>
                <a:latin typeface="Montserrat"/>
              </a:rPr>
              <a:t>▸  </a:t>
            </a:r>
            <a:r>
              <a:rPr sz="1600" b="0" i="0">
                <a:solidFill>
                  <a:srgbClr val="1B2330"/>
                </a:solidFill>
                <a:latin typeface="Montserrat"/>
              </a:rPr>
              <a:t>Acometida interior &gt; 2.000 kW</a:t>
            </a:r>
          </a:p>
          <a:p>
            <a:pPr>
              <a:spcAft>
                <a:spcPts val="1100"/>
              </a:spcAft>
            </a:pPr>
            <a:r>
              <a:rPr sz="1600" b="1" i="0">
                <a:solidFill>
                  <a:srgbClr val="E8801A"/>
                </a:solidFill>
                <a:latin typeface="Montserrat"/>
              </a:rPr>
              <a:t>▸  </a:t>
            </a:r>
            <a:r>
              <a:rPr sz="1600" b="0" i="0">
                <a:solidFill>
                  <a:srgbClr val="1B2330"/>
                </a:solidFill>
                <a:latin typeface="Montserrat"/>
              </a:rPr>
              <a:t>Más de 5 bar: siempre</a:t>
            </a:r>
          </a:p>
        </p:txBody>
      </p:sp>
      <p:sp>
        <p:nvSpPr>
          <p:cNvPr id="9" name="imgph" descr="IMGQ:engineer reviewing technical drawing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reviewing technical drawings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 partir de qué potencia necesita proyecto una instalación individual?</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2.000 kW</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70 kW</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30 kW</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24,4 kW</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 partir de qué potencia necesita proyecto una instalación individual?</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70 kW</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individual, por ser la pequeña, salta con setenta kilovatios; la común y la acometida aguantan hasta dos mil.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AMPLIACIONES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del 30 %</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Ampliar y superar el 30 %</a:t>
            </a:r>
          </a:p>
          <a:p>
            <a:pPr>
              <a:spcAft>
                <a:spcPts val="1100"/>
              </a:spcAft>
            </a:pPr>
            <a:r>
              <a:rPr sz="1600" b="1" i="0">
                <a:solidFill>
                  <a:srgbClr val="E8801A"/>
                </a:solidFill>
                <a:latin typeface="Montserrat"/>
              </a:rPr>
              <a:t>▸  </a:t>
            </a:r>
            <a:r>
              <a:rPr sz="1600" b="0" i="0">
                <a:solidFill>
                  <a:srgbClr val="1B2330"/>
                </a:solidFill>
                <a:latin typeface="Montserrat"/>
              </a:rPr>
              <a:t>de la potencia de diseño inicial</a:t>
            </a:r>
          </a:p>
          <a:p>
            <a:pPr>
              <a:spcAft>
                <a:spcPts val="1100"/>
              </a:spcAft>
            </a:pPr>
            <a:r>
              <a:rPr sz="1600" b="1" i="0">
                <a:solidFill>
                  <a:srgbClr val="E8801A"/>
                </a:solidFill>
                <a:latin typeface="Montserrat"/>
              </a:rPr>
              <a:t>▸  </a:t>
            </a:r>
            <a:r>
              <a:rPr sz="1600" b="0" i="0">
                <a:solidFill>
                  <a:srgbClr val="1B2330"/>
                </a:solidFill>
                <a:latin typeface="Montserrat"/>
              </a:rPr>
              <a:t>O entrar en los otros supuestos</a:t>
            </a:r>
          </a:p>
        </p:txBody>
      </p:sp>
      <p:sp>
        <p:nvSpPr>
          <p:cNvPr id="9" name="imgph" descr="IMGQ:gas pipe network with branches o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network with branches on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3.2 · DIRECCIÓN DE OBRA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Proyecto = dirección de obra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 hay proyecto, hay técnico</a:t>
            </a:r>
          </a:p>
          <a:p>
            <a:pPr>
              <a:spcAft>
                <a:spcPts val="1100"/>
              </a:spcAft>
            </a:pPr>
            <a:r>
              <a:rPr sz="1600" b="1" i="0">
                <a:solidFill>
                  <a:srgbClr val="E8801A"/>
                </a:solidFill>
                <a:latin typeface="Montserrat"/>
              </a:rPr>
              <a:t>▸  </a:t>
            </a:r>
            <a:r>
              <a:rPr sz="1600" b="0" i="0">
                <a:solidFill>
                  <a:srgbClr val="1B2330"/>
                </a:solidFill>
                <a:latin typeface="Montserrat"/>
              </a:rPr>
              <a:t>Emite certificado de dirección de obra</a:t>
            </a:r>
          </a:p>
          <a:p>
            <a:pPr>
              <a:spcAft>
                <a:spcPts val="1100"/>
              </a:spcAft>
            </a:pPr>
            <a:r>
              <a:rPr sz="1600" b="1" i="0">
                <a:solidFill>
                  <a:srgbClr val="E8801A"/>
                </a:solidFill>
                <a:latin typeface="Montserrat"/>
              </a:rPr>
              <a:t>▸  </a:t>
            </a:r>
            <a:r>
              <a:rPr sz="1600" b="0" i="0">
                <a:solidFill>
                  <a:srgbClr val="1B2330"/>
                </a:solidFill>
                <a:latin typeface="Montserrat"/>
              </a:rPr>
              <a:t>Sin proyecto, no hay dirección</a:t>
            </a:r>
          </a:p>
        </p:txBody>
      </p:sp>
      <p:sp>
        <p:nvSpPr>
          <p:cNvPr id="9" name="imgph" descr="IMGQ:technical engineer with hard hat on construction sit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technical engineer with hard hat on construction site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3.3 · PRUEBAS DE ENTREGA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prueba estrella: estanquidad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hace la empresa instaladora</a:t>
            </a:r>
          </a:p>
          <a:p>
            <a:pPr>
              <a:spcAft>
                <a:spcPts val="1100"/>
              </a:spcAft>
            </a:pPr>
            <a:r>
              <a:rPr sz="1600" b="1" i="0">
                <a:solidFill>
                  <a:srgbClr val="E8801A"/>
                </a:solidFill>
                <a:latin typeface="Montserrat"/>
              </a:rPr>
              <a:t>▸  </a:t>
            </a:r>
            <a:r>
              <a:rPr sz="1600" b="0" i="0">
                <a:solidFill>
                  <a:srgbClr val="1B2330"/>
                </a:solidFill>
                <a:latin typeface="Montserrat"/>
              </a:rPr>
              <a:t>UNE 60670-8 (baja) o 60620 (alta)</a:t>
            </a:r>
          </a:p>
          <a:p>
            <a:pPr>
              <a:spcAft>
                <a:spcPts val="1100"/>
              </a:spcAft>
            </a:pPr>
            <a:r>
              <a:rPr sz="1600" b="1" i="0">
                <a:solidFill>
                  <a:srgbClr val="E8801A"/>
                </a:solidFill>
                <a:latin typeface="Montserrat"/>
              </a:rPr>
              <a:t>▸  </a:t>
            </a:r>
            <a:r>
              <a:rPr sz="1600" b="0" i="0">
                <a:solidFill>
                  <a:srgbClr val="1B2330"/>
                </a:solidFill>
                <a:latin typeface="Montserrat"/>
              </a:rPr>
              <a:t>Resultado positivo en el certificado</a:t>
            </a:r>
          </a:p>
        </p:txBody>
      </p:sp>
      <p:sp>
        <p:nvSpPr>
          <p:cNvPr id="9" name="imgph" descr="IMGQ:pressure gauge manometer on gas pipe tes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on gas pipe test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¿Quién realiza la prueba de estanquidad antes de entregar la instalación?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distribuidor</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 organismo de control independiente</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empresa instaladora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usuario titular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¿Quién realiza la prueba de estanquidad antes de entregar la instalación?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La empresa instaladora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prueba de entrega la hace quien monta, es decir la empresa instaladora, y el resultado queda en el certificado de instalación.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3.3 · ACOMETIDA ENTERRADA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Enterrado: el certificado, antes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interior enterrada</a:t>
            </a:r>
          </a:p>
          <a:p>
            <a:pPr>
              <a:spcAft>
                <a:spcPts val="1100"/>
              </a:spcAft>
            </a:pPr>
            <a:r>
              <a:rPr sz="1600" b="1" i="0">
                <a:solidFill>
                  <a:srgbClr val="E8801A"/>
                </a:solidFill>
                <a:latin typeface="Montserrat"/>
              </a:rPr>
              <a:t>▸  </a:t>
            </a:r>
            <a:r>
              <a:rPr sz="1600" b="0" i="0">
                <a:solidFill>
                  <a:srgbClr val="1B2330"/>
                </a:solidFill>
                <a:latin typeface="Montserrat"/>
              </a:rPr>
              <a:t>Certificado al distribuidor</a:t>
            </a:r>
          </a:p>
          <a:p>
            <a:pPr>
              <a:spcAft>
                <a:spcPts val="1100"/>
              </a:spcAft>
            </a:pPr>
            <a:r>
              <a:rPr sz="1600" b="1" i="0">
                <a:solidFill>
                  <a:srgbClr val="E8801A"/>
                </a:solidFill>
                <a:latin typeface="Montserrat"/>
              </a:rPr>
              <a:t>▸  </a:t>
            </a:r>
            <a:r>
              <a:rPr sz="1600" b="0" i="0">
                <a:solidFill>
                  <a:srgbClr val="1B2330"/>
                </a:solidFill>
                <a:latin typeface="Montserrat"/>
              </a:rPr>
              <a:t>Antes de la puesta en marcha</a:t>
            </a:r>
          </a:p>
        </p:txBody>
      </p:sp>
      <p:sp>
        <p:nvSpPr>
          <p:cNvPr id="9" name="imgph" descr="IMGQ:buried gas pipe connection undergroun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buried gas pipe connection underground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3.4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Tres certificados, uno por tramo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IRG-1: acometida interior</a:t>
            </a:r>
          </a:p>
          <a:p>
            <a:pPr>
              <a:spcAft>
                <a:spcPts val="1100"/>
              </a:spcAft>
            </a:pPr>
            <a:r>
              <a:rPr sz="1600" b="1" i="0">
                <a:solidFill>
                  <a:srgbClr val="E8801A"/>
                </a:solidFill>
                <a:latin typeface="Montserrat"/>
              </a:rPr>
              <a:t>▸  </a:t>
            </a:r>
            <a:r>
              <a:rPr sz="1600" b="0" i="0">
                <a:solidFill>
                  <a:srgbClr val="1B2330"/>
                </a:solidFill>
                <a:latin typeface="Montserrat"/>
              </a:rPr>
              <a:t>IRG-2: instalación común</a:t>
            </a:r>
          </a:p>
          <a:p>
            <a:pPr>
              <a:spcAft>
                <a:spcPts val="1100"/>
              </a:spcAft>
            </a:pPr>
            <a:r>
              <a:rPr sz="1600" b="1" i="0">
                <a:solidFill>
                  <a:srgbClr val="E8801A"/>
                </a:solidFill>
                <a:latin typeface="Montserrat"/>
              </a:rPr>
              <a:t>▸  </a:t>
            </a:r>
            <a:r>
              <a:rPr sz="1600" b="0" i="0">
                <a:solidFill>
                  <a:srgbClr val="1B2330"/>
                </a:solidFill>
                <a:latin typeface="Montserrat"/>
              </a:rPr>
              <a:t>IRG-3: instalación individual</a:t>
            </a:r>
          </a:p>
          <a:p>
            <a:pPr>
              <a:spcAft>
                <a:spcPts val="1100"/>
              </a:spcAft>
            </a:pPr>
            <a:r>
              <a:rPr sz="1600" b="1" i="0">
                <a:solidFill>
                  <a:srgbClr val="E8801A"/>
                </a:solidFill>
                <a:latin typeface="Montserrat"/>
              </a:rPr>
              <a:t>▸  </a:t>
            </a:r>
            <a:r>
              <a:rPr sz="1600" b="0" i="0">
                <a:solidFill>
                  <a:srgbClr val="1B2330"/>
                </a:solidFill>
                <a:latin typeface="Montserrat"/>
              </a:rPr>
              <a:t>Todos llevan croquis</a:t>
            </a:r>
          </a:p>
        </p:txBody>
      </p:sp>
      <p:sp>
        <p:nvSpPr>
          <p:cNvPr id="9" name="imgph" descr="IMGQ:installer filling out paper certificate on clipbo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installer filling out paper certificate on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3.4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el individual lista aparatos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IRG-3 incluye los aparatos</a:t>
            </a:r>
          </a:p>
          <a:p>
            <a:pPr>
              <a:spcAft>
                <a:spcPts val="1100"/>
              </a:spcAft>
            </a:pPr>
            <a:r>
              <a:rPr sz="1600" b="1" i="0">
                <a:solidFill>
                  <a:srgbClr val="E8801A"/>
                </a:solidFill>
                <a:latin typeface="Montserrat"/>
              </a:rPr>
              <a:t>▸  </a:t>
            </a:r>
            <a:r>
              <a:rPr sz="1600" b="0" i="0">
                <a:solidFill>
                  <a:srgbClr val="1B2330"/>
                </a:solidFill>
                <a:latin typeface="Montserrat"/>
              </a:rPr>
              <a:t>con su consumo nominal</a:t>
            </a:r>
          </a:p>
          <a:p>
            <a:pPr>
              <a:spcAft>
                <a:spcPts val="1100"/>
              </a:spcAft>
            </a:pPr>
            <a:r>
              <a:rPr sz="1600" b="1" i="0">
                <a:solidFill>
                  <a:srgbClr val="E8801A"/>
                </a:solidFill>
                <a:latin typeface="Montserrat"/>
              </a:rPr>
              <a:t>▸  </a:t>
            </a:r>
            <a:r>
              <a:rPr sz="1600" b="0" i="0">
                <a:solidFill>
                  <a:srgbClr val="1B2330"/>
                </a:solidFill>
                <a:latin typeface="Montserrat"/>
              </a:rPr>
              <a:t>Es el que llega hasta ellos</a:t>
            </a:r>
          </a:p>
        </p:txBody>
      </p:sp>
      <p:sp>
        <p:nvSpPr>
          <p:cNvPr id="9" name="imgph" descr="IMGQ:gas cooktop and boiler in hom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cooktop and boiler in home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de los certificados de instalación lista los aparatos y su consumo?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IRG-1, acometida interior</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IRG-2, instalación común</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IRG-3, instalación individual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Los tres por igual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de los certificados de instalación lista los aparatos y su consumo?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IRG-3, instalación individual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Solo el individual, el IRG-3, llega hasta los aparatos dentro de la vivienda, así que es el único que los lista con su consumo nominal.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3.4 · CHIMENEAS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Chimeneas en obra nueva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Edificio de nueva planta con chimeneas</a:t>
            </a:r>
          </a:p>
          <a:p>
            <a:pPr>
              <a:spcAft>
                <a:spcPts val="1100"/>
              </a:spcAft>
            </a:pPr>
            <a:r>
              <a:rPr sz="1600" b="1" i="0">
                <a:solidFill>
                  <a:srgbClr val="E8801A"/>
                </a:solidFill>
                <a:latin typeface="Montserrat"/>
              </a:rPr>
              <a:t>▸  </a:t>
            </a:r>
            <a:r>
              <a:rPr sz="1600" b="0" i="0">
                <a:solidFill>
                  <a:srgbClr val="1B2330"/>
                </a:solidFill>
                <a:latin typeface="Montserrat"/>
              </a:rPr>
              <a:t>Certificación previa a la puesta en servicio</a:t>
            </a:r>
          </a:p>
          <a:p>
            <a:pPr>
              <a:spcAft>
                <a:spcPts val="1100"/>
              </a:spcAft>
            </a:pPr>
            <a:r>
              <a:rPr sz="1600" b="1" i="0">
                <a:solidFill>
                  <a:srgbClr val="E8801A"/>
                </a:solidFill>
                <a:latin typeface="Montserrat"/>
              </a:rPr>
              <a:t>▸  </a:t>
            </a:r>
            <a:r>
              <a:rPr sz="1600" b="0" i="0">
                <a:solidFill>
                  <a:srgbClr val="1B2330"/>
                </a:solidFill>
                <a:latin typeface="Montserrat"/>
              </a:rPr>
              <a:t>Técnico competente u organismo de control</a:t>
            </a:r>
          </a:p>
        </p:txBody>
      </p:sp>
      <p:sp>
        <p:nvSpPr>
          <p:cNvPr id="9" name="imgph" descr="IMGQ:new building rooftop with chimney flue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new building rooftop with chimney flues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Cerrar, bloquear, precintar, taponar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Llaves de viviendas sin contrato</a:t>
            </a:r>
          </a:p>
          <a:p>
            <a:pPr>
              <a:spcAft>
                <a:spcPts val="1100"/>
              </a:spcAft>
            </a:pPr>
            <a:r>
              <a:rPr sz="1600" b="1" i="0">
                <a:solidFill>
                  <a:srgbClr val="E8801A"/>
                </a:solidFill>
                <a:latin typeface="Montserrat"/>
              </a:rPr>
              <a:t>▸  </a:t>
            </a:r>
            <a:r>
              <a:rPr sz="1600" b="0" i="0">
                <a:solidFill>
                  <a:srgbClr val="1B2330"/>
                </a:solidFill>
                <a:latin typeface="Montserrat"/>
              </a:rPr>
              <a:t>Cerradas, bloqueadas y precintadas</a:t>
            </a:r>
          </a:p>
          <a:p>
            <a:pPr>
              <a:spcAft>
                <a:spcPts val="1100"/>
              </a:spcAft>
            </a:pPr>
            <a:r>
              <a:rPr sz="1600" b="1" i="0">
                <a:solidFill>
                  <a:srgbClr val="E8801A"/>
                </a:solidFill>
                <a:latin typeface="Montserrat"/>
              </a:rPr>
              <a:t>▸  </a:t>
            </a:r>
            <a:r>
              <a:rPr sz="1600" b="0" i="0">
                <a:solidFill>
                  <a:srgbClr val="1B2330"/>
                </a:solidFill>
                <a:latin typeface="Montserrat"/>
              </a:rPr>
              <a:t>Taponadas si no hay aparato</a:t>
            </a:r>
          </a:p>
        </p:txBody>
      </p:sp>
      <p:sp>
        <p:nvSpPr>
          <p:cNvPr id="9" name="imgph" descr="IMGQ:gas valve with security se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valve with security seal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Purgar: sacar el aire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Barrer el aire de la tubería</a:t>
            </a:r>
          </a:p>
          <a:p>
            <a:pPr>
              <a:spcAft>
                <a:spcPts val="1100"/>
              </a:spcAft>
            </a:pPr>
            <a:r>
              <a:rPr sz="1600" b="1" i="0">
                <a:solidFill>
                  <a:srgbClr val="E8801A"/>
                </a:solidFill>
                <a:latin typeface="Montserrat"/>
              </a:rPr>
              <a:t>▸  </a:t>
            </a:r>
            <a:r>
              <a:rPr sz="1600" b="0" i="0">
                <a:solidFill>
                  <a:srgbClr val="1B2330"/>
                </a:solidFill>
                <a:latin typeface="Montserrat"/>
              </a:rPr>
              <a:t>Que no quede mezcla aire-gas</a:t>
            </a:r>
          </a:p>
          <a:p>
            <a:pPr>
              <a:spcAft>
                <a:spcPts val="1100"/>
              </a:spcAft>
            </a:pPr>
            <a:r>
              <a:rPr sz="1600" b="1" i="0">
                <a:solidFill>
                  <a:srgbClr val="E8801A"/>
                </a:solidFill>
                <a:latin typeface="Montserrat"/>
              </a:rPr>
              <a:t>▸  </a:t>
            </a:r>
            <a:r>
              <a:rPr sz="1600" b="0" i="0">
                <a:solidFill>
                  <a:srgbClr val="1B2330"/>
                </a:solidFill>
                <a:latin typeface="Montserrat"/>
              </a:rPr>
              <a:t>Fuera de los límites de inflamabilidad</a:t>
            </a:r>
          </a:p>
        </p:txBody>
      </p:sp>
      <p:sp>
        <p:nvSpPr>
          <p:cNvPr id="9" name="imgph" descr="IMGQ:gas technician purging pipe at val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technician purging pipe at valve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3.5.1 · CON CONTRATO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 contrato de suministro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usuario firma la póliza antes</a:t>
            </a:r>
          </a:p>
          <a:p>
            <a:pPr>
              <a:spcAft>
                <a:spcPts val="1100"/>
              </a:spcAft>
            </a:pPr>
            <a:r>
              <a:rPr sz="1600" b="1" i="0">
                <a:solidFill>
                  <a:srgbClr val="E8801A"/>
                </a:solidFill>
                <a:latin typeface="Montserrat"/>
              </a:rPr>
              <a:t>▸  </a:t>
            </a:r>
            <a:r>
              <a:rPr sz="1600" b="0" i="0">
                <a:solidFill>
                  <a:srgbClr val="1B2330"/>
                </a:solidFill>
                <a:latin typeface="Montserrat"/>
              </a:rPr>
              <a:t>Se solicita la puesta en servicio</a:t>
            </a:r>
          </a:p>
          <a:p>
            <a:pPr>
              <a:spcAft>
                <a:spcPts val="1100"/>
              </a:spcAft>
            </a:pPr>
            <a:r>
              <a:rPr sz="1600" b="1" i="0">
                <a:solidFill>
                  <a:srgbClr val="E8801A"/>
                </a:solidFill>
                <a:latin typeface="Montserrat"/>
              </a:rPr>
              <a:t>▸  </a:t>
            </a:r>
            <a:r>
              <a:rPr sz="1600" b="0" i="0">
                <a:solidFill>
                  <a:srgbClr val="1B2330"/>
                </a:solidFill>
                <a:latin typeface="Montserrat"/>
              </a:rPr>
              <a:t>La ejecuta el distribuidor</a:t>
            </a:r>
          </a:p>
        </p:txBody>
      </p:sp>
      <p:sp>
        <p:nvSpPr>
          <p:cNvPr id="9" name="imgph" descr="IMGQ:person signing a contract at a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person signing a contract at a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3.5.1 · LOS 9 PASOS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Nueve pasos, dos bloques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1-5: comprobar todo</a:t>
            </a:r>
          </a:p>
          <a:p>
            <a:pPr>
              <a:spcAft>
                <a:spcPts val="1100"/>
              </a:spcAft>
            </a:pPr>
            <a:r>
              <a:rPr sz="1600" b="1" i="0">
                <a:solidFill>
                  <a:srgbClr val="E8801A"/>
                </a:solidFill>
                <a:latin typeface="Montserrat"/>
              </a:rPr>
              <a:t>▸  </a:t>
            </a:r>
            <a:r>
              <a:rPr sz="1600" b="0" i="0">
                <a:solidFill>
                  <a:srgbClr val="1B2330"/>
                </a:solidFill>
                <a:latin typeface="Montserrat"/>
              </a:rPr>
              <a:t>docs, partes visibles, locales, válvulas</a:t>
            </a:r>
          </a:p>
          <a:p>
            <a:pPr>
              <a:spcAft>
                <a:spcPts val="1100"/>
              </a:spcAft>
            </a:pPr>
            <a:r>
              <a:rPr sz="1600" b="1" i="0">
                <a:solidFill>
                  <a:srgbClr val="E8801A"/>
                </a:solidFill>
                <a:latin typeface="Montserrat"/>
              </a:rPr>
              <a:t>▸  </a:t>
            </a:r>
            <a:r>
              <a:rPr sz="1600" b="0" i="0">
                <a:solidFill>
                  <a:srgbClr val="1B2330"/>
                </a:solidFill>
                <a:latin typeface="Montserrat"/>
              </a:rPr>
              <a:t>6-9: precintar contador y estanquidad</a:t>
            </a:r>
          </a:p>
          <a:p>
            <a:pPr>
              <a:spcAft>
                <a:spcPts val="1100"/>
              </a:spcAft>
            </a:pPr>
            <a:r>
              <a:rPr sz="1600" b="1" i="0">
                <a:solidFill>
                  <a:srgbClr val="E8801A"/>
                </a:solidFill>
                <a:latin typeface="Montserrat"/>
              </a:rPr>
              <a:t>▸  </a:t>
            </a:r>
            <a:r>
              <a:rPr sz="1600" b="0" i="0">
                <a:solidFill>
                  <a:srgbClr val="1B2330"/>
                </a:solidFill>
                <a:latin typeface="Montserrat"/>
              </a:rPr>
              <a:t>dejar en servicio y certificar</a:t>
            </a:r>
          </a:p>
        </p:txBody>
      </p:sp>
      <p:sp>
        <p:nvSpPr>
          <p:cNvPr id="9" name="imgph" descr="IMGQ:gas meter and regulator being inspecte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and regulator being inspected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3.5.1 · QUIÉN ACTÚA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da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 red: el distribuidor</a:t>
            </a:r>
          </a:p>
          <a:p>
            <a:pPr>
              <a:spcAft>
                <a:spcPts val="1100"/>
              </a:spcAft>
            </a:pPr>
            <a:r>
              <a:rPr sz="1600" b="1" i="0">
                <a:solidFill>
                  <a:srgbClr val="E8801A"/>
                </a:solidFill>
                <a:latin typeface="Montserrat"/>
              </a:rPr>
              <a:t>▸  </a:t>
            </a:r>
            <a:r>
              <a:rPr sz="1600" b="0" i="0">
                <a:solidFill>
                  <a:srgbClr val="1B2330"/>
                </a:solidFill>
                <a:latin typeface="Montserrat"/>
              </a:rPr>
              <a:t>Sin red: el suministrador</a:t>
            </a:r>
          </a:p>
          <a:p>
            <a:pPr>
              <a:spcAft>
                <a:spcPts val="1100"/>
              </a:spcAft>
            </a:pPr>
            <a:r>
              <a:rPr sz="1600" b="1" i="0">
                <a:solidFill>
                  <a:srgbClr val="E8801A"/>
                </a:solidFill>
                <a:latin typeface="Montserrat"/>
              </a:rPr>
              <a:t>▸  </a:t>
            </a:r>
            <a:r>
              <a:rPr sz="1600" b="0" i="0">
                <a:solidFill>
                  <a:srgbClr val="1B2330"/>
                </a:solidFill>
                <a:latin typeface="Montserrat"/>
              </a:rPr>
              <a:t>Mismas pruebas, cambia el agente</a:t>
            </a:r>
          </a:p>
        </p:txBody>
      </p:sp>
      <p:sp>
        <p:nvSpPr>
          <p:cNvPr id="9" name="imgph" descr="IMGQ:gas distribution technician at meter cabin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distribution technician at meter cabinet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3.5.2 · SIN CONTRATO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Sin contrato: manda la instaladora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interviene el distribuidor</a:t>
            </a:r>
          </a:p>
          <a:p>
            <a:pPr>
              <a:spcAft>
                <a:spcPts val="1100"/>
              </a:spcAft>
            </a:pPr>
            <a:r>
              <a:rPr sz="1600" b="1" i="0">
                <a:solidFill>
                  <a:srgbClr val="E8801A"/>
                </a:solidFill>
                <a:latin typeface="Montserrat"/>
              </a:rPr>
              <a:t>▸  </a:t>
            </a:r>
            <a:r>
              <a:rPr sz="1600" b="0" i="0">
                <a:solidFill>
                  <a:srgbClr val="1B2330"/>
                </a:solidFill>
                <a:latin typeface="Montserrat"/>
              </a:rPr>
              <a:t>La instaladora hace las pruebas</a:t>
            </a:r>
          </a:p>
          <a:p>
            <a:pPr>
              <a:spcAft>
                <a:spcPts val="1100"/>
              </a:spcAft>
            </a:pPr>
            <a:r>
              <a:rPr sz="1600" b="1" i="0">
                <a:solidFill>
                  <a:srgbClr val="E8801A"/>
                </a:solidFill>
                <a:latin typeface="Montserrat"/>
              </a:rPr>
              <a:t>▸  </a:t>
            </a:r>
            <a:r>
              <a:rPr sz="1600" b="0" i="0">
                <a:solidFill>
                  <a:srgbClr val="1B2330"/>
                </a:solidFill>
                <a:latin typeface="Montserrat"/>
              </a:rPr>
              <a:t>Siempre entrega certificado al titular</a:t>
            </a:r>
          </a:p>
        </p:txBody>
      </p:sp>
      <p:sp>
        <p:nvSpPr>
          <p:cNvPr id="9" name="imgph" descr="IMGQ:installer handing document to homeown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installer handing document to homeowner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3.5.1 · REAPERTURA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del año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Más de un año sin suministro</a:t>
            </a:r>
          </a:p>
          <a:p>
            <a:pPr>
              <a:spcAft>
                <a:spcPts val="1100"/>
              </a:spcAft>
            </a:pPr>
            <a:r>
              <a:rPr sz="1600" b="1" i="0">
                <a:solidFill>
                  <a:srgbClr val="E8801A"/>
                </a:solidFill>
                <a:latin typeface="Montserrat"/>
              </a:rPr>
              <a:t>▸  </a:t>
            </a:r>
            <a:r>
              <a:rPr sz="1600" b="0" i="0">
                <a:solidFill>
                  <a:srgbClr val="1B2330"/>
                </a:solidFill>
                <a:latin typeface="Montserrat"/>
              </a:rPr>
              <a:t>tras resolver el contrato</a:t>
            </a:r>
          </a:p>
          <a:p>
            <a:pPr>
              <a:spcAft>
                <a:spcPts val="1100"/>
              </a:spcAft>
            </a:pPr>
            <a:r>
              <a:rPr sz="1600" b="1" i="0">
                <a:solidFill>
                  <a:srgbClr val="E8801A"/>
                </a:solidFill>
                <a:latin typeface="Montserrat"/>
              </a:rPr>
              <a:t>▸  </a:t>
            </a:r>
            <a:r>
              <a:rPr sz="1600" b="0" i="0">
                <a:solidFill>
                  <a:srgbClr val="1B2330"/>
                </a:solidFill>
                <a:latin typeface="Montserrat"/>
              </a:rPr>
              <a:t>Se trata como instalación nueva</a:t>
            </a:r>
          </a:p>
        </p:txBody>
      </p:sp>
      <p:sp>
        <p:nvSpPr>
          <p:cNvPr id="9" name="imgph" descr="IMGQ:old closed gas meter in cabin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old closed gas meter in cabinet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Documentación y puesta en servicio</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3.6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Comunicar solo si hay proyecto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 proyecto: se comunica</a:t>
            </a:r>
          </a:p>
          <a:p>
            <a:pPr>
              <a:spcAft>
                <a:spcPts val="1100"/>
              </a:spcAft>
            </a:pPr>
            <a:r>
              <a:rPr sz="1600" b="1" i="0">
                <a:solidFill>
                  <a:srgbClr val="E8801A"/>
                </a:solidFill>
                <a:latin typeface="Montserrat"/>
              </a:rPr>
              <a:t>▸  </a:t>
            </a:r>
            <a:r>
              <a:rPr sz="1600" b="0" i="0">
                <a:solidFill>
                  <a:srgbClr val="1B2330"/>
                </a:solidFill>
                <a:latin typeface="Montserrat"/>
              </a:rPr>
              <a:t>Sin proyecto: no hace falta</a:t>
            </a:r>
          </a:p>
          <a:p>
            <a:pPr>
              <a:spcAft>
                <a:spcPts val="1100"/>
              </a:spcAft>
            </a:pPr>
            <a:r>
              <a:rPr sz="1600" b="1" i="0">
                <a:solidFill>
                  <a:srgbClr val="E8801A"/>
                </a:solidFill>
                <a:latin typeface="Montserrat"/>
              </a:rPr>
              <a:t>▸  </a:t>
            </a:r>
            <a:r>
              <a:rPr sz="1600" b="0" i="0">
                <a:solidFill>
                  <a:srgbClr val="1B2330"/>
                </a:solidFill>
                <a:latin typeface="Montserrat"/>
              </a:rPr>
              <a:t>Pero siempre se guarda la documentación</a:t>
            </a:r>
          </a:p>
        </p:txBody>
      </p:sp>
      <p:sp>
        <p:nvSpPr>
          <p:cNvPr id="9" name="imgph" descr="IMGQ:filing cabinet with documents and folder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filing cabinet with documents and folders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darle papeles y gas a una instalación</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Proyecto: 70 kW, 2.000 kW y más de 5 bar</a:t>
            </a:r>
          </a:p>
          <a:p>
            <a:pPr>
              <a:spcAft>
                <a:spcPts val="1200"/>
              </a:spcAft>
            </a:pPr>
            <a:r>
              <a:rPr sz="2000" b="1" i="0">
                <a:solidFill>
                  <a:srgbClr val="F4A24C"/>
                </a:solidFill>
                <a:latin typeface="Montserrat"/>
              </a:rPr>
              <a:t>✓  </a:t>
            </a:r>
            <a:r>
              <a:rPr sz="1900" b="0" i="0">
                <a:solidFill>
                  <a:srgbClr val="FFFFFF"/>
                </a:solidFill>
                <a:latin typeface="Montserrat"/>
              </a:rPr>
              <a:t>La estanquidad la hace quien monta</a:t>
            </a:r>
          </a:p>
          <a:p>
            <a:pPr>
              <a:spcAft>
                <a:spcPts val="1200"/>
              </a:spcAft>
            </a:pPr>
            <a:r>
              <a:rPr sz="2000" b="1" i="0">
                <a:solidFill>
                  <a:srgbClr val="F4A24C"/>
                </a:solidFill>
                <a:latin typeface="Montserrat"/>
              </a:rPr>
              <a:t>✓  </a:t>
            </a:r>
            <a:r>
              <a:rPr sz="1900" b="0" i="0">
                <a:solidFill>
                  <a:srgbClr val="FFFFFF"/>
                </a:solidFill>
                <a:latin typeface="Montserrat"/>
              </a:rPr>
              <a:t>Puesta en servicio: comprobar y luego dar gas</a:t>
            </a:r>
          </a:p>
          <a:p>
            <a:pPr>
              <a:spcAft>
                <a:spcPts val="1200"/>
              </a:spcAft>
            </a:pPr>
            <a:r>
              <a:rPr sz="2000" b="1" i="0">
                <a:solidFill>
                  <a:srgbClr val="F4A24C"/>
                </a:solidFill>
                <a:latin typeface="Montserrat"/>
              </a:rPr>
              <a:t>✓  </a:t>
            </a:r>
            <a:r>
              <a:rPr sz="1900" b="0" i="0">
                <a:solidFill>
                  <a:srgbClr val="FFFFFF"/>
                </a:solidFill>
                <a:latin typeface="Montserrat"/>
              </a:rPr>
              <a:t>IRG-1, IRG-2, IRG-3, uno por tramo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dominas el arranque y el papeleo. Vamos a por el mantenimiento y las inspecciones.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
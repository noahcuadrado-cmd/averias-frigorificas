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esto es una norma que hay que cumplir a rajatabla?</a:t>
            </a:r>
          </a:p>
          <a:p>
            <a:r>
              <a:t>N2: Es una guía práctica de la distribuidora, el «cómo se hace» en obra, pero se apoya en el Reglamento de gas, en el RITE y en las normas UNE, así que en la práctica es tu manual de instalador. En este primer vídeo montamos el punto de medida: dónde y cómo van los contadores, centralizados o en la vivienda, y qué grado de accesibilidad exige cada llave. Aquí no hay «casi bien»: cada distancia, cada altura y cada grado cae en el examen y decide si te aprueban la puesta en servicio.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estas tres cifras y no otras?</a:t>
            </a:r>
          </a:p>
          <a:p>
            <a:r>
              <a:t>N2: Porque resumen el vídeo. Dos metros es lo más alto que puede quedar el totalizador, la ventanita de lectura, en una centralización; un metro setenta, cuando el contador va dentro de la vivienda. Y tres son los grados de accesibilidad, que deciden quién puede llegar a cortar el gas en una emergencia. Si te quedas con estas tres, ya tienes el esqueleto del vídeo.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no puedo bajar los contadores a un segundo sótano si me sobra sitio?</a:t>
            </a:r>
          </a:p>
          <a:p>
            <a:r>
              <a:t>N2: Esto se entiende con física de andar por casa. El gas natural pesa menos que el aire, así que si se escapa, sube, no baja. Si metes la batería de contadores en un pozo profundo, una fuga se queda ahí abajo estancada, sin salida hacia arriba, y eso es peligrosísimo. Por eso la norma es tajante: en edificio nuevo se centraliza sí o sí, en zona comunitaria, con acceso de grado dos, o sea tras una cerradura normalizada, y nunca por debajo del primer sótano. Regla para todo el tema: gas ligero, cuanto más alto mejor, jamás en un agujero. Y ese recinto es solo para gas: como te encuentren cajas o una bombona de otro uso, es anomalía en la inspección.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es el totalizador y por qué importa tanto su altura?</a:t>
            </a:r>
          </a:p>
          <a:p>
            <a:r>
              <a:t>N2: El totalizador es la ventanita del contador donde se lee el consumo, los numeritos que marcan cuánto gas ha pasado. La altura importa por algo muy práctico: si lo pones demasiado alto, el que va a leer no llega, y el que va a mantener tampoco puede trabajar. Piénsalo como el cuadro de la luz de casa: tiene que estar a la vista y a mano, no encaramado en el techo. Por eso en centralizado la norma pide el totalizador por debajo de dos metros. Solo en módulos prefabricados, los de la norma UNE sesenta mil cuatrocientos noventa, se admite hasta dos metros con cuarenta, pero con una condición: que dejes una escalera o un útil para leer. Si lo dejas alto y sin acceso, llegan las lecturas estimadas y las reclamaciones de factura.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Atención, que esta cruza dos alturas y mucha gente las confunde. Escucha la pregunta y las cuatro opciones, que las jugamos solo de oído. La pregunta: ¿cuál es la altura máxima del totalizador cuando el contador va dentro de la vivienda? Opción A, un metro con setenta. Opción B, dos metros. Opción C, dos metros con cuarenta. Opción D, un metro con cincuenta. Si conduces, párala un momento y piensa tu respuesta.</a:t>
            </a:r>
          </a:p>
          <a:p>
            <a:r>
              <a:t>N2: Una pista mientras lo decides: piensa quién lo lee. Dentro de casa lo lee el propio usuario, de pie y sin subirse a nada.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N2: La respuesta correcta es la opción A: un metro con setenta. Dentro de la vivienda no hay escalera de servicio, así que el totalizador lo tiene que leer cómodamente el usuario, y por eso no puede pasar de un metro con setenta. Los dos metros, y los dos con cuarenta del módulo prefabricado con escalera, son de la centralización. El truco para no fallar: centralizado dos metros, prefabricado dos con cuarenta con escalera; en vivienda, un metro con setenta.</a:t>
            </a:r>
          </a:p>
          <a:p>
            <a:r>
              <a:t>N1: Dos alturas, dos escenarios; no los cruces.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tanto detalle con la puerta del recinto?</a:t>
            </a:r>
          </a:p>
          <a:p>
            <a:r>
              <a:t>N2: Es puro sentido común de seguridad, y por eso cae tanto. Imagina que estás dentro del recinto y de repente hueles a gas o hay un susto. Tienes que poder salir de un empujón, sin buscar una llave. Por eso la puerta abre hacia fuera y, si es un local, se abre siempre desde dentro sin llave. Además, que abra hacia fuera ayuda a que la fuerza de una posible explosión no la selle contra el marco. Junta esto con otros dos detalles: una toma de corriente en los locales técnicos, para poder trabajar con luz y herramienta, y el cartel de «Contadores de gas» en la parte de fuera de la puerta, para que cualquiera sepa qué hay ahí. Puerta, enchufe y cartel: los tres que más se preguntan.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¿Puede pasar por el recinto de contadores una tubería que no sea de gas?</a:t>
            </a:r>
          </a:p>
          <a:p>
            <a:r>
              <a:t>N2: La norma prefiere que no. El recinto es solo para gas, así que hay que evitar que una conducción ajena, de agua, de electricidad, de lo que sea, discurra vista por dentro. ¿Y si no queda más remedio que atraviese? Entonces esa conducción tiene que ir sin accesorios ni juntas desmontables por dentro del recinto, y los puntos por donde entra y sale deben quedar estancos; si es un tubo de plástico, además envainado. La idea es que nada ajeno pueda soltar algo dentro ni abrir un camino por donde el gas se cuele a otra parte. Y un detalle: las conducciones eléctricas vistas van dentro de una vaina continua de acero, y toda la instalación eléctrica del recinto cumple el reglamento de baja tensión. Cuanto más limpio y solo para gas, mejor.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diferencia hay entre ventilación directa e indirecta?</a:t>
            </a:r>
          </a:p>
          <a:p>
            <a:r>
              <a:t>N2: Muy fácil. Ventilación directa es cuando el aire del recinto sale al exterior de un tirón, sin escalas. Ventilación indirecta es cuando antes pasa por otro local que sí está ventilado. ¿Y por qué en un primer sótano con gas ligero se prohíbe la indirecta? Porque no quieres que el gas de una fuga se pasee por otra estancia de la casa antes de salir a la calle; podría acumularse por el camino. Prefieres que salga fuera directo, sin rodeos. Es la misma filosofía de todo el tema: al gas natural, que es más ligero que el aire, dale una salida limpia hacia arriba y hacia fuera, cuanto más corta mejor.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Hay una tabla enorme de secciones. ¿Me la tengo que aprender de memoria?</a:t>
            </a:r>
          </a:p>
          <a:p>
            <a:r>
              <a:t>N2: No te agobies con la tabla celda a celda; quédate con la lógica y la sacas sola. Ventilar el recinto sirve para que, si hay una microfuga, el gas se airee y no se acumule; si te quedas corto de rejilla, conviertes el recinto en una bolsa de gas. La idea: los armarios son pequeños y cerrados, así que piden secciones pequeñas, entre cinco y cincuenta centímetros cuadrados, y no admiten ventilación indirecta. Los locales y cuartos, más grandes, piden doscientos centímetros cuadrados arriba y abajo, o ciento cincuenta si hay muchos contadores. Y hay dos recargos del cincuenta por ciento: cuando el conducto es largo y cuando estás en un primer sótano, que además exige puerta estanca. Con eso respondes casi cualquier casilla.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¿Hay que aprenderse esta tabla casilla a casilla?</a:t>
            </a:r>
          </a:p>
          <a:p>
            <a:r>
              <a:t>N2: No, con la lógica la sacas sola. La tabla da la sección mínima de rejilla, arriba y abajo, según el tipo de recinto y el número de contadores. Fíjate en el patrón: los armarios, que son pequeños y cerrados, piden secciones pequeñas, entre cinco y cincuenta centímetros cuadrados, y no admiten ventilación indirecta; los locales y cuartos, más grandes, piden doscientos centímetros cuadrados, o ciento cincuenta si hay más de dos contadores; y solo el conducto técnico admite indirecta. El asterisco avisa de que, en un primer sótano con gas más ligero que el aire, la indirecta no se permite. Y recuerda los dos recargos del cincuenta por ciento: cuando el conducto es largo y cuando estás en primer sótano, que además exige puerta estanca. Ejemplo de obra: un cuarto de contadores con tres contadores en planta baja pide ciento cincuenta centímetros cuadrados arriba y otros ciento cincuenta abajo, con ventilación directa.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Pregunta de tabla, la jugamos de oído. De todos los recintos de contadores, solo uno admite ventilación indirecta, o sea salir pasando antes por otro local. La pregunta: ¿cuál es? Opción A, el conducto técnico. Opción B, el armario exterior. Opción C, el local técnico. Opción D, el armario interior. Piensa cuál de los cuatro es la excepción.</a:t>
            </a:r>
          </a:p>
          <a:p>
            <a:r>
              <a:t>N2: Pista: en la fila de la ventilación indirecta casi todo pone «no se permite» menos una columna.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N2: La respuesta correcta es la opción A: el conducto técnico. Es el único que admite ventilación indirecta, porque es un hueco cerrado y estrecho por donde el aire ya circula de por sí. Los demás, armarios y locales, tienen que soltar el aire directo al exterior para no llevar una posible fuga a otra estancia. El truco: si dudas, quédate con que solo el conducto técnico se libra; el resto, directa sí o sí.</a:t>
            </a:r>
          </a:p>
          <a:p>
            <a:r>
              <a:t>N1: Uno entre cuatro, y es el conducto técnico.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es eso de la válvula de máxima de rearme manual?</a:t>
            </a:r>
          </a:p>
          <a:p>
            <a:r>
              <a:t>N2: Piensa en ella como un fusible de presión. Si la red te manda un golpe de presión más alto de lo previsto, esta válvula corta el gas de golpe; y ojo, no se vuelve a abrir sola, hay que rearmarla a mano, para que un técnico vaya, mire qué ha pasado y luego reponga. ¿Cuándo es obligatoria? Cuando la presión de entrada al regulador es de ciento cincuenta milibares o más. Por debajo no hace falta; por encima, sí o sí. El conjunto de regulación se puede montar dentro del recinto de contadores, pero con grado dos de accesibilidad y cuidando que el recinto sea estanco respecto al edificio, para que ante una fuga ventile directamente a la calle. Y si el regulador va fuera, siempre protegido de la lluvia, que el agua lo corroe y lo bloquea.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por qué en vivienda la altura baja a un metro setenta?</a:t>
            </a:r>
          </a:p>
          <a:p>
            <a:r>
              <a:t>N2: Aquí hay un detalle de examen que confunde a mucha gente: hay dos alturas de totalizador. En centralizado el máximo son dos metros, dos con cuarenta en prefabricado con escalera. Pero cuando el contador va dentro de la vivienda, baja a un metro setenta. ¿La razón? Dentro de casa no hay una escalera de servicio; lo tiene que leer cómodamente el propio usuario, de pie, sin subirse a nada. Truco para recordarlo: centralizado dos metros, en vivienda uno setenta. Y otra regla de oro: nunca pongas el contador bajo la proyección del fregadero o de una pila, porque un goteo de agua encima del contador y sus conexiones te trae humedad, corrosión y falsas fugas. Agua y gas conviven mal. Colócalo cerca de la entrada, ventilado y a la vista.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Me lío con los 40 y los 20 centímetros. ¿Cómo los distingo?</a:t>
            </a:r>
          </a:p>
          <a:p>
            <a:r>
              <a:t>N2: Es normal liarse, así que vamos a fijarlos con lógica. Los cuarenta centímetros son la distancia al quemador de la cocina, o sea al fuego directo. Los veinte centímetros son la distancia a aparatos de gas y a mecanismos eléctricos, como el interruptor de la luz o una caldera. ¿Por qué a lo eléctrico? Porque un interruptor al accionarse hace una chispa, y una chispa junto a una conexión que rezuma gas es como empiezan los sustos. Y ojo a un matiz que cae: ese veinte es en todo el perímetro del aparato, no solo a los lados; nada de colgar el contador justo encima de la caldera. ¿Que no llegas a la distancia porque la cocina es pequeña? Pues montas una pantalla de protección entre medias y solucionado.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tienen en común esos sitios prohibidos?</a:t>
            </a:r>
          </a:p>
          <a:p>
            <a:r>
              <a:t>N2: Todos son locales donde te encierras con la puerta cerrada y donde no hay ventilación garantizada. En un dormitorio duermes; en el baño o la ducha te metes con la puerta cerrada y a veces con vapor. Si en cualquiera de esos sitios hubiera una fuga, el gas se acumula sin que te enteres y acabas en una intoxicación. Por eso el contador no va nunca en dormitorio, water, cuarto de baño ni cuarto de ducha. Es la misma filosofía que ya llevamos: al gas hay que darle aire y sitios donde una fuga se note y se ventile, no rincones cerrados donde se quede escondido.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¿Cómo memorizo los tres grados sin hacerme un lío?</a:t>
            </a:r>
          </a:p>
          <a:p>
            <a:r>
              <a:t>N2: Memorízalos por lo que te estorba para llegar a la llave, de menos a más. Grado uno: llegas andando, a mano, sin cerraduras y sin escaleras; es el más fácil, el de la llave que abre el propio usuario. Grado dos: ya hay una cerradura normalizada de por medio, pero sigues llegando sin escalera; es el típico armario cerrado con llave de compañía. Grado tres: el más difícil, necesitas una escalera o un medio mecánico, o tienes que pasar por una zona privada para llegar. Cuanto mayor es el número, más barreras. Con esta regla colocas cualquier llave de las tablas: primero piensa qué te estorba para alcanzarla, y el grado sale solo.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insisten tanto en que la llave de usuario sea accesible para la distribuidora?</a:t>
            </a:r>
          </a:p>
          <a:p>
            <a:r>
              <a:t>N2: Porque esa llave es la que permite dejar sin gas una vivienda concreta en una emergencia. La llave de usuario se pone siempre, para aislar cada instalación individual, y tiene que ser fácilmente accesible con grado dos para la empresa distribuidora, desde la zona común o desde el límite de la propiedad. Piénsalo: si la escondes dentro de la vivienda y no hay nadie, la compañía no puede cortar el suministro cuando hay peligro, y eso es una anomalía. Un detalle fino que cae: existe el obturador de cierre, un tapón de seguridad que la distribuidora puede exigir, con grado tres y solo para ella; pero si montas contadores de funciones añadidas, los de telemedida y telecorte, el obturador no se monta, porque el propio contador ya hace esa función a distancia.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Las tablas de la comunitaria y la individual tienen muchas filas. ¿Hay un patrón?</a:t>
            </a:r>
          </a:p>
          <a:p>
            <a:r>
              <a:t>N2: Sí, y en cuanto lo ves ya no necesitas empollar fila por fila. Fíjate: todo lo que la distribuidora necesita tocar, la acometida, la llave de edificio, la de montante, los contadores, la regulación y la llave de usuario, vive en zona comunitaria o pública y pide grado dos o tres. En cambio, todo lo que maneja el usuario dentro de su propia vivienda, la llave de vivienda, la del aparato, la del regulador, es grado uno, a mano y sin llave. Así que ante cualquier llave, primero decide dos cosas: quién la usa y dónde está. Con eso el grado casi se contesta solo. Y todo esto queda reflejado en el certificado de instalación, el boletín que firma la empresa instaladora y entrega a la distribuidora.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grado pide cada llave de la parte comunitaria?</a:t>
            </a:r>
          </a:p>
          <a:p>
            <a:r>
              <a:t>N2: Esta tabla recoge la instalación receptora comunitaria, la parte que maneja la empresa distribuidora. Léela con un patrón: todo lo que la distribuidora necesita tocar vive en zona comunitaria o pública y pide grado dos o tres. La acometida, grado uno o dos desde zona pública; el edificio y el montante, grado dos o tres; la llave de usuario, la centralización y el armario de regulación, grado dos para todos desde zona común; y el obturador de cierre, grado tres solo para la distribuidora. Un detalle de examen: el obturador no se monta si pones contadores de funciones añadidas, los de telemedida, porque el propio contador ya corta a distancia. Ejemplo de obra: la llave de usuario de un piso tiene que quedar accesible con grado dos para la distribuidora desde el rellano, no escondida dentro de la vivienda.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dentro de la vivienda, qué grado piden las llaves?</a:t>
            </a:r>
          </a:p>
          <a:p>
            <a:r>
              <a:t>N2: Aquí está la instalación receptora individual, lo que maneja el propio usuario dentro de casa. Fíjate en el contraste con la comunitaria: como las usa el usuario y están en la vivienda, son grado uno, a mano y sin llave, o como mucho grado uno o dos en la del contador y la del regulador. La llave de vivienda y la de aparato, grado uno siempre. Regla para colocar cualquier llave: primero decide quién la usa y dónde está; si es el usuario dentro de casa, grado uno. Ejemplo de obra: la llave de la cocina, la del aparato, tiene que quedar a mano del usuario, sin cerraduras ni escaleras.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La llave de usuario es la que deja sin gas una vivienda concreta en una emergencia. Escucha la pregunta y las cuatro opciones. La pregunta: ¿con qué grado de accesibilidad tiene que quedar esa llave para la empresa distribuidora? Opción A, grado dos. Opción B, grado uno. Opción C, grado tres. Opción D, no exige grado. Piénsalo un momento.</a:t>
            </a:r>
          </a:p>
          <a:p>
            <a:r>
              <a:t>N2: Pista: la compañía debe poder cortar desde la zona común aunque no haya nadie en casa; ni tan libre como el grado más bajo, ni tan difícil como el más alto.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N2: La respuesta correcta es la opción A: grado dos. Grado dos es cerradura normalizada pero sin escalera, así que la distribuidora abre con su llave desde la zona común o el límite de la propiedad y corta el gas. Si la dejaras dentro de la vivienda, inaccesible, la compañía no podría cerrar en caso de peligro, y eso es una anomalía. El truco: la llave de usuario se pone siempre, y para la distribuidora es grado dos.</a:t>
            </a:r>
          </a:p>
          <a:p>
            <a:r>
              <a:t>N1: Grado dos: ni más libre ni más difícil.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Cerramos fuerte. Si me quedo con lo esencial de este vídeo, ¿qué es?</a:t>
            </a:r>
          </a:p>
          <a:p>
            <a:r>
              <a:t>N2: Reconstruyamos el hilo, porque todo tiene una misma lógica: al gas natural, que es más ligero que el aire, hay que darle salida hacia arriba y accesos claros. Por eso en obra nueva se centraliza en zona comunitaria con grado dos y nunca bajo el primer sótano, donde una fuga no ventilaría. Por eso el totalizador va a la vista y a mano: dos metros en centralizado, uno setenta en vivienda, para que se lea y se mantenga. Por eso el contador guarda cuarenta centímetros al fuego y veinte a lo eléctrico, y no pisa dormitorios ni baños. Y por eso existen los tres grados de accesibilidad: deciden quién puede llegar a cortar el gas en una emergencia; grado uno sin barreras, grado dos con cerradura, grado tres con escalera o zona privada. En el examen te lo preguntarán cruzado, dónde va una llave, qué grado y desde qué zona; y en la obra decide si te aprueban la puesta en servicio o te la tumban. Cada distancia y cada grado acaba escrito en el boletín que firmas. Hoy ya eres más gasista que ayer. En el siguiente vídeo entramos en el corazón del oficio, el tubo: cómo se traza, con qué materiales y cómo se prueba que no pierde ni una burbuja. Te espero allí.</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548640"/>
          </a:xfrm>
          <a:prstGeom prst="rect">
            <a:avLst/>
          </a:prstGeom>
          <a:noFill/>
        </p:spPr>
        <p:txBody>
          <a:bodyPr wrap="square">
            <a:spAutoFit/>
          </a:bodyPr>
          <a:lstStyle/>
          <a:p>
            <a:r>
              <a:rPr sz="1400" b="1" i="0">
                <a:solidFill>
                  <a:srgbClr val="F4A24C"/>
                </a:solidFill>
                <a:latin typeface="Montserrat"/>
              </a:rPr>
              <a:t>VÍDEO 1 DE 3</a:t>
            </a:r>
          </a:p>
        </p:txBody>
      </p:sp>
      <p:sp>
        <p:nvSpPr>
          <p:cNvPr id="4" name="Rectangle 3"/>
          <p:cNvSpPr/>
          <p:nvPr/>
        </p:nvSpPr>
        <p:spPr>
          <a:xfrm>
            <a:off x="868680" y="205740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15600" cy="2011680"/>
          </a:xfrm>
          <a:prstGeom prst="rect">
            <a:avLst/>
          </a:prstGeom>
          <a:noFill/>
        </p:spPr>
        <p:txBody>
          <a:bodyPr wrap="square">
            <a:spAutoFit/>
          </a:bodyPr>
          <a:lstStyle/>
          <a:p>
            <a:r>
              <a:rPr sz="4000" b="1" i="0">
                <a:solidFill>
                  <a:srgbClr val="FFFFFF"/>
                </a:solidFill>
                <a:latin typeface="Montserrat"/>
              </a:rPr>
              <a:t>Gas a la primera</a:t>
            </a:r>
          </a:p>
          <a:p>
            <a:r>
              <a:rPr sz="2200" b="0" i="0">
                <a:solidFill>
                  <a:srgbClr val="CADCFC"/>
                </a:solidFill>
                <a:latin typeface="Montserrat"/>
              </a:rPr>
              <a:t>Contadores y accesibilidad de dispositivos</a:t>
            </a:r>
          </a:p>
        </p:txBody>
      </p:sp>
      <p:sp>
        <p:nvSpPr>
          <p:cNvPr id="6" name="TextBox 5"/>
          <p:cNvSpPr txBox="1"/>
          <p:nvPr/>
        </p:nvSpPr>
        <p:spPr>
          <a:xfrm>
            <a:off x="822960" y="5852160"/>
            <a:ext cx="10515600" cy="548640"/>
          </a:xfrm>
          <a:prstGeom prst="rect">
            <a:avLst/>
          </a:prstGeom>
          <a:noFill/>
        </p:spPr>
        <p:txBody>
          <a:bodyPr wrap="square">
            <a:spAutoFit/>
          </a:bodyPr>
          <a:lstStyle/>
          <a:p>
            <a:r>
              <a:rPr sz="1300" b="0" i="0">
                <a:solidFill>
                  <a:srgbClr val="CADCFC"/>
                </a:solidFill>
                <a:latin typeface="Montserrat"/>
              </a:rPr>
              <a:t>Tema 17 · Guía práctica</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002 / 026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502920"/>
            <a:ext cx="9144000" cy="914400"/>
          </a:xfrm>
          <a:prstGeom prst="rect">
            <a:avLst/>
          </a:prstGeom>
          <a:noFill/>
        </p:spPr>
        <p:txBody>
          <a:bodyPr wrap="square">
            <a:spAutoFit/>
          </a:bodyPr>
          <a:lstStyle/>
          <a:p>
            <a:r>
              <a:rPr sz="2700" b="1" i="0">
                <a:solidFill>
                  <a:srgbClr val="E8801A"/>
                </a:solidFill>
                <a:latin typeface="Montserrat"/>
              </a:rPr>
              <a:t>Sobre este vídeo</a:t>
            </a:r>
          </a:p>
        </p:txBody>
      </p:sp>
      <p:sp>
        <p:nvSpPr>
          <p:cNvPr id="6" name="Rectangle 5"/>
          <p:cNvSpPr/>
          <p:nvPr/>
        </p:nvSpPr>
        <p:spPr>
          <a:xfrm>
            <a:off x="868680" y="1234440"/>
            <a:ext cx="1463040" cy="7315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77440"/>
            <a:ext cx="3017520" cy="1371600"/>
          </a:xfrm>
          <a:prstGeom prst="rect">
            <a:avLst/>
          </a:prstGeom>
          <a:noFill/>
        </p:spPr>
        <p:txBody>
          <a:bodyPr wrap="square">
            <a:spAutoFit/>
          </a:bodyPr>
          <a:lstStyle/>
          <a:p>
            <a:pPr algn="ctr"/>
            <a:r>
              <a:rPr sz="5800" b="1" i="0">
                <a:solidFill>
                  <a:srgbClr val="1E2761"/>
                </a:solidFill>
                <a:latin typeface="Montserrat"/>
              </a:rPr>
              <a:t>2 m</a:t>
            </a:r>
          </a:p>
        </p:txBody>
      </p:sp>
      <p:sp>
        <p:nvSpPr>
          <p:cNvPr id="10" name="TextBox 9"/>
          <p:cNvSpPr txBox="1"/>
          <p:nvPr/>
        </p:nvSpPr>
        <p:spPr>
          <a:xfrm>
            <a:off x="1051560" y="3657600"/>
            <a:ext cx="2560320" cy="1005840"/>
          </a:xfrm>
          <a:prstGeom prst="rect">
            <a:avLst/>
          </a:prstGeom>
          <a:noFill/>
        </p:spPr>
        <p:txBody>
          <a:bodyPr wrap="square">
            <a:spAutoFit/>
          </a:bodyPr>
          <a:lstStyle/>
          <a:p>
            <a:pPr algn="ctr"/>
            <a:r>
              <a:rPr sz="1400" b="0" i="0">
                <a:solidFill>
                  <a:srgbClr val="1B2330"/>
                </a:solidFill>
                <a:latin typeface="Montserrat"/>
              </a:rPr>
              <a:t>altura máxima del totalizador centralizado</a:t>
            </a:r>
          </a:p>
        </p:txBody>
      </p:sp>
      <p:sp>
        <p:nvSpPr>
          <p:cNvPr id="11" name="Rounded Rectangle 10"/>
          <p:cNvSpPr/>
          <p:nvPr/>
        </p:nvSpPr>
        <p:spPr>
          <a:xfrm>
            <a:off x="461772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1772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2377440"/>
            <a:ext cx="3017520" cy="1371600"/>
          </a:xfrm>
          <a:prstGeom prst="rect">
            <a:avLst/>
          </a:prstGeom>
          <a:noFill/>
        </p:spPr>
        <p:txBody>
          <a:bodyPr wrap="square">
            <a:spAutoFit/>
          </a:bodyPr>
          <a:lstStyle/>
          <a:p>
            <a:pPr algn="ctr"/>
            <a:r>
              <a:rPr sz="5800" b="1" i="0">
                <a:solidFill>
                  <a:srgbClr val="1E2761"/>
                </a:solidFill>
                <a:latin typeface="Montserrat"/>
              </a:rPr>
              <a:t>1,7 m</a:t>
            </a:r>
          </a:p>
        </p:txBody>
      </p:sp>
      <p:sp>
        <p:nvSpPr>
          <p:cNvPr id="14" name="TextBox 13"/>
          <p:cNvSpPr txBox="1"/>
          <p:nvPr/>
        </p:nvSpPr>
        <p:spPr>
          <a:xfrm>
            <a:off x="4846320" y="3657600"/>
            <a:ext cx="2560320" cy="1005840"/>
          </a:xfrm>
          <a:prstGeom prst="rect">
            <a:avLst/>
          </a:prstGeom>
          <a:noFill/>
        </p:spPr>
        <p:txBody>
          <a:bodyPr wrap="square">
            <a:spAutoFit/>
          </a:bodyPr>
          <a:lstStyle/>
          <a:p>
            <a:pPr algn="ctr"/>
            <a:r>
              <a:rPr sz="1400" b="0" i="0">
                <a:solidFill>
                  <a:srgbClr val="1B2330"/>
                </a:solidFill>
                <a:latin typeface="Montserrat"/>
              </a:rPr>
              <a:t>altura máxima del contador en vivienda</a:t>
            </a:r>
          </a:p>
        </p:txBody>
      </p:sp>
      <p:sp>
        <p:nvSpPr>
          <p:cNvPr id="15" name="Rounded Rectangle 14"/>
          <p:cNvSpPr/>
          <p:nvPr/>
        </p:nvSpPr>
        <p:spPr>
          <a:xfrm>
            <a:off x="841248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2377440"/>
            <a:ext cx="3017520" cy="1371600"/>
          </a:xfrm>
          <a:prstGeom prst="rect">
            <a:avLst/>
          </a:prstGeom>
          <a:noFill/>
        </p:spPr>
        <p:txBody>
          <a:bodyPr wrap="square">
            <a:spAutoFit/>
          </a:bodyPr>
          <a:lstStyle/>
          <a:p>
            <a:pPr algn="ctr"/>
            <a:r>
              <a:rPr sz="5800" b="1" i="0">
                <a:solidFill>
                  <a:srgbClr val="1E2761"/>
                </a:solidFill>
                <a:latin typeface="Montserrat"/>
              </a:rPr>
              <a:t>3</a:t>
            </a:r>
          </a:p>
        </p:txBody>
      </p:sp>
      <p:sp>
        <p:nvSpPr>
          <p:cNvPr id="18" name="TextBox 17"/>
          <p:cNvSpPr txBox="1"/>
          <p:nvPr/>
        </p:nvSpPr>
        <p:spPr>
          <a:xfrm>
            <a:off x="8641080" y="3657600"/>
            <a:ext cx="2560320" cy="1005840"/>
          </a:xfrm>
          <a:prstGeom prst="rect">
            <a:avLst/>
          </a:prstGeom>
          <a:noFill/>
        </p:spPr>
        <p:txBody>
          <a:bodyPr wrap="square">
            <a:spAutoFit/>
          </a:bodyPr>
          <a:lstStyle/>
          <a:p>
            <a:pPr algn="ctr"/>
            <a:r>
              <a:rPr sz="1400" b="0" i="0">
                <a:solidFill>
                  <a:srgbClr val="1B2330"/>
                </a:solidFill>
                <a:latin typeface="Montserrat"/>
              </a:rPr>
              <a:t>grados de accesibilidad de las llaves</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003 / 026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502920"/>
            <a:ext cx="8229600" cy="365760"/>
          </a:xfrm>
          <a:prstGeom prst="rect">
            <a:avLst/>
          </a:prstGeom>
          <a:noFill/>
        </p:spPr>
        <p:txBody>
          <a:bodyPr wrap="square">
            <a:spAutoFit/>
          </a:bodyPr>
          <a:lstStyle/>
          <a:p>
            <a:r>
              <a:rPr sz="1300" b="1" i="0">
                <a:solidFill>
                  <a:srgbClr val="E8801A"/>
                </a:solidFill>
                <a:latin typeface="Montserrat"/>
              </a:rPr>
              <a:t>PARTES DE ESTE VÍDEO</a:t>
            </a:r>
          </a:p>
        </p:txBody>
      </p:sp>
      <p:sp>
        <p:nvSpPr>
          <p:cNvPr id="6" name="TextBox 5"/>
          <p:cNvSpPr txBox="1"/>
          <p:nvPr/>
        </p:nvSpPr>
        <p:spPr>
          <a:xfrm>
            <a:off x="822960" y="914400"/>
            <a:ext cx="10515600" cy="914400"/>
          </a:xfrm>
          <a:prstGeom prst="rect">
            <a:avLst/>
          </a:prstGeom>
          <a:noFill/>
        </p:spPr>
        <p:txBody>
          <a:bodyPr wrap="square">
            <a:spAutoFit/>
          </a:bodyPr>
          <a:lstStyle/>
          <a:p>
            <a:r>
              <a:rPr sz="2700" b="1" i="0">
                <a:solidFill>
                  <a:srgbClr val="1E2761"/>
                </a:solidFill>
                <a:latin typeface="Montserrat"/>
              </a:rPr>
              <a:t>En este vídeo</a:t>
            </a:r>
          </a:p>
        </p:txBody>
      </p:sp>
      <p:sp>
        <p:nvSpPr>
          <p:cNvPr id="7" name="Rectangle 6"/>
          <p:cNvSpPr/>
          <p:nvPr/>
        </p:nvSpPr>
        <p:spPr>
          <a:xfrm>
            <a:off x="868680" y="167335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03120"/>
            <a:ext cx="10515600" cy="4023360"/>
          </a:xfrm>
          <a:prstGeom prst="rect">
            <a:avLst/>
          </a:prstGeom>
          <a:noFill/>
        </p:spPr>
        <p:txBody>
          <a:bodyPr wrap="square">
            <a:spAutoFit/>
          </a:bodyPr>
          <a:lstStyle/>
          <a:p>
            <a:pPr>
              <a:spcAft>
                <a:spcPts val="900"/>
              </a:spcAft>
            </a:pPr>
            <a:r>
              <a:rPr sz="1800" b="1" i="0">
                <a:solidFill>
                  <a:srgbClr val="E8801A"/>
                </a:solidFill>
                <a:latin typeface="Montserrat"/>
              </a:rPr>
              <a:t>01   </a:t>
            </a:r>
            <a:r>
              <a:rPr sz="1700" b="0" i="0">
                <a:solidFill>
                  <a:srgbClr val="1B2330"/>
                </a:solidFill>
                <a:latin typeface="Montserrat"/>
              </a:rPr>
              <a:t>Contadores centralizados</a:t>
            </a:r>
          </a:p>
          <a:p>
            <a:pPr>
              <a:spcAft>
                <a:spcPts val="900"/>
              </a:spcAft>
            </a:pPr>
            <a:r>
              <a:rPr sz="1800" b="1" i="0">
                <a:solidFill>
                  <a:srgbClr val="E8801A"/>
                </a:solidFill>
                <a:latin typeface="Montserrat"/>
              </a:rPr>
              <a:t>02   </a:t>
            </a:r>
            <a:r>
              <a:rPr sz="1700" b="0" i="0">
                <a:solidFill>
                  <a:srgbClr val="1B2330"/>
                </a:solidFill>
                <a:latin typeface="Montserrat"/>
              </a:rPr>
              <a:t>Recinto de contadores</a:t>
            </a:r>
          </a:p>
          <a:p>
            <a:pPr>
              <a:spcAft>
                <a:spcPts val="900"/>
              </a:spcAft>
            </a:pPr>
            <a:r>
              <a:rPr sz="1800" b="1" i="0">
                <a:solidFill>
                  <a:srgbClr val="E8801A"/>
                </a:solidFill>
                <a:latin typeface="Montserrat"/>
              </a:rPr>
              <a:t>03   </a:t>
            </a:r>
            <a:r>
              <a:rPr sz="1700" b="0" i="0">
                <a:solidFill>
                  <a:srgbClr val="1B2330"/>
                </a:solidFill>
                <a:latin typeface="Montserrat"/>
              </a:rPr>
              <a:t>Ventilación del recinto</a:t>
            </a:r>
          </a:p>
          <a:p>
            <a:pPr>
              <a:spcAft>
                <a:spcPts val="900"/>
              </a:spcAft>
            </a:pPr>
            <a:r>
              <a:rPr sz="1800" b="1" i="0">
                <a:solidFill>
                  <a:srgbClr val="E8801A"/>
                </a:solidFill>
                <a:latin typeface="Montserrat"/>
              </a:rPr>
              <a:t>04   </a:t>
            </a:r>
            <a:r>
              <a:rPr sz="1700" b="0" i="0">
                <a:solidFill>
                  <a:srgbClr val="1B2330"/>
                </a:solidFill>
                <a:latin typeface="Montserrat"/>
              </a:rPr>
              <a:t>Conjuntos de regulación</a:t>
            </a:r>
          </a:p>
          <a:p>
            <a:pPr>
              <a:spcAft>
                <a:spcPts val="900"/>
              </a:spcAft>
            </a:pPr>
            <a:r>
              <a:rPr sz="1800" b="1" i="0">
                <a:solidFill>
                  <a:srgbClr val="E8801A"/>
                </a:solidFill>
                <a:latin typeface="Montserrat"/>
              </a:rPr>
              <a:t>05   </a:t>
            </a:r>
            <a:r>
              <a:rPr sz="1700" b="0" i="0">
                <a:solidFill>
                  <a:srgbClr val="1B2330"/>
                </a:solidFill>
                <a:latin typeface="Montserrat"/>
              </a:rPr>
              <a:t>Contadores en vivienda</a:t>
            </a:r>
          </a:p>
          <a:p>
            <a:pPr>
              <a:spcAft>
                <a:spcPts val="900"/>
              </a:spcAft>
            </a:pPr>
            <a:r>
              <a:rPr sz="1800" b="1" i="0">
                <a:solidFill>
                  <a:srgbClr val="E8801A"/>
                </a:solidFill>
                <a:latin typeface="Montserrat"/>
              </a:rPr>
              <a:t>06   </a:t>
            </a:r>
            <a:r>
              <a:rPr sz="1700" b="0" i="0">
                <a:solidFill>
                  <a:srgbClr val="1B2330"/>
                </a:solidFill>
                <a:latin typeface="Montserrat"/>
              </a:rPr>
              <a:t>Contador en vivienda</a:t>
            </a:r>
          </a:p>
          <a:p>
            <a:pPr>
              <a:spcAft>
                <a:spcPts val="900"/>
              </a:spcAft>
            </a:pPr>
            <a:r>
              <a:rPr sz="1800" b="1" i="0">
                <a:solidFill>
                  <a:srgbClr val="E8801A"/>
                </a:solidFill>
                <a:latin typeface="Montserrat"/>
              </a:rPr>
              <a:t>07   </a:t>
            </a:r>
            <a:r>
              <a:rPr sz="1700" b="0" i="0">
                <a:solidFill>
                  <a:srgbClr val="1B2330"/>
                </a:solidFill>
                <a:latin typeface="Montserrat"/>
              </a:rPr>
              <a:t>Accesibilidad</a:t>
            </a:r>
          </a:p>
          <a:p>
            <a:pPr>
              <a:spcAft>
                <a:spcPts val="900"/>
              </a:spcAft>
            </a:pPr>
            <a:r>
              <a:rPr sz="1800" b="1" i="0">
                <a:solidFill>
                  <a:srgbClr val="E8801A"/>
                </a:solidFill>
                <a:latin typeface="Montserrat"/>
              </a:rPr>
              <a:t>08   </a:t>
            </a:r>
            <a:r>
              <a:rPr sz="1700" b="0" i="0">
                <a:solidFill>
                  <a:srgbClr val="1B2330"/>
                </a:solidFill>
                <a:latin typeface="Montserrat"/>
              </a:rPr>
              <a:t>Reglas de accesibilidad</a:t>
            </a:r>
          </a:p>
          <a:p>
            <a:pPr>
              <a:spcAft>
                <a:spcPts val="900"/>
              </a:spcAft>
            </a:pPr>
            <a:r>
              <a:rPr sz="1800" b="1" i="0">
                <a:solidFill>
                  <a:srgbClr val="E8801A"/>
                </a:solidFill>
                <a:latin typeface="Montserrat"/>
              </a:rPr>
              <a:t>09   </a:t>
            </a:r>
            <a:r>
              <a:rPr sz="1700" b="0" i="0">
                <a:solidFill>
                  <a:srgbClr val="1B2330"/>
                </a:solidFill>
                <a:latin typeface="Montserrat"/>
              </a:rPr>
              <a:t>IRC frente a IRI</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004 / 026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CONTADORES CENTRALIZADOS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En obra nueva, contadores centralizados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Obligatorio en edificios nuevos</a:t>
            </a:r>
          </a:p>
          <a:p>
            <a:pPr>
              <a:spcAft>
                <a:spcPts val="1100"/>
              </a:spcAft>
            </a:pPr>
            <a:r>
              <a:rPr sz="1600" b="1" i="0">
                <a:solidFill>
                  <a:srgbClr val="E8801A"/>
                </a:solidFill>
                <a:latin typeface="Montserrat"/>
              </a:rPr>
              <a:t>▸  </a:t>
            </a:r>
            <a:r>
              <a:rPr sz="1600" b="0" i="0">
                <a:solidFill>
                  <a:srgbClr val="1B2330"/>
                </a:solidFill>
                <a:latin typeface="Montserrat"/>
              </a:rPr>
              <a:t>Zona comunitaria, accesibilidad grado 2</a:t>
            </a:r>
          </a:p>
          <a:p>
            <a:pPr>
              <a:spcAft>
                <a:spcPts val="1100"/>
              </a:spcAft>
            </a:pPr>
            <a:r>
              <a:rPr sz="1600" b="1" i="0">
                <a:solidFill>
                  <a:srgbClr val="E8801A"/>
                </a:solidFill>
                <a:latin typeface="Montserrat"/>
              </a:rPr>
              <a:t>▸  </a:t>
            </a:r>
            <a:r>
              <a:rPr sz="1600" b="0" i="0">
                <a:solidFill>
                  <a:srgbClr val="1B2330"/>
                </a:solidFill>
                <a:latin typeface="Montserrat"/>
              </a:rPr>
              <a:t>Nunca bajo el primer sótano</a:t>
            </a:r>
          </a:p>
          <a:p>
            <a:pPr>
              <a:spcAft>
                <a:spcPts val="1100"/>
              </a:spcAft>
            </a:pPr>
            <a:r>
              <a:rPr sz="1600" b="1" i="0">
                <a:solidFill>
                  <a:srgbClr val="E8801A"/>
                </a:solidFill>
                <a:latin typeface="Montserrat"/>
              </a:rPr>
              <a:t>▸  </a:t>
            </a:r>
            <a:r>
              <a:rPr sz="1600" b="0" i="0">
                <a:solidFill>
                  <a:srgbClr val="1B2330"/>
                </a:solidFill>
                <a:latin typeface="Montserrat"/>
              </a:rPr>
              <a:t>Recinto reservado solo para gas</a:t>
            </a:r>
          </a:p>
        </p:txBody>
      </p:sp>
      <p:sp>
        <p:nvSpPr>
          <p:cNvPr id="9" name="imgph" descr="IMGQ:gas meter cabinet in building common area"/>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meter cabinet in building common area</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005 / 026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RECINTO DE CONTADORES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totalizador, a la vista y a mano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Totalizador a menos de 2 m</a:t>
            </a:r>
          </a:p>
          <a:p>
            <a:pPr>
              <a:spcAft>
                <a:spcPts val="1100"/>
              </a:spcAft>
            </a:pPr>
            <a:r>
              <a:rPr sz="1600" b="1" i="0">
                <a:solidFill>
                  <a:srgbClr val="E8801A"/>
                </a:solidFill>
                <a:latin typeface="Montserrat"/>
              </a:rPr>
              <a:t>▸  </a:t>
            </a:r>
            <a:r>
              <a:rPr sz="1600" b="0" i="0">
                <a:solidFill>
                  <a:srgbClr val="1B2330"/>
                </a:solidFill>
                <a:latin typeface="Montserrat"/>
              </a:rPr>
              <a:t>Prefabricados UNE 60490: hasta 2,40 m</a:t>
            </a:r>
          </a:p>
          <a:p>
            <a:pPr>
              <a:spcAft>
                <a:spcPts val="1100"/>
              </a:spcAft>
            </a:pPr>
            <a:r>
              <a:rPr sz="1600" b="1" i="0">
                <a:solidFill>
                  <a:srgbClr val="E8801A"/>
                </a:solidFill>
                <a:latin typeface="Montserrat"/>
              </a:rPr>
              <a:t>▸  </a:t>
            </a:r>
            <a:r>
              <a:rPr sz="1600" b="0" i="0">
                <a:solidFill>
                  <a:srgbClr val="1B2330"/>
                </a:solidFill>
                <a:latin typeface="Montserrat"/>
              </a:rPr>
              <a:t>Con escalera o útil de lectura</a:t>
            </a:r>
          </a:p>
          <a:p>
            <a:pPr>
              <a:spcAft>
                <a:spcPts val="1100"/>
              </a:spcAft>
            </a:pPr>
            <a:r>
              <a:rPr sz="1600" b="1" i="0">
                <a:solidFill>
                  <a:srgbClr val="E8801A"/>
                </a:solidFill>
                <a:latin typeface="Montserrat"/>
              </a:rPr>
              <a:t>▸  </a:t>
            </a:r>
            <a:r>
              <a:rPr sz="1600" b="0" i="0">
                <a:solidFill>
                  <a:srgbClr val="1B2330"/>
                </a:solidFill>
                <a:latin typeface="Montserrat"/>
              </a:rPr>
              <a:t>Como el cuadro de la luz</a:t>
            </a:r>
          </a:p>
        </p:txBody>
      </p:sp>
      <p:sp>
        <p:nvSpPr>
          <p:cNvPr id="9" name="imgph" descr="IMGQ:person reading gas meter dial"/>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person reading gas meter dial</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006 / 026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¿Cuál es la altura máxima del totalizador cuando el contador va dentro de la vivienda?</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1,7 m</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2 m</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2,4 m</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1,5 m</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007 / 026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A</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¿Cuál es la altura máxima del totalizador cuando el contador va dentro de la vivienda?</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A.  </a:t>
            </a:r>
            <a:r>
              <a:rPr sz="1800" b="1" i="0">
                <a:solidFill>
                  <a:srgbClr val="1E2761"/>
                </a:solidFill>
                <a:latin typeface="Montserrat"/>
              </a:rPr>
              <a:t>1,7 m</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En vivienda el totalizador no puede superar 1,7 m; los 2 m (2,4 m en prefabricado) son para la centralización, donde hay escalera de servicio.</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008 / 026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RECINTO DE CONTADORES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Tres detalles del recinto que caen siempre</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Puerta que abre hacia fuera</a:t>
            </a:r>
          </a:p>
          <a:p>
            <a:pPr>
              <a:spcAft>
                <a:spcPts val="1100"/>
              </a:spcAft>
            </a:pPr>
            <a:r>
              <a:rPr sz="1600" b="1" i="0">
                <a:solidFill>
                  <a:srgbClr val="E8801A"/>
                </a:solidFill>
                <a:latin typeface="Montserrat"/>
              </a:rPr>
              <a:t>▸  </a:t>
            </a:r>
            <a:r>
              <a:rPr sz="1600" b="0" i="0">
                <a:solidFill>
                  <a:srgbClr val="1B2330"/>
                </a:solidFill>
                <a:latin typeface="Montserrat"/>
              </a:rPr>
              <a:t>Desde dentro, sin llave</a:t>
            </a:r>
          </a:p>
          <a:p>
            <a:pPr>
              <a:spcAft>
                <a:spcPts val="1100"/>
              </a:spcAft>
            </a:pPr>
            <a:r>
              <a:rPr sz="1600" b="1" i="0">
                <a:solidFill>
                  <a:srgbClr val="E8801A"/>
                </a:solidFill>
                <a:latin typeface="Montserrat"/>
              </a:rPr>
              <a:t>▸  </a:t>
            </a:r>
            <a:r>
              <a:rPr sz="1600" b="0" i="0">
                <a:solidFill>
                  <a:srgbClr val="1B2330"/>
                </a:solidFill>
                <a:latin typeface="Montserrat"/>
              </a:rPr>
              <a:t>Toma de corriente en locales técnicos</a:t>
            </a:r>
          </a:p>
          <a:p>
            <a:pPr>
              <a:spcAft>
                <a:spcPts val="1100"/>
              </a:spcAft>
            </a:pPr>
            <a:r>
              <a:rPr sz="1600" b="1" i="0">
                <a:solidFill>
                  <a:srgbClr val="E8801A"/>
                </a:solidFill>
                <a:latin typeface="Montserrat"/>
              </a:rPr>
              <a:t>▸  </a:t>
            </a:r>
            <a:r>
              <a:rPr sz="1600" b="0" i="0">
                <a:solidFill>
                  <a:srgbClr val="1B2330"/>
                </a:solidFill>
                <a:latin typeface="Montserrat"/>
              </a:rPr>
              <a:t>Rótulo «Contadores de gas»</a:t>
            </a:r>
          </a:p>
        </p:txBody>
      </p:sp>
      <p:sp>
        <p:nvSpPr>
          <p:cNvPr id="9" name="imgph" descr="IMGQ:metal utility door opening outward with sign"/>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metal utility door opening outward with sign</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009 / 026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RECINTO DE CONTADORES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Solo gas: cuidado con otras conducciones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Recinto reservado solo para gas</a:t>
            </a:r>
          </a:p>
          <a:p>
            <a:pPr>
              <a:spcAft>
                <a:spcPts val="1100"/>
              </a:spcAft>
            </a:pPr>
            <a:r>
              <a:rPr sz="1600" b="1" i="0">
                <a:solidFill>
                  <a:srgbClr val="E8801A"/>
                </a:solidFill>
                <a:latin typeface="Montserrat"/>
              </a:rPr>
              <a:t>▸  </a:t>
            </a:r>
            <a:r>
              <a:rPr sz="1600" b="0" i="0">
                <a:solidFill>
                  <a:srgbClr val="1B2330"/>
                </a:solidFill>
                <a:latin typeface="Montserrat"/>
              </a:rPr>
              <a:t>Evitar conducciones ajenas vistas</a:t>
            </a:r>
          </a:p>
          <a:p>
            <a:pPr>
              <a:spcAft>
                <a:spcPts val="1100"/>
              </a:spcAft>
            </a:pPr>
            <a:r>
              <a:rPr sz="1600" b="1" i="0">
                <a:solidFill>
                  <a:srgbClr val="E8801A"/>
                </a:solidFill>
                <a:latin typeface="Montserrat"/>
              </a:rPr>
              <a:t>▸  </a:t>
            </a:r>
            <a:r>
              <a:rPr sz="1600" b="0" i="0">
                <a:solidFill>
                  <a:srgbClr val="1B2330"/>
                </a:solidFill>
                <a:latin typeface="Montserrat"/>
              </a:rPr>
              <a:t>Si cruzan: estancas y sin juntas desmontables</a:t>
            </a:r>
          </a:p>
          <a:p>
            <a:pPr>
              <a:spcAft>
                <a:spcPts val="1100"/>
              </a:spcAft>
            </a:pPr>
            <a:r>
              <a:rPr sz="1600" b="1" i="0">
                <a:solidFill>
                  <a:srgbClr val="E8801A"/>
                </a:solidFill>
                <a:latin typeface="Montserrat"/>
              </a:rPr>
              <a:t>▸  </a:t>
            </a:r>
            <a:r>
              <a:rPr sz="1600" b="0" i="0">
                <a:solidFill>
                  <a:srgbClr val="1B2330"/>
                </a:solidFill>
                <a:latin typeface="Montserrat"/>
              </a:rPr>
              <a:t>Eléctrico visto: vaina continua de acero</a:t>
            </a:r>
          </a:p>
        </p:txBody>
      </p:sp>
      <p:sp>
        <p:nvSpPr>
          <p:cNvPr id="9" name="imgph" descr="IMGQ:electrical conduit pipes on wall"/>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electrical conduit pipes on wall</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010 / 026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VENTILACIÓN DEL RECINTO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Directa o indirecta: por dónde sale el aire</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Directa: al exterior sin escalas</a:t>
            </a:r>
          </a:p>
          <a:p>
            <a:pPr>
              <a:spcAft>
                <a:spcPts val="1100"/>
              </a:spcAft>
            </a:pPr>
            <a:r>
              <a:rPr sz="1600" b="1" i="0">
                <a:solidFill>
                  <a:srgbClr val="E8801A"/>
                </a:solidFill>
                <a:latin typeface="Montserrat"/>
              </a:rPr>
              <a:t>▸  </a:t>
            </a:r>
            <a:r>
              <a:rPr sz="1600" b="0" i="0">
                <a:solidFill>
                  <a:srgbClr val="1B2330"/>
                </a:solidFill>
                <a:latin typeface="Montserrat"/>
              </a:rPr>
              <a:t>Indirecta: pasa por otro local</a:t>
            </a:r>
          </a:p>
          <a:p>
            <a:pPr>
              <a:spcAft>
                <a:spcPts val="1100"/>
              </a:spcAft>
            </a:pPr>
            <a:r>
              <a:rPr sz="1600" b="1" i="0">
                <a:solidFill>
                  <a:srgbClr val="E8801A"/>
                </a:solidFill>
                <a:latin typeface="Montserrat"/>
              </a:rPr>
              <a:t>▸  </a:t>
            </a:r>
            <a:r>
              <a:rPr sz="1600" b="0" i="0">
                <a:solidFill>
                  <a:srgbClr val="1B2330"/>
                </a:solidFill>
                <a:latin typeface="Montserrat"/>
              </a:rPr>
              <a:t>En sótano con gas ligero: solo directa</a:t>
            </a:r>
          </a:p>
        </p:txBody>
      </p:sp>
      <p:sp>
        <p:nvSpPr>
          <p:cNvPr id="9" name="imgph" descr="IMGQ:air vent grille exterior wall"/>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air vent grille exterior wall</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011 / 026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VENTILACIÓN DEL RECINTO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Ventilar el recinto es evitar una bolsa de gas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Armarios: 5–50 cm², sin indirecta</a:t>
            </a:r>
          </a:p>
          <a:p>
            <a:pPr>
              <a:spcAft>
                <a:spcPts val="1100"/>
              </a:spcAft>
            </a:pPr>
            <a:r>
              <a:rPr sz="1600" b="1" i="0">
                <a:solidFill>
                  <a:srgbClr val="E8801A"/>
                </a:solidFill>
                <a:latin typeface="Montserrat"/>
              </a:rPr>
              <a:t>▸  </a:t>
            </a:r>
            <a:r>
              <a:rPr sz="1600" b="0" i="0">
                <a:solidFill>
                  <a:srgbClr val="1B2330"/>
                </a:solidFill>
                <a:latin typeface="Montserrat"/>
              </a:rPr>
              <a:t>Locales y cuartos: 200/150 cm²</a:t>
            </a:r>
          </a:p>
          <a:p>
            <a:pPr>
              <a:spcAft>
                <a:spcPts val="1100"/>
              </a:spcAft>
            </a:pPr>
            <a:r>
              <a:rPr sz="1600" b="1" i="0">
                <a:solidFill>
                  <a:srgbClr val="E8801A"/>
                </a:solidFill>
                <a:latin typeface="Montserrat"/>
              </a:rPr>
              <a:t>▸  </a:t>
            </a:r>
            <a:r>
              <a:rPr sz="1600" b="0" i="0">
                <a:solidFill>
                  <a:srgbClr val="1B2330"/>
                </a:solidFill>
                <a:latin typeface="Montserrat"/>
              </a:rPr>
              <a:t>+50 % si el conducto es largo</a:t>
            </a:r>
          </a:p>
          <a:p>
            <a:pPr>
              <a:spcAft>
                <a:spcPts val="1100"/>
              </a:spcAft>
            </a:pPr>
            <a:r>
              <a:rPr sz="1600" b="1" i="0">
                <a:solidFill>
                  <a:srgbClr val="E8801A"/>
                </a:solidFill>
                <a:latin typeface="Montserrat"/>
              </a:rPr>
              <a:t>▸  </a:t>
            </a:r>
            <a:r>
              <a:rPr sz="1600" b="0" i="0">
                <a:solidFill>
                  <a:srgbClr val="1B2330"/>
                </a:solidFill>
                <a:latin typeface="Montserrat"/>
              </a:rPr>
              <a:t>+50 % y puerta estanca en sótano</a:t>
            </a:r>
          </a:p>
        </p:txBody>
      </p:sp>
      <p:sp>
        <p:nvSpPr>
          <p:cNvPr id="9" name="imgph" descr="IMGQ:wall ventilation grille louver metal"/>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wall ventilation grille louver metal</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012 / 026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411480"/>
            <a:ext cx="10058400" cy="365760"/>
          </a:xfrm>
          <a:prstGeom prst="rect">
            <a:avLst/>
          </a:prstGeom>
          <a:noFill/>
        </p:spPr>
        <p:txBody>
          <a:bodyPr wrap="square">
            <a:spAutoFit/>
          </a:bodyPr>
          <a:lstStyle/>
          <a:p>
            <a:r>
              <a:rPr sz="1300" b="1" i="0">
                <a:solidFill>
                  <a:srgbClr val="E8801A"/>
                </a:solidFill>
                <a:latin typeface="Montserrat"/>
              </a:rPr>
              <a:t>VENTILACIÓN DEL RECINTO</a:t>
            </a:r>
          </a:p>
        </p:txBody>
      </p:sp>
      <p:sp>
        <p:nvSpPr>
          <p:cNvPr id="6" name="TextBox 5"/>
          <p:cNvSpPr txBox="1"/>
          <p:nvPr/>
        </p:nvSpPr>
        <p:spPr>
          <a:xfrm>
            <a:off x="822960" y="777240"/>
            <a:ext cx="10515600" cy="822960"/>
          </a:xfrm>
          <a:prstGeom prst="rect">
            <a:avLst/>
          </a:prstGeom>
          <a:noFill/>
        </p:spPr>
        <p:txBody>
          <a:bodyPr wrap="square">
            <a:spAutoFit/>
          </a:bodyPr>
          <a:lstStyle/>
          <a:p>
            <a:r>
              <a:rPr sz="2600" b="1" i="0">
                <a:solidFill>
                  <a:srgbClr val="1E2761"/>
                </a:solidFill>
                <a:latin typeface="Montserrat"/>
              </a:rPr>
              <a:t>Secciones de ventilación del recinto (UNE 60490)</a:t>
            </a:r>
          </a:p>
        </p:txBody>
      </p:sp>
      <p:sp>
        <p:nvSpPr>
          <p:cNvPr id="7" name="Rectangle 6"/>
          <p:cNvSpPr/>
          <p:nvPr/>
        </p:nvSpPr>
        <p:spPr>
          <a:xfrm>
            <a:off x="868680" y="1481328"/>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48640" y="1783080"/>
          <a:ext cx="11091672" cy="4023360"/>
        </p:xfrm>
        <a:graphic>
          <a:graphicData uri="http://schemas.openxmlformats.org/drawingml/2006/table">
            <a:tbl>
              <a:tblPr firstRow="1" bandRow="1">
                <a:tableStyleId>{5C22544A-7EE6-4342-B048-85BDC9FD1C3A}</a:tableStyleId>
              </a:tblPr>
              <a:tblGrid>
                <a:gridCol w="1584524"/>
                <a:gridCol w="1584524"/>
                <a:gridCol w="1584524"/>
                <a:gridCol w="1584524"/>
                <a:gridCol w="1584524"/>
                <a:gridCol w="1584524"/>
                <a:gridCol w="1584528"/>
              </a:tblGrid>
              <a:tr h="804672">
                <a:tc>
                  <a:txBody>
                    <a:bodyPr/>
                    <a:lstStyle/>
                    <a:p>
                      <a:r>
                        <a:rPr sz="900" b="1" i="0">
                          <a:solidFill>
                            <a:srgbClr val="FFFFFF"/>
                          </a:solidFill>
                          <a:latin typeface="Montserrat"/>
                        </a:rPr>
                        <a:t>Ventilación</a:t>
                      </a:r>
                    </a:p>
                  </a:txBody>
                  <a:tcPr>
                    <a:solidFill>
                      <a:srgbClr val="1E2761"/>
                    </a:solidFill>
                  </a:tcPr>
                </a:tc>
                <a:tc>
                  <a:txBody>
                    <a:bodyPr/>
                    <a:lstStyle/>
                    <a:p>
                      <a:r>
                        <a:rPr sz="900" b="1" i="0">
                          <a:solidFill>
                            <a:srgbClr val="FFFFFF"/>
                          </a:solidFill>
                          <a:latin typeface="Montserrat"/>
                        </a:rPr>
                        <a:t>Local técnico</a:t>
                      </a:r>
                    </a:p>
                  </a:txBody>
                  <a:tcPr>
                    <a:solidFill>
                      <a:srgbClr val="1E2761"/>
                    </a:solidFill>
                  </a:tcPr>
                </a:tc>
                <a:tc>
                  <a:txBody>
                    <a:bodyPr/>
                    <a:lstStyle/>
                    <a:p>
                      <a:r>
                        <a:rPr sz="900" b="1" i="0">
                          <a:solidFill>
                            <a:srgbClr val="FFFFFF"/>
                          </a:solidFill>
                          <a:latin typeface="Montserrat"/>
                        </a:rPr>
                        <a:t>Armario exterior</a:t>
                      </a:r>
                    </a:p>
                  </a:txBody>
                  <a:tcPr>
                    <a:solidFill>
                      <a:srgbClr val="1E2761"/>
                    </a:solidFill>
                  </a:tcPr>
                </a:tc>
                <a:tc>
                  <a:txBody>
                    <a:bodyPr/>
                    <a:lstStyle/>
                    <a:p>
                      <a:r>
                        <a:rPr sz="900" b="1" i="0">
                          <a:solidFill>
                            <a:srgbClr val="FFFFFF"/>
                          </a:solidFill>
                          <a:latin typeface="Montserrat"/>
                        </a:rPr>
                        <a:t>Armario interior</a:t>
                      </a:r>
                    </a:p>
                  </a:txBody>
                  <a:tcPr>
                    <a:solidFill>
                      <a:srgbClr val="1E2761"/>
                    </a:solidFill>
                  </a:tcPr>
                </a:tc>
                <a:tc>
                  <a:txBody>
                    <a:bodyPr/>
                    <a:lstStyle/>
                    <a:p>
                      <a:r>
                        <a:rPr sz="900" b="1" i="0">
                          <a:solidFill>
                            <a:srgbClr val="FFFFFF"/>
                          </a:solidFill>
                          <a:latin typeface="Montserrat"/>
                        </a:rPr>
                        <a:t>Conducto técnico</a:t>
                      </a:r>
                    </a:p>
                  </a:txBody>
                  <a:tcPr>
                    <a:solidFill>
                      <a:srgbClr val="1E2761"/>
                    </a:solidFill>
                  </a:tcPr>
                </a:tc>
                <a:tc>
                  <a:txBody>
                    <a:bodyPr/>
                    <a:lstStyle/>
                    <a:p>
                      <a:r>
                        <a:rPr sz="900" b="1" i="0">
                          <a:solidFill>
                            <a:srgbClr val="FFFFFF"/>
                          </a:solidFill>
                          <a:latin typeface="Montserrat"/>
                        </a:rPr>
                        <a:t>Cuarto contadores (N≤2)</a:t>
                      </a:r>
                    </a:p>
                  </a:txBody>
                  <a:tcPr>
                    <a:solidFill>
                      <a:srgbClr val="1E2761"/>
                    </a:solidFill>
                  </a:tcPr>
                </a:tc>
                <a:tc>
                  <a:txBody>
                    <a:bodyPr/>
                    <a:lstStyle/>
                    <a:p>
                      <a:r>
                        <a:rPr sz="900" b="1" i="0">
                          <a:solidFill>
                            <a:srgbClr val="FFFFFF"/>
                          </a:solidFill>
                          <a:latin typeface="Montserrat"/>
                        </a:rPr>
                        <a:t>Cuarto contadores (N&gt;2)</a:t>
                      </a:r>
                    </a:p>
                  </a:txBody>
                  <a:tcPr>
                    <a:solidFill>
                      <a:srgbClr val="1E2761"/>
                    </a:solidFill>
                  </a:tcPr>
                </a:tc>
              </a:tr>
              <a:tr h="804672">
                <a:tc>
                  <a:txBody>
                    <a:bodyPr/>
                    <a:lstStyle/>
                    <a:p>
                      <a:r>
                        <a:rPr sz="900" b="0" i="0">
                          <a:solidFill>
                            <a:srgbClr val="1B2330"/>
                          </a:solidFill>
                          <a:latin typeface="Montserrat"/>
                        </a:rPr>
                        <a:t>Superior · directa</a:t>
                      </a:r>
                    </a:p>
                  </a:txBody>
                  <a:tcPr>
                    <a:solidFill>
                      <a:srgbClr val="F6F8FC"/>
                    </a:solidFill>
                  </a:tcPr>
                </a:tc>
                <a:tc>
                  <a:txBody>
                    <a:bodyPr/>
                    <a:lstStyle/>
                    <a:p>
                      <a:r>
                        <a:rPr sz="900" b="0" i="0">
                          <a:solidFill>
                            <a:srgbClr val="1B2330"/>
                          </a:solidFill>
                          <a:latin typeface="Montserrat"/>
                        </a:rPr>
                        <a:t>200 cm²</a:t>
                      </a:r>
                    </a:p>
                  </a:txBody>
                  <a:tcPr>
                    <a:solidFill>
                      <a:srgbClr val="F6F8FC"/>
                    </a:solidFill>
                  </a:tcPr>
                </a:tc>
                <a:tc>
                  <a:txBody>
                    <a:bodyPr/>
                    <a:lstStyle/>
                    <a:p>
                      <a:r>
                        <a:rPr sz="900" b="0" i="0">
                          <a:solidFill>
                            <a:srgbClr val="1B2330"/>
                          </a:solidFill>
                          <a:latin typeface="Montserrat"/>
                        </a:rPr>
                        <a:t>5 cm²</a:t>
                      </a:r>
                    </a:p>
                  </a:txBody>
                  <a:tcPr>
                    <a:solidFill>
                      <a:srgbClr val="F6F8FC"/>
                    </a:solidFill>
                  </a:tcPr>
                </a:tc>
                <a:tc>
                  <a:txBody>
                    <a:bodyPr/>
                    <a:lstStyle/>
                    <a:p>
                      <a:r>
                        <a:rPr sz="900" b="0" i="0">
                          <a:solidFill>
                            <a:srgbClr val="1B2330"/>
                          </a:solidFill>
                          <a:latin typeface="Montserrat"/>
                        </a:rPr>
                        <a:t>50 cm²</a:t>
                      </a:r>
                    </a:p>
                  </a:txBody>
                  <a:tcPr>
                    <a:solidFill>
                      <a:srgbClr val="F6F8FC"/>
                    </a:solidFill>
                  </a:tcPr>
                </a:tc>
                <a:tc>
                  <a:txBody>
                    <a:bodyPr/>
                    <a:lstStyle/>
                    <a:p>
                      <a:r>
                        <a:rPr sz="900" b="0" i="0">
                          <a:solidFill>
                            <a:srgbClr val="1B2330"/>
                          </a:solidFill>
                          <a:latin typeface="Montserrat"/>
                        </a:rPr>
                        <a:t>5 cm²</a:t>
                      </a:r>
                    </a:p>
                  </a:txBody>
                  <a:tcPr>
                    <a:solidFill>
                      <a:srgbClr val="F6F8FC"/>
                    </a:solidFill>
                  </a:tcPr>
                </a:tc>
                <a:tc>
                  <a:txBody>
                    <a:bodyPr/>
                    <a:lstStyle/>
                    <a:p>
                      <a:r>
                        <a:rPr sz="900" b="0" i="0">
                          <a:solidFill>
                            <a:srgbClr val="1B2330"/>
                          </a:solidFill>
                          <a:latin typeface="Montserrat"/>
                        </a:rPr>
                        <a:t>200 cm²</a:t>
                      </a:r>
                    </a:p>
                  </a:txBody>
                  <a:tcPr>
                    <a:solidFill>
                      <a:srgbClr val="F6F8FC"/>
                    </a:solidFill>
                  </a:tcPr>
                </a:tc>
                <a:tc>
                  <a:txBody>
                    <a:bodyPr/>
                    <a:lstStyle/>
                    <a:p>
                      <a:r>
                        <a:rPr sz="900" b="0" i="0">
                          <a:solidFill>
                            <a:srgbClr val="1B2330"/>
                          </a:solidFill>
                          <a:latin typeface="Montserrat"/>
                        </a:rPr>
                        <a:t>150 cm²</a:t>
                      </a:r>
                    </a:p>
                  </a:txBody>
                  <a:tcPr>
                    <a:solidFill>
                      <a:srgbClr val="F6F8FC"/>
                    </a:solidFill>
                  </a:tcPr>
                </a:tc>
              </a:tr>
              <a:tr h="804672">
                <a:tc>
                  <a:txBody>
                    <a:bodyPr/>
                    <a:lstStyle/>
                    <a:p>
                      <a:r>
                        <a:rPr sz="900" b="0" i="0">
                          <a:solidFill>
                            <a:srgbClr val="1B2330"/>
                          </a:solidFill>
                          <a:latin typeface="Montserrat"/>
                        </a:rPr>
                        <a:t>Superior · indirecta</a:t>
                      </a:r>
                    </a:p>
                  </a:txBody>
                  <a:tcPr>
                    <a:solidFill>
                      <a:srgbClr val="FFFFFF"/>
                    </a:solidFill>
                  </a:tcPr>
                </a:tc>
                <a:tc>
                  <a:txBody>
                    <a:bodyPr/>
                    <a:lstStyle/>
                    <a:p>
                      <a:r>
                        <a:rPr sz="900" b="0" i="0">
                          <a:solidFill>
                            <a:srgbClr val="1B2330"/>
                          </a:solidFill>
                          <a:latin typeface="Montserrat"/>
                        </a:rPr>
                        <a:t>No se permite</a:t>
                      </a:r>
                    </a:p>
                  </a:txBody>
                  <a:tcPr>
                    <a:solidFill>
                      <a:srgbClr val="FFFFFF"/>
                    </a:solidFill>
                  </a:tcPr>
                </a:tc>
                <a:tc>
                  <a:txBody>
                    <a:bodyPr/>
                    <a:lstStyle/>
                    <a:p>
                      <a:r>
                        <a:rPr sz="900" b="0" i="0">
                          <a:solidFill>
                            <a:srgbClr val="1B2330"/>
                          </a:solidFill>
                          <a:latin typeface="Montserrat"/>
                        </a:rPr>
                        <a:t>No se permite</a:t>
                      </a:r>
                    </a:p>
                  </a:txBody>
                  <a:tcPr>
                    <a:solidFill>
                      <a:srgbClr val="FFFFFF"/>
                    </a:solidFill>
                  </a:tcPr>
                </a:tc>
                <a:tc>
                  <a:txBody>
                    <a:bodyPr/>
                    <a:lstStyle/>
                    <a:p>
                      <a:r>
                        <a:rPr sz="900" b="0" i="0">
                          <a:solidFill>
                            <a:srgbClr val="1B2330"/>
                          </a:solidFill>
                          <a:latin typeface="Montserrat"/>
                        </a:rPr>
                        <a:t>No se permite</a:t>
                      </a:r>
                    </a:p>
                  </a:txBody>
                  <a:tcPr>
                    <a:solidFill>
                      <a:srgbClr val="FFFFFF"/>
                    </a:solidFill>
                  </a:tcPr>
                </a:tc>
                <a:tc>
                  <a:txBody>
                    <a:bodyPr/>
                    <a:lstStyle/>
                    <a:p>
                      <a:r>
                        <a:rPr sz="900" b="0" i="0">
                          <a:solidFill>
                            <a:srgbClr val="1B2330"/>
                          </a:solidFill>
                          <a:latin typeface="Montserrat"/>
                        </a:rPr>
                        <a:t>5 cm²</a:t>
                      </a:r>
                    </a:p>
                  </a:txBody>
                  <a:tcPr>
                    <a:solidFill>
                      <a:srgbClr val="FFFFFF"/>
                    </a:solidFill>
                  </a:tcPr>
                </a:tc>
                <a:tc>
                  <a:txBody>
                    <a:bodyPr/>
                    <a:lstStyle/>
                    <a:p>
                      <a:r>
                        <a:rPr sz="900" b="0" i="0">
                          <a:solidFill>
                            <a:srgbClr val="1B2330"/>
                          </a:solidFill>
                          <a:latin typeface="Montserrat"/>
                        </a:rPr>
                        <a:t>No se permite</a:t>
                      </a:r>
                    </a:p>
                  </a:txBody>
                  <a:tcPr>
                    <a:solidFill>
                      <a:srgbClr val="FFFFFF"/>
                    </a:solidFill>
                  </a:tcPr>
                </a:tc>
                <a:tc>
                  <a:txBody>
                    <a:bodyPr/>
                    <a:lstStyle/>
                    <a:p>
                      <a:r>
                        <a:rPr sz="900" b="0" i="0">
                          <a:solidFill>
                            <a:srgbClr val="1B2330"/>
                          </a:solidFill>
                          <a:latin typeface="Montserrat"/>
                        </a:rPr>
                        <a:t>No se permite</a:t>
                      </a:r>
                    </a:p>
                  </a:txBody>
                  <a:tcPr>
                    <a:solidFill>
                      <a:srgbClr val="FFFFFF"/>
                    </a:solidFill>
                  </a:tcPr>
                </a:tc>
              </a:tr>
              <a:tr h="804672">
                <a:tc>
                  <a:txBody>
                    <a:bodyPr/>
                    <a:lstStyle/>
                    <a:p>
                      <a:r>
                        <a:rPr sz="900" b="0" i="0">
                          <a:solidFill>
                            <a:srgbClr val="1B2330"/>
                          </a:solidFill>
                          <a:latin typeface="Montserrat"/>
                        </a:rPr>
                        <a:t>Inferior · directa</a:t>
                      </a:r>
                    </a:p>
                  </a:txBody>
                  <a:tcPr>
                    <a:solidFill>
                      <a:srgbClr val="F6F8FC"/>
                    </a:solidFill>
                  </a:tcPr>
                </a:tc>
                <a:tc>
                  <a:txBody>
                    <a:bodyPr/>
                    <a:lstStyle/>
                    <a:p>
                      <a:r>
                        <a:rPr sz="900" b="0" i="0">
                          <a:solidFill>
                            <a:srgbClr val="1B2330"/>
                          </a:solidFill>
                          <a:latin typeface="Montserrat"/>
                        </a:rPr>
                        <a:t>200 cm²</a:t>
                      </a:r>
                    </a:p>
                  </a:txBody>
                  <a:tcPr>
                    <a:solidFill>
                      <a:srgbClr val="F6F8FC"/>
                    </a:solidFill>
                  </a:tcPr>
                </a:tc>
                <a:tc>
                  <a:txBody>
                    <a:bodyPr/>
                    <a:lstStyle/>
                    <a:p>
                      <a:r>
                        <a:rPr sz="900" b="0" i="0">
                          <a:solidFill>
                            <a:srgbClr val="1B2330"/>
                          </a:solidFill>
                          <a:latin typeface="Montserrat"/>
                        </a:rPr>
                        <a:t>5 cm²</a:t>
                      </a:r>
                    </a:p>
                  </a:txBody>
                  <a:tcPr>
                    <a:solidFill>
                      <a:srgbClr val="F6F8FC"/>
                    </a:solidFill>
                  </a:tcPr>
                </a:tc>
                <a:tc>
                  <a:txBody>
                    <a:bodyPr/>
                    <a:lstStyle/>
                    <a:p>
                      <a:r>
                        <a:rPr sz="900" b="0" i="0">
                          <a:solidFill>
                            <a:srgbClr val="1B2330"/>
                          </a:solidFill>
                          <a:latin typeface="Montserrat"/>
                        </a:rPr>
                        <a:t>50 cm²</a:t>
                      </a:r>
                    </a:p>
                  </a:txBody>
                  <a:tcPr>
                    <a:solidFill>
                      <a:srgbClr val="F6F8FC"/>
                    </a:solidFill>
                  </a:tcPr>
                </a:tc>
                <a:tc>
                  <a:txBody>
                    <a:bodyPr/>
                    <a:lstStyle/>
                    <a:p>
                      <a:r>
                        <a:rPr sz="900" b="0" i="0">
                          <a:solidFill>
                            <a:srgbClr val="1B2330"/>
                          </a:solidFill>
                          <a:latin typeface="Montserrat"/>
                        </a:rPr>
                        <a:t>5 cm²</a:t>
                      </a:r>
                    </a:p>
                  </a:txBody>
                  <a:tcPr>
                    <a:solidFill>
                      <a:srgbClr val="F6F8FC"/>
                    </a:solidFill>
                  </a:tcPr>
                </a:tc>
                <a:tc>
                  <a:txBody>
                    <a:bodyPr/>
                    <a:lstStyle/>
                    <a:p>
                      <a:r>
                        <a:rPr sz="900" b="0" i="0">
                          <a:solidFill>
                            <a:srgbClr val="1B2330"/>
                          </a:solidFill>
                          <a:latin typeface="Montserrat"/>
                        </a:rPr>
                        <a:t>200 cm²</a:t>
                      </a:r>
                    </a:p>
                  </a:txBody>
                  <a:tcPr>
                    <a:solidFill>
                      <a:srgbClr val="F6F8FC"/>
                    </a:solidFill>
                  </a:tcPr>
                </a:tc>
                <a:tc>
                  <a:txBody>
                    <a:bodyPr/>
                    <a:lstStyle/>
                    <a:p>
                      <a:r>
                        <a:rPr sz="900" b="0" i="0">
                          <a:solidFill>
                            <a:srgbClr val="1B2330"/>
                          </a:solidFill>
                          <a:latin typeface="Montserrat"/>
                        </a:rPr>
                        <a:t>150 cm²</a:t>
                      </a:r>
                    </a:p>
                  </a:txBody>
                  <a:tcPr>
                    <a:solidFill>
                      <a:srgbClr val="F6F8FC"/>
                    </a:solidFill>
                  </a:tcPr>
                </a:tc>
              </a:tr>
              <a:tr h="804672">
                <a:tc>
                  <a:txBody>
                    <a:bodyPr/>
                    <a:lstStyle/>
                    <a:p>
                      <a:r>
                        <a:rPr sz="900" b="0" i="0">
                          <a:solidFill>
                            <a:srgbClr val="1B2330"/>
                          </a:solidFill>
                          <a:latin typeface="Montserrat"/>
                        </a:rPr>
                        <a:t>Inferior · indirecta</a:t>
                      </a:r>
                    </a:p>
                  </a:txBody>
                  <a:tcPr>
                    <a:solidFill>
                      <a:srgbClr val="FFFFFF"/>
                    </a:solidFill>
                  </a:tcPr>
                </a:tc>
                <a:tc>
                  <a:txBody>
                    <a:bodyPr/>
                    <a:lstStyle/>
                    <a:p>
                      <a:r>
                        <a:rPr sz="900" b="0" i="0">
                          <a:solidFill>
                            <a:srgbClr val="1B2330"/>
                          </a:solidFill>
                          <a:latin typeface="Montserrat"/>
                        </a:rPr>
                        <a:t>200 cm² (*)</a:t>
                      </a:r>
                    </a:p>
                  </a:txBody>
                  <a:tcPr>
                    <a:solidFill>
                      <a:srgbClr val="FFFFFF"/>
                    </a:solidFill>
                  </a:tcPr>
                </a:tc>
                <a:tc>
                  <a:txBody>
                    <a:bodyPr/>
                    <a:lstStyle/>
                    <a:p>
                      <a:r>
                        <a:rPr sz="900" b="0" i="0">
                          <a:solidFill>
                            <a:srgbClr val="1B2330"/>
                          </a:solidFill>
                          <a:latin typeface="Montserrat"/>
                        </a:rPr>
                        <a:t>No se permite</a:t>
                      </a:r>
                    </a:p>
                  </a:txBody>
                  <a:tcPr>
                    <a:solidFill>
                      <a:srgbClr val="FFFFFF"/>
                    </a:solidFill>
                  </a:tcPr>
                </a:tc>
                <a:tc>
                  <a:txBody>
                    <a:bodyPr/>
                    <a:lstStyle/>
                    <a:p>
                      <a:r>
                        <a:rPr sz="900" b="0" i="0">
                          <a:solidFill>
                            <a:srgbClr val="1B2330"/>
                          </a:solidFill>
                          <a:latin typeface="Montserrat"/>
                        </a:rPr>
                        <a:t>No se permite</a:t>
                      </a:r>
                    </a:p>
                  </a:txBody>
                  <a:tcPr>
                    <a:solidFill>
                      <a:srgbClr val="FFFFFF"/>
                    </a:solidFill>
                  </a:tcPr>
                </a:tc>
                <a:tc>
                  <a:txBody>
                    <a:bodyPr/>
                    <a:lstStyle/>
                    <a:p>
                      <a:r>
                        <a:rPr sz="900" b="0" i="0">
                          <a:solidFill>
                            <a:srgbClr val="1B2330"/>
                          </a:solidFill>
                          <a:latin typeface="Montserrat"/>
                        </a:rPr>
                        <a:t>5 cm² (*)</a:t>
                      </a:r>
                    </a:p>
                  </a:txBody>
                  <a:tcPr>
                    <a:solidFill>
                      <a:srgbClr val="FFFFFF"/>
                    </a:solidFill>
                  </a:tcPr>
                </a:tc>
                <a:tc>
                  <a:txBody>
                    <a:bodyPr/>
                    <a:lstStyle/>
                    <a:p>
                      <a:r>
                        <a:rPr sz="900" b="0" i="0">
                          <a:solidFill>
                            <a:srgbClr val="1B2330"/>
                          </a:solidFill>
                          <a:latin typeface="Montserrat"/>
                        </a:rPr>
                        <a:t>200 cm² (*)</a:t>
                      </a:r>
                    </a:p>
                  </a:txBody>
                  <a:tcPr>
                    <a:solidFill>
                      <a:srgbClr val="FFFFFF"/>
                    </a:solidFill>
                  </a:tcPr>
                </a:tc>
                <a:tc>
                  <a:txBody>
                    <a:bodyPr/>
                    <a:lstStyle/>
                    <a:p>
                      <a:r>
                        <a:rPr sz="900" b="0" i="0">
                          <a:solidFill>
                            <a:srgbClr val="1B2330"/>
                          </a:solidFill>
                          <a:latin typeface="Montserrat"/>
                        </a:rPr>
                        <a:t>150 cm² (*)</a:t>
                      </a:r>
                    </a:p>
                  </a:txBody>
                  <a:tcPr>
                    <a:solidFill>
                      <a:srgbClr val="FFFFFF"/>
                    </a:solidFill>
                  </a:tcPr>
                </a:tc>
              </a:tr>
            </a:tbl>
          </a:graphicData>
        </a:graphic>
      </p:graphicFrame>
      <p:sp>
        <p:nvSpPr>
          <p:cNvPr id="9" name="Rounded Rectangle 8"/>
          <p:cNvSpPr/>
          <p:nvPr/>
        </p:nvSpPr>
        <p:spPr>
          <a:xfrm>
            <a:off x="548640" y="5943600"/>
            <a:ext cx="11091672" cy="384048"/>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961888"/>
            <a:ext cx="10789920" cy="365760"/>
          </a:xfrm>
          <a:prstGeom prst="rect">
            <a:avLst/>
          </a:prstGeom>
          <a:noFill/>
        </p:spPr>
        <p:txBody>
          <a:bodyPr wrap="square">
            <a:spAutoFit/>
          </a:bodyPr>
          <a:lstStyle/>
          <a:p>
            <a:r>
              <a:rPr sz="1100" b="1" i="0">
                <a:solidFill>
                  <a:srgbClr val="E8801A"/>
                </a:solidFill>
                <a:latin typeface="Montserrat"/>
              </a:rPr>
              <a:t>Qué significa:  </a:t>
            </a:r>
            <a:r>
              <a:rPr sz="1100" b="0" i="0">
                <a:solidFill>
                  <a:srgbClr val="1B2330"/>
                </a:solidFill>
                <a:latin typeface="Montserrat"/>
              </a:rPr>
              <a:t>Sección mínima de rejilla arriba y abajo según el recinto; los armarios piden poco y no admiten indirecta; conducto largo o primer sótano, +50 %.</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013 / 026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¿Cuál es el único recinto de contadores que admite ventilación indirecta?</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El conducto técnico</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El armario exterior</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El local técnico</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El armario interior</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014 / 026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A</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¿Cuál es el único recinto de contadores que admite ventilación indirecta?</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A.  </a:t>
            </a:r>
            <a:r>
              <a:rPr sz="1800" b="1" i="0">
                <a:solidFill>
                  <a:srgbClr val="1E2761"/>
                </a:solidFill>
                <a:latin typeface="Montserrat"/>
              </a:rPr>
              <a:t>El conducto técnico</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En la tabla UNE 60490 solo el conducto técnico admite indirecta; armarios y locales exigen ventilación directa al exterior.</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015 / 026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CONJUNTOS DE REGULACIÓN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Regulador: grado 2 y válvula de máxima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Regulación grado 2, dentro del recinto</a:t>
            </a:r>
          </a:p>
          <a:p>
            <a:pPr>
              <a:spcAft>
                <a:spcPts val="1100"/>
              </a:spcAft>
            </a:pPr>
            <a:r>
              <a:rPr sz="1600" b="1" i="0">
                <a:solidFill>
                  <a:srgbClr val="E8801A"/>
                </a:solidFill>
                <a:latin typeface="Montserrat"/>
              </a:rPr>
              <a:t>▸  </a:t>
            </a:r>
            <a:r>
              <a:rPr sz="1600" b="0" i="0">
                <a:solidFill>
                  <a:srgbClr val="1B2330"/>
                </a:solidFill>
                <a:latin typeface="Montserrat"/>
              </a:rPr>
              <a:t>Recinto estanco, ventila al exterior</a:t>
            </a:r>
          </a:p>
          <a:p>
            <a:pPr>
              <a:spcAft>
                <a:spcPts val="1100"/>
              </a:spcAft>
            </a:pPr>
            <a:r>
              <a:rPr sz="1600" b="1" i="0">
                <a:solidFill>
                  <a:srgbClr val="E8801A"/>
                </a:solidFill>
                <a:latin typeface="Montserrat"/>
              </a:rPr>
              <a:t>▸  </a:t>
            </a:r>
            <a:r>
              <a:rPr sz="1600" b="0" i="0">
                <a:solidFill>
                  <a:srgbClr val="1B2330"/>
                </a:solidFill>
                <a:latin typeface="Montserrat"/>
              </a:rPr>
              <a:t>Entrada ≥ 150 mbar → válvula de máxima</a:t>
            </a:r>
          </a:p>
          <a:p>
            <a:pPr>
              <a:spcAft>
                <a:spcPts val="1100"/>
              </a:spcAft>
            </a:pPr>
            <a:r>
              <a:rPr sz="1600" b="1" i="0">
                <a:solidFill>
                  <a:srgbClr val="E8801A"/>
                </a:solidFill>
                <a:latin typeface="Montserrat"/>
              </a:rPr>
              <a:t>▸  </a:t>
            </a:r>
            <a:r>
              <a:rPr sz="1600" b="0" i="0">
                <a:solidFill>
                  <a:srgbClr val="1B2330"/>
                </a:solidFill>
                <a:latin typeface="Montserrat"/>
              </a:rPr>
              <a:t>Regulador exterior: protegido de la lluvia</a:t>
            </a:r>
          </a:p>
        </p:txBody>
      </p:sp>
      <p:sp>
        <p:nvSpPr>
          <p:cNvPr id="9" name="imgph" descr="IMGQ:gas pressure regulator on pipe"/>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pressure regulator on pipe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016 / 026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CONTADORES EN VIVIENDA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Si no se centraliza, va en la vivienda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Solo en edificios ya construidos</a:t>
            </a:r>
          </a:p>
          <a:p>
            <a:pPr>
              <a:spcAft>
                <a:spcPts val="1100"/>
              </a:spcAft>
            </a:pPr>
            <a:r>
              <a:rPr sz="1600" b="1" i="0">
                <a:solidFill>
                  <a:srgbClr val="E8801A"/>
                </a:solidFill>
                <a:latin typeface="Montserrat"/>
              </a:rPr>
              <a:t>▸  </a:t>
            </a:r>
            <a:r>
              <a:rPr sz="1600" b="0" i="0">
                <a:solidFill>
                  <a:srgbClr val="1B2330"/>
                </a:solidFill>
                <a:latin typeface="Montserrat"/>
              </a:rPr>
              <a:t>Cerca de la entrada, ventilado</a:t>
            </a:r>
          </a:p>
          <a:p>
            <a:pPr>
              <a:spcAft>
                <a:spcPts val="1100"/>
              </a:spcAft>
            </a:pPr>
            <a:r>
              <a:rPr sz="1600" b="1" i="0">
                <a:solidFill>
                  <a:srgbClr val="E8801A"/>
                </a:solidFill>
                <a:latin typeface="Montserrat"/>
              </a:rPr>
              <a:t>▸  </a:t>
            </a:r>
            <a:r>
              <a:rPr sz="1600" b="0" i="0">
                <a:solidFill>
                  <a:srgbClr val="1B2330"/>
                </a:solidFill>
                <a:latin typeface="Montserrat"/>
              </a:rPr>
              <a:t>Totalizador a 1,7 m como máximo</a:t>
            </a:r>
          </a:p>
          <a:p>
            <a:pPr>
              <a:spcAft>
                <a:spcPts val="1100"/>
              </a:spcAft>
            </a:pPr>
            <a:r>
              <a:rPr sz="1600" b="1" i="0">
                <a:solidFill>
                  <a:srgbClr val="E8801A"/>
                </a:solidFill>
                <a:latin typeface="Montserrat"/>
              </a:rPr>
              <a:t>▸  </a:t>
            </a:r>
            <a:r>
              <a:rPr sz="1600" b="0" i="0">
                <a:solidFill>
                  <a:srgbClr val="1B2330"/>
                </a:solidFill>
                <a:latin typeface="Montserrat"/>
              </a:rPr>
              <a:t>Nunca bajo el fregadero</a:t>
            </a:r>
          </a:p>
        </p:txBody>
      </p:sp>
      <p:sp>
        <p:nvSpPr>
          <p:cNvPr id="9" name="imgph" descr="IMGQ:gas meter inside kitchen apartment"/>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meter inside kitchen apartment</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017 / 026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CONTADOR EN VIVIENDA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40 al fuego, 20 a lo eléctrico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 40 cm al quemador de cocina</a:t>
            </a:r>
          </a:p>
          <a:p>
            <a:pPr>
              <a:spcAft>
                <a:spcPts val="1100"/>
              </a:spcAft>
            </a:pPr>
            <a:r>
              <a:rPr sz="1600" b="1" i="0">
                <a:solidFill>
                  <a:srgbClr val="E8801A"/>
                </a:solidFill>
                <a:latin typeface="Montserrat"/>
              </a:rPr>
              <a:t>▸  </a:t>
            </a:r>
            <a:r>
              <a:rPr sz="1600" b="0" i="0">
                <a:solidFill>
                  <a:srgbClr val="1B2330"/>
                </a:solidFill>
                <a:latin typeface="Montserrat"/>
              </a:rPr>
              <a:t>≥ 20 cm a aparatos y mecanismos eléctricos</a:t>
            </a:r>
          </a:p>
          <a:p>
            <a:pPr>
              <a:spcAft>
                <a:spcPts val="1100"/>
              </a:spcAft>
            </a:pPr>
            <a:r>
              <a:rPr sz="1600" b="1" i="0">
                <a:solidFill>
                  <a:srgbClr val="E8801A"/>
                </a:solidFill>
                <a:latin typeface="Montserrat"/>
              </a:rPr>
              <a:t>▸  </a:t>
            </a:r>
            <a:r>
              <a:rPr sz="1600" b="0" i="0">
                <a:solidFill>
                  <a:srgbClr val="1B2330"/>
                </a:solidFill>
                <a:latin typeface="Montserrat"/>
              </a:rPr>
              <a:t>20 cm en todo el perímetro</a:t>
            </a:r>
          </a:p>
          <a:p>
            <a:pPr>
              <a:spcAft>
                <a:spcPts val="1100"/>
              </a:spcAft>
            </a:pPr>
            <a:r>
              <a:rPr sz="1600" b="1" i="0">
                <a:solidFill>
                  <a:srgbClr val="E8801A"/>
                </a:solidFill>
                <a:latin typeface="Montserrat"/>
              </a:rPr>
              <a:t>▸  </a:t>
            </a:r>
            <a:r>
              <a:rPr sz="1600" b="0" i="0">
                <a:solidFill>
                  <a:srgbClr val="1B2330"/>
                </a:solidFill>
                <a:latin typeface="Montserrat"/>
              </a:rPr>
              <a:t>Si no llegas: pantalla de protección</a:t>
            </a:r>
          </a:p>
        </p:txBody>
      </p:sp>
      <p:sp>
        <p:nvSpPr>
          <p:cNvPr id="9" name="imgph" descr="IMGQ:kitchen gas stove burner blue flame"/>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kitchen gas stove burner blue flame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018 / 026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CONTADOR EN VIVIENDA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Dónde no va nunca el contador</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En el dormitorio, no</a:t>
            </a:r>
          </a:p>
          <a:p>
            <a:pPr>
              <a:spcAft>
                <a:spcPts val="1100"/>
              </a:spcAft>
            </a:pPr>
            <a:r>
              <a:rPr sz="1600" b="1" i="0">
                <a:solidFill>
                  <a:srgbClr val="E8801A"/>
                </a:solidFill>
                <a:latin typeface="Montserrat"/>
              </a:rPr>
              <a:t>▸  </a:t>
            </a:r>
            <a:r>
              <a:rPr sz="1600" b="0" i="0">
                <a:solidFill>
                  <a:srgbClr val="1B2330"/>
                </a:solidFill>
                <a:latin typeface="Montserrat"/>
              </a:rPr>
              <a:t>En el W.C., no</a:t>
            </a:r>
          </a:p>
          <a:p>
            <a:pPr>
              <a:spcAft>
                <a:spcPts val="1100"/>
              </a:spcAft>
            </a:pPr>
            <a:r>
              <a:rPr sz="1600" b="1" i="0">
                <a:solidFill>
                  <a:srgbClr val="E8801A"/>
                </a:solidFill>
                <a:latin typeface="Montserrat"/>
              </a:rPr>
              <a:t>▸  </a:t>
            </a:r>
            <a:r>
              <a:rPr sz="1600" b="0" i="0">
                <a:solidFill>
                  <a:srgbClr val="1B2330"/>
                </a:solidFill>
                <a:latin typeface="Montserrat"/>
              </a:rPr>
              <a:t>En el cuarto de baño, no</a:t>
            </a:r>
          </a:p>
          <a:p>
            <a:pPr>
              <a:spcAft>
                <a:spcPts val="1100"/>
              </a:spcAft>
            </a:pPr>
            <a:r>
              <a:rPr sz="1600" b="1" i="0">
                <a:solidFill>
                  <a:srgbClr val="E8801A"/>
                </a:solidFill>
                <a:latin typeface="Montserrat"/>
              </a:rPr>
              <a:t>▸  </a:t>
            </a:r>
            <a:r>
              <a:rPr sz="1600" b="0" i="0">
                <a:solidFill>
                  <a:srgbClr val="1B2330"/>
                </a:solidFill>
                <a:latin typeface="Montserrat"/>
              </a:rPr>
              <a:t>En el cuarto de ducha, no</a:t>
            </a:r>
          </a:p>
        </p:txBody>
      </p:sp>
      <p:sp>
        <p:nvSpPr>
          <p:cNvPr id="9" name="imgph" descr="IMGQ:closed bathroom door interior"/>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closed bathroom door interior</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019 / 026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ACCESIBILIDAD · UNE 60670-2</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Los tres grados de accesibilidad</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Grado 1: sin llave ni escalera</a:t>
            </a:r>
          </a:p>
          <a:p>
            <a:pPr>
              <a:spcAft>
                <a:spcPts val="1100"/>
              </a:spcAft>
            </a:pPr>
            <a:r>
              <a:rPr sz="1600" b="1" i="0">
                <a:solidFill>
                  <a:srgbClr val="E8801A"/>
                </a:solidFill>
                <a:latin typeface="Montserrat"/>
              </a:rPr>
              <a:t>▸  </a:t>
            </a:r>
            <a:r>
              <a:rPr sz="1600" b="0" i="0">
                <a:solidFill>
                  <a:srgbClr val="1B2330"/>
                </a:solidFill>
                <a:latin typeface="Montserrat"/>
              </a:rPr>
              <a:t>Grado 2: cerradura normalizada, sin escalera</a:t>
            </a:r>
          </a:p>
          <a:p>
            <a:pPr>
              <a:spcAft>
                <a:spcPts val="1100"/>
              </a:spcAft>
            </a:pPr>
            <a:r>
              <a:rPr sz="1600" b="1" i="0">
                <a:solidFill>
                  <a:srgbClr val="E8801A"/>
                </a:solidFill>
                <a:latin typeface="Montserrat"/>
              </a:rPr>
              <a:t>▸  </a:t>
            </a:r>
            <a:r>
              <a:rPr sz="1600" b="0" i="0">
                <a:solidFill>
                  <a:srgbClr val="1B2330"/>
                </a:solidFill>
                <a:latin typeface="Montserrat"/>
              </a:rPr>
              <a:t>Grado 3: escalera o zona privada</a:t>
            </a:r>
          </a:p>
        </p:txBody>
      </p:sp>
      <p:sp>
        <p:nvSpPr>
          <p:cNvPr id="9" name="imgph" descr="IMGQ:technician using ladder to reach gas valve"/>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technician using ladder to reach gas valve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020 / 026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REGLAS DE ACCESIBILIDAD</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llave de usuario se pone siempre</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Llave de usuario en todos los casos</a:t>
            </a:r>
          </a:p>
          <a:p>
            <a:pPr>
              <a:spcAft>
                <a:spcPts val="1100"/>
              </a:spcAft>
            </a:pPr>
            <a:r>
              <a:rPr sz="1600" b="1" i="0">
                <a:solidFill>
                  <a:srgbClr val="E8801A"/>
                </a:solidFill>
                <a:latin typeface="Montserrat"/>
              </a:rPr>
              <a:t>▸  </a:t>
            </a:r>
            <a:r>
              <a:rPr sz="1600" b="0" i="0">
                <a:solidFill>
                  <a:srgbClr val="1B2330"/>
                </a:solidFill>
                <a:latin typeface="Montserrat"/>
              </a:rPr>
              <a:t>Grado 2 para la distribuidora</a:t>
            </a:r>
          </a:p>
          <a:p>
            <a:pPr>
              <a:spcAft>
                <a:spcPts val="1100"/>
              </a:spcAft>
            </a:pPr>
            <a:r>
              <a:rPr sz="1600" b="1" i="0">
                <a:solidFill>
                  <a:srgbClr val="E8801A"/>
                </a:solidFill>
                <a:latin typeface="Montserrat"/>
              </a:rPr>
              <a:t>▸  </a:t>
            </a:r>
            <a:r>
              <a:rPr sz="1600" b="0" i="0">
                <a:solidFill>
                  <a:srgbClr val="1B2330"/>
                </a:solidFill>
                <a:latin typeface="Montserrat"/>
              </a:rPr>
              <a:t>Desde zona común o límite de propiedad</a:t>
            </a:r>
          </a:p>
          <a:p>
            <a:pPr>
              <a:spcAft>
                <a:spcPts val="1100"/>
              </a:spcAft>
            </a:pPr>
            <a:r>
              <a:rPr sz="1600" b="1" i="0">
                <a:solidFill>
                  <a:srgbClr val="E8801A"/>
                </a:solidFill>
                <a:latin typeface="Montserrat"/>
              </a:rPr>
              <a:t>▸  </a:t>
            </a:r>
            <a:r>
              <a:rPr sz="1600" b="0" i="0">
                <a:solidFill>
                  <a:srgbClr val="1B2330"/>
                </a:solidFill>
                <a:latin typeface="Montserrat"/>
              </a:rPr>
              <a:t>Obturador: grado 3, no con telemedida</a:t>
            </a:r>
          </a:p>
        </p:txBody>
      </p:sp>
      <p:sp>
        <p:nvSpPr>
          <p:cNvPr id="9" name="imgph" descr="IMGQ:gas shut off valve yellow handle"/>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shut off valve yellow handle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021 / 026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IRC FRENTE A IRI</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Zona común manda grado; casa, grado 1</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Distribuidora: zona común, grado 2 o 3</a:t>
            </a:r>
          </a:p>
          <a:p>
            <a:pPr>
              <a:spcAft>
                <a:spcPts val="1100"/>
              </a:spcAft>
            </a:pPr>
            <a:r>
              <a:rPr sz="1600" b="1" i="0">
                <a:solidFill>
                  <a:srgbClr val="E8801A"/>
                </a:solidFill>
                <a:latin typeface="Montserrat"/>
              </a:rPr>
              <a:t>▸  </a:t>
            </a:r>
            <a:r>
              <a:rPr sz="1600" b="0" i="0">
                <a:solidFill>
                  <a:srgbClr val="1B2330"/>
                </a:solidFill>
                <a:latin typeface="Montserrat"/>
              </a:rPr>
              <a:t>Usuario: dentro de casa, grado 1</a:t>
            </a:r>
          </a:p>
          <a:p>
            <a:pPr>
              <a:spcAft>
                <a:spcPts val="1100"/>
              </a:spcAft>
            </a:pPr>
            <a:r>
              <a:rPr sz="1600" b="1" i="0">
                <a:solidFill>
                  <a:srgbClr val="E8801A"/>
                </a:solidFill>
                <a:latin typeface="Montserrat"/>
              </a:rPr>
              <a:t>▸  </a:t>
            </a:r>
            <a:r>
              <a:rPr sz="1600" b="0" i="0">
                <a:solidFill>
                  <a:srgbClr val="1B2330"/>
                </a:solidFill>
                <a:latin typeface="Montserrat"/>
              </a:rPr>
              <a:t>Acometida: grado 1 o 2, zona pública</a:t>
            </a:r>
          </a:p>
          <a:p>
            <a:pPr>
              <a:spcAft>
                <a:spcPts val="1100"/>
              </a:spcAft>
            </a:pPr>
            <a:r>
              <a:rPr sz="1600" b="1" i="0">
                <a:solidFill>
                  <a:srgbClr val="E8801A"/>
                </a:solidFill>
                <a:latin typeface="Montserrat"/>
              </a:rPr>
              <a:t>▸  </a:t>
            </a:r>
            <a:r>
              <a:rPr sz="1600" b="0" i="0">
                <a:solidFill>
                  <a:srgbClr val="1B2330"/>
                </a:solidFill>
                <a:latin typeface="Montserrat"/>
              </a:rPr>
              <a:t>Todo queda en el boletín</a:t>
            </a:r>
          </a:p>
        </p:txBody>
      </p:sp>
      <p:sp>
        <p:nvSpPr>
          <p:cNvPr id="9" name="imgph" descr="IMGQ:gas installation pipes and valves building"/>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installation pipes and valves building</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022 / 026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411480"/>
            <a:ext cx="10058400" cy="365760"/>
          </a:xfrm>
          <a:prstGeom prst="rect">
            <a:avLst/>
          </a:prstGeom>
          <a:noFill/>
        </p:spPr>
        <p:txBody>
          <a:bodyPr wrap="square">
            <a:spAutoFit/>
          </a:bodyPr>
          <a:lstStyle/>
          <a:p>
            <a:r>
              <a:rPr sz="1300" b="1" i="0">
                <a:solidFill>
                  <a:srgbClr val="E8801A"/>
                </a:solidFill>
                <a:latin typeface="Montserrat"/>
              </a:rPr>
              <a:t>ACCESIBILIDAD · IRC</a:t>
            </a:r>
          </a:p>
        </p:txBody>
      </p:sp>
      <p:sp>
        <p:nvSpPr>
          <p:cNvPr id="6" name="TextBox 5"/>
          <p:cNvSpPr txBox="1"/>
          <p:nvPr/>
        </p:nvSpPr>
        <p:spPr>
          <a:xfrm>
            <a:off x="822960" y="777240"/>
            <a:ext cx="10515600" cy="822960"/>
          </a:xfrm>
          <a:prstGeom prst="rect">
            <a:avLst/>
          </a:prstGeom>
          <a:noFill/>
        </p:spPr>
        <p:txBody>
          <a:bodyPr wrap="square">
            <a:spAutoFit/>
          </a:bodyPr>
          <a:lstStyle/>
          <a:p>
            <a:r>
              <a:rPr sz="2600" b="1" i="0">
                <a:solidFill>
                  <a:srgbClr val="1E2761"/>
                </a:solidFill>
                <a:latin typeface="Montserrat"/>
              </a:rPr>
              <a:t>Instalación Receptora Comunitaria (IRC)</a:t>
            </a:r>
          </a:p>
        </p:txBody>
      </p:sp>
      <p:sp>
        <p:nvSpPr>
          <p:cNvPr id="7" name="Rectangle 6"/>
          <p:cNvSpPr/>
          <p:nvPr/>
        </p:nvSpPr>
        <p:spPr>
          <a:xfrm>
            <a:off x="868680" y="1481328"/>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48640" y="1783080"/>
          <a:ext cx="11091672" cy="4023360"/>
        </p:xfrm>
        <a:graphic>
          <a:graphicData uri="http://schemas.openxmlformats.org/drawingml/2006/table">
            <a:tbl>
              <a:tblPr firstRow="1" bandRow="1">
                <a:tableStyleId>{5C22544A-7EE6-4342-B048-85BDC9FD1C3A}</a:tableStyleId>
              </a:tblPr>
              <a:tblGrid>
                <a:gridCol w="3697224"/>
                <a:gridCol w="3697224"/>
                <a:gridCol w="3697224"/>
              </a:tblGrid>
              <a:tr h="502920">
                <a:tc>
                  <a:txBody>
                    <a:bodyPr/>
                    <a:lstStyle/>
                    <a:p>
                      <a:r>
                        <a:rPr sz="1200" b="1" i="0">
                          <a:solidFill>
                            <a:srgbClr val="FFFFFF"/>
                          </a:solidFill>
                          <a:latin typeface="Montserrat"/>
                        </a:rPr>
                        <a:t>Dispositivo</a:t>
                      </a:r>
                    </a:p>
                  </a:txBody>
                  <a:tcPr>
                    <a:solidFill>
                      <a:srgbClr val="1E2761"/>
                    </a:solidFill>
                  </a:tcPr>
                </a:tc>
                <a:tc>
                  <a:txBody>
                    <a:bodyPr/>
                    <a:lstStyle/>
                    <a:p>
                      <a:r>
                        <a:rPr sz="1200" b="1" i="0">
                          <a:solidFill>
                            <a:srgbClr val="FFFFFF"/>
                          </a:solidFill>
                          <a:latin typeface="Montserrat"/>
                        </a:rPr>
                        <a:t>Accesibilidad</a:t>
                      </a:r>
                    </a:p>
                  </a:txBody>
                  <a:tcPr>
                    <a:solidFill>
                      <a:srgbClr val="1E2761"/>
                    </a:solidFill>
                  </a:tcPr>
                </a:tc>
                <a:tc>
                  <a:txBody>
                    <a:bodyPr/>
                    <a:lstStyle/>
                    <a:p>
                      <a:r>
                        <a:rPr sz="1200" b="1" i="0">
                          <a:solidFill>
                            <a:srgbClr val="FFFFFF"/>
                          </a:solidFill>
                          <a:latin typeface="Montserrat"/>
                        </a:rPr>
                        <a:t>Desde zona</a:t>
                      </a:r>
                    </a:p>
                  </a:txBody>
                  <a:tcPr>
                    <a:solidFill>
                      <a:srgbClr val="1E2761"/>
                    </a:solidFill>
                  </a:tcPr>
                </a:tc>
              </a:tr>
              <a:tr h="502920">
                <a:tc>
                  <a:txBody>
                    <a:bodyPr/>
                    <a:lstStyle/>
                    <a:p>
                      <a:r>
                        <a:rPr sz="1200" b="0" i="0">
                          <a:solidFill>
                            <a:srgbClr val="1B2330"/>
                          </a:solidFill>
                          <a:latin typeface="Montserrat"/>
                        </a:rPr>
                        <a:t>Llave de acometida</a:t>
                      </a:r>
                    </a:p>
                  </a:txBody>
                  <a:tcPr>
                    <a:solidFill>
                      <a:srgbClr val="F6F8FC"/>
                    </a:solidFill>
                  </a:tcPr>
                </a:tc>
                <a:tc>
                  <a:txBody>
                    <a:bodyPr/>
                    <a:lstStyle/>
                    <a:p>
                      <a:r>
                        <a:rPr sz="1200" b="0" i="0">
                          <a:solidFill>
                            <a:srgbClr val="1B2330"/>
                          </a:solidFill>
                          <a:latin typeface="Montserrat"/>
                        </a:rPr>
                        <a:t>Grado 1 ó 2 (empresa distribuidora)</a:t>
                      </a:r>
                    </a:p>
                  </a:txBody>
                  <a:tcPr>
                    <a:solidFill>
                      <a:srgbClr val="F6F8FC"/>
                    </a:solidFill>
                  </a:tcPr>
                </a:tc>
                <a:tc>
                  <a:txBody>
                    <a:bodyPr/>
                    <a:lstStyle/>
                    <a:p>
                      <a:r>
                        <a:rPr sz="1200" b="0" i="0">
                          <a:solidFill>
                            <a:srgbClr val="1B2330"/>
                          </a:solidFill>
                          <a:latin typeface="Montserrat"/>
                        </a:rPr>
                        <a:t>Pública</a:t>
                      </a:r>
                    </a:p>
                  </a:txBody>
                  <a:tcPr>
                    <a:solidFill>
                      <a:srgbClr val="F6F8FC"/>
                    </a:solidFill>
                  </a:tcPr>
                </a:tc>
              </a:tr>
              <a:tr h="502920">
                <a:tc>
                  <a:txBody>
                    <a:bodyPr/>
                    <a:lstStyle/>
                    <a:p>
                      <a:r>
                        <a:rPr sz="1200" b="0" i="0">
                          <a:solidFill>
                            <a:srgbClr val="1B2330"/>
                          </a:solidFill>
                          <a:latin typeface="Montserrat"/>
                        </a:rPr>
                        <a:t>Llave de edificio</a:t>
                      </a:r>
                    </a:p>
                  </a:txBody>
                  <a:tcPr>
                    <a:solidFill>
                      <a:srgbClr val="FFFFFF"/>
                    </a:solidFill>
                  </a:tcPr>
                </a:tc>
                <a:tc>
                  <a:txBody>
                    <a:bodyPr/>
                    <a:lstStyle/>
                    <a:p>
                      <a:r>
                        <a:rPr sz="1200" b="0" i="0">
                          <a:solidFill>
                            <a:srgbClr val="1B2330"/>
                          </a:solidFill>
                          <a:latin typeface="Montserrat"/>
                        </a:rPr>
                        <a:t>Grado 2 ó 3 (para todos)</a:t>
                      </a:r>
                    </a:p>
                  </a:txBody>
                  <a:tcPr>
                    <a:solidFill>
                      <a:srgbClr val="FFFFFF"/>
                    </a:solidFill>
                  </a:tcPr>
                </a:tc>
                <a:tc>
                  <a:txBody>
                    <a:bodyPr/>
                    <a:lstStyle/>
                    <a:p>
                      <a:r>
                        <a:rPr sz="1200" b="0" i="0">
                          <a:solidFill>
                            <a:srgbClr val="1B2330"/>
                          </a:solidFill>
                          <a:latin typeface="Montserrat"/>
                        </a:rPr>
                        <a:t>Comunitaria o pública</a:t>
                      </a:r>
                    </a:p>
                  </a:txBody>
                  <a:tcPr>
                    <a:solidFill>
                      <a:srgbClr val="FFFFFF"/>
                    </a:solidFill>
                  </a:tcPr>
                </a:tc>
              </a:tr>
              <a:tr h="502920">
                <a:tc>
                  <a:txBody>
                    <a:bodyPr/>
                    <a:lstStyle/>
                    <a:p>
                      <a:r>
                        <a:rPr sz="1200" b="0" i="0">
                          <a:solidFill>
                            <a:srgbClr val="1B2330"/>
                          </a:solidFill>
                          <a:latin typeface="Montserrat"/>
                        </a:rPr>
                        <a:t>Llave de montante</a:t>
                      </a:r>
                    </a:p>
                  </a:txBody>
                  <a:tcPr>
                    <a:solidFill>
                      <a:srgbClr val="F6F8FC"/>
                    </a:solidFill>
                  </a:tcPr>
                </a:tc>
                <a:tc>
                  <a:txBody>
                    <a:bodyPr/>
                    <a:lstStyle/>
                    <a:p>
                      <a:r>
                        <a:rPr sz="1200" b="0" i="0">
                          <a:solidFill>
                            <a:srgbClr val="1B2330"/>
                          </a:solidFill>
                          <a:latin typeface="Montserrat"/>
                        </a:rPr>
                        <a:t>Grado 2 ó 3 (para todos)</a:t>
                      </a:r>
                    </a:p>
                  </a:txBody>
                  <a:tcPr>
                    <a:solidFill>
                      <a:srgbClr val="F6F8FC"/>
                    </a:solidFill>
                  </a:tcPr>
                </a:tc>
                <a:tc>
                  <a:txBody>
                    <a:bodyPr/>
                    <a:lstStyle/>
                    <a:p>
                      <a:r>
                        <a:rPr sz="1200" b="0" i="0">
                          <a:solidFill>
                            <a:srgbClr val="1B2330"/>
                          </a:solidFill>
                          <a:latin typeface="Montserrat"/>
                        </a:rPr>
                        <a:t>Comunitaria o pública</a:t>
                      </a:r>
                    </a:p>
                  </a:txBody>
                  <a:tcPr>
                    <a:solidFill>
                      <a:srgbClr val="F6F8FC"/>
                    </a:solidFill>
                  </a:tcPr>
                </a:tc>
              </a:tr>
              <a:tr h="502920">
                <a:tc>
                  <a:txBody>
                    <a:bodyPr/>
                    <a:lstStyle/>
                    <a:p>
                      <a:r>
                        <a:rPr sz="1200" b="0" i="0">
                          <a:solidFill>
                            <a:srgbClr val="1B2330"/>
                          </a:solidFill>
                          <a:latin typeface="Montserrat"/>
                        </a:rPr>
                        <a:t>Llave de usuario / abonado</a:t>
                      </a:r>
                    </a:p>
                  </a:txBody>
                  <a:tcPr>
                    <a:solidFill>
                      <a:srgbClr val="FFFFFF"/>
                    </a:solidFill>
                  </a:tcPr>
                </a:tc>
                <a:tc>
                  <a:txBody>
                    <a:bodyPr/>
                    <a:lstStyle/>
                    <a:p>
                      <a:r>
                        <a:rPr sz="1200" b="0" i="0">
                          <a:solidFill>
                            <a:srgbClr val="1B2330"/>
                          </a:solidFill>
                          <a:latin typeface="Montserrat"/>
                        </a:rPr>
                        <a:t>Grado 2 (para todos)</a:t>
                      </a:r>
                    </a:p>
                  </a:txBody>
                  <a:tcPr>
                    <a:solidFill>
                      <a:srgbClr val="FFFFFF"/>
                    </a:solidFill>
                  </a:tcPr>
                </a:tc>
                <a:tc>
                  <a:txBody>
                    <a:bodyPr/>
                    <a:lstStyle/>
                    <a:p>
                      <a:r>
                        <a:rPr sz="1200" b="0" i="0">
                          <a:solidFill>
                            <a:srgbClr val="1B2330"/>
                          </a:solidFill>
                          <a:latin typeface="Montserrat"/>
                        </a:rPr>
                        <a:t>Comunitaria</a:t>
                      </a:r>
                    </a:p>
                  </a:txBody>
                  <a:tcPr>
                    <a:solidFill>
                      <a:srgbClr val="FFFFFF"/>
                    </a:solidFill>
                  </a:tcPr>
                </a:tc>
              </a:tr>
              <a:tr h="502920">
                <a:tc>
                  <a:txBody>
                    <a:bodyPr/>
                    <a:lstStyle/>
                    <a:p>
                      <a:r>
                        <a:rPr sz="1200" b="0" i="0">
                          <a:solidFill>
                            <a:srgbClr val="1B2330"/>
                          </a:solidFill>
                          <a:latin typeface="Montserrat"/>
                        </a:rPr>
                        <a:t>Centralización de contadores</a:t>
                      </a:r>
                    </a:p>
                  </a:txBody>
                  <a:tcPr>
                    <a:solidFill>
                      <a:srgbClr val="F6F8FC"/>
                    </a:solidFill>
                  </a:tcPr>
                </a:tc>
                <a:tc>
                  <a:txBody>
                    <a:bodyPr/>
                    <a:lstStyle/>
                    <a:p>
                      <a:r>
                        <a:rPr sz="1200" b="0" i="0">
                          <a:solidFill>
                            <a:srgbClr val="1B2330"/>
                          </a:solidFill>
                          <a:latin typeface="Montserrat"/>
                        </a:rPr>
                        <a:t>Grado 2 (para todos)</a:t>
                      </a:r>
                    </a:p>
                  </a:txBody>
                  <a:tcPr>
                    <a:solidFill>
                      <a:srgbClr val="F6F8FC"/>
                    </a:solidFill>
                  </a:tcPr>
                </a:tc>
                <a:tc>
                  <a:txBody>
                    <a:bodyPr/>
                    <a:lstStyle/>
                    <a:p>
                      <a:r>
                        <a:rPr sz="1200" b="0" i="0">
                          <a:solidFill>
                            <a:srgbClr val="1B2330"/>
                          </a:solidFill>
                          <a:latin typeface="Montserrat"/>
                        </a:rPr>
                        <a:t>Comunitaria</a:t>
                      </a:r>
                    </a:p>
                  </a:txBody>
                  <a:tcPr>
                    <a:solidFill>
                      <a:srgbClr val="F6F8FC"/>
                    </a:solidFill>
                  </a:tcPr>
                </a:tc>
              </a:tr>
              <a:tr h="502920">
                <a:tc>
                  <a:txBody>
                    <a:bodyPr/>
                    <a:lstStyle/>
                    <a:p>
                      <a:r>
                        <a:rPr sz="1200" b="0" i="0">
                          <a:solidFill>
                            <a:srgbClr val="1B2330"/>
                          </a:solidFill>
                          <a:latin typeface="Montserrat"/>
                        </a:rPr>
                        <a:t>Armario de regulación</a:t>
                      </a:r>
                    </a:p>
                  </a:txBody>
                  <a:tcPr>
                    <a:solidFill>
                      <a:srgbClr val="FFFFFF"/>
                    </a:solidFill>
                  </a:tcPr>
                </a:tc>
                <a:tc>
                  <a:txBody>
                    <a:bodyPr/>
                    <a:lstStyle/>
                    <a:p>
                      <a:r>
                        <a:rPr sz="1200" b="0" i="0">
                          <a:solidFill>
                            <a:srgbClr val="1B2330"/>
                          </a:solidFill>
                          <a:latin typeface="Montserrat"/>
                        </a:rPr>
                        <a:t>Grado 2 (para todos)</a:t>
                      </a:r>
                    </a:p>
                  </a:txBody>
                  <a:tcPr>
                    <a:solidFill>
                      <a:srgbClr val="FFFFFF"/>
                    </a:solidFill>
                  </a:tcPr>
                </a:tc>
                <a:tc>
                  <a:txBody>
                    <a:bodyPr/>
                    <a:lstStyle/>
                    <a:p>
                      <a:r>
                        <a:rPr sz="1200" b="0" i="0">
                          <a:solidFill>
                            <a:srgbClr val="1B2330"/>
                          </a:solidFill>
                          <a:latin typeface="Montserrat"/>
                        </a:rPr>
                        <a:t>Comunitaria</a:t>
                      </a:r>
                    </a:p>
                  </a:txBody>
                  <a:tcPr>
                    <a:solidFill>
                      <a:srgbClr val="FFFFFF"/>
                    </a:solidFill>
                  </a:tcPr>
                </a:tc>
              </a:tr>
              <a:tr h="502920">
                <a:tc>
                  <a:txBody>
                    <a:bodyPr/>
                    <a:lstStyle/>
                    <a:p>
                      <a:r>
                        <a:rPr sz="1200" b="0" i="0">
                          <a:solidFill>
                            <a:srgbClr val="1B2330"/>
                          </a:solidFill>
                          <a:latin typeface="Montserrat"/>
                        </a:rPr>
                        <a:t>Obturador de cierre (no con contadores de funciones añadidas)</a:t>
                      </a:r>
                    </a:p>
                  </a:txBody>
                  <a:tcPr>
                    <a:solidFill>
                      <a:srgbClr val="F6F8FC"/>
                    </a:solidFill>
                  </a:tcPr>
                </a:tc>
                <a:tc>
                  <a:txBody>
                    <a:bodyPr/>
                    <a:lstStyle/>
                    <a:p>
                      <a:r>
                        <a:rPr sz="1200" b="0" i="0">
                          <a:solidFill>
                            <a:srgbClr val="1B2330"/>
                          </a:solidFill>
                          <a:latin typeface="Montserrat"/>
                        </a:rPr>
                        <a:t>Grado 3 (empresa distribuidora)</a:t>
                      </a:r>
                    </a:p>
                  </a:txBody>
                  <a:tcPr>
                    <a:solidFill>
                      <a:srgbClr val="F6F8FC"/>
                    </a:solidFill>
                  </a:tcPr>
                </a:tc>
                <a:tc>
                  <a:txBody>
                    <a:bodyPr/>
                    <a:lstStyle/>
                    <a:p>
                      <a:r>
                        <a:rPr sz="1200" b="0" i="0">
                          <a:solidFill>
                            <a:srgbClr val="1B2330"/>
                          </a:solidFill>
                          <a:latin typeface="Montserrat"/>
                        </a:rPr>
                        <a:t>Comunitaria</a:t>
                      </a:r>
                    </a:p>
                  </a:txBody>
                  <a:tcPr>
                    <a:solidFill>
                      <a:srgbClr val="F6F8FC"/>
                    </a:solidFill>
                  </a:tcPr>
                </a:tc>
              </a:tr>
            </a:tbl>
          </a:graphicData>
        </a:graphic>
      </p:graphicFrame>
      <p:sp>
        <p:nvSpPr>
          <p:cNvPr id="9" name="Rounded Rectangle 8"/>
          <p:cNvSpPr/>
          <p:nvPr/>
        </p:nvSpPr>
        <p:spPr>
          <a:xfrm>
            <a:off x="548640" y="5943600"/>
            <a:ext cx="11091672" cy="384048"/>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961888"/>
            <a:ext cx="10789920" cy="365760"/>
          </a:xfrm>
          <a:prstGeom prst="rect">
            <a:avLst/>
          </a:prstGeom>
          <a:noFill/>
        </p:spPr>
        <p:txBody>
          <a:bodyPr wrap="square">
            <a:spAutoFit/>
          </a:bodyPr>
          <a:lstStyle/>
          <a:p>
            <a:r>
              <a:rPr sz="1100" b="1" i="0">
                <a:solidFill>
                  <a:srgbClr val="E8801A"/>
                </a:solidFill>
                <a:latin typeface="Montserrat"/>
              </a:rPr>
              <a:t>Qué significa:  </a:t>
            </a:r>
            <a:r>
              <a:rPr sz="1100" b="0" i="0">
                <a:solidFill>
                  <a:srgbClr val="1B2330"/>
                </a:solidFill>
                <a:latin typeface="Montserrat"/>
              </a:rPr>
              <a:t>Grado de accesibilidad y zona de cada llave de la instalación comunitaria; casi todo lo que toca la distribuidora vive en zona común con grado 2 ó 3.</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023 / 026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411480"/>
            <a:ext cx="10058400" cy="365760"/>
          </a:xfrm>
          <a:prstGeom prst="rect">
            <a:avLst/>
          </a:prstGeom>
          <a:noFill/>
        </p:spPr>
        <p:txBody>
          <a:bodyPr wrap="square">
            <a:spAutoFit/>
          </a:bodyPr>
          <a:lstStyle/>
          <a:p>
            <a:r>
              <a:rPr sz="1300" b="1" i="0">
                <a:solidFill>
                  <a:srgbClr val="E8801A"/>
                </a:solidFill>
                <a:latin typeface="Montserrat"/>
              </a:rPr>
              <a:t>ACCESIBILIDAD · IRI</a:t>
            </a:r>
          </a:p>
        </p:txBody>
      </p:sp>
      <p:sp>
        <p:nvSpPr>
          <p:cNvPr id="6" name="TextBox 5"/>
          <p:cNvSpPr txBox="1"/>
          <p:nvPr/>
        </p:nvSpPr>
        <p:spPr>
          <a:xfrm>
            <a:off x="822960" y="777240"/>
            <a:ext cx="10515600" cy="822960"/>
          </a:xfrm>
          <a:prstGeom prst="rect">
            <a:avLst/>
          </a:prstGeom>
          <a:noFill/>
        </p:spPr>
        <p:txBody>
          <a:bodyPr wrap="square">
            <a:spAutoFit/>
          </a:bodyPr>
          <a:lstStyle/>
          <a:p>
            <a:r>
              <a:rPr sz="2600" b="1" i="0">
                <a:solidFill>
                  <a:srgbClr val="1E2761"/>
                </a:solidFill>
                <a:latin typeface="Montserrat"/>
              </a:rPr>
              <a:t>Instalación Receptora Individual (IRI)</a:t>
            </a:r>
          </a:p>
        </p:txBody>
      </p:sp>
      <p:sp>
        <p:nvSpPr>
          <p:cNvPr id="7" name="Rectangle 6"/>
          <p:cNvSpPr/>
          <p:nvPr/>
        </p:nvSpPr>
        <p:spPr>
          <a:xfrm>
            <a:off x="868680" y="1481328"/>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48640" y="1783080"/>
          <a:ext cx="11091672" cy="4023360"/>
        </p:xfrm>
        <a:graphic>
          <a:graphicData uri="http://schemas.openxmlformats.org/drawingml/2006/table">
            <a:tbl>
              <a:tblPr firstRow="1" bandRow="1">
                <a:tableStyleId>{5C22544A-7EE6-4342-B048-85BDC9FD1C3A}</a:tableStyleId>
              </a:tblPr>
              <a:tblGrid>
                <a:gridCol w="3697224"/>
                <a:gridCol w="3697224"/>
                <a:gridCol w="3697224"/>
              </a:tblGrid>
              <a:tr h="804672">
                <a:tc>
                  <a:txBody>
                    <a:bodyPr/>
                    <a:lstStyle/>
                    <a:p>
                      <a:r>
                        <a:rPr sz="1200" b="1" i="0">
                          <a:solidFill>
                            <a:srgbClr val="FFFFFF"/>
                          </a:solidFill>
                          <a:latin typeface="Montserrat"/>
                        </a:rPr>
                        <a:t>Dispositivo</a:t>
                      </a:r>
                    </a:p>
                  </a:txBody>
                  <a:tcPr>
                    <a:solidFill>
                      <a:srgbClr val="1E2761"/>
                    </a:solidFill>
                  </a:tcPr>
                </a:tc>
                <a:tc>
                  <a:txBody>
                    <a:bodyPr/>
                    <a:lstStyle/>
                    <a:p>
                      <a:r>
                        <a:rPr sz="1200" b="1" i="0">
                          <a:solidFill>
                            <a:srgbClr val="FFFFFF"/>
                          </a:solidFill>
                          <a:latin typeface="Montserrat"/>
                        </a:rPr>
                        <a:t>Accesibilidad</a:t>
                      </a:r>
                    </a:p>
                  </a:txBody>
                  <a:tcPr>
                    <a:solidFill>
                      <a:srgbClr val="1E2761"/>
                    </a:solidFill>
                  </a:tcPr>
                </a:tc>
                <a:tc>
                  <a:txBody>
                    <a:bodyPr/>
                    <a:lstStyle/>
                    <a:p>
                      <a:r>
                        <a:rPr sz="1200" b="1" i="0">
                          <a:solidFill>
                            <a:srgbClr val="FFFFFF"/>
                          </a:solidFill>
                          <a:latin typeface="Montserrat"/>
                        </a:rPr>
                        <a:t>Desde zona</a:t>
                      </a:r>
                    </a:p>
                  </a:txBody>
                  <a:tcPr>
                    <a:solidFill>
                      <a:srgbClr val="1E2761"/>
                    </a:solidFill>
                  </a:tcPr>
                </a:tc>
              </a:tr>
              <a:tr h="804672">
                <a:tc>
                  <a:txBody>
                    <a:bodyPr/>
                    <a:lstStyle/>
                    <a:p>
                      <a:r>
                        <a:rPr sz="1200" b="0" i="0">
                          <a:solidFill>
                            <a:srgbClr val="1B2330"/>
                          </a:solidFill>
                          <a:latin typeface="Montserrat"/>
                        </a:rPr>
                        <a:t>Llave de contador</a:t>
                      </a:r>
                    </a:p>
                  </a:txBody>
                  <a:tcPr>
                    <a:solidFill>
                      <a:srgbClr val="F6F8FC"/>
                    </a:solidFill>
                  </a:tcPr>
                </a:tc>
                <a:tc>
                  <a:txBody>
                    <a:bodyPr/>
                    <a:lstStyle/>
                    <a:p>
                      <a:r>
                        <a:rPr sz="1200" b="0" i="0">
                          <a:solidFill>
                            <a:srgbClr val="1B2330"/>
                          </a:solidFill>
                          <a:latin typeface="Montserrat"/>
                        </a:rPr>
                        <a:t>Grado 1 ó 2 (para el usuario)</a:t>
                      </a:r>
                    </a:p>
                  </a:txBody>
                  <a:tcPr>
                    <a:solidFill>
                      <a:srgbClr val="F6F8FC"/>
                    </a:solidFill>
                  </a:tcPr>
                </a:tc>
                <a:tc>
                  <a:txBody>
                    <a:bodyPr/>
                    <a:lstStyle/>
                    <a:p>
                      <a:r>
                        <a:rPr sz="1200" b="0" i="0">
                          <a:solidFill>
                            <a:srgbClr val="1B2330"/>
                          </a:solidFill>
                          <a:latin typeface="Montserrat"/>
                        </a:rPr>
                        <a:t>Vivienda</a:t>
                      </a:r>
                    </a:p>
                  </a:txBody>
                  <a:tcPr>
                    <a:solidFill>
                      <a:srgbClr val="F6F8FC"/>
                    </a:solidFill>
                  </a:tcPr>
                </a:tc>
              </a:tr>
              <a:tr h="804672">
                <a:tc>
                  <a:txBody>
                    <a:bodyPr/>
                    <a:lstStyle/>
                    <a:p>
                      <a:r>
                        <a:rPr sz="1200" b="0" i="0">
                          <a:solidFill>
                            <a:srgbClr val="1B2330"/>
                          </a:solidFill>
                          <a:latin typeface="Montserrat"/>
                        </a:rPr>
                        <a:t>Llave de vivienda</a:t>
                      </a:r>
                    </a:p>
                  </a:txBody>
                  <a:tcPr>
                    <a:solidFill>
                      <a:srgbClr val="FFFFFF"/>
                    </a:solidFill>
                  </a:tcPr>
                </a:tc>
                <a:tc>
                  <a:txBody>
                    <a:bodyPr/>
                    <a:lstStyle/>
                    <a:p>
                      <a:r>
                        <a:rPr sz="1200" b="0" i="0">
                          <a:solidFill>
                            <a:srgbClr val="1B2330"/>
                          </a:solidFill>
                          <a:latin typeface="Montserrat"/>
                        </a:rPr>
                        <a:t>Grado 1 (para el usuario)</a:t>
                      </a:r>
                    </a:p>
                  </a:txBody>
                  <a:tcPr>
                    <a:solidFill>
                      <a:srgbClr val="FFFFFF"/>
                    </a:solidFill>
                  </a:tcPr>
                </a:tc>
                <a:tc>
                  <a:txBody>
                    <a:bodyPr/>
                    <a:lstStyle/>
                    <a:p>
                      <a:r>
                        <a:rPr sz="1200" b="0" i="0">
                          <a:solidFill>
                            <a:srgbClr val="1B2330"/>
                          </a:solidFill>
                          <a:latin typeface="Montserrat"/>
                        </a:rPr>
                        <a:t>Vivienda</a:t>
                      </a:r>
                    </a:p>
                  </a:txBody>
                  <a:tcPr>
                    <a:solidFill>
                      <a:srgbClr val="FFFFFF"/>
                    </a:solidFill>
                  </a:tcPr>
                </a:tc>
              </a:tr>
              <a:tr h="804672">
                <a:tc>
                  <a:txBody>
                    <a:bodyPr/>
                    <a:lstStyle/>
                    <a:p>
                      <a:r>
                        <a:rPr sz="1200" b="0" i="0">
                          <a:solidFill>
                            <a:srgbClr val="1B2330"/>
                          </a:solidFill>
                          <a:latin typeface="Montserrat"/>
                        </a:rPr>
                        <a:t>Llave de aparato</a:t>
                      </a:r>
                    </a:p>
                  </a:txBody>
                  <a:tcPr>
                    <a:solidFill>
                      <a:srgbClr val="F6F8FC"/>
                    </a:solidFill>
                  </a:tcPr>
                </a:tc>
                <a:tc>
                  <a:txBody>
                    <a:bodyPr/>
                    <a:lstStyle/>
                    <a:p>
                      <a:r>
                        <a:rPr sz="1200" b="0" i="0">
                          <a:solidFill>
                            <a:srgbClr val="1B2330"/>
                          </a:solidFill>
                          <a:latin typeface="Montserrat"/>
                        </a:rPr>
                        <a:t>Grado 1 (para el usuario)</a:t>
                      </a:r>
                    </a:p>
                  </a:txBody>
                  <a:tcPr>
                    <a:solidFill>
                      <a:srgbClr val="F6F8FC"/>
                    </a:solidFill>
                  </a:tcPr>
                </a:tc>
                <a:tc>
                  <a:txBody>
                    <a:bodyPr/>
                    <a:lstStyle/>
                    <a:p>
                      <a:r>
                        <a:rPr sz="1200" b="0" i="0">
                          <a:solidFill>
                            <a:srgbClr val="1B2330"/>
                          </a:solidFill>
                          <a:latin typeface="Montserrat"/>
                        </a:rPr>
                        <a:t>Vivienda</a:t>
                      </a:r>
                    </a:p>
                  </a:txBody>
                  <a:tcPr>
                    <a:solidFill>
                      <a:srgbClr val="F6F8FC"/>
                    </a:solidFill>
                  </a:tcPr>
                </a:tc>
              </a:tr>
              <a:tr h="804672">
                <a:tc>
                  <a:txBody>
                    <a:bodyPr/>
                    <a:lstStyle/>
                    <a:p>
                      <a:r>
                        <a:rPr sz="1200" b="0" i="0">
                          <a:solidFill>
                            <a:srgbClr val="1B2330"/>
                          </a:solidFill>
                          <a:latin typeface="Montserrat"/>
                        </a:rPr>
                        <a:t>Llave de regulador</a:t>
                      </a:r>
                    </a:p>
                  </a:txBody>
                  <a:tcPr>
                    <a:solidFill>
                      <a:srgbClr val="FFFFFF"/>
                    </a:solidFill>
                  </a:tcPr>
                </a:tc>
                <a:tc>
                  <a:txBody>
                    <a:bodyPr/>
                    <a:lstStyle/>
                    <a:p>
                      <a:r>
                        <a:rPr sz="1200" b="0" i="0">
                          <a:solidFill>
                            <a:srgbClr val="1B2330"/>
                          </a:solidFill>
                          <a:latin typeface="Montserrat"/>
                        </a:rPr>
                        <a:t>Grado 1 ó 2 (para el usuario)</a:t>
                      </a:r>
                    </a:p>
                  </a:txBody>
                  <a:tcPr>
                    <a:solidFill>
                      <a:srgbClr val="FFFFFF"/>
                    </a:solidFill>
                  </a:tcPr>
                </a:tc>
                <a:tc>
                  <a:txBody>
                    <a:bodyPr/>
                    <a:lstStyle/>
                    <a:p>
                      <a:r>
                        <a:rPr sz="1200" b="0" i="0">
                          <a:solidFill>
                            <a:srgbClr val="1B2330"/>
                          </a:solidFill>
                          <a:latin typeface="Montserrat"/>
                        </a:rPr>
                        <a:t>Vivienda</a:t>
                      </a:r>
                    </a:p>
                  </a:txBody>
                  <a:tcPr>
                    <a:solidFill>
                      <a:srgbClr val="FFFFFF"/>
                    </a:solidFill>
                  </a:tcPr>
                </a:tc>
              </a:tr>
            </a:tbl>
          </a:graphicData>
        </a:graphic>
      </p:graphicFrame>
      <p:sp>
        <p:nvSpPr>
          <p:cNvPr id="9" name="Rounded Rectangle 8"/>
          <p:cNvSpPr/>
          <p:nvPr/>
        </p:nvSpPr>
        <p:spPr>
          <a:xfrm>
            <a:off x="548640" y="5943600"/>
            <a:ext cx="11091672" cy="384048"/>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961888"/>
            <a:ext cx="10789920" cy="365760"/>
          </a:xfrm>
          <a:prstGeom prst="rect">
            <a:avLst/>
          </a:prstGeom>
          <a:noFill/>
        </p:spPr>
        <p:txBody>
          <a:bodyPr wrap="square">
            <a:spAutoFit/>
          </a:bodyPr>
          <a:lstStyle/>
          <a:p>
            <a:r>
              <a:rPr sz="1100" b="1" i="0">
                <a:solidFill>
                  <a:srgbClr val="E8801A"/>
                </a:solidFill>
                <a:latin typeface="Montserrat"/>
              </a:rPr>
              <a:t>Qué significa:  </a:t>
            </a:r>
            <a:r>
              <a:rPr sz="1100" b="0" i="0">
                <a:solidFill>
                  <a:srgbClr val="1B2330"/>
                </a:solidFill>
                <a:latin typeface="Montserrat"/>
              </a:rPr>
              <a:t>Las llaves que maneja el usuario dentro de su vivienda son de grado 1 (a mano, sin llave) o como mucho grado 2.</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024 / 026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¿Con qué grado de accesibilidad debe quedar la llave de usuario para la empresa distribuidora?</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Grado 2</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Grado 1</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Grado 3</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No exige grado</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025 / 026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A</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¿Con qué grado de accesibilidad debe quedar la llave de usuario para la empresa distribuidora?</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A.  </a:t>
            </a:r>
            <a:r>
              <a:rPr sz="1800" b="1" i="0">
                <a:solidFill>
                  <a:srgbClr val="1E2761"/>
                </a:solidFill>
                <a:latin typeface="Montserrat"/>
              </a:rPr>
              <a:t>Grado 2</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La llave de usuario se pone siempre y debe ser fácilmente accesible con grado 2 para la distribuidora, desde zona común o límite de propiedad.</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a:spAutoFit/>
          </a:bodyPr>
          <a:lstStyle/>
          <a:p>
            <a:r>
              <a:rPr sz="1400" b="1" i="0">
                <a:solidFill>
                  <a:srgbClr val="F4A24C"/>
                </a:solidFill>
                <a:latin typeface="Montserrat"/>
              </a:rPr>
              <a:t>LO QUE YA DOMINAS</a:t>
            </a:r>
          </a:p>
        </p:txBody>
      </p:sp>
      <p:sp>
        <p:nvSpPr>
          <p:cNvPr id="4" name="Rectangle 3"/>
          <p:cNvSpPr/>
          <p:nvPr/>
        </p:nvSpPr>
        <p:spPr>
          <a:xfrm>
            <a:off x="868680" y="105156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234440"/>
            <a:ext cx="10515600" cy="1097280"/>
          </a:xfrm>
          <a:prstGeom prst="rect">
            <a:avLst/>
          </a:prstGeom>
          <a:noFill/>
        </p:spPr>
        <p:txBody>
          <a:bodyPr wrap="square">
            <a:spAutoFit/>
          </a:bodyPr>
          <a:lstStyle/>
          <a:p>
            <a:r>
              <a:rPr sz="3400" b="1" i="0">
                <a:solidFill>
                  <a:srgbClr val="FFFFFF"/>
                </a:solidFill>
                <a:latin typeface="Montserrat"/>
              </a:rPr>
              <a:t>Ya colocas contadores y llaves como un profesional</a:t>
            </a:r>
          </a:p>
        </p:txBody>
      </p:sp>
      <p:sp>
        <p:nvSpPr>
          <p:cNvPr id="6" name="TextBox 5"/>
          <p:cNvSpPr txBox="1"/>
          <p:nvPr/>
        </p:nvSpPr>
        <p:spPr>
          <a:xfrm>
            <a:off x="822960" y="2606040"/>
            <a:ext cx="10515600" cy="2743200"/>
          </a:xfrm>
          <a:prstGeom prst="rect">
            <a:avLst/>
          </a:prstGeom>
          <a:noFill/>
        </p:spPr>
        <p:txBody>
          <a:bodyPr wrap="square">
            <a:spAutoFit/>
          </a:bodyPr>
          <a:lstStyle/>
          <a:p>
            <a:pPr>
              <a:spcAft>
                <a:spcPts val="1200"/>
              </a:spcAft>
            </a:pPr>
            <a:r>
              <a:rPr sz="2000" b="1" i="0">
                <a:solidFill>
                  <a:srgbClr val="F4A24C"/>
                </a:solidFill>
                <a:latin typeface="Montserrat"/>
              </a:rPr>
              <a:t>✓  </a:t>
            </a:r>
            <a:r>
              <a:rPr sz="1900" b="0" i="0">
                <a:solidFill>
                  <a:srgbClr val="FFFFFF"/>
                </a:solidFill>
                <a:latin typeface="Montserrat"/>
              </a:rPr>
              <a:t>Centralizado en obra nueva: grado 2, nunca bajo el primer sótano</a:t>
            </a:r>
          </a:p>
          <a:p>
            <a:pPr>
              <a:spcAft>
                <a:spcPts val="1200"/>
              </a:spcAft>
            </a:pPr>
            <a:r>
              <a:rPr sz="2000" b="1" i="0">
                <a:solidFill>
                  <a:srgbClr val="F4A24C"/>
                </a:solidFill>
                <a:latin typeface="Montserrat"/>
              </a:rPr>
              <a:t>✓  </a:t>
            </a:r>
            <a:r>
              <a:rPr sz="1900" b="0" i="0">
                <a:solidFill>
                  <a:srgbClr val="FFFFFF"/>
                </a:solidFill>
                <a:latin typeface="Montserrat"/>
              </a:rPr>
              <a:t>Alturas del totalizador: 2 m centralizado, 1,7 m en vivienda</a:t>
            </a:r>
          </a:p>
          <a:p>
            <a:pPr>
              <a:spcAft>
                <a:spcPts val="1200"/>
              </a:spcAft>
            </a:pPr>
            <a:r>
              <a:rPr sz="2000" b="1" i="0">
                <a:solidFill>
                  <a:srgbClr val="F4A24C"/>
                </a:solidFill>
                <a:latin typeface="Montserrat"/>
              </a:rPr>
              <a:t>✓  </a:t>
            </a:r>
            <a:r>
              <a:rPr sz="1900" b="0" i="0">
                <a:solidFill>
                  <a:srgbClr val="FFFFFF"/>
                </a:solidFill>
                <a:latin typeface="Montserrat"/>
              </a:rPr>
              <a:t>40 al fuego, 20 a lo eléctrico; prohibido en dormitorio y baño</a:t>
            </a:r>
          </a:p>
          <a:p>
            <a:pPr>
              <a:spcAft>
                <a:spcPts val="1200"/>
              </a:spcAft>
            </a:pPr>
            <a:r>
              <a:rPr sz="2000" b="1" i="0">
                <a:solidFill>
                  <a:srgbClr val="F4A24C"/>
                </a:solidFill>
                <a:latin typeface="Montserrat"/>
              </a:rPr>
              <a:t>✓  </a:t>
            </a:r>
            <a:r>
              <a:rPr sz="1900" b="0" i="0">
                <a:solidFill>
                  <a:srgbClr val="FFFFFF"/>
                </a:solidFill>
                <a:latin typeface="Montserrat"/>
              </a:rPr>
              <a:t>Grados 1-2-3: quién puede llegar a cortar el gas</a:t>
            </a:r>
          </a:p>
        </p:txBody>
      </p:sp>
      <p:sp>
        <p:nvSpPr>
          <p:cNvPr id="7" name="Rounded Rectangle 6"/>
          <p:cNvSpPr/>
          <p:nvPr/>
        </p:nvSpPr>
        <p:spPr>
          <a:xfrm>
            <a:off x="822960" y="5532120"/>
            <a:ext cx="10515600" cy="822960"/>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623560"/>
            <a:ext cx="10058400" cy="640080"/>
          </a:xfrm>
          <a:prstGeom prst="rect">
            <a:avLst/>
          </a:prstGeom>
          <a:noFill/>
        </p:spPr>
        <p:txBody>
          <a:bodyPr wrap="square">
            <a:spAutoFit/>
          </a:bodyPr>
          <a:lstStyle/>
          <a:p>
            <a:r>
              <a:rPr sz="1500" b="1" i="1">
                <a:solidFill>
                  <a:srgbClr val="1E2761"/>
                </a:solidFill>
                <a:latin typeface="Montserrat"/>
              </a:rPr>
              <a:t>Hoy ya eres más gasista que ayer. En el siguiente vídeo, el corazón del oficio: el tubo.</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
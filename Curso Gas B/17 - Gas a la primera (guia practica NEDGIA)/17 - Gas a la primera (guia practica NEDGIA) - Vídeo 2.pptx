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vamos a ver en este segundo vídeo?</a:t>
            </a:r>
          </a:p>
          <a:p>
            <a:r>
              <a:t>N2: El corazón del oficio: el tubo. Cómo se traza, con qué materiales se hace, cómo se protege dentro de vainas y conductos, y cómo se comprueba que no pierde ni una burbuja. Aquí están las distancias de separación, las normas de cada tubería, las reglas de soldadura, las uniones entre metales distintos y la prueba de estanqueidad con sus presiones y tiempos. Son los datos que más se preguntan y los que más se equivocan en la práctica, así que vamos despacio y con lógica.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esconden estas tres cifras?</a:t>
            </a:r>
          </a:p>
          <a:p>
            <a:r>
              <a:t>N2: Todo el vídeo, casi. Tres centímetros es lo que separas el tubo de gas de cualquier otra conducción. Cinco centésimas de bar es la frontera mágica: por debajo, soldadura blanda; por encima, fuerte. Y cinco bar es hasta donde vale el press-fitting, esa unión a presión que sustituye a la soldadura fuerte. Con estas tres ya tienes tres preguntas de examen resueltas.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separar el tubo de gas tres centímetros de todo lo demás?</a:t>
            </a:r>
          </a:p>
          <a:p>
            <a:r>
              <a:t>N2: Vamos a por la chuleta y luego el porqué. La chuleta es fácil: tres centímetros de separación entre la tubería de gas y las conducciones de agua, de electricidad, de vapor, las chimeneas y el suelo, y da igual que vayan en paralelo o que se crucen. La única casilla que no aplica es el suelo en cruce, porque un tubo no cruza el suelo. ¿Y el porqué? Si pegas el tubo de gas a una eléctrica, tienes un cable calentándose al lado del gas; si lo pegas a una tubería de agua caliente o de vapor, tienes humedad y calor, que es corrosión asegurada. Corrosión y punto caliente terminan en fuga, y encima en un sitio donde no vas a mirar. Respetarlo es baratísimo al montar; repararlo luego es carísimo. Y si en un rincón no llegas, no lo dejes pegado: protege el tubo según la norma.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 hay que separar el tubo de gas de las demás conducciones?</a:t>
            </a:r>
          </a:p>
          <a:p>
            <a:r>
              <a:t>N2: La chuleta es sencilla: tres centímetros de separación a agua, electricidad, vapor, chimeneas y suelo, y da igual que vayan en paralelo o que se crucen. La única casilla vacía es suelo en cruce, porque un tubo no cruza el suelo. ¿El porqué? Pegar el gas a una eléctrica o a una tubería de agua caliente trae corrosión y puntos calientes, que acaban en fuga justo donde no vas a mirar. Y si en un rincón no llegas a los tres centímetros, no lo dejes pegado: protege el tubo según la norma. Ejemplo de obra: al cruzar un tubo de gas sobre una bajante de agua, deja al menos esos tres centímetros o mete una protección.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lista de sitios prohibidos es larga. ¿Hay una idea que los una a todos?</a:t>
            </a:r>
          </a:p>
          <a:p>
            <a:r>
              <a:t>N2: Sí, y si la pillas no necesitas memorizar la lista entera. La idea es esta: no metas gas donde ya hay un riesgo o un camino hecho para el fuego y el humo. Un hueco de ascensor comunica plantas de golpe; un bajante de basuras y una chimenea son conductos por los que sube todo; un cuarto de transformadores tiene arcos eléctricos; un local con combustibles líquidos ya es peligroso de por sí. En todos esos sitios, una fuga pequeña se convierte en un problema gordo que se propaga. Tampoco por los forjados que son suelo de vivienda. La única excepción práctica es la boca de ventilación: por ahí puedes aprovechar el hueco si el tubo va envainado y sigue quedando libre la superficie mínima que la norma pide para ventilar. Colar el tubo por uno de estos sitios porque venía de paso es rechazo directo en la puesta en servicio.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uso soldadura blanda y cuándo fuerte?</a:t>
            </a:r>
          </a:p>
          <a:p>
            <a:r>
              <a:t>N2: Regla de bolsillo: la frontera es la presión. Hasta cinco centésimas de bar, que es baja presión, vale soldadura blanda. Por encima de esa cifra, soldadura fuerte. ¿Por qué? Porque la soldadura fuerte aguanta más temperatura y da más garantía mecánica; a más presión, más te juegas en cada unión. Y hay dos escenarios serios donde pides fuerte aunque sea baja presión: los aparcamientos cerrados, donde una fuga se acumula con coches y arranques, y las cocinas con aparatos de cocción tipo A cuya suma pase de treinta kilovatios, que mueven mucho gas. En esos dos sitios, fuerte siempre. Piénsalo así: cuando el escenario es más peligroso, subes el nivel de la unión, aunque la presión sea baja.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Frontera clásica de examen, y cuidado que las cifras se parecen mucho de oído. La pregunta: ¿por encima de qué presión se exige soldadura fuerte en tubería de cobre? Opción A, cinco centésimas de bar. Opción B, cinco décimas de bar. Opción C, cinco bar. Opción D, cuatro décimas de bar. Párala y elige con calma.</a:t>
            </a:r>
          </a:p>
          <a:p>
            <a:r>
              <a:t>N2: Pista: es la misma cifra que separa la baja presión del resto; piensa en centésimas de bar.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cinco centésimas de bar. Hasta ahí vale soldadura blanda; por encima de cinco centésimas de bar, soldadura fuerte, porque aguanta más temperatura y da más garantía cuando te juegas más en cada unión. El truco para no caer en las opciones parecidas: la frontera son cinco centésimas, no cinco décimas ni cinco bar. Y no olvides los dos sitios donde siempre pides fuerte aunque sea baja presión: aparcamientos cerrados y cocinas de tipo A que pasen de treinta kilovatios.</a:t>
            </a:r>
          </a:p>
          <a:p>
            <a:r>
              <a:t>N1: Cinco centésimas de bar, esa es la raya.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tengo que aprender de memoria las quince normas de la tabla?</a:t>
            </a:r>
          </a:p>
          <a:p>
            <a:r>
              <a:t>N2: Tranquilo, nadie te pide recitar quince normas con su número exacto. Lo que sí tienes que reconocer son las de siempre, las que aparecen una y otra vez. El cobre va con la UNE E-N mil cincuenta y siete. El multicapa, con la UNE cincuenta y tres mil ocho. El corrugado inoxidable hasta medio bar, con la UNE E-N quince mil doscientos sesenta y seis. Las llaves pequeñas, de diámetro menor de cincuenta, con la UNE E-N trescientos treinta y uno. El centralizador de contadores, con la UNE sesenta mil cuatrocientos noventa. Y el polietileno, con la UNE E-N mil quinientos cincuenta y cinco. Fíjate en un detalle que cae: las citamos sin año. Así lo manda el Reglamento; el listado completo con los años concretos vive en una instrucción técnica aparte. Lo importante no es empollar, es saber que cada material tiene su norma y dónde buscarla.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tengo que aprender las quince normas de memoria?</a:t>
            </a:r>
          </a:p>
          <a:p>
            <a:r>
              <a:t>N2: No, nadie te pide recitarlas. Sí tienes que reconocer las de siempre: cobre, con la une e-ene mil cincuenta y siete; multicapa, con la une cincuenta y tres mil ocho; corrugado inoxidable hasta medio bar, con la une e-ene quince mil doscientos sesenta y seis; llaves pequeñas, de diámetro menor de cincuenta, con la une e-ene trescientos treinta y uno; centralizador, con la une sesenta mil cuatrocientos noventa; y polietileno, con la une e-ene mil quinientos cincuenta y cinco. Fíjate en un detalle que cae: se citan sin año, así lo manda el reglamento; el listado con los años concretos vive en una instrucción técnica aparte. Ejemplo de obra: si montas un tramo enterrado de polietileno, el material debe cumplir su norma; un tubo sin homologar es lo primero que salta en la inspección.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cobre recocido y cobre duro?</a:t>
            </a:r>
          </a:p>
          <a:p>
            <a:r>
              <a:t>N2: Es una diferencia muy práctica que se nota en cuanto los coges. El cobre recocido viene blando y en rollo: lo doblas a mano, así que es ideal para tuberías vistas, empotradas o incluso enterradas, y en enterrado le pides milímetro y medio de espesor como mínimo. El cobre duro viene en barra rígida y no se dobla a mano; se une por soldadura o por press-fitting. ¿Y cómo se hacen los codos sin estropear el tubo? La regla de oro: se curva en frío, con una máquina o un muelle, pero sin aplastar el tubo. Si al doblar deformas el radio de curvatura y el tubo se ovala, le has reducido la sección por dentro y ya no vale, porque estrangulas el paso del gas. Doblar sí, aplastar 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uno un tubo de acero inoxidable con uno de cobre, ¿pasa algo?</a:t>
            </a:r>
          </a:p>
          <a:p>
            <a:r>
              <a:t>N2: Puede pasar, y por eso hay una regla. Cuando juntas dos metales distintos y hay algo de humedad, se genera corrosión galvánica: es como una pila diminuta que se va comiendo la unión con el tiempo hasta que gotea gas. Para evitarlo, la unión de inoxidable con cobre se hace con un manguito de cuproníquel, que hace de árbitro entre los dos metales. La regla es sencilla: iguales con su mismo metal, inox con inox y cobre con cobre; y distintos, inox con cobre, con manguito de cuproníquel. Además, para unir por press-fitting los tubos deben tener el mismo diámetro exterior, pared mínima de un milímetro, y el inoxidable tiene que ser de la serie dos, que es la homologada para gas. Y algo muy útil: el press-fitting vale dentro y fuera hasta cinco bar, y sustituye a la soldadura fuerte por capilaridad.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Juntas un tubo de acero inoxidable con uno de cobre; si no eliges bien la unión, aparece corrosión. La pregunta: ¿qué manguito se emplea para esa unión? Opción A, de cuproníquel, es decir cobre-níquel. Opción B, de cobre. Opción C, de acero inoxidable. Opción D, de latón. Piensa cuál evita que se coman la unión.</a:t>
            </a:r>
          </a:p>
          <a:p>
            <a:r>
              <a:t>N2: Pista: es un metal intermedio que hace de árbitro entre los dos; cobre más níquel.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el manguito de cuproníquel. Cuando juntas dos metales distintos y hay humedad, se forma una pila diminuta que se va comiendo la unión: es la corrosión galvánica. El cuproníquel media entre el inoxidable y el cobre y la frena. El truco: iguales, con su mismo metal, inox con inox y cobre con cobre; distintos, inox con cobre, con manguito de cuproníquel.</a:t>
            </a:r>
          </a:p>
          <a:p>
            <a:r>
              <a:t>N1: Cuproníquel, el árbitro entre los dos metales.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si un multicapa es apto para ir por fuera?</a:t>
            </a:r>
          </a:p>
          <a:p>
            <a:r>
              <a:t>N2: Por el color y por su resistencia. El multicapa de exterior tiene que aguantar los rayos ultravioleta del sol, porque si no, el plástico se degrada; lo normal es que sea negro con tres líneas amarillas a lo largo, que es la señal de que es gas, aunque también hay amarillo homologado para fuera. El de interior suele ser amarillo. Los dos se pueden pintar, por ejemplo para que peguen con la fachada, pero solo con pinturas acrílicas sin disolventes, porque los disolventes atacan el plástico; y si lo pintas, tienes que dejar marcas claras y permanentes de que ese tubo es de gas, los llamados testigos de gas, para que nadie lo confunda con otra instalación. Los accesorios, además, van marcados con una señal amarilla. Todo esto es para que, dentro de muchos años, quien abra la pared sepa a la primera que eso lleva gas.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el limitador de temperatura de la cocina si va con multicapa?</a:t>
            </a:r>
          </a:p>
          <a:p>
            <a:r>
              <a:t>N2: Grábate estos dos números en pareja, porque van juntos en la llave de la cocina cuando la instalación es de multicapa: caudal de un metro cúbico con seis por hora y temperatura de noventa y seis grados. El de caudal evita que se dispare el consumo si hay una rotura. Y el de temperatura es una seguridad extra pensada para el plástico: si el multicapa se calienta demasiado, por ejemplo por un conato de incendio cerca, el limitador corta el gas antes de que el plástico llegue a fallar. Un tubo metálico aguanta el calor; el multicapa no tanto, y por eso lleva ese seguro. Añade dos datos: cada instalación individual lleva su limitador de caudal, siempre montado por fuera de la vivienda, y el corrugado inoxidable no puede pasar de medio bar y va con uniones roscadas. No lo mandes a más presión.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¿Todas las vainas hacen lo mismo?</a:t>
            </a:r>
          </a:p>
          <a:p>
            <a:r>
              <a:t>N2: No, y esta es de las que más se confunden. Una vaina puede estar por dos motivos muy distintos. El primero es protección mecánica: que nadie le pegue un golpe al tubo. Por eso se protege en zonas de paso o estacionamiento de vehículos, en garajes, y en la vía pública hasta un metro con ochenta de altura, que es hasta donde llega la gente y los golpes. El segundo motivo es ventilación: que si hay una fuga, el gas no se quede escondido. Por eso se envaina y se ventila en falsos techos, altillos, huecos de la edificación y locales a los que no suministra ese gas. Fíjate que no es lo mismo blindar el tubo que airearlo. Y en ambos casos, dos requisitos: la vaina debe ser continua en todo su recorrido y no puede llevar dentro ningún órgano de maniobra, ninguna llave.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espesores hay que recordar de las vainas y conductos?</a:t>
            </a:r>
          </a:p>
          <a:p>
            <a:r>
              <a:t>N2: Dos espesores que caen fijo. Cuando el conducto es de obra, o sea de albañilería, el espesor mínimo son cinco centímetros. Cuando el conducto es de acero, el mínimo es un milímetro y medio. Y hay una condición extra en los casos delicados, que son los sótanos y la ventilación: ahí el material tiene que garantizar la estanqueidad, porque no quieres que el gas se escape del conducto al recinto que atraviesa. Un par de detalles finos: si la vaina es metálica, no puede estar en contacto ni con las estructuras metálicas del edificio ni con otras tuberías, para que no se genere corrosión por contacto, y tiene que ser compatible con el material del tubo. Y cuando su función es ventilar, la vaina tiene que respirar por sus dos extremos al exterior; si solo respira por uno, el otro va sellado al propio tubo, para que el gas solo pueda salir por la boca buena.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material va cada vaina y cada conducto?</a:t>
            </a:r>
          </a:p>
          <a:p>
            <a:r>
              <a:t>N2: La tabla cruza la función con el material. Quédate con dos espesores que caen: cuando el conducto es de obra, mínimo cinco centímetros; cuando es de acero, mínimo un milímetro y medio. Las vainas suelen ser metálicas, salvo en sótanos, donde el conducto es de obra. Y ojo al asterisco: en ventilación y en sótanos el material tiene que asegurar la estanqueidad, porque ahí no quieres que el gas se escape del conducto al recinto. Para ventilación también valen plásticos rígidos que mantengan la forma, al menos tres veces su diámetro de radio de curvatura. Ejemplo de obra: para proteger un tubo en un garaje usas vaina metálica; si lo empotras en el suelo, conducto de obra de cinco centímetros como mínimo.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 tan importante la prueba de estanqueidad?</a:t>
            </a:r>
          </a:p>
          <a:p>
            <a:r>
              <a:t>N2: Porque es el examen final del tubo antes de meterle gas. Toda instalación nueva se somete a una prueba de estanqueidad con resultado satisfactorio, siguiendo la parte ocho de la norma UNE sesenta mil seiscientos setenta, y se hace antes de la puesta en servicio, no después. La idea es sencilla: metes presión en la instalación y compruebas que no pierde ni una burbuja durante un tiempo. Estanqueidad, precisamente, quiere decir eso: que no se escapa nada. Un detalle práctico: no se prueban ni los conjuntos de regulación ni los contadores, porque son aparatos que la presión de prueba podría dañar; se prueba el tubo. Y el resultado de esta prueba es justo lo que respalda el certificado de instalación que luego firmas y entregas a la distribuidora para que te den el gas. Sin prueba satisfactoria, no hay puesta en servicio.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depende el tiempo que hay que mantener la prueba?</a:t>
            </a:r>
          </a:p>
          <a:p>
            <a:r>
              <a:t>N2: Depende de la presión de la instalación y de su tamaño. Quédate primero con la escalera de tiempos base, de más a menos presión: de dos a cinco bar, sesenta minutos; de cuatro décimas a dos bar, treinta minutos; de cinco centésimas a cuatro décimas, treinta minutos; y baja presión, hasta cinco centésimas, quince minutos. Sobre esa base hay recortes cuando el tramo es corto: una instalación individual de menos de veinte metros baja a treinta minutos en alta; menos de quince metros, quince minutos; menos de diez metros, diez minutos. Y al revés: cuando la instalación es grande, de mucho caudal, la prueba se dispara a seis horas o veinticuatro horas, y entonces hay que registrar la presión y la temperatura, porque el propio calor cambia la presión y hay que descontarlo. Más presión y más tamaño, más tiempo de prueba.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 tiempo hay que mantener la prueba de estanqueidad?</a:t>
            </a:r>
          </a:p>
          <a:p>
            <a:r>
              <a:t>N2: Depende de la presión y del tamaño de la instalación. Eme o pe es la presión máxima de operación, la de trabajo. Quédate con la escalera de tiempos base, de más a menos presión: de dos a cinco bar, sesenta minutos; de cuatro décimas a dos bar, treinta minutos; de cinco centésimas a cuatro décimas, treinta minutos, que bajan a quince si el tramo es menor de quince metros; y baja presión, hasta cinco centésimas, quince minutos, que bajan a diez si el tramo es menor de diez metros. La presión de prueba siempre es mayor que la de trabajo: por ejemplo, más de siete bar cuando la operación es de dos a cinco. Y cuando la instalación es grande, de más de ciento cincuenta metros cúbicos hora, la prueba se dispara a seis o veinticuatro horas registrando presión y temperatura. Ejemplo de obra: una individual de baja presión de menos de diez metros la pruebas diez minutos.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la escalera de tiempos de la prueba de estanqueidad. Para la presión más alta de la tabla, una eme o pe de dos a cinco bar, y caudal bajo, de hasta ciento cincuenta metros cúbicos hora, la pregunta: ¿cuánto tiempo mantienes la prueba? Opción A, sesenta minutos. Opción B, treinta minutos. Opción C, quince minutos. Opción D, seis horas. Piénsalo.</a:t>
            </a:r>
          </a:p>
          <a:p>
            <a:r>
              <a:t>N2: Pista: a más presión, más tiempo; es el escalón más alto de todos.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sesenta minutos. Es el tramo de mayor presión de la tabla, y cuanta más presión, más tiempo de prueba para cazar una microfuga. El truco de la escalera base, de más a menos presión, es sesenta, treinta, treinta y quince minutos. Cuidado con la opción D, seis horas: esa es para caudales grandes, de más de ciento cincuenta metros cúbicos hora, y con registro de presión y temperatura; aquí el caudal es bajo.</a:t>
            </a:r>
          </a:p>
          <a:p>
            <a:r>
              <a:t>N1: Sesenta minutos, el escalón más alto.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¿Puedo usar cualquier manómetro para la prueba?</a:t>
            </a:r>
          </a:p>
          <a:p>
            <a:r>
              <a:t>N2: No, el manómetro se elige según la presión que vas a medir, no a ojo. Dos ideas prácticas. Primera: la aguja debe trabajar entre el treinta y cinco y el setenta y cinco por ciento de la escala; ni pegada al cero ni al tope, porque en los extremos el manómetro miente. Y a más presión, esfera más grande y clase más fina, que quiere decir más preciso. En baja presión de verdad, el rey sigue siendo la columna de agua en forma de U: es barata, fiable y no tiene trampa. Segunda idea, muy importante: si en el tramo hay aparatos delicados, como electroválvulas, cartuchos de filtro o manómetros finos, la presión de prueba, que es alta, los puede reventar. Así que se desmontan, se prueba el tubo desnudo, y luego se vuelven a montar y se comprueba la estanqueidad a la presión de trabajo, la MOP, no a la de prueba. El tubo se prueba fuerte; los aparatos delicados, a su presión. Y siempre, además, se mira cada soldadura: tiene que verse el material de aportación y las roscas bien apretadas.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manómetro elijo según la presión?</a:t>
            </a:r>
          </a:p>
          <a:p>
            <a:r>
              <a:t>N2: La tabla te da el rango del manómetro según el tipo de presión. Para media presión A, un manómetro de cero a uno coma seis bar; para media presión B de cuatro décimas a dos bar, de cero a seis bar; y para media presión B de dos a cinco bar, de cero a diez bar. La idea de fondo: el manómetro tiene que estar en su rango para que la aguja trabaje en su zona buena, ni pegada al cero ni al tope, donde miente. Ejemplo de obra: si pruebas un tramo de media presión B de cinco bar, coges el manómetro de cero a diez, no el de baja, que se te iría de escala.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 sido denso. ¿Cómo lo ato todo para que no se me escape?</a:t>
            </a:r>
          </a:p>
          <a:p>
            <a:r>
              <a:t>N2: Vamos a reconstruirlo siguiendo el propio tubo, que es como mejor se entiende. Primero lo trazas: separado tres centímetros de agua, electricidad, vapor, chimeneas y suelo, y jamás por sitios donde una fuga se vuelve incendio, como ascensores, bajantes, chimeneas o cuartos de transformador. Luego lo montas con el material correcto: cada tubería con su norma, cobre recocido para doblar, duro para soldar o prensar, y curvando en frío sin aplastar. Lo unes bien: soldadura blanda hasta cinco centésimas de bar y fuerte por encima, o press-fitting hasta cinco bar, con manguito de cuproníquel cuando juntas inox y cobre para que no se corroan. Lo proteges o lo ventilas con vainas continuas, distinguiendo blindar de airear. Y por último lo examinas: la prueba de estanqueidad de la parte ocho de la norma, con sus tiempos según presión y tamaño, el manómetro trabajando en su zona buena, y los aparatos delicados desmontados. En el examen te preguntarán una distancia, una soldadura o un tiempo de prueba; en la obra, cada uno de estos pasos es lo que hace que tu instalación pase la puesta en servicio. Hoy dominas el corazón del oficio: el tubo ya no se te resiste. En el último vídeo cerramos la guía con lo que más vidas salva: darle aire al aparato, sacarle los humos y rellenar los papeles. Vamos allá.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Gas a la primera</a:t>
            </a:r>
          </a:p>
          <a:p>
            <a:r>
              <a:rPr sz="2200" b="0" i="0">
                <a:solidFill>
                  <a:srgbClr val="CADCFC"/>
                </a:solidFill>
                <a:latin typeface="Montserrat"/>
              </a:rPr>
              <a:t>Tuberías, materiales, vainas y pruebas de estanqueidad</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17 · Guía práctica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3 cm</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separación mínima a otras conducciones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0,05 bar</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frontera entre soldadura blanda y fuerte</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5 bar</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presión máxima del press-fitting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Trazado de tuberías</a:t>
            </a:r>
          </a:p>
          <a:p>
            <a:pPr>
              <a:spcAft>
                <a:spcPts val="900"/>
              </a:spcAft>
            </a:pPr>
            <a:r>
              <a:rPr sz="1800" b="1" i="0">
                <a:solidFill>
                  <a:srgbClr val="E8801A"/>
                </a:solidFill>
                <a:latin typeface="Montserrat"/>
              </a:rPr>
              <a:t>02   </a:t>
            </a:r>
            <a:r>
              <a:rPr sz="1700" b="0" i="0">
                <a:solidFill>
                  <a:srgbClr val="1B2330"/>
                </a:solidFill>
                <a:latin typeface="Montserrat"/>
              </a:rPr>
              <a:t>Materiales y accesorios</a:t>
            </a:r>
          </a:p>
          <a:p>
            <a:pPr>
              <a:spcAft>
                <a:spcPts val="900"/>
              </a:spcAft>
            </a:pPr>
            <a:r>
              <a:rPr sz="1800" b="1" i="0">
                <a:solidFill>
                  <a:srgbClr val="E8801A"/>
                </a:solidFill>
                <a:latin typeface="Montserrat"/>
              </a:rPr>
              <a:t>03   </a:t>
            </a:r>
            <a:r>
              <a:rPr sz="1700" b="0" i="0">
                <a:solidFill>
                  <a:srgbClr val="1B2330"/>
                </a:solidFill>
                <a:latin typeface="Montserrat"/>
              </a:rPr>
              <a:t>Materiales y normas</a:t>
            </a:r>
          </a:p>
          <a:p>
            <a:pPr>
              <a:spcAft>
                <a:spcPts val="900"/>
              </a:spcAft>
            </a:pPr>
            <a:r>
              <a:rPr sz="1800" b="1" i="0">
                <a:solidFill>
                  <a:srgbClr val="E8801A"/>
                </a:solidFill>
                <a:latin typeface="Montserrat"/>
              </a:rPr>
              <a:t>04   </a:t>
            </a:r>
            <a:r>
              <a:rPr sz="1700" b="0" i="0">
                <a:solidFill>
                  <a:srgbClr val="1B2330"/>
                </a:solidFill>
                <a:latin typeface="Montserrat"/>
              </a:rPr>
              <a:t>Tipos de tubería</a:t>
            </a:r>
          </a:p>
          <a:p>
            <a:pPr>
              <a:spcAft>
                <a:spcPts val="900"/>
              </a:spcAft>
            </a:pPr>
            <a:r>
              <a:rPr sz="1800" b="1" i="0">
                <a:solidFill>
                  <a:srgbClr val="E8801A"/>
                </a:solidFill>
                <a:latin typeface="Montserrat"/>
              </a:rPr>
              <a:t>05   </a:t>
            </a:r>
            <a:r>
              <a:rPr sz="1700" b="0" i="0">
                <a:solidFill>
                  <a:srgbClr val="1B2330"/>
                </a:solidFill>
                <a:latin typeface="Montserrat"/>
              </a:rPr>
              <a:t>Uniones mecánicas</a:t>
            </a:r>
          </a:p>
          <a:p>
            <a:pPr>
              <a:spcAft>
                <a:spcPts val="900"/>
              </a:spcAft>
            </a:pPr>
            <a:r>
              <a:rPr sz="1800" b="1" i="0">
                <a:solidFill>
                  <a:srgbClr val="E8801A"/>
                </a:solidFill>
                <a:latin typeface="Montserrat"/>
              </a:rPr>
              <a:t>06   </a:t>
            </a:r>
            <a:r>
              <a:rPr sz="1700" b="0" i="0">
                <a:solidFill>
                  <a:srgbClr val="1B2330"/>
                </a:solidFill>
                <a:latin typeface="Montserrat"/>
              </a:rPr>
              <a:t>Tubo multicapa</a:t>
            </a:r>
          </a:p>
          <a:p>
            <a:pPr>
              <a:spcAft>
                <a:spcPts val="900"/>
              </a:spcAft>
            </a:pPr>
            <a:r>
              <a:rPr sz="1800" b="1" i="0">
                <a:solidFill>
                  <a:srgbClr val="E8801A"/>
                </a:solidFill>
                <a:latin typeface="Montserrat"/>
              </a:rPr>
              <a:t>07   </a:t>
            </a:r>
            <a:r>
              <a:rPr sz="1700" b="0" i="0">
                <a:solidFill>
                  <a:srgbClr val="1B2330"/>
                </a:solidFill>
                <a:latin typeface="Montserrat"/>
              </a:rPr>
              <a:t>Limitadores</a:t>
            </a:r>
          </a:p>
          <a:p>
            <a:pPr>
              <a:spcAft>
                <a:spcPts val="900"/>
              </a:spcAft>
            </a:pPr>
            <a:r>
              <a:rPr sz="1800" b="1" i="0">
                <a:solidFill>
                  <a:srgbClr val="E8801A"/>
                </a:solidFill>
                <a:latin typeface="Montserrat"/>
              </a:rPr>
              <a:t>08   </a:t>
            </a:r>
            <a:r>
              <a:rPr sz="1700" b="0" i="0">
                <a:solidFill>
                  <a:srgbClr val="1B2330"/>
                </a:solidFill>
                <a:latin typeface="Montserrat"/>
              </a:rPr>
              <a:t>Vainas y conductos</a:t>
            </a:r>
          </a:p>
          <a:p>
            <a:pPr>
              <a:spcAft>
                <a:spcPts val="900"/>
              </a:spcAft>
            </a:pPr>
            <a:r>
              <a:rPr sz="1800" b="1" i="0">
                <a:solidFill>
                  <a:srgbClr val="E8801A"/>
                </a:solidFill>
                <a:latin typeface="Montserrat"/>
              </a:rPr>
              <a:t>09   </a:t>
            </a:r>
            <a:r>
              <a:rPr sz="1700" b="0" i="0">
                <a:solidFill>
                  <a:srgbClr val="1B2330"/>
                </a:solidFill>
                <a:latin typeface="Montserrat"/>
              </a:rPr>
              <a:t>Prueba de estanqueidad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TRAZADO DE TUBERÍAS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«3 cm para todo»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Tubería fijada a elementos sólidos</a:t>
            </a:r>
          </a:p>
          <a:p>
            <a:pPr>
              <a:spcAft>
                <a:spcPts val="1100"/>
              </a:spcAft>
            </a:pPr>
            <a:r>
              <a:rPr sz="1600" b="1" i="0">
                <a:solidFill>
                  <a:srgbClr val="E8801A"/>
                </a:solidFill>
                <a:latin typeface="Montserrat"/>
              </a:rPr>
              <a:t>▸  </a:t>
            </a:r>
            <a:r>
              <a:rPr sz="1600" b="0" i="0">
                <a:solidFill>
                  <a:srgbClr val="1B2330"/>
                </a:solidFill>
                <a:latin typeface="Montserrat"/>
              </a:rPr>
              <a:t>3 cm a agua, electricidad y vapor</a:t>
            </a:r>
          </a:p>
          <a:p>
            <a:pPr>
              <a:spcAft>
                <a:spcPts val="1100"/>
              </a:spcAft>
            </a:pPr>
            <a:r>
              <a:rPr sz="1600" b="1" i="0">
                <a:solidFill>
                  <a:srgbClr val="E8801A"/>
                </a:solidFill>
                <a:latin typeface="Montserrat"/>
              </a:rPr>
              <a:t>▸  </a:t>
            </a:r>
            <a:r>
              <a:rPr sz="1600" b="0" i="0">
                <a:solidFill>
                  <a:srgbClr val="1B2330"/>
                </a:solidFill>
                <a:latin typeface="Montserrat"/>
              </a:rPr>
              <a:t>3 cm a chimeneas y al suelo</a:t>
            </a:r>
          </a:p>
          <a:p>
            <a:pPr>
              <a:spcAft>
                <a:spcPts val="1100"/>
              </a:spcAft>
            </a:pPr>
            <a:r>
              <a:rPr sz="1600" b="1" i="0">
                <a:solidFill>
                  <a:srgbClr val="E8801A"/>
                </a:solidFill>
                <a:latin typeface="Montserrat"/>
              </a:rPr>
              <a:t>▸  </a:t>
            </a:r>
            <a:r>
              <a:rPr sz="1600" b="0" i="0">
                <a:solidFill>
                  <a:srgbClr val="1B2330"/>
                </a:solidFill>
                <a:latin typeface="Montserrat"/>
              </a:rPr>
              <a:t>Si no llegas: protege el tubo</a:t>
            </a:r>
          </a:p>
        </p:txBody>
      </p:sp>
      <p:sp>
        <p:nvSpPr>
          <p:cNvPr id="9" name="imgph" descr="IMGQ:copper gas pipe on wall with clamp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on wall with clamps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TRAZADO DE TUBERÍAS</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Distancias mínimas de una tubería de gas vista</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670560">
                <a:tc>
                  <a:txBody>
                    <a:bodyPr/>
                    <a:lstStyle/>
                    <a:p>
                      <a:r>
                        <a:rPr sz="1200" b="1" i="0">
                          <a:solidFill>
                            <a:srgbClr val="FFFFFF"/>
                          </a:solidFill>
                          <a:latin typeface="Montserrat"/>
                        </a:rPr>
                        <a:t>Elemento</a:t>
                      </a:r>
                    </a:p>
                  </a:txBody>
                  <a:tcPr>
                    <a:solidFill>
                      <a:srgbClr val="1E2761"/>
                    </a:solidFill>
                  </a:tcPr>
                </a:tc>
                <a:tc>
                  <a:txBody>
                    <a:bodyPr/>
                    <a:lstStyle/>
                    <a:p>
                      <a:r>
                        <a:rPr sz="1200" b="1" i="0">
                          <a:solidFill>
                            <a:srgbClr val="FFFFFF"/>
                          </a:solidFill>
                          <a:latin typeface="Montserrat"/>
                        </a:rPr>
                        <a:t>Curso paralelo</a:t>
                      </a:r>
                    </a:p>
                  </a:txBody>
                  <a:tcPr>
                    <a:solidFill>
                      <a:srgbClr val="1E2761"/>
                    </a:solidFill>
                  </a:tcPr>
                </a:tc>
                <a:tc>
                  <a:txBody>
                    <a:bodyPr/>
                    <a:lstStyle/>
                    <a:p>
                      <a:r>
                        <a:rPr sz="1200" b="1" i="0">
                          <a:solidFill>
                            <a:srgbClr val="FFFFFF"/>
                          </a:solidFill>
                          <a:latin typeface="Montserrat"/>
                        </a:rPr>
                        <a:t>Cruce</a:t>
                      </a:r>
                    </a:p>
                  </a:txBody>
                  <a:tcPr>
                    <a:solidFill>
                      <a:srgbClr val="1E2761"/>
                    </a:solidFill>
                  </a:tcPr>
                </a:tc>
              </a:tr>
              <a:tr h="670560">
                <a:tc>
                  <a:txBody>
                    <a:bodyPr/>
                    <a:lstStyle/>
                    <a:p>
                      <a:r>
                        <a:rPr sz="1200" b="0" i="0">
                          <a:solidFill>
                            <a:srgbClr val="1B2330"/>
                          </a:solidFill>
                          <a:latin typeface="Montserrat"/>
                        </a:rPr>
                        <a:t>Conducción de agua</a:t>
                      </a:r>
                    </a:p>
                  </a:txBody>
                  <a:tcPr>
                    <a:solidFill>
                      <a:srgbClr val="F6F8FC"/>
                    </a:solidFill>
                  </a:tcPr>
                </a:tc>
                <a:tc>
                  <a:txBody>
                    <a:bodyPr/>
                    <a:lstStyle/>
                    <a:p>
                      <a:r>
                        <a:rPr sz="1200" b="0" i="0">
                          <a:solidFill>
                            <a:srgbClr val="1B2330"/>
                          </a:solidFill>
                          <a:latin typeface="Montserrat"/>
                        </a:rPr>
                        <a:t>3 cm</a:t>
                      </a:r>
                    </a:p>
                  </a:txBody>
                  <a:tcPr>
                    <a:solidFill>
                      <a:srgbClr val="F6F8FC"/>
                    </a:solidFill>
                  </a:tcPr>
                </a:tc>
                <a:tc>
                  <a:txBody>
                    <a:bodyPr/>
                    <a:lstStyle/>
                    <a:p>
                      <a:r>
                        <a:rPr sz="1200" b="0" i="0">
                          <a:solidFill>
                            <a:srgbClr val="1B2330"/>
                          </a:solidFill>
                          <a:latin typeface="Montserrat"/>
                        </a:rPr>
                        <a:t>3 cm</a:t>
                      </a:r>
                    </a:p>
                  </a:txBody>
                  <a:tcPr>
                    <a:solidFill>
                      <a:srgbClr val="F6F8FC"/>
                    </a:solidFill>
                  </a:tcPr>
                </a:tc>
              </a:tr>
              <a:tr h="670560">
                <a:tc>
                  <a:txBody>
                    <a:bodyPr/>
                    <a:lstStyle/>
                    <a:p>
                      <a:r>
                        <a:rPr sz="1200" b="0" i="0">
                          <a:solidFill>
                            <a:srgbClr val="1B2330"/>
                          </a:solidFill>
                          <a:latin typeface="Montserrat"/>
                        </a:rPr>
                        <a:t>Conducción eléctrica</a:t>
                      </a:r>
                    </a:p>
                  </a:txBody>
                  <a:tcPr>
                    <a:solidFill>
                      <a:srgbClr val="FFFFFF"/>
                    </a:solidFill>
                  </a:tcPr>
                </a:tc>
                <a:tc>
                  <a:txBody>
                    <a:bodyPr/>
                    <a:lstStyle/>
                    <a:p>
                      <a:r>
                        <a:rPr sz="1200" b="0" i="0">
                          <a:solidFill>
                            <a:srgbClr val="1B2330"/>
                          </a:solidFill>
                          <a:latin typeface="Montserrat"/>
                        </a:rPr>
                        <a:t>3 cm</a:t>
                      </a:r>
                    </a:p>
                  </a:txBody>
                  <a:tcPr>
                    <a:solidFill>
                      <a:srgbClr val="FFFFFF"/>
                    </a:solidFill>
                  </a:tcPr>
                </a:tc>
                <a:tc>
                  <a:txBody>
                    <a:bodyPr/>
                    <a:lstStyle/>
                    <a:p>
                      <a:r>
                        <a:rPr sz="1200" b="0" i="0">
                          <a:solidFill>
                            <a:srgbClr val="1B2330"/>
                          </a:solidFill>
                          <a:latin typeface="Montserrat"/>
                        </a:rPr>
                        <a:t>3 cm</a:t>
                      </a:r>
                    </a:p>
                  </a:txBody>
                  <a:tcPr>
                    <a:solidFill>
                      <a:srgbClr val="FFFFFF"/>
                    </a:solidFill>
                  </a:tcPr>
                </a:tc>
              </a:tr>
              <a:tr h="670560">
                <a:tc>
                  <a:txBody>
                    <a:bodyPr/>
                    <a:lstStyle/>
                    <a:p>
                      <a:r>
                        <a:rPr sz="1200" b="0" i="0">
                          <a:solidFill>
                            <a:srgbClr val="1B2330"/>
                          </a:solidFill>
                          <a:latin typeface="Montserrat"/>
                        </a:rPr>
                        <a:t>Conducción de vapor</a:t>
                      </a:r>
                    </a:p>
                  </a:txBody>
                  <a:tcPr>
                    <a:solidFill>
                      <a:srgbClr val="F6F8FC"/>
                    </a:solidFill>
                  </a:tcPr>
                </a:tc>
                <a:tc>
                  <a:txBody>
                    <a:bodyPr/>
                    <a:lstStyle/>
                    <a:p>
                      <a:r>
                        <a:rPr sz="1200" b="0" i="0">
                          <a:solidFill>
                            <a:srgbClr val="1B2330"/>
                          </a:solidFill>
                          <a:latin typeface="Montserrat"/>
                        </a:rPr>
                        <a:t>3 cm</a:t>
                      </a:r>
                    </a:p>
                  </a:txBody>
                  <a:tcPr>
                    <a:solidFill>
                      <a:srgbClr val="F6F8FC"/>
                    </a:solidFill>
                  </a:tcPr>
                </a:tc>
                <a:tc>
                  <a:txBody>
                    <a:bodyPr/>
                    <a:lstStyle/>
                    <a:p>
                      <a:r>
                        <a:rPr sz="1200" b="0" i="0">
                          <a:solidFill>
                            <a:srgbClr val="1B2330"/>
                          </a:solidFill>
                          <a:latin typeface="Montserrat"/>
                        </a:rPr>
                        <a:t>3 cm</a:t>
                      </a:r>
                    </a:p>
                  </a:txBody>
                  <a:tcPr>
                    <a:solidFill>
                      <a:srgbClr val="F6F8FC"/>
                    </a:solidFill>
                  </a:tcPr>
                </a:tc>
              </a:tr>
              <a:tr h="670560">
                <a:tc>
                  <a:txBody>
                    <a:bodyPr/>
                    <a:lstStyle/>
                    <a:p>
                      <a:r>
                        <a:rPr sz="1200" b="0" i="0">
                          <a:solidFill>
                            <a:srgbClr val="1B2330"/>
                          </a:solidFill>
                          <a:latin typeface="Montserrat"/>
                        </a:rPr>
                        <a:t>Chimeneas</a:t>
                      </a:r>
                    </a:p>
                  </a:txBody>
                  <a:tcPr>
                    <a:solidFill>
                      <a:srgbClr val="FFFFFF"/>
                    </a:solidFill>
                  </a:tcPr>
                </a:tc>
                <a:tc>
                  <a:txBody>
                    <a:bodyPr/>
                    <a:lstStyle/>
                    <a:p>
                      <a:r>
                        <a:rPr sz="1200" b="0" i="0">
                          <a:solidFill>
                            <a:srgbClr val="1B2330"/>
                          </a:solidFill>
                          <a:latin typeface="Montserrat"/>
                        </a:rPr>
                        <a:t>3 cm</a:t>
                      </a:r>
                    </a:p>
                  </a:txBody>
                  <a:tcPr>
                    <a:solidFill>
                      <a:srgbClr val="FFFFFF"/>
                    </a:solidFill>
                  </a:tcPr>
                </a:tc>
                <a:tc>
                  <a:txBody>
                    <a:bodyPr/>
                    <a:lstStyle/>
                    <a:p>
                      <a:r>
                        <a:rPr sz="1200" b="0" i="0">
                          <a:solidFill>
                            <a:srgbClr val="1B2330"/>
                          </a:solidFill>
                          <a:latin typeface="Montserrat"/>
                        </a:rPr>
                        <a:t>3 cm</a:t>
                      </a:r>
                    </a:p>
                  </a:txBody>
                  <a:tcPr>
                    <a:solidFill>
                      <a:srgbClr val="FFFFFF"/>
                    </a:solidFill>
                  </a:tcPr>
                </a:tc>
              </a:tr>
              <a:tr h="670560">
                <a:tc>
                  <a:txBody>
                    <a:bodyPr/>
                    <a:lstStyle/>
                    <a:p>
                      <a:r>
                        <a:rPr sz="1200" b="0" i="0">
                          <a:solidFill>
                            <a:srgbClr val="1B2330"/>
                          </a:solidFill>
                          <a:latin typeface="Montserrat"/>
                        </a:rPr>
                        <a:t>Suelo</a:t>
                      </a:r>
                    </a:p>
                  </a:txBody>
                  <a:tcPr>
                    <a:solidFill>
                      <a:srgbClr val="F6F8FC"/>
                    </a:solidFill>
                  </a:tcPr>
                </a:tc>
                <a:tc>
                  <a:txBody>
                    <a:bodyPr/>
                    <a:lstStyle/>
                    <a:p>
                      <a:r>
                        <a:rPr sz="1200" b="0" i="0">
                          <a:solidFill>
                            <a:srgbClr val="1B2330"/>
                          </a:solidFill>
                          <a:latin typeface="Montserrat"/>
                        </a:rPr>
                        <a:t>3 cm</a:t>
                      </a:r>
                    </a:p>
                  </a:txBody>
                  <a:tcPr>
                    <a:solidFill>
                      <a:srgbClr val="F6F8FC"/>
                    </a:solidFill>
                  </a:tcPr>
                </a:tc>
                <a:tc>
                  <a:txBody>
                    <a:bodyPr/>
                    <a:lstStyle/>
                    <a:p>
                      <a:r>
                        <a:rPr sz="1200" b="0" i="0">
                          <a:solidFill>
                            <a:srgbClr val="1B2330"/>
                          </a:solidFill>
                          <a:latin typeface="Montserrat"/>
                        </a:rPr>
                        <a:t>—</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Separación mínima del tubo de gas a otras conducciones: 3 cm en todo, en paralelo y en cruce; suelo en cruce no aplica.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TRAZADO DE TUBERÍAS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Por dónde no pasa el tubo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Huecos de ascensor y montacargas</a:t>
            </a:r>
          </a:p>
          <a:p>
            <a:pPr>
              <a:spcAft>
                <a:spcPts val="1100"/>
              </a:spcAft>
            </a:pPr>
            <a:r>
              <a:rPr sz="1600" b="1" i="0">
                <a:solidFill>
                  <a:srgbClr val="E8801A"/>
                </a:solidFill>
                <a:latin typeface="Montserrat"/>
              </a:rPr>
              <a:t>▸  </a:t>
            </a:r>
            <a:r>
              <a:rPr sz="1600" b="0" i="0">
                <a:solidFill>
                  <a:srgbClr val="1B2330"/>
                </a:solidFill>
                <a:latin typeface="Montserrat"/>
              </a:rPr>
              <a:t>Bajantes de basura y chimeneas</a:t>
            </a:r>
          </a:p>
          <a:p>
            <a:pPr>
              <a:spcAft>
                <a:spcPts val="1100"/>
              </a:spcAft>
            </a:pPr>
            <a:r>
              <a:rPr sz="1600" b="1" i="0">
                <a:solidFill>
                  <a:srgbClr val="E8801A"/>
                </a:solidFill>
                <a:latin typeface="Montserrat"/>
              </a:rPr>
              <a:t>▸  </a:t>
            </a:r>
            <a:r>
              <a:rPr sz="1600" b="0" i="0">
                <a:solidFill>
                  <a:srgbClr val="1B2330"/>
                </a:solidFill>
                <a:latin typeface="Montserrat"/>
              </a:rPr>
              <a:t>Transformadores y combustibles líquidos</a:t>
            </a:r>
          </a:p>
          <a:p>
            <a:pPr>
              <a:spcAft>
                <a:spcPts val="1100"/>
              </a:spcAft>
            </a:pPr>
            <a:r>
              <a:rPr sz="1600" b="1" i="0">
                <a:solidFill>
                  <a:srgbClr val="E8801A"/>
                </a:solidFill>
                <a:latin typeface="Montserrat"/>
              </a:rPr>
              <a:t>▸  </a:t>
            </a:r>
            <a:r>
              <a:rPr sz="1600" b="0" i="0">
                <a:solidFill>
                  <a:srgbClr val="1B2330"/>
                </a:solidFill>
                <a:latin typeface="Montserrat"/>
              </a:rPr>
              <a:t>Bocas de ventilación (salvo envainado)</a:t>
            </a:r>
          </a:p>
        </p:txBody>
      </p:sp>
      <p:sp>
        <p:nvSpPr>
          <p:cNvPr id="9" name="imgph" descr="IMGQ:elevator shaft inside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elevator shaft inside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Y ACCESORIOS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Soldadura: la frontera es la presión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Hasta 0,05 bar: soldadura blanda</a:t>
            </a:r>
          </a:p>
          <a:p>
            <a:pPr>
              <a:spcAft>
                <a:spcPts val="1100"/>
              </a:spcAft>
            </a:pPr>
            <a:r>
              <a:rPr sz="1600" b="1" i="0">
                <a:solidFill>
                  <a:srgbClr val="E8801A"/>
                </a:solidFill>
                <a:latin typeface="Montserrat"/>
              </a:rPr>
              <a:t>▸  </a:t>
            </a:r>
            <a:r>
              <a:rPr sz="1600" b="0" i="0">
                <a:solidFill>
                  <a:srgbClr val="1B2330"/>
                </a:solidFill>
                <a:latin typeface="Montserrat"/>
              </a:rPr>
              <a:t>Por encima de 0,05 bar: fuerte</a:t>
            </a:r>
          </a:p>
          <a:p>
            <a:pPr>
              <a:spcAft>
                <a:spcPts val="1100"/>
              </a:spcAft>
            </a:pPr>
            <a:r>
              <a:rPr sz="1600" b="1" i="0">
                <a:solidFill>
                  <a:srgbClr val="E8801A"/>
                </a:solidFill>
                <a:latin typeface="Montserrat"/>
              </a:rPr>
              <a:t>▸  </a:t>
            </a:r>
            <a:r>
              <a:rPr sz="1600" b="0" i="0">
                <a:solidFill>
                  <a:srgbClr val="1B2330"/>
                </a:solidFill>
                <a:latin typeface="Montserrat"/>
              </a:rPr>
              <a:t>Siempre fuerte en aparcamientos cerrados</a:t>
            </a:r>
          </a:p>
          <a:p>
            <a:pPr>
              <a:spcAft>
                <a:spcPts val="1100"/>
              </a:spcAft>
            </a:pPr>
            <a:r>
              <a:rPr sz="1600" b="1" i="0">
                <a:solidFill>
                  <a:srgbClr val="E8801A"/>
                </a:solidFill>
                <a:latin typeface="Montserrat"/>
              </a:rPr>
              <a:t>▸  </a:t>
            </a:r>
            <a:r>
              <a:rPr sz="1600" b="0" i="0">
                <a:solidFill>
                  <a:srgbClr val="1B2330"/>
                </a:solidFill>
                <a:latin typeface="Montserrat"/>
              </a:rPr>
              <a:t>Fuerte si cocina tipo A &gt; 30 kW</a:t>
            </a:r>
          </a:p>
        </p:txBody>
      </p:sp>
      <p:sp>
        <p:nvSpPr>
          <p:cNvPr id="9" name="imgph" descr="IMGQ:brazing copper pipe with torch flam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brazing copper pipe with torch flame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¿Por encima de qué presión se exige soldadura fuerte en tubería de cobre?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0,05 bar</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0,5 bar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5 bar</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0,4 bar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¿Por encima de qué presión se exige soldadura fuerte en tubería de cobre?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0,05 bar</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frontera es 0,05 bar: hasta ahí, soldadura blanda; por encima, fuerte. Además, siempre fuerte en aparcamientos cerrados y cocinas tipo A de más de 30 kW.</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Y NORMAS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material, con su norma UNE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Cobre: UNE-EN 1057</a:t>
            </a:r>
          </a:p>
          <a:p>
            <a:pPr>
              <a:spcAft>
                <a:spcPts val="1100"/>
              </a:spcAft>
            </a:pPr>
            <a:r>
              <a:rPr sz="1600" b="1" i="0">
                <a:solidFill>
                  <a:srgbClr val="E8801A"/>
                </a:solidFill>
                <a:latin typeface="Montserrat"/>
              </a:rPr>
              <a:t>▸  </a:t>
            </a:r>
            <a:r>
              <a:rPr sz="1600" b="0" i="0">
                <a:solidFill>
                  <a:srgbClr val="1B2330"/>
                </a:solidFill>
                <a:latin typeface="Montserrat"/>
              </a:rPr>
              <a:t>Multicapa: UNE 53008</a:t>
            </a:r>
          </a:p>
          <a:p>
            <a:pPr>
              <a:spcAft>
                <a:spcPts val="1100"/>
              </a:spcAft>
            </a:pPr>
            <a:r>
              <a:rPr sz="1600" b="1" i="0">
                <a:solidFill>
                  <a:srgbClr val="E8801A"/>
                </a:solidFill>
                <a:latin typeface="Montserrat"/>
              </a:rPr>
              <a:t>▸  </a:t>
            </a:r>
            <a:r>
              <a:rPr sz="1600" b="0" i="0">
                <a:solidFill>
                  <a:srgbClr val="1B2330"/>
                </a:solidFill>
                <a:latin typeface="Montserrat"/>
              </a:rPr>
              <a:t>Corrugado inox ≤ 0,5 bar: UNE-EN 15266</a:t>
            </a:r>
          </a:p>
          <a:p>
            <a:pPr>
              <a:spcAft>
                <a:spcPts val="1100"/>
              </a:spcAft>
            </a:pPr>
            <a:r>
              <a:rPr sz="1600" b="1" i="0">
                <a:solidFill>
                  <a:srgbClr val="E8801A"/>
                </a:solidFill>
                <a:latin typeface="Montserrat"/>
              </a:rPr>
              <a:t>▸  </a:t>
            </a:r>
            <a:r>
              <a:rPr sz="1600" b="0" i="0">
                <a:solidFill>
                  <a:srgbClr val="1B2330"/>
                </a:solidFill>
                <a:latin typeface="Montserrat"/>
              </a:rPr>
              <a:t>Llaves Dn&lt;50: UNE-EN 331</a:t>
            </a:r>
          </a:p>
        </p:txBody>
      </p:sp>
      <p:sp>
        <p:nvSpPr>
          <p:cNvPr id="9" name="imgph" descr="IMGQ:different metal pipes copper and stee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different metal pipes copper and steel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MATERIALES Y NORMAS</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Materiales de tubería y su norma UNE</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251460">
                <a:tc>
                  <a:txBody>
                    <a:bodyPr/>
                    <a:lstStyle/>
                    <a:p>
                      <a:r>
                        <a:rPr sz="1200" b="1" i="0">
                          <a:solidFill>
                            <a:srgbClr val="FFFFFF"/>
                          </a:solidFill>
                          <a:latin typeface="Montserrat"/>
                        </a:rPr>
                        <a:t>Material / elemento</a:t>
                      </a:r>
                    </a:p>
                  </a:txBody>
                  <a:tcPr>
                    <a:solidFill>
                      <a:srgbClr val="1E2761"/>
                    </a:solidFill>
                  </a:tcPr>
                </a:tc>
                <a:tc>
                  <a:txBody>
                    <a:bodyPr/>
                    <a:lstStyle/>
                    <a:p>
                      <a:r>
                        <a:rPr sz="1200" b="1" i="0">
                          <a:solidFill>
                            <a:srgbClr val="FFFFFF"/>
                          </a:solidFill>
                          <a:latin typeface="Montserrat"/>
                        </a:rPr>
                        <a:t>Norma UNE</a:t>
                      </a:r>
                    </a:p>
                  </a:txBody>
                  <a:tcPr>
                    <a:solidFill>
                      <a:srgbClr val="1E2761"/>
                    </a:solidFill>
                  </a:tcPr>
                </a:tc>
              </a:tr>
              <a:tr h="251460">
                <a:tc>
                  <a:txBody>
                    <a:bodyPr/>
                    <a:lstStyle/>
                    <a:p>
                      <a:r>
                        <a:rPr sz="1200" b="0" i="0">
                          <a:solidFill>
                            <a:srgbClr val="1B2330"/>
                          </a:solidFill>
                          <a:latin typeface="Montserrat"/>
                        </a:rPr>
                        <a:t>Tubo de cobre recocido</a:t>
                      </a:r>
                    </a:p>
                  </a:txBody>
                  <a:tcPr>
                    <a:solidFill>
                      <a:srgbClr val="F6F8FC"/>
                    </a:solidFill>
                  </a:tcPr>
                </a:tc>
                <a:tc>
                  <a:txBody>
                    <a:bodyPr/>
                    <a:lstStyle/>
                    <a:p>
                      <a:r>
                        <a:rPr sz="1200" b="0" i="0">
                          <a:solidFill>
                            <a:srgbClr val="1B2330"/>
                          </a:solidFill>
                          <a:latin typeface="Montserrat"/>
                        </a:rPr>
                        <a:t>UNE-EN 1057</a:t>
                      </a:r>
                    </a:p>
                  </a:txBody>
                  <a:tcPr>
                    <a:solidFill>
                      <a:srgbClr val="F6F8FC"/>
                    </a:solidFill>
                  </a:tcPr>
                </a:tc>
              </a:tr>
              <a:tr h="251460">
                <a:tc>
                  <a:txBody>
                    <a:bodyPr/>
                    <a:lstStyle/>
                    <a:p>
                      <a:r>
                        <a:rPr sz="1200" b="0" i="0">
                          <a:solidFill>
                            <a:srgbClr val="1B2330"/>
                          </a:solidFill>
                          <a:latin typeface="Montserrat"/>
                        </a:rPr>
                        <a:t>Tubo corrugado inoxidable hasta 0,5 bar</a:t>
                      </a:r>
                    </a:p>
                  </a:txBody>
                  <a:tcPr>
                    <a:solidFill>
                      <a:srgbClr val="FFFFFF"/>
                    </a:solidFill>
                  </a:tcPr>
                </a:tc>
                <a:tc>
                  <a:txBody>
                    <a:bodyPr/>
                    <a:lstStyle/>
                    <a:p>
                      <a:r>
                        <a:rPr sz="1200" b="0" i="0">
                          <a:solidFill>
                            <a:srgbClr val="1B2330"/>
                          </a:solidFill>
                          <a:latin typeface="Montserrat"/>
                        </a:rPr>
                        <a:t>UNE-EN 15266</a:t>
                      </a:r>
                    </a:p>
                  </a:txBody>
                  <a:tcPr>
                    <a:solidFill>
                      <a:srgbClr val="FFFFFF"/>
                    </a:solidFill>
                  </a:tcPr>
                </a:tc>
              </a:tr>
              <a:tr h="251460">
                <a:tc>
                  <a:txBody>
                    <a:bodyPr/>
                    <a:lstStyle/>
                    <a:p>
                      <a:r>
                        <a:rPr sz="1200" b="0" i="0">
                          <a:solidFill>
                            <a:srgbClr val="1B2330"/>
                          </a:solidFill>
                          <a:latin typeface="Montserrat"/>
                        </a:rPr>
                        <a:t>Tubo multicapa (press-fitting, anillo corredizo, push-fitting)</a:t>
                      </a:r>
                    </a:p>
                  </a:txBody>
                  <a:tcPr>
                    <a:solidFill>
                      <a:srgbClr val="F6F8FC"/>
                    </a:solidFill>
                  </a:tcPr>
                </a:tc>
                <a:tc>
                  <a:txBody>
                    <a:bodyPr/>
                    <a:lstStyle/>
                    <a:p>
                      <a:r>
                        <a:rPr sz="1200" b="0" i="0">
                          <a:solidFill>
                            <a:srgbClr val="1B2330"/>
                          </a:solidFill>
                          <a:latin typeface="Montserrat"/>
                        </a:rPr>
                        <a:t>UNE 53008 partes 1 y 2</a:t>
                      </a:r>
                    </a:p>
                  </a:txBody>
                  <a:tcPr>
                    <a:solidFill>
                      <a:srgbClr val="F6F8FC"/>
                    </a:solidFill>
                  </a:tcPr>
                </a:tc>
              </a:tr>
              <a:tr h="251460">
                <a:tc>
                  <a:txBody>
                    <a:bodyPr/>
                    <a:lstStyle/>
                    <a:p>
                      <a:r>
                        <a:rPr sz="1200" b="0" i="0">
                          <a:solidFill>
                            <a:srgbClr val="1B2330"/>
                          </a:solidFill>
                          <a:latin typeface="Montserrat"/>
                        </a:rPr>
                        <a:t>Tubo de acero inoxidable para press-fitting (pared ≥ 1 mm)</a:t>
                      </a:r>
                    </a:p>
                  </a:txBody>
                  <a:tcPr>
                    <a:solidFill>
                      <a:srgbClr val="FFFFFF"/>
                    </a:solidFill>
                  </a:tcPr>
                </a:tc>
                <a:tc>
                  <a:txBody>
                    <a:bodyPr/>
                    <a:lstStyle/>
                    <a:p>
                      <a:r>
                        <a:rPr sz="1200" b="0" i="0">
                          <a:solidFill>
                            <a:srgbClr val="1B2330"/>
                          </a:solidFill>
                          <a:latin typeface="Montserrat"/>
                        </a:rPr>
                        <a:t>UNE-EN 10312</a:t>
                      </a:r>
                    </a:p>
                  </a:txBody>
                  <a:tcPr>
                    <a:solidFill>
                      <a:srgbClr val="FFFFFF"/>
                    </a:solidFill>
                  </a:tcPr>
                </a:tc>
              </a:tr>
              <a:tr h="251460">
                <a:tc>
                  <a:txBody>
                    <a:bodyPr/>
                    <a:lstStyle/>
                    <a:p>
                      <a:r>
                        <a:rPr sz="1200" b="0" i="0">
                          <a:solidFill>
                            <a:srgbClr val="1B2330"/>
                          </a:solidFill>
                          <a:latin typeface="Montserrat"/>
                        </a:rPr>
                        <a:t>Tubería de cobre</a:t>
                      </a:r>
                    </a:p>
                  </a:txBody>
                  <a:tcPr>
                    <a:solidFill>
                      <a:srgbClr val="F6F8FC"/>
                    </a:solidFill>
                  </a:tcPr>
                </a:tc>
                <a:tc>
                  <a:txBody>
                    <a:bodyPr/>
                    <a:lstStyle/>
                    <a:p>
                      <a:r>
                        <a:rPr sz="1200" b="0" i="0">
                          <a:solidFill>
                            <a:srgbClr val="1B2330"/>
                          </a:solidFill>
                          <a:latin typeface="Montserrat"/>
                        </a:rPr>
                        <a:t>UNE-EN 1057</a:t>
                      </a:r>
                    </a:p>
                  </a:txBody>
                  <a:tcPr>
                    <a:solidFill>
                      <a:srgbClr val="F6F8FC"/>
                    </a:solidFill>
                  </a:tcPr>
                </a:tc>
              </a:tr>
              <a:tr h="251460">
                <a:tc>
                  <a:txBody>
                    <a:bodyPr/>
                    <a:lstStyle/>
                    <a:p>
                      <a:r>
                        <a:rPr sz="1200" b="0" i="0">
                          <a:solidFill>
                            <a:srgbClr val="1B2330"/>
                          </a:solidFill>
                          <a:latin typeface="Montserrat"/>
                        </a:rPr>
                        <a:t>Accesorios de cobre</a:t>
                      </a:r>
                    </a:p>
                  </a:txBody>
                  <a:tcPr>
                    <a:solidFill>
                      <a:srgbClr val="FFFFFF"/>
                    </a:solidFill>
                  </a:tcPr>
                </a:tc>
                <a:tc>
                  <a:txBody>
                    <a:bodyPr/>
                    <a:lstStyle/>
                    <a:p>
                      <a:r>
                        <a:rPr sz="1200" b="0" i="0">
                          <a:solidFill>
                            <a:srgbClr val="1B2330"/>
                          </a:solidFill>
                          <a:latin typeface="Montserrat"/>
                        </a:rPr>
                        <a:t>UNE-EN 1254-1</a:t>
                      </a:r>
                    </a:p>
                  </a:txBody>
                  <a:tcPr>
                    <a:solidFill>
                      <a:srgbClr val="FFFFFF"/>
                    </a:solidFill>
                  </a:tcPr>
                </a:tc>
              </a:tr>
              <a:tr h="251460">
                <a:tc>
                  <a:txBody>
                    <a:bodyPr/>
                    <a:lstStyle/>
                    <a:p>
                      <a:r>
                        <a:rPr sz="1200" b="0" i="0">
                          <a:solidFill>
                            <a:srgbClr val="1B2330"/>
                          </a:solidFill>
                          <a:latin typeface="Montserrat"/>
                        </a:rPr>
                        <a:t>Accesorios press-fitting</a:t>
                      </a:r>
                    </a:p>
                  </a:txBody>
                  <a:tcPr>
                    <a:solidFill>
                      <a:srgbClr val="F6F8FC"/>
                    </a:solidFill>
                  </a:tcPr>
                </a:tc>
                <a:tc>
                  <a:txBody>
                    <a:bodyPr/>
                    <a:lstStyle/>
                    <a:p>
                      <a:r>
                        <a:rPr sz="1200" b="0" i="0">
                          <a:solidFill>
                            <a:srgbClr val="1B2330"/>
                          </a:solidFill>
                          <a:latin typeface="Montserrat"/>
                        </a:rPr>
                        <a:t>PNE-prEN 1254-7</a:t>
                      </a:r>
                    </a:p>
                  </a:txBody>
                  <a:tcPr>
                    <a:solidFill>
                      <a:srgbClr val="F6F8FC"/>
                    </a:solidFill>
                  </a:tcPr>
                </a:tc>
              </a:tr>
              <a:tr h="251460">
                <a:tc>
                  <a:txBody>
                    <a:bodyPr/>
                    <a:lstStyle/>
                    <a:p>
                      <a:r>
                        <a:rPr sz="1200" b="0" i="0">
                          <a:solidFill>
                            <a:srgbClr val="1B2330"/>
                          </a:solidFill>
                          <a:latin typeface="Montserrat"/>
                        </a:rPr>
                        <a:t>Tubería de acero con soldadura longitudinal</a:t>
                      </a:r>
                    </a:p>
                  </a:txBody>
                  <a:tcPr>
                    <a:solidFill>
                      <a:srgbClr val="FFFFFF"/>
                    </a:solidFill>
                  </a:tcPr>
                </a:tc>
                <a:tc>
                  <a:txBody>
                    <a:bodyPr/>
                    <a:lstStyle/>
                    <a:p>
                      <a:r>
                        <a:rPr sz="1200" b="0" i="0">
                          <a:solidFill>
                            <a:srgbClr val="1B2330"/>
                          </a:solidFill>
                          <a:latin typeface="Montserrat"/>
                        </a:rPr>
                        <a:t>UNE 36894</a:t>
                      </a:r>
                    </a:p>
                  </a:txBody>
                  <a:tcPr>
                    <a:solidFill>
                      <a:srgbClr val="FFFFFF"/>
                    </a:solidFill>
                  </a:tcPr>
                </a:tc>
              </a:tr>
              <a:tr h="251460">
                <a:tc>
                  <a:txBody>
                    <a:bodyPr/>
                    <a:lstStyle/>
                    <a:p>
                      <a:r>
                        <a:rPr sz="1200" b="0" i="0">
                          <a:solidFill>
                            <a:srgbClr val="1B2330"/>
                          </a:solidFill>
                          <a:latin typeface="Montserrat"/>
                        </a:rPr>
                        <a:t>Tubería de acero sin soldadura</a:t>
                      </a:r>
                    </a:p>
                  </a:txBody>
                  <a:tcPr>
                    <a:solidFill>
                      <a:srgbClr val="F6F8FC"/>
                    </a:solidFill>
                  </a:tcPr>
                </a:tc>
                <a:tc>
                  <a:txBody>
                    <a:bodyPr/>
                    <a:lstStyle/>
                    <a:p>
                      <a:r>
                        <a:rPr sz="1200" b="0" i="0">
                          <a:solidFill>
                            <a:srgbClr val="1B2330"/>
                          </a:solidFill>
                          <a:latin typeface="Montserrat"/>
                        </a:rPr>
                        <a:t>UNE 19040, UNE 19041, UNE 19046</a:t>
                      </a:r>
                    </a:p>
                  </a:txBody>
                  <a:tcPr>
                    <a:solidFill>
                      <a:srgbClr val="F6F8FC"/>
                    </a:solidFill>
                  </a:tcPr>
                </a:tc>
              </a:tr>
              <a:tr h="251460">
                <a:tc>
                  <a:txBody>
                    <a:bodyPr/>
                    <a:lstStyle/>
                    <a:p>
                      <a:r>
                        <a:rPr sz="1200" b="0" i="0">
                          <a:solidFill>
                            <a:srgbClr val="1B2330"/>
                          </a:solidFill>
                          <a:latin typeface="Montserrat"/>
                        </a:rPr>
                        <a:t>Soporte de contador (exteriores)</a:t>
                      </a:r>
                    </a:p>
                  </a:txBody>
                  <a:tcPr>
                    <a:solidFill>
                      <a:srgbClr val="FFFFFF"/>
                    </a:solidFill>
                  </a:tcPr>
                </a:tc>
                <a:tc>
                  <a:txBody>
                    <a:bodyPr/>
                    <a:lstStyle/>
                    <a:p>
                      <a:r>
                        <a:rPr sz="1200" b="0" i="0">
                          <a:solidFill>
                            <a:srgbClr val="1B2330"/>
                          </a:solidFill>
                          <a:latin typeface="Montserrat"/>
                        </a:rPr>
                        <a:t>UNE 60495 partes 1 y 2</a:t>
                      </a:r>
                    </a:p>
                  </a:txBody>
                  <a:tcPr>
                    <a:solidFill>
                      <a:srgbClr val="FFFFFF"/>
                    </a:solidFill>
                  </a:tcPr>
                </a:tc>
              </a:tr>
              <a:tr h="251460">
                <a:tc>
                  <a:txBody>
                    <a:bodyPr/>
                    <a:lstStyle/>
                    <a:p>
                      <a:r>
                        <a:rPr sz="1200" b="0" i="0">
                          <a:solidFill>
                            <a:srgbClr val="1B2330"/>
                          </a:solidFill>
                          <a:latin typeface="Montserrat"/>
                        </a:rPr>
                        <a:t>Centralizador de contadores</a:t>
                      </a:r>
                    </a:p>
                  </a:txBody>
                  <a:tcPr>
                    <a:solidFill>
                      <a:srgbClr val="F6F8FC"/>
                    </a:solidFill>
                  </a:tcPr>
                </a:tc>
                <a:tc>
                  <a:txBody>
                    <a:bodyPr/>
                    <a:lstStyle/>
                    <a:p>
                      <a:r>
                        <a:rPr sz="1200" b="0" i="0">
                          <a:solidFill>
                            <a:srgbClr val="1B2330"/>
                          </a:solidFill>
                          <a:latin typeface="Montserrat"/>
                        </a:rPr>
                        <a:t>UNE 60490</a:t>
                      </a:r>
                    </a:p>
                  </a:txBody>
                  <a:tcPr>
                    <a:solidFill>
                      <a:srgbClr val="F6F8FC"/>
                    </a:solidFill>
                  </a:tcPr>
                </a:tc>
              </a:tr>
              <a:tr h="251460">
                <a:tc>
                  <a:txBody>
                    <a:bodyPr/>
                    <a:lstStyle/>
                    <a:p>
                      <a:r>
                        <a:rPr sz="1200" b="0" i="0">
                          <a:solidFill>
                            <a:srgbClr val="1B2330"/>
                          </a:solidFill>
                          <a:latin typeface="Montserrat"/>
                        </a:rPr>
                        <a:t>Contadores (paredes deformables)</a:t>
                      </a:r>
                    </a:p>
                  </a:txBody>
                  <a:tcPr>
                    <a:solidFill>
                      <a:srgbClr val="FFFFFF"/>
                    </a:solidFill>
                  </a:tcPr>
                </a:tc>
                <a:tc>
                  <a:txBody>
                    <a:bodyPr/>
                    <a:lstStyle/>
                    <a:p>
                      <a:r>
                        <a:rPr sz="1200" b="0" i="0">
                          <a:solidFill>
                            <a:srgbClr val="1B2330"/>
                          </a:solidFill>
                          <a:latin typeface="Montserrat"/>
                        </a:rPr>
                        <a:t>UNE-EN 1359 y UNE 60510</a:t>
                      </a:r>
                    </a:p>
                  </a:txBody>
                  <a:tcPr>
                    <a:solidFill>
                      <a:srgbClr val="FFFFFF"/>
                    </a:solidFill>
                  </a:tcPr>
                </a:tc>
              </a:tr>
              <a:tr h="251460">
                <a:tc>
                  <a:txBody>
                    <a:bodyPr/>
                    <a:lstStyle/>
                    <a:p>
                      <a:r>
                        <a:rPr sz="1200" b="0" i="0">
                          <a:solidFill>
                            <a:srgbClr val="1B2330"/>
                          </a:solidFill>
                          <a:latin typeface="Montserrat"/>
                        </a:rPr>
                        <a:t>Dispositivos de corte Dn &lt; 50</a:t>
                      </a:r>
                    </a:p>
                  </a:txBody>
                  <a:tcPr>
                    <a:solidFill>
                      <a:srgbClr val="F6F8FC"/>
                    </a:solidFill>
                  </a:tcPr>
                </a:tc>
                <a:tc>
                  <a:txBody>
                    <a:bodyPr/>
                    <a:lstStyle/>
                    <a:p>
                      <a:r>
                        <a:rPr sz="1200" b="0" i="0">
                          <a:solidFill>
                            <a:srgbClr val="1B2330"/>
                          </a:solidFill>
                          <a:latin typeface="Montserrat"/>
                        </a:rPr>
                        <a:t>UNE-EN 331</a:t>
                      </a:r>
                    </a:p>
                  </a:txBody>
                  <a:tcPr>
                    <a:solidFill>
                      <a:srgbClr val="F6F8FC"/>
                    </a:solidFill>
                  </a:tcPr>
                </a:tc>
              </a:tr>
              <a:tr h="251460">
                <a:tc>
                  <a:txBody>
                    <a:bodyPr/>
                    <a:lstStyle/>
                    <a:p>
                      <a:r>
                        <a:rPr sz="1200" b="0" i="0">
                          <a:solidFill>
                            <a:srgbClr val="1B2330"/>
                          </a:solidFill>
                          <a:latin typeface="Montserrat"/>
                        </a:rPr>
                        <a:t>Dispositivos de corte 50 &lt; Dn &lt; 100</a:t>
                      </a:r>
                    </a:p>
                  </a:txBody>
                  <a:tcPr>
                    <a:solidFill>
                      <a:srgbClr val="FFFFFF"/>
                    </a:solidFill>
                  </a:tcPr>
                </a:tc>
                <a:tc>
                  <a:txBody>
                    <a:bodyPr/>
                    <a:lstStyle/>
                    <a:p>
                      <a:r>
                        <a:rPr sz="1200" b="0" i="0">
                          <a:solidFill>
                            <a:srgbClr val="1B2330"/>
                          </a:solidFill>
                          <a:latin typeface="Montserrat"/>
                        </a:rPr>
                        <a:t>UNE 60708</a:t>
                      </a:r>
                    </a:p>
                  </a:txBody>
                  <a:tcPr>
                    <a:solidFill>
                      <a:srgbClr val="FFFFFF"/>
                    </a:solidFill>
                  </a:tcPr>
                </a:tc>
              </a:tr>
              <a:tr h="251460">
                <a:tc>
                  <a:txBody>
                    <a:bodyPr/>
                    <a:lstStyle/>
                    <a:p>
                      <a:r>
                        <a:rPr sz="1200" b="0" i="0">
                          <a:solidFill>
                            <a:srgbClr val="1B2330"/>
                          </a:solidFill>
                          <a:latin typeface="Montserrat"/>
                        </a:rPr>
                        <a:t>Polietileno (PE)</a:t>
                      </a:r>
                    </a:p>
                  </a:txBody>
                  <a:tcPr>
                    <a:solidFill>
                      <a:srgbClr val="F6F8FC"/>
                    </a:solidFill>
                  </a:tcPr>
                </a:tc>
                <a:tc>
                  <a:txBody>
                    <a:bodyPr/>
                    <a:lstStyle/>
                    <a:p>
                      <a:r>
                        <a:rPr sz="1200" b="0" i="0">
                          <a:solidFill>
                            <a:srgbClr val="1B2330"/>
                          </a:solidFill>
                          <a:latin typeface="Montserrat"/>
                        </a:rPr>
                        <a:t>UNE-EN 1555-1</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Cada material con su norma de referencia; no hay que memorizarlas todas, sí reconocer las de siempre. Se citan sin año (el listado con años va en la ITC-ICG 11).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TIPOS DE TUBERÍA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Cobre recocido, cobre duro y cómo curvar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Recocido: blando, en rollo, se dobla</a:t>
            </a:r>
          </a:p>
          <a:p>
            <a:pPr>
              <a:spcAft>
                <a:spcPts val="1100"/>
              </a:spcAft>
            </a:pPr>
            <a:r>
              <a:rPr sz="1600" b="1" i="0">
                <a:solidFill>
                  <a:srgbClr val="E8801A"/>
                </a:solidFill>
                <a:latin typeface="Montserrat"/>
              </a:rPr>
              <a:t>▸  </a:t>
            </a:r>
            <a:r>
              <a:rPr sz="1600" b="0" i="0">
                <a:solidFill>
                  <a:srgbClr val="1B2330"/>
                </a:solidFill>
                <a:latin typeface="Montserrat"/>
              </a:rPr>
              <a:t>Duro: barra rígida, soldadura o press-fitting</a:t>
            </a:r>
          </a:p>
          <a:p>
            <a:pPr>
              <a:spcAft>
                <a:spcPts val="1100"/>
              </a:spcAft>
            </a:pPr>
            <a:r>
              <a:rPr sz="1600" b="1" i="0">
                <a:solidFill>
                  <a:srgbClr val="E8801A"/>
                </a:solidFill>
                <a:latin typeface="Montserrat"/>
              </a:rPr>
              <a:t>▸  </a:t>
            </a:r>
            <a:r>
              <a:rPr sz="1600" b="0" i="0">
                <a:solidFill>
                  <a:srgbClr val="1B2330"/>
                </a:solidFill>
                <a:latin typeface="Montserrat"/>
              </a:rPr>
              <a:t>Curvar en frío, sin aplastar</a:t>
            </a:r>
          </a:p>
          <a:p>
            <a:pPr>
              <a:spcAft>
                <a:spcPts val="1100"/>
              </a:spcAft>
            </a:pPr>
            <a:r>
              <a:rPr sz="1600" b="1" i="0">
                <a:solidFill>
                  <a:srgbClr val="E8801A"/>
                </a:solidFill>
                <a:latin typeface="Montserrat"/>
              </a:rPr>
              <a:t>▸  </a:t>
            </a:r>
            <a:r>
              <a:rPr sz="1600" b="0" i="0">
                <a:solidFill>
                  <a:srgbClr val="1B2330"/>
                </a:solidFill>
                <a:latin typeface="Montserrat"/>
              </a:rPr>
              <a:t>Enterrado: espesor ≥ 1,5 mm</a:t>
            </a:r>
          </a:p>
        </p:txBody>
      </p:sp>
      <p:sp>
        <p:nvSpPr>
          <p:cNvPr id="9" name="imgph" descr="IMGQ:coil roll of copper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coil roll of copper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UNIONES MECÁNICAS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metal con su pareja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Press-fitting: interior y exterior hasta 5 bar</a:t>
            </a:r>
          </a:p>
          <a:p>
            <a:pPr>
              <a:spcAft>
                <a:spcPts val="1100"/>
              </a:spcAft>
            </a:pPr>
            <a:r>
              <a:rPr sz="1600" b="1" i="0">
                <a:solidFill>
                  <a:srgbClr val="E8801A"/>
                </a:solidFill>
                <a:latin typeface="Montserrat"/>
              </a:rPr>
              <a:t>▸  </a:t>
            </a:r>
            <a:r>
              <a:rPr sz="1600" b="0" i="0">
                <a:solidFill>
                  <a:srgbClr val="1B2330"/>
                </a:solidFill>
                <a:latin typeface="Montserrat"/>
              </a:rPr>
              <a:t>Sustituye a la soldadura fuerte</a:t>
            </a:r>
          </a:p>
          <a:p>
            <a:pPr>
              <a:spcAft>
                <a:spcPts val="1100"/>
              </a:spcAft>
            </a:pPr>
            <a:r>
              <a:rPr sz="1600" b="1" i="0">
                <a:solidFill>
                  <a:srgbClr val="E8801A"/>
                </a:solidFill>
                <a:latin typeface="Montserrat"/>
              </a:rPr>
              <a:t>▸  </a:t>
            </a:r>
            <a:r>
              <a:rPr sz="1600" b="0" i="0">
                <a:solidFill>
                  <a:srgbClr val="1B2330"/>
                </a:solidFill>
                <a:latin typeface="Montserrat"/>
              </a:rPr>
              <a:t>Inox con cobre: manguito CuNi</a:t>
            </a:r>
          </a:p>
          <a:p>
            <a:pPr>
              <a:spcAft>
                <a:spcPts val="1100"/>
              </a:spcAft>
            </a:pPr>
            <a:r>
              <a:rPr sz="1600" b="1" i="0">
                <a:solidFill>
                  <a:srgbClr val="E8801A"/>
                </a:solidFill>
                <a:latin typeface="Montserrat"/>
              </a:rPr>
              <a:t>▸  </a:t>
            </a:r>
            <a:r>
              <a:rPr sz="1600" b="0" i="0">
                <a:solidFill>
                  <a:srgbClr val="1B2330"/>
                </a:solidFill>
                <a:latin typeface="Montserrat"/>
              </a:rPr>
              <a:t>Inox de serie 2, mismo diámetro</a:t>
            </a:r>
          </a:p>
        </p:txBody>
      </p:sp>
      <p:sp>
        <p:nvSpPr>
          <p:cNvPr id="9" name="imgph" descr="IMGQ:press fitting pipe connection too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 fitting pipe connection tool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Para unir un tubo de acero inoxidable con uno de cobre, ¿qué manguito se emplea?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De cuproníquel (CuNi)</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De cobre</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De acero inoxidable</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De latón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Para unir un tubo de acero inoxidable con uno de cobre, ¿qué manguito se emplea?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De cuproníquel (CuNi)</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manguito CuNi hace de árbitro entre los dos metales y evita la corrosión galvánica; iguales se unen con su mismo metal, distintos con CuNi.</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TUBO MULTICAPA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Multicapa: colores que identifican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Exterior: negro con 3 líneas amarillas</a:t>
            </a:r>
          </a:p>
          <a:p>
            <a:pPr>
              <a:spcAft>
                <a:spcPts val="1100"/>
              </a:spcAft>
            </a:pPr>
            <a:r>
              <a:rPr sz="1600" b="1" i="0">
                <a:solidFill>
                  <a:srgbClr val="E8801A"/>
                </a:solidFill>
                <a:latin typeface="Montserrat"/>
              </a:rPr>
              <a:t>▸  </a:t>
            </a:r>
            <a:r>
              <a:rPr sz="1600" b="0" i="0">
                <a:solidFill>
                  <a:srgbClr val="1B2330"/>
                </a:solidFill>
                <a:latin typeface="Montserrat"/>
              </a:rPr>
              <a:t>Interior: normalmente amarillo</a:t>
            </a:r>
          </a:p>
          <a:p>
            <a:pPr>
              <a:spcAft>
                <a:spcPts val="1100"/>
              </a:spcAft>
            </a:pPr>
            <a:r>
              <a:rPr sz="1600" b="1" i="0">
                <a:solidFill>
                  <a:srgbClr val="E8801A"/>
                </a:solidFill>
                <a:latin typeface="Montserrat"/>
              </a:rPr>
              <a:t>▸  </a:t>
            </a:r>
            <a:r>
              <a:rPr sz="1600" b="0" i="0">
                <a:solidFill>
                  <a:srgbClr val="1B2330"/>
                </a:solidFill>
                <a:latin typeface="Montserrat"/>
              </a:rPr>
              <a:t>Resistente a los rayos UV en exterior</a:t>
            </a:r>
          </a:p>
          <a:p>
            <a:pPr>
              <a:spcAft>
                <a:spcPts val="1100"/>
              </a:spcAft>
            </a:pPr>
            <a:r>
              <a:rPr sz="1600" b="1" i="0">
                <a:solidFill>
                  <a:srgbClr val="E8801A"/>
                </a:solidFill>
                <a:latin typeface="Montserrat"/>
              </a:rPr>
              <a:t>▸  </a:t>
            </a:r>
            <a:r>
              <a:rPr sz="1600" b="0" i="0">
                <a:solidFill>
                  <a:srgbClr val="1B2330"/>
                </a:solidFill>
                <a:latin typeface="Montserrat"/>
              </a:rPr>
              <a:t>Si se pinta: testigos de gas visibles</a:t>
            </a:r>
          </a:p>
        </p:txBody>
      </p:sp>
      <p:sp>
        <p:nvSpPr>
          <p:cNvPr id="9" name="imgph" descr="IMGQ:yellow multilayer gas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yellow multilayer gas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LIMITADORES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Cocina de multicapa: caudal y temperatura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Limitador de caudal 1,6 m³/h</a:t>
            </a:r>
          </a:p>
          <a:p>
            <a:pPr>
              <a:spcAft>
                <a:spcPts val="1100"/>
              </a:spcAft>
            </a:pPr>
            <a:r>
              <a:rPr sz="1600" b="1" i="0">
                <a:solidFill>
                  <a:srgbClr val="E8801A"/>
                </a:solidFill>
                <a:latin typeface="Montserrat"/>
              </a:rPr>
              <a:t>▸  </a:t>
            </a:r>
            <a:r>
              <a:rPr sz="1600" b="0" i="0">
                <a:solidFill>
                  <a:srgbClr val="1B2330"/>
                </a:solidFill>
                <a:latin typeface="Montserrat"/>
              </a:rPr>
              <a:t>Limitador de temperatura 96 ºC</a:t>
            </a:r>
          </a:p>
          <a:p>
            <a:pPr>
              <a:spcAft>
                <a:spcPts val="1100"/>
              </a:spcAft>
            </a:pPr>
            <a:r>
              <a:rPr sz="1600" b="1" i="0">
                <a:solidFill>
                  <a:srgbClr val="E8801A"/>
                </a:solidFill>
                <a:latin typeface="Montserrat"/>
              </a:rPr>
              <a:t>▸  </a:t>
            </a:r>
            <a:r>
              <a:rPr sz="1600" b="0" i="0">
                <a:solidFill>
                  <a:srgbClr val="1B2330"/>
                </a:solidFill>
                <a:latin typeface="Montserrat"/>
              </a:rPr>
              <a:t>Uno por instalación individual, por fuera</a:t>
            </a:r>
          </a:p>
          <a:p>
            <a:pPr>
              <a:spcAft>
                <a:spcPts val="1100"/>
              </a:spcAft>
            </a:pPr>
            <a:r>
              <a:rPr sz="1600" b="1" i="0">
                <a:solidFill>
                  <a:srgbClr val="E8801A"/>
                </a:solidFill>
                <a:latin typeface="Montserrat"/>
              </a:rPr>
              <a:t>▸  </a:t>
            </a:r>
            <a:r>
              <a:rPr sz="1600" b="0" i="0">
                <a:solidFill>
                  <a:srgbClr val="1B2330"/>
                </a:solidFill>
                <a:latin typeface="Montserrat"/>
              </a:rPr>
              <a:t>Corrugado inox: ≤ 0,5 bar y roscado</a:t>
            </a:r>
          </a:p>
        </p:txBody>
      </p:sp>
      <p:sp>
        <p:nvSpPr>
          <p:cNvPr id="9" name="imgph" descr="IMGQ:gas valve with flow limiter kitche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valve with flow limiter kitchen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VAINAS Y CONDUCTOS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Vaina no es lo mismo que vaina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Proteger: golpes, garajes, vía pública</a:t>
            </a:r>
          </a:p>
          <a:p>
            <a:pPr>
              <a:spcAft>
                <a:spcPts val="1100"/>
              </a:spcAft>
            </a:pPr>
            <a:r>
              <a:rPr sz="1600" b="1" i="0">
                <a:solidFill>
                  <a:srgbClr val="E8801A"/>
                </a:solidFill>
                <a:latin typeface="Montserrat"/>
              </a:rPr>
              <a:t>▸  </a:t>
            </a:r>
            <a:r>
              <a:rPr sz="1600" b="0" i="0">
                <a:solidFill>
                  <a:srgbClr val="1B2330"/>
                </a:solidFill>
                <a:latin typeface="Montserrat"/>
              </a:rPr>
              <a:t>Vía pública: hasta 1,80 m de altura</a:t>
            </a:r>
          </a:p>
          <a:p>
            <a:pPr>
              <a:spcAft>
                <a:spcPts val="1100"/>
              </a:spcAft>
            </a:pPr>
            <a:r>
              <a:rPr sz="1600" b="1" i="0">
                <a:solidFill>
                  <a:srgbClr val="E8801A"/>
                </a:solidFill>
                <a:latin typeface="Montserrat"/>
              </a:rPr>
              <a:t>▸  </a:t>
            </a:r>
            <a:r>
              <a:rPr sz="1600" b="0" i="0">
                <a:solidFill>
                  <a:srgbClr val="1B2330"/>
                </a:solidFill>
                <a:latin typeface="Montserrat"/>
              </a:rPr>
              <a:t>Ventilar: falsos techos, altillos, huecos</a:t>
            </a:r>
          </a:p>
          <a:p>
            <a:pPr>
              <a:spcAft>
                <a:spcPts val="1100"/>
              </a:spcAft>
            </a:pPr>
            <a:r>
              <a:rPr sz="1600" b="1" i="0">
                <a:solidFill>
                  <a:srgbClr val="E8801A"/>
                </a:solidFill>
                <a:latin typeface="Montserrat"/>
              </a:rPr>
              <a:t>▸  </a:t>
            </a:r>
            <a:r>
              <a:rPr sz="1600" b="0" i="0">
                <a:solidFill>
                  <a:srgbClr val="1B2330"/>
                </a:solidFill>
                <a:latin typeface="Montserrat"/>
              </a:rPr>
              <a:t>Continuas y sin órganos de maniobra</a:t>
            </a:r>
          </a:p>
        </p:txBody>
      </p:sp>
      <p:sp>
        <p:nvSpPr>
          <p:cNvPr id="9" name="imgph" descr="IMGQ:steel conduit protecting pipe in garag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steel conduit protecting pipe in garage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VAINAS Y CONDUCTOS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obra 5 cm, de acero 1,5 mm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Conducto de obra: mínimo 5 cm</a:t>
            </a:r>
          </a:p>
          <a:p>
            <a:pPr>
              <a:spcAft>
                <a:spcPts val="1100"/>
              </a:spcAft>
            </a:pPr>
            <a:r>
              <a:rPr sz="1600" b="1" i="0">
                <a:solidFill>
                  <a:srgbClr val="E8801A"/>
                </a:solidFill>
                <a:latin typeface="Montserrat"/>
              </a:rPr>
              <a:t>▸  </a:t>
            </a:r>
            <a:r>
              <a:rPr sz="1600" b="0" i="0">
                <a:solidFill>
                  <a:srgbClr val="1B2330"/>
                </a:solidFill>
                <a:latin typeface="Montserrat"/>
              </a:rPr>
              <a:t>Conducto de acero: mínimo 1,5 mm</a:t>
            </a:r>
          </a:p>
          <a:p>
            <a:pPr>
              <a:spcAft>
                <a:spcPts val="1100"/>
              </a:spcAft>
            </a:pPr>
            <a:r>
              <a:rPr sz="1600" b="1" i="0">
                <a:solidFill>
                  <a:srgbClr val="E8801A"/>
                </a:solidFill>
                <a:latin typeface="Montserrat"/>
              </a:rPr>
              <a:t>▸  </a:t>
            </a:r>
            <a:r>
              <a:rPr sz="1600" b="0" i="0">
                <a:solidFill>
                  <a:srgbClr val="1B2330"/>
                </a:solidFill>
                <a:latin typeface="Montserrat"/>
              </a:rPr>
              <a:t>Ventilación: garantizar la estanqueidad</a:t>
            </a:r>
          </a:p>
          <a:p>
            <a:pPr>
              <a:spcAft>
                <a:spcPts val="1100"/>
              </a:spcAft>
            </a:pPr>
            <a:r>
              <a:rPr sz="1600" b="1" i="0">
                <a:solidFill>
                  <a:srgbClr val="E8801A"/>
                </a:solidFill>
                <a:latin typeface="Montserrat"/>
              </a:rPr>
              <a:t>▸  </a:t>
            </a:r>
            <a:r>
              <a:rPr sz="1600" b="0" i="0">
                <a:solidFill>
                  <a:srgbClr val="1B2330"/>
                </a:solidFill>
                <a:latin typeface="Montserrat"/>
              </a:rPr>
              <a:t>Metálica: sin tocar otras estructuras</a:t>
            </a:r>
          </a:p>
        </p:txBody>
      </p:sp>
      <p:sp>
        <p:nvSpPr>
          <p:cNvPr id="9" name="imgph" descr="IMGQ:steel pipe sleeve through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steel pipe sleeve through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VAINAS Y CONDUCTOS</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Material de vainas y conductos según su función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670560">
                <a:tc>
                  <a:txBody>
                    <a:bodyPr/>
                    <a:lstStyle/>
                    <a:p>
                      <a:r>
                        <a:rPr sz="1200" b="1" i="0">
                          <a:solidFill>
                            <a:srgbClr val="FFFFFF"/>
                          </a:solidFill>
                          <a:latin typeface="Montserrat"/>
                        </a:rPr>
                        <a:t>Función</a:t>
                      </a:r>
                    </a:p>
                  </a:txBody>
                  <a:tcPr>
                    <a:solidFill>
                      <a:srgbClr val="1E2761"/>
                    </a:solidFill>
                  </a:tcPr>
                </a:tc>
                <a:tc>
                  <a:txBody>
                    <a:bodyPr/>
                    <a:lstStyle/>
                    <a:p>
                      <a:r>
                        <a:rPr sz="1200" b="1" i="0">
                          <a:solidFill>
                            <a:srgbClr val="FFFFFF"/>
                          </a:solidFill>
                          <a:latin typeface="Montserrat"/>
                        </a:rPr>
                        <a:t>Material de vainas</a:t>
                      </a:r>
                    </a:p>
                  </a:txBody>
                  <a:tcPr>
                    <a:solidFill>
                      <a:srgbClr val="1E2761"/>
                    </a:solidFill>
                  </a:tcPr>
                </a:tc>
                <a:tc>
                  <a:txBody>
                    <a:bodyPr/>
                    <a:lstStyle/>
                    <a:p>
                      <a:r>
                        <a:rPr sz="1200" b="1" i="0">
                          <a:solidFill>
                            <a:srgbClr val="FFFFFF"/>
                          </a:solidFill>
                          <a:latin typeface="Montserrat"/>
                        </a:rPr>
                        <a:t>Material de conductos</a:t>
                      </a:r>
                    </a:p>
                  </a:txBody>
                  <a:tcPr>
                    <a:solidFill>
                      <a:srgbClr val="1E2761"/>
                    </a:solidFill>
                  </a:tcPr>
                </a:tc>
              </a:tr>
              <a:tr h="670560">
                <a:tc>
                  <a:txBody>
                    <a:bodyPr/>
                    <a:lstStyle/>
                    <a:p>
                      <a:r>
                        <a:rPr sz="1200" b="0" i="0">
                          <a:solidFill>
                            <a:srgbClr val="1B2330"/>
                          </a:solidFill>
                          <a:latin typeface="Montserrat"/>
                        </a:rPr>
                        <a:t>Protección mecánica de tuberías</a:t>
                      </a:r>
                    </a:p>
                  </a:txBody>
                  <a:tcPr>
                    <a:solidFill>
                      <a:srgbClr val="F6F8FC"/>
                    </a:solidFill>
                  </a:tcPr>
                </a:tc>
                <a:tc>
                  <a:txBody>
                    <a:bodyPr/>
                    <a:lstStyle/>
                    <a:p>
                      <a:r>
                        <a:rPr sz="1200" b="0" i="0">
                          <a:solidFill>
                            <a:srgbClr val="1B2330"/>
                          </a:solidFill>
                          <a:latin typeface="Montserrat"/>
                        </a:rPr>
                        <a:t>Materiales metálicos (acero, cobre, etc.)</a:t>
                      </a:r>
                    </a:p>
                  </a:txBody>
                  <a:tcPr>
                    <a:solidFill>
                      <a:srgbClr val="F6F8FC"/>
                    </a:solidFill>
                  </a:tcPr>
                </a:tc>
                <a:tc>
                  <a:txBody>
                    <a:bodyPr/>
                    <a:lstStyle/>
                    <a:p>
                      <a:r>
                        <a:rPr sz="1200" b="0" i="0">
                          <a:solidFill>
                            <a:srgbClr val="1B2330"/>
                          </a:solidFill>
                          <a:latin typeface="Montserrat"/>
                        </a:rPr>
                        <a:t>Acero, espesor mínimo 1,5 mm; de obra, espesor mínimo 5 cm; u otros de similar resistencia mecánica</a:t>
                      </a:r>
                    </a:p>
                  </a:txBody>
                  <a:tcPr>
                    <a:solidFill>
                      <a:srgbClr val="F6F8FC"/>
                    </a:solidFill>
                  </a:tcPr>
                </a:tc>
              </a:tr>
              <a:tr h="670560">
                <a:tc>
                  <a:txBody>
                    <a:bodyPr/>
                    <a:lstStyle/>
                    <a:p>
                      <a:r>
                        <a:rPr sz="1200" b="0" i="0">
                          <a:solidFill>
                            <a:srgbClr val="1B2330"/>
                          </a:solidFill>
                          <a:latin typeface="Montserrat"/>
                        </a:rPr>
                        <a:t>Acceso a armarios de regulación y contadores</a:t>
                      </a:r>
                    </a:p>
                  </a:txBody>
                  <a:tcPr>
                    <a:solidFill>
                      <a:srgbClr val="FFFFFF"/>
                    </a:solidFill>
                  </a:tcPr>
                </a:tc>
                <a:tc>
                  <a:txBody>
                    <a:bodyPr/>
                    <a:lstStyle/>
                    <a:p>
                      <a:r>
                        <a:rPr sz="1200" b="0" i="0">
                          <a:solidFill>
                            <a:srgbClr val="1B2330"/>
                          </a:solidFill>
                          <a:latin typeface="Montserrat"/>
                        </a:rPr>
                        <a:t>Materiales metálicos (acero, cobre, etc.)</a:t>
                      </a:r>
                    </a:p>
                  </a:txBody>
                  <a:tcPr>
                    <a:solidFill>
                      <a:srgbClr val="FFFFFF"/>
                    </a:solidFill>
                  </a:tcPr>
                </a:tc>
                <a:tc>
                  <a:txBody>
                    <a:bodyPr/>
                    <a:lstStyle/>
                    <a:p>
                      <a:r>
                        <a:rPr sz="1200" b="0" i="0">
                          <a:solidFill>
                            <a:srgbClr val="1B2330"/>
                          </a:solidFill>
                          <a:latin typeface="Montserrat"/>
                        </a:rPr>
                        <a:t>Materiales metálicos (acero, cobre, etc.), espesor mínimo 1,5 mm</a:t>
                      </a:r>
                    </a:p>
                  </a:txBody>
                  <a:tcPr>
                    <a:solidFill>
                      <a:srgbClr val="FFFFFF"/>
                    </a:solidFill>
                  </a:tcPr>
                </a:tc>
              </a:tr>
              <a:tr h="670560">
                <a:tc>
                  <a:txBody>
                    <a:bodyPr/>
                    <a:lstStyle/>
                    <a:p>
                      <a:r>
                        <a:rPr sz="1200" b="0" i="0">
                          <a:solidFill>
                            <a:srgbClr val="1B2330"/>
                          </a:solidFill>
                          <a:latin typeface="Montserrat"/>
                        </a:rPr>
                        <a:t>Tuberías situadas en el suelo o subsuelo</a:t>
                      </a:r>
                    </a:p>
                  </a:txBody>
                  <a:tcPr>
                    <a:solidFill>
                      <a:srgbClr val="F6F8FC"/>
                    </a:solidFill>
                  </a:tcPr>
                </a:tc>
                <a:tc>
                  <a:txBody>
                    <a:bodyPr/>
                    <a:lstStyle/>
                    <a:p>
                      <a:r>
                        <a:rPr sz="1200" b="0" i="0">
                          <a:solidFill>
                            <a:srgbClr val="1B2330"/>
                          </a:solidFill>
                          <a:latin typeface="Montserrat"/>
                        </a:rPr>
                        <a:t>Materiales metálicos (acero, cobre, etc.)</a:t>
                      </a:r>
                    </a:p>
                  </a:txBody>
                  <a:tcPr>
                    <a:solidFill>
                      <a:srgbClr val="F6F8FC"/>
                    </a:solidFill>
                  </a:tcPr>
                </a:tc>
                <a:tc>
                  <a:txBody>
                    <a:bodyPr/>
                    <a:lstStyle/>
                    <a:p>
                      <a:r>
                        <a:rPr sz="1200" b="0" i="0">
                          <a:solidFill>
                            <a:srgbClr val="1B2330"/>
                          </a:solidFill>
                          <a:latin typeface="Montserrat"/>
                        </a:rPr>
                        <a:t>De obra, espesor mínimo 5 cm</a:t>
                      </a:r>
                    </a:p>
                  </a:txBody>
                  <a:tcPr>
                    <a:solidFill>
                      <a:srgbClr val="F6F8FC"/>
                    </a:solidFill>
                  </a:tcPr>
                </a:tc>
              </a:tr>
              <a:tr h="670560">
                <a:tc>
                  <a:txBody>
                    <a:bodyPr/>
                    <a:lstStyle/>
                    <a:p>
                      <a:r>
                        <a:rPr sz="1200" b="0" i="0">
                          <a:solidFill>
                            <a:srgbClr val="1B2330"/>
                          </a:solidFill>
                          <a:latin typeface="Montserrat"/>
                        </a:rPr>
                        <a:t>Ventilación de tuberías (resto de casos) (*)</a:t>
                      </a:r>
                    </a:p>
                  </a:txBody>
                  <a:tcPr>
                    <a:solidFill>
                      <a:srgbClr val="FFFFFF"/>
                    </a:solidFill>
                  </a:tcPr>
                </a:tc>
                <a:tc>
                  <a:txBody>
                    <a:bodyPr/>
                    <a:lstStyle/>
                    <a:p>
                      <a:r>
                        <a:rPr sz="1200" b="0" i="0">
                          <a:solidFill>
                            <a:srgbClr val="1B2330"/>
                          </a:solidFill>
                          <a:latin typeface="Montserrat"/>
                        </a:rPr>
                        <a:t>Materiales metálicos (acero, cobre, etc.)</a:t>
                      </a:r>
                    </a:p>
                  </a:txBody>
                  <a:tcPr>
                    <a:solidFill>
                      <a:srgbClr val="FFFFFF"/>
                    </a:solidFill>
                  </a:tcPr>
                </a:tc>
                <a:tc>
                  <a:txBody>
                    <a:bodyPr/>
                    <a:lstStyle/>
                    <a:p>
                      <a:r>
                        <a:rPr sz="1200" b="0" i="0">
                          <a:solidFill>
                            <a:srgbClr val="1B2330"/>
                          </a:solidFill>
                          <a:latin typeface="Montserrat"/>
                        </a:rPr>
                        <a:t>Metálicos, u otros con rigidez anular ≥ 3 veces su diámetro (PVC, PC, PP según UNE-EN 61386-24)</a:t>
                      </a:r>
                    </a:p>
                  </a:txBody>
                  <a:tcPr>
                    <a:solidFill>
                      <a:srgbClr val="FFFFFF"/>
                    </a:solidFill>
                  </a:tcPr>
                </a:tc>
              </a:tr>
              <a:tr h="670560">
                <a:tc>
                  <a:txBody>
                    <a:bodyPr/>
                    <a:lstStyle/>
                    <a:p>
                      <a:r>
                        <a:rPr sz="1200" b="0" i="0">
                          <a:solidFill>
                            <a:srgbClr val="1B2330"/>
                          </a:solidFill>
                          <a:latin typeface="Montserrat"/>
                        </a:rPr>
                        <a:t>Ventilación de tuberías en sótanos (*)</a:t>
                      </a:r>
                    </a:p>
                  </a:txBody>
                  <a:tcPr>
                    <a:solidFill>
                      <a:srgbClr val="F6F8FC"/>
                    </a:solidFill>
                  </a:tcPr>
                </a:tc>
                <a:tc>
                  <a:txBody>
                    <a:bodyPr/>
                    <a:lstStyle/>
                    <a:p>
                      <a:r>
                        <a:rPr sz="1200" b="0" i="0">
                          <a:solidFill>
                            <a:srgbClr val="1B2330"/>
                          </a:solidFill>
                          <a:latin typeface="Montserrat"/>
                        </a:rPr>
                        <a:t>De obra</a:t>
                      </a:r>
                    </a:p>
                  </a:txBody>
                  <a:tcPr>
                    <a:solidFill>
                      <a:srgbClr val="F6F8FC"/>
                    </a:solidFill>
                  </a:tcPr>
                </a:tc>
                <a:tc>
                  <a:txBody>
                    <a:bodyPr/>
                    <a:lstStyle/>
                    <a:p>
                      <a:r>
                        <a:rPr sz="1200" b="0" i="0">
                          <a:solidFill>
                            <a:srgbClr val="1B2330"/>
                          </a:solidFill>
                          <a:latin typeface="Montserrat"/>
                        </a:rPr>
                        <a:t>Materiales que aseguren la estanqueidad</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Con qué material va cada vaina y conducto según su función; (*) el material debe asegurar la estanqueidad. De obra, mínimo 5 cm; de acero, mínimo 1,5 mm.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PRUEBA DE ESTANQUEIDAD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examen final del tubo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Toda instalación nueva se prueba</a:t>
            </a:r>
          </a:p>
          <a:p>
            <a:pPr>
              <a:spcAft>
                <a:spcPts val="1100"/>
              </a:spcAft>
            </a:pPr>
            <a:r>
              <a:rPr sz="1600" b="1" i="0">
                <a:solidFill>
                  <a:srgbClr val="E8801A"/>
                </a:solidFill>
                <a:latin typeface="Montserrat"/>
              </a:rPr>
              <a:t>▸  </a:t>
            </a:r>
            <a:r>
              <a:rPr sz="1600" b="0" i="0">
                <a:solidFill>
                  <a:srgbClr val="1B2330"/>
                </a:solidFill>
                <a:latin typeface="Montserrat"/>
              </a:rPr>
              <a:t>Antes de la puesta en servicio</a:t>
            </a:r>
          </a:p>
          <a:p>
            <a:pPr>
              <a:spcAft>
                <a:spcPts val="1100"/>
              </a:spcAft>
            </a:pPr>
            <a:r>
              <a:rPr sz="1600" b="1" i="0">
                <a:solidFill>
                  <a:srgbClr val="E8801A"/>
                </a:solidFill>
                <a:latin typeface="Montserrat"/>
              </a:rPr>
              <a:t>▸  </a:t>
            </a:r>
            <a:r>
              <a:rPr sz="1600" b="0" i="0">
                <a:solidFill>
                  <a:srgbClr val="1B2330"/>
                </a:solidFill>
                <a:latin typeface="Montserrat"/>
              </a:rPr>
              <a:t>UNE 60670 parte 8</a:t>
            </a:r>
          </a:p>
          <a:p>
            <a:pPr>
              <a:spcAft>
                <a:spcPts val="1100"/>
              </a:spcAft>
            </a:pPr>
            <a:r>
              <a:rPr sz="1600" b="1" i="0">
                <a:solidFill>
                  <a:srgbClr val="E8801A"/>
                </a:solidFill>
                <a:latin typeface="Montserrat"/>
              </a:rPr>
              <a:t>▸  </a:t>
            </a:r>
            <a:r>
              <a:rPr sz="1600" b="0" i="0">
                <a:solidFill>
                  <a:srgbClr val="1B2330"/>
                </a:solidFill>
                <a:latin typeface="Montserrat"/>
              </a:rPr>
              <a:t>Regulación y contadores no se prueban</a:t>
            </a:r>
          </a:p>
        </p:txBody>
      </p:sp>
      <p:sp>
        <p:nvSpPr>
          <p:cNvPr id="9" name="imgph" descr="IMGQ:pressure gauge manometer on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on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PRESIONES Y TIEMPOS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tiempos base de la prueba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MOP 2–5 bar → 60 min</a:t>
            </a:r>
          </a:p>
          <a:p>
            <a:pPr>
              <a:spcAft>
                <a:spcPts val="1100"/>
              </a:spcAft>
            </a:pPr>
            <a:r>
              <a:rPr sz="1600" b="1" i="0">
                <a:solidFill>
                  <a:srgbClr val="E8801A"/>
                </a:solidFill>
                <a:latin typeface="Montserrat"/>
              </a:rPr>
              <a:t>▸  </a:t>
            </a:r>
            <a:r>
              <a:rPr sz="1600" b="0" i="0">
                <a:solidFill>
                  <a:srgbClr val="1B2330"/>
                </a:solidFill>
                <a:latin typeface="Montserrat"/>
              </a:rPr>
              <a:t>MOP 0,4–2 bar → 30 min</a:t>
            </a:r>
          </a:p>
          <a:p>
            <a:pPr>
              <a:spcAft>
                <a:spcPts val="1100"/>
              </a:spcAft>
            </a:pPr>
            <a:r>
              <a:rPr sz="1600" b="1" i="0">
                <a:solidFill>
                  <a:srgbClr val="E8801A"/>
                </a:solidFill>
                <a:latin typeface="Montserrat"/>
              </a:rPr>
              <a:t>▸  </a:t>
            </a:r>
            <a:r>
              <a:rPr sz="1600" b="0" i="0">
                <a:solidFill>
                  <a:srgbClr val="1B2330"/>
                </a:solidFill>
                <a:latin typeface="Montserrat"/>
              </a:rPr>
              <a:t>MOP 0,05–0,4 bar → 30 min</a:t>
            </a:r>
          </a:p>
          <a:p>
            <a:pPr>
              <a:spcAft>
                <a:spcPts val="1100"/>
              </a:spcAft>
            </a:pPr>
            <a:r>
              <a:rPr sz="1600" b="1" i="0">
                <a:solidFill>
                  <a:srgbClr val="E8801A"/>
                </a:solidFill>
                <a:latin typeface="Montserrat"/>
              </a:rPr>
              <a:t>▸  </a:t>
            </a:r>
            <a:r>
              <a:rPr sz="1600" b="0" i="0">
                <a:solidFill>
                  <a:srgbClr val="1B2330"/>
                </a:solidFill>
                <a:latin typeface="Montserrat"/>
              </a:rPr>
              <a:t>MOP ≤ 0,05 bar → 15 min</a:t>
            </a:r>
          </a:p>
        </p:txBody>
      </p:sp>
      <p:sp>
        <p:nvSpPr>
          <p:cNvPr id="9" name="imgph" descr="IMGQ:digital pressure gauge display rea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digital pressure gauge display reading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PRUEBA DE ESTANQUEIDAD</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Presiones de prueba y tiempos (UNE 60670-8)</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804672">
                <a:tc>
                  <a:txBody>
                    <a:bodyPr/>
                    <a:lstStyle/>
                    <a:p>
                      <a:r>
                        <a:rPr sz="1100" b="1" i="0">
                          <a:solidFill>
                            <a:srgbClr val="FFFFFF"/>
                          </a:solidFill>
                          <a:latin typeface="Montserrat"/>
                        </a:rPr>
                        <a:t>MOP (bar)</a:t>
                      </a:r>
                    </a:p>
                  </a:txBody>
                  <a:tcPr>
                    <a:solidFill>
                      <a:srgbClr val="1E2761"/>
                    </a:solidFill>
                  </a:tcPr>
                </a:tc>
                <a:tc>
                  <a:txBody>
                    <a:bodyPr/>
                    <a:lstStyle/>
                    <a:p>
                      <a:r>
                        <a:rPr sz="1100" b="1" i="0">
                          <a:solidFill>
                            <a:srgbClr val="FFFFFF"/>
                          </a:solidFill>
                          <a:latin typeface="Montserrat"/>
                        </a:rPr>
                        <a:t>Presión de prueba P (bar)</a:t>
                      </a:r>
                    </a:p>
                  </a:txBody>
                  <a:tcPr>
                    <a:solidFill>
                      <a:srgbClr val="1E2761"/>
                    </a:solidFill>
                  </a:tcPr>
                </a:tc>
                <a:tc>
                  <a:txBody>
                    <a:bodyPr/>
                    <a:lstStyle/>
                    <a:p>
                      <a:r>
                        <a:rPr sz="1100" b="1" i="0">
                          <a:solidFill>
                            <a:srgbClr val="FFFFFF"/>
                          </a:solidFill>
                          <a:latin typeface="Montserrat"/>
                        </a:rPr>
                        <a:t>q ≤ 150 m³(n)/h</a:t>
                      </a:r>
                    </a:p>
                  </a:txBody>
                  <a:tcPr>
                    <a:solidFill>
                      <a:srgbClr val="1E2761"/>
                    </a:solidFill>
                  </a:tcPr>
                </a:tc>
                <a:tc>
                  <a:txBody>
                    <a:bodyPr/>
                    <a:lstStyle/>
                    <a:p>
                      <a:r>
                        <a:rPr sz="1100" b="1" i="0">
                          <a:solidFill>
                            <a:srgbClr val="FFFFFF"/>
                          </a:solidFill>
                          <a:latin typeface="Montserrat"/>
                        </a:rPr>
                        <a:t>150 &lt; q ≤ 600 m³(n)/h</a:t>
                      </a:r>
                    </a:p>
                  </a:txBody>
                  <a:tcPr>
                    <a:solidFill>
                      <a:srgbClr val="1E2761"/>
                    </a:solidFill>
                  </a:tcPr>
                </a:tc>
                <a:tc>
                  <a:txBody>
                    <a:bodyPr/>
                    <a:lstStyle/>
                    <a:p>
                      <a:r>
                        <a:rPr sz="1100" b="1" i="0">
                          <a:solidFill>
                            <a:srgbClr val="FFFFFF"/>
                          </a:solidFill>
                          <a:latin typeface="Montserrat"/>
                        </a:rPr>
                        <a:t>q &gt; 600 m³(n)/h</a:t>
                      </a:r>
                    </a:p>
                  </a:txBody>
                  <a:tcPr>
                    <a:solidFill>
                      <a:srgbClr val="1E2761"/>
                    </a:solidFill>
                  </a:tcPr>
                </a:tc>
              </a:tr>
              <a:tr h="804672">
                <a:tc>
                  <a:txBody>
                    <a:bodyPr/>
                    <a:lstStyle/>
                    <a:p>
                      <a:r>
                        <a:rPr sz="1100" b="0" i="0">
                          <a:solidFill>
                            <a:srgbClr val="1B2330"/>
                          </a:solidFill>
                          <a:latin typeface="Montserrat"/>
                        </a:rPr>
                        <a:t>2 &lt; MOP ≤ 5</a:t>
                      </a:r>
                    </a:p>
                  </a:txBody>
                  <a:tcPr>
                    <a:solidFill>
                      <a:srgbClr val="F6F8FC"/>
                    </a:solidFill>
                  </a:tcPr>
                </a:tc>
                <a:tc>
                  <a:txBody>
                    <a:bodyPr/>
                    <a:lstStyle/>
                    <a:p>
                      <a:r>
                        <a:rPr sz="1100" b="0" i="0">
                          <a:solidFill>
                            <a:srgbClr val="1B2330"/>
                          </a:solidFill>
                          <a:latin typeface="Montserrat"/>
                        </a:rPr>
                        <a:t>&gt; 7</a:t>
                      </a:r>
                    </a:p>
                  </a:txBody>
                  <a:tcPr>
                    <a:solidFill>
                      <a:srgbClr val="F6F8FC"/>
                    </a:solidFill>
                  </a:tcPr>
                </a:tc>
                <a:tc>
                  <a:txBody>
                    <a:bodyPr/>
                    <a:lstStyle/>
                    <a:p>
                      <a:r>
                        <a:rPr sz="1100" b="0" i="0">
                          <a:solidFill>
                            <a:srgbClr val="1B2330"/>
                          </a:solidFill>
                          <a:latin typeface="Montserrat"/>
                        </a:rPr>
                        <a:t>60 min</a:t>
                      </a:r>
                    </a:p>
                  </a:txBody>
                  <a:tcPr>
                    <a:solidFill>
                      <a:srgbClr val="F6F8FC"/>
                    </a:solidFill>
                  </a:tcPr>
                </a:tc>
                <a:tc>
                  <a:txBody>
                    <a:bodyPr/>
                    <a:lstStyle/>
                    <a:p>
                      <a:r>
                        <a:rPr sz="1100" b="0" i="0">
                          <a:solidFill>
                            <a:srgbClr val="1B2330"/>
                          </a:solidFill>
                          <a:latin typeface="Montserrat"/>
                        </a:rPr>
                        <a:t>6 h, con registro de P y T</a:t>
                      </a:r>
                    </a:p>
                  </a:txBody>
                  <a:tcPr>
                    <a:solidFill>
                      <a:srgbClr val="F6F8FC"/>
                    </a:solidFill>
                  </a:tcPr>
                </a:tc>
                <a:tc>
                  <a:txBody>
                    <a:bodyPr/>
                    <a:lstStyle/>
                    <a:p>
                      <a:r>
                        <a:rPr sz="1100" b="0" i="0">
                          <a:solidFill>
                            <a:srgbClr val="1B2330"/>
                          </a:solidFill>
                          <a:latin typeface="Montserrat"/>
                        </a:rPr>
                        <a:t>24 h, con registro de P y T</a:t>
                      </a:r>
                    </a:p>
                  </a:txBody>
                  <a:tcPr>
                    <a:solidFill>
                      <a:srgbClr val="F6F8FC"/>
                    </a:solidFill>
                  </a:tcPr>
                </a:tc>
              </a:tr>
              <a:tr h="804672">
                <a:tc>
                  <a:txBody>
                    <a:bodyPr/>
                    <a:lstStyle/>
                    <a:p>
                      <a:r>
                        <a:rPr sz="1100" b="0" i="0">
                          <a:solidFill>
                            <a:srgbClr val="1B2330"/>
                          </a:solidFill>
                          <a:latin typeface="Montserrat"/>
                        </a:rPr>
                        <a:t>0,4 &lt; MOP ≤ 2</a:t>
                      </a:r>
                    </a:p>
                  </a:txBody>
                  <a:tcPr>
                    <a:solidFill>
                      <a:srgbClr val="FFFFFF"/>
                    </a:solidFill>
                  </a:tcPr>
                </a:tc>
                <a:tc>
                  <a:txBody>
                    <a:bodyPr/>
                    <a:lstStyle/>
                    <a:p>
                      <a:r>
                        <a:rPr sz="1100" b="0" i="0">
                          <a:solidFill>
                            <a:srgbClr val="1B2330"/>
                          </a:solidFill>
                          <a:latin typeface="Montserrat"/>
                        </a:rPr>
                        <a:t>&gt; 3,5</a:t>
                      </a:r>
                    </a:p>
                  </a:txBody>
                  <a:tcPr>
                    <a:solidFill>
                      <a:srgbClr val="FFFFFF"/>
                    </a:solidFill>
                  </a:tcPr>
                </a:tc>
                <a:tc>
                  <a:txBody>
                    <a:bodyPr/>
                    <a:lstStyle/>
                    <a:p>
                      <a:r>
                        <a:rPr sz="1100" b="0" i="0">
                          <a:solidFill>
                            <a:srgbClr val="1B2330"/>
                          </a:solidFill>
                          <a:latin typeface="Montserrat"/>
                        </a:rPr>
                        <a:t>30 min</a:t>
                      </a:r>
                    </a:p>
                  </a:txBody>
                  <a:tcPr>
                    <a:solidFill>
                      <a:srgbClr val="FFFFFF"/>
                    </a:solidFill>
                  </a:tcPr>
                </a:tc>
                <a:tc>
                  <a:txBody>
                    <a:bodyPr/>
                    <a:lstStyle/>
                    <a:p>
                      <a:r>
                        <a:rPr sz="1100" b="0" i="0">
                          <a:solidFill>
                            <a:srgbClr val="1B2330"/>
                          </a:solidFill>
                          <a:latin typeface="Montserrat"/>
                        </a:rPr>
                        <a:t>6 h, con registro de P y T</a:t>
                      </a:r>
                    </a:p>
                  </a:txBody>
                  <a:tcPr>
                    <a:solidFill>
                      <a:srgbClr val="FFFFFF"/>
                    </a:solidFill>
                  </a:tcPr>
                </a:tc>
                <a:tc>
                  <a:txBody>
                    <a:bodyPr/>
                    <a:lstStyle/>
                    <a:p>
                      <a:r>
                        <a:rPr sz="1100" b="0" i="0">
                          <a:solidFill>
                            <a:srgbClr val="1B2330"/>
                          </a:solidFill>
                          <a:latin typeface="Montserrat"/>
                        </a:rPr>
                        <a:t>24 h, con registro de P y T</a:t>
                      </a:r>
                    </a:p>
                  </a:txBody>
                  <a:tcPr>
                    <a:solidFill>
                      <a:srgbClr val="FFFFFF"/>
                    </a:solidFill>
                  </a:tcPr>
                </a:tc>
              </a:tr>
              <a:tr h="804672">
                <a:tc>
                  <a:txBody>
                    <a:bodyPr/>
                    <a:lstStyle/>
                    <a:p>
                      <a:r>
                        <a:rPr sz="1100" b="0" i="0">
                          <a:solidFill>
                            <a:srgbClr val="1B2330"/>
                          </a:solidFill>
                          <a:latin typeface="Montserrat"/>
                        </a:rPr>
                        <a:t>0,05 &lt; MOP ≤ 0,4</a:t>
                      </a:r>
                    </a:p>
                  </a:txBody>
                  <a:tcPr>
                    <a:solidFill>
                      <a:srgbClr val="F6F8FC"/>
                    </a:solidFill>
                  </a:tcPr>
                </a:tc>
                <a:tc>
                  <a:txBody>
                    <a:bodyPr/>
                    <a:lstStyle/>
                    <a:p>
                      <a:r>
                        <a:rPr sz="1100" b="0" i="0">
                          <a:solidFill>
                            <a:srgbClr val="1B2330"/>
                          </a:solidFill>
                          <a:latin typeface="Montserrat"/>
                        </a:rPr>
                        <a:t>&gt; 1</a:t>
                      </a:r>
                    </a:p>
                  </a:txBody>
                  <a:tcPr>
                    <a:solidFill>
                      <a:srgbClr val="F6F8FC"/>
                    </a:solidFill>
                  </a:tcPr>
                </a:tc>
                <a:tc>
                  <a:txBody>
                    <a:bodyPr/>
                    <a:lstStyle/>
                    <a:p>
                      <a:r>
                        <a:rPr sz="1100" b="0" i="0">
                          <a:solidFill>
                            <a:srgbClr val="1B2330"/>
                          </a:solidFill>
                          <a:latin typeface="Montserrat"/>
                        </a:rPr>
                        <a:t>30 min (15 min si tramo &lt; 15 m)</a:t>
                      </a:r>
                    </a:p>
                  </a:txBody>
                  <a:tcPr>
                    <a:solidFill>
                      <a:srgbClr val="F6F8FC"/>
                    </a:solidFill>
                  </a:tcPr>
                </a:tc>
                <a:tc>
                  <a:txBody>
                    <a:bodyPr/>
                    <a:lstStyle/>
                    <a:p>
                      <a:r>
                        <a:rPr sz="1100" b="0" i="0">
                          <a:solidFill>
                            <a:srgbClr val="1B2330"/>
                          </a:solidFill>
                          <a:latin typeface="Montserrat"/>
                        </a:rPr>
                        <a:t>6 h, con registro de P y T</a:t>
                      </a:r>
                    </a:p>
                  </a:txBody>
                  <a:tcPr>
                    <a:solidFill>
                      <a:srgbClr val="F6F8FC"/>
                    </a:solidFill>
                  </a:tcPr>
                </a:tc>
                <a:tc>
                  <a:txBody>
                    <a:bodyPr/>
                    <a:lstStyle/>
                    <a:p>
                      <a:r>
                        <a:rPr sz="1100" b="0" i="0">
                          <a:solidFill>
                            <a:srgbClr val="1B2330"/>
                          </a:solidFill>
                          <a:latin typeface="Montserrat"/>
                        </a:rPr>
                        <a:t>24 h, con registro de P y T</a:t>
                      </a:r>
                    </a:p>
                  </a:txBody>
                  <a:tcPr>
                    <a:solidFill>
                      <a:srgbClr val="F6F8FC"/>
                    </a:solidFill>
                  </a:tcPr>
                </a:tc>
              </a:tr>
              <a:tr h="804672">
                <a:tc>
                  <a:txBody>
                    <a:bodyPr/>
                    <a:lstStyle/>
                    <a:p>
                      <a:r>
                        <a:rPr sz="1100" b="0" i="0">
                          <a:solidFill>
                            <a:srgbClr val="1B2330"/>
                          </a:solidFill>
                          <a:latin typeface="Montserrat"/>
                        </a:rPr>
                        <a:t>MOP ≤ 0,05</a:t>
                      </a:r>
                    </a:p>
                  </a:txBody>
                  <a:tcPr>
                    <a:solidFill>
                      <a:srgbClr val="FFFFFF"/>
                    </a:solidFill>
                  </a:tcPr>
                </a:tc>
                <a:tc>
                  <a:txBody>
                    <a:bodyPr/>
                    <a:lstStyle/>
                    <a:p>
                      <a:r>
                        <a:rPr sz="1100" b="0" i="0">
                          <a:solidFill>
                            <a:srgbClr val="1B2330"/>
                          </a:solidFill>
                          <a:latin typeface="Montserrat"/>
                        </a:rPr>
                        <a:t>&gt; 0,1</a:t>
                      </a:r>
                    </a:p>
                  </a:txBody>
                  <a:tcPr>
                    <a:solidFill>
                      <a:srgbClr val="FFFFFF"/>
                    </a:solidFill>
                  </a:tcPr>
                </a:tc>
                <a:tc>
                  <a:txBody>
                    <a:bodyPr/>
                    <a:lstStyle/>
                    <a:p>
                      <a:r>
                        <a:rPr sz="1100" b="0" i="0">
                          <a:solidFill>
                            <a:srgbClr val="1B2330"/>
                          </a:solidFill>
                          <a:latin typeface="Montserrat"/>
                        </a:rPr>
                        <a:t>15 min (10 min si tramo &lt; 10 m)</a:t>
                      </a:r>
                    </a:p>
                  </a:txBody>
                  <a:tcPr>
                    <a:solidFill>
                      <a:srgbClr val="FFFFFF"/>
                    </a:solidFill>
                  </a:tcPr>
                </a:tc>
                <a:tc>
                  <a:txBody>
                    <a:bodyPr/>
                    <a:lstStyle/>
                    <a:p>
                      <a:r>
                        <a:rPr sz="1100" b="0" i="0">
                          <a:solidFill>
                            <a:srgbClr val="1B2330"/>
                          </a:solidFill>
                          <a:latin typeface="Montserrat"/>
                        </a:rPr>
                        <a:t>6 h, con registro de P y T</a:t>
                      </a:r>
                    </a:p>
                  </a:txBody>
                  <a:tcPr>
                    <a:solidFill>
                      <a:srgbClr val="FFFFFF"/>
                    </a:solidFill>
                  </a:tcPr>
                </a:tc>
                <a:tc>
                  <a:txBody>
                    <a:bodyPr/>
                    <a:lstStyle/>
                    <a:p>
                      <a:r>
                        <a:rPr sz="1100" b="0" i="0">
                          <a:solidFill>
                            <a:srgbClr val="1B2330"/>
                          </a:solidFill>
                          <a:latin typeface="Montserrat"/>
                        </a:rPr>
                        <a:t>24 h, con registro de P y T</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MOP es la presión máxima de operación. La tabla da la presión y el tiempo de prueba según la MOP y el caudal; a más presión y más caudal, más tiempo.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es el tiempo base de prueba de estanqueidad para una MOP de 2 a 5 bar con caudal bajo (q ≤ 150 m³(n)/h)?</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60 min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30 min</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15 min</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6 h</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es el tiempo base de prueba de estanqueidad para una MOP de 2 a 5 bar con caudal bajo (q ≤ 150 m³(n)/h)?</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60 min</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Es el tramo de mayor presión de la tabla, así que pide el tiempo base más largo: 60 minutos. Los tramos de mucho caudal ya se van a 6 o 24 horas con registro.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PRUEBA BIEN HECHA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Manómetro fino y aparatos desmontados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Aguja entre 35 % y 75 %</a:t>
            </a:r>
          </a:p>
          <a:p>
            <a:pPr>
              <a:spcAft>
                <a:spcPts val="1100"/>
              </a:spcAft>
            </a:pPr>
            <a:r>
              <a:rPr sz="1600" b="1" i="0">
                <a:solidFill>
                  <a:srgbClr val="E8801A"/>
                </a:solidFill>
                <a:latin typeface="Montserrat"/>
              </a:rPr>
              <a:t>▸  </a:t>
            </a:r>
            <a:r>
              <a:rPr sz="1600" b="0" i="0">
                <a:solidFill>
                  <a:srgbClr val="1B2330"/>
                </a:solidFill>
                <a:latin typeface="Montserrat"/>
              </a:rPr>
              <a:t>Baja presión: columna de agua en U</a:t>
            </a:r>
          </a:p>
          <a:p>
            <a:pPr>
              <a:spcAft>
                <a:spcPts val="1100"/>
              </a:spcAft>
            </a:pPr>
            <a:r>
              <a:rPr sz="1600" b="1" i="0">
                <a:solidFill>
                  <a:srgbClr val="E8801A"/>
                </a:solidFill>
                <a:latin typeface="Montserrat"/>
              </a:rPr>
              <a:t>▸  </a:t>
            </a:r>
            <a:r>
              <a:rPr sz="1600" b="0" i="0">
                <a:solidFill>
                  <a:srgbClr val="1B2330"/>
                </a:solidFill>
                <a:latin typeface="Montserrat"/>
              </a:rPr>
              <a:t>Desmonta electroválvulas y filtros</a:t>
            </a:r>
          </a:p>
          <a:p>
            <a:pPr>
              <a:spcAft>
                <a:spcPts val="1100"/>
              </a:spcAft>
            </a:pPr>
            <a:r>
              <a:rPr sz="1600" b="1" i="0">
                <a:solidFill>
                  <a:srgbClr val="E8801A"/>
                </a:solidFill>
                <a:latin typeface="Montserrat"/>
              </a:rPr>
              <a:t>▸  </a:t>
            </a:r>
            <a:r>
              <a:rPr sz="1600" b="0" i="0">
                <a:solidFill>
                  <a:srgbClr val="1B2330"/>
                </a:solidFill>
                <a:latin typeface="Montserrat"/>
              </a:rPr>
              <a:t>Recomprueba a la MOP con todo montado</a:t>
            </a:r>
          </a:p>
        </p:txBody>
      </p:sp>
      <p:sp>
        <p:nvSpPr>
          <p:cNvPr id="9" name="imgph" descr="IMGQ:U tube water column manome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U tube water column manometer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PRUEBA DE ESTANQUEIDAD</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Rango del manómetro (toma tipo «peterson»)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005840">
                <a:tc>
                  <a:txBody>
                    <a:bodyPr/>
                    <a:lstStyle/>
                    <a:p>
                      <a:r>
                        <a:rPr sz="1200" b="1" i="0">
                          <a:solidFill>
                            <a:srgbClr val="FFFFFF"/>
                          </a:solidFill>
                          <a:latin typeface="Montserrat"/>
                        </a:rPr>
                        <a:t>Tipo de presión</a:t>
                      </a:r>
                    </a:p>
                  </a:txBody>
                  <a:tcPr>
                    <a:solidFill>
                      <a:srgbClr val="1E2761"/>
                    </a:solidFill>
                  </a:tcPr>
                </a:tc>
                <a:tc>
                  <a:txBody>
                    <a:bodyPr/>
                    <a:lstStyle/>
                    <a:p>
                      <a:r>
                        <a:rPr sz="1200" b="1" i="0">
                          <a:solidFill>
                            <a:srgbClr val="FFFFFF"/>
                          </a:solidFill>
                          <a:latin typeface="Montserrat"/>
                        </a:rPr>
                        <a:t>Rango del manómetro</a:t>
                      </a:r>
                    </a:p>
                  </a:txBody>
                  <a:tcPr>
                    <a:solidFill>
                      <a:srgbClr val="1E2761"/>
                    </a:solidFill>
                  </a:tcPr>
                </a:tc>
              </a:tr>
              <a:tr h="1005840">
                <a:tc>
                  <a:txBody>
                    <a:bodyPr/>
                    <a:lstStyle/>
                    <a:p>
                      <a:r>
                        <a:rPr sz="1200" b="0" i="0">
                          <a:solidFill>
                            <a:srgbClr val="1B2330"/>
                          </a:solidFill>
                          <a:latin typeface="Montserrat"/>
                        </a:rPr>
                        <a:t>MPA</a:t>
                      </a:r>
                    </a:p>
                  </a:txBody>
                  <a:tcPr>
                    <a:solidFill>
                      <a:srgbClr val="F6F8FC"/>
                    </a:solidFill>
                  </a:tcPr>
                </a:tc>
                <a:tc>
                  <a:txBody>
                    <a:bodyPr/>
                    <a:lstStyle/>
                    <a:p>
                      <a:r>
                        <a:rPr sz="1200" b="0" i="0">
                          <a:solidFill>
                            <a:srgbClr val="1B2330"/>
                          </a:solidFill>
                          <a:latin typeface="Montserrat"/>
                        </a:rPr>
                        <a:t>0 bar a 1,6 bar</a:t>
                      </a:r>
                    </a:p>
                  </a:txBody>
                  <a:tcPr>
                    <a:solidFill>
                      <a:srgbClr val="F6F8FC"/>
                    </a:solidFill>
                  </a:tcPr>
                </a:tc>
              </a:tr>
              <a:tr h="1005840">
                <a:tc>
                  <a:txBody>
                    <a:bodyPr/>
                    <a:lstStyle/>
                    <a:p>
                      <a:r>
                        <a:rPr sz="1200" b="0" i="0">
                          <a:solidFill>
                            <a:srgbClr val="1B2330"/>
                          </a:solidFill>
                          <a:latin typeface="Montserrat"/>
                        </a:rPr>
                        <a:t>MPB (0,4 &lt; MOP ≤ 2 bar)</a:t>
                      </a:r>
                    </a:p>
                  </a:txBody>
                  <a:tcPr>
                    <a:solidFill>
                      <a:srgbClr val="FFFFFF"/>
                    </a:solidFill>
                  </a:tcPr>
                </a:tc>
                <a:tc>
                  <a:txBody>
                    <a:bodyPr/>
                    <a:lstStyle/>
                    <a:p>
                      <a:r>
                        <a:rPr sz="1200" b="0" i="0">
                          <a:solidFill>
                            <a:srgbClr val="1B2330"/>
                          </a:solidFill>
                          <a:latin typeface="Montserrat"/>
                        </a:rPr>
                        <a:t>0 bar a 6 bar</a:t>
                      </a:r>
                    </a:p>
                  </a:txBody>
                  <a:tcPr>
                    <a:solidFill>
                      <a:srgbClr val="FFFFFF"/>
                    </a:solidFill>
                  </a:tcPr>
                </a:tc>
              </a:tr>
              <a:tr h="1005840">
                <a:tc>
                  <a:txBody>
                    <a:bodyPr/>
                    <a:lstStyle/>
                    <a:p>
                      <a:r>
                        <a:rPr sz="1200" b="0" i="0">
                          <a:solidFill>
                            <a:srgbClr val="1B2330"/>
                          </a:solidFill>
                          <a:latin typeface="Montserrat"/>
                        </a:rPr>
                        <a:t>MPB (2 &lt; MOP ≤ 5 bar)</a:t>
                      </a:r>
                    </a:p>
                  </a:txBody>
                  <a:tcPr>
                    <a:solidFill>
                      <a:srgbClr val="F6F8FC"/>
                    </a:solidFill>
                  </a:tcPr>
                </a:tc>
                <a:tc>
                  <a:txBody>
                    <a:bodyPr/>
                    <a:lstStyle/>
                    <a:p>
                      <a:r>
                        <a:rPr sz="1200" b="0" i="0">
                          <a:solidFill>
                            <a:srgbClr val="1B2330"/>
                          </a:solidFill>
                          <a:latin typeface="Montserrat"/>
                        </a:rPr>
                        <a:t>0 bar a 10 bar</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Qué rango de manómetro toca según la presión de la instalación; con el manómetro equivocado la lectura miente y puedes dar por buena una fuga.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trazas, unes y pruebas el tubo con criterio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3 cm a todo; nunca por ascensores, chimeneas o transformadores</a:t>
            </a:r>
          </a:p>
          <a:p>
            <a:pPr>
              <a:spcAft>
                <a:spcPts val="1200"/>
              </a:spcAft>
            </a:pPr>
            <a:r>
              <a:rPr sz="2000" b="1" i="0">
                <a:solidFill>
                  <a:srgbClr val="F4A24C"/>
                </a:solidFill>
                <a:latin typeface="Montserrat"/>
              </a:rPr>
              <a:t>✓  </a:t>
            </a:r>
            <a:r>
              <a:rPr sz="1900" b="0" i="0">
                <a:solidFill>
                  <a:srgbClr val="FFFFFF"/>
                </a:solidFill>
                <a:latin typeface="Montserrat"/>
              </a:rPr>
              <a:t>Blanda ≤ 0,05 bar, fuerte por encima y en garajes</a:t>
            </a:r>
          </a:p>
          <a:p>
            <a:pPr>
              <a:spcAft>
                <a:spcPts val="1200"/>
              </a:spcAft>
            </a:pPr>
            <a:r>
              <a:rPr sz="2000" b="1" i="0">
                <a:solidFill>
                  <a:srgbClr val="F4A24C"/>
                </a:solidFill>
                <a:latin typeface="Montserrat"/>
              </a:rPr>
              <a:t>✓  </a:t>
            </a:r>
            <a:r>
              <a:rPr sz="1900" b="0" i="0">
                <a:solidFill>
                  <a:srgbClr val="FFFFFF"/>
                </a:solidFill>
                <a:latin typeface="Montserrat"/>
              </a:rPr>
              <a:t>Press-fitting hasta 5 bar; inox-cobre con manguito CuNi</a:t>
            </a:r>
          </a:p>
          <a:p>
            <a:pPr>
              <a:spcAft>
                <a:spcPts val="1200"/>
              </a:spcAft>
            </a:pPr>
            <a:r>
              <a:rPr sz="2000" b="1" i="0">
                <a:solidFill>
                  <a:srgbClr val="F4A24C"/>
                </a:solidFill>
                <a:latin typeface="Montserrat"/>
              </a:rPr>
              <a:t>✓  </a:t>
            </a:r>
            <a:r>
              <a:rPr sz="1900" b="0" i="0">
                <a:solidFill>
                  <a:srgbClr val="FFFFFF"/>
                </a:solidFill>
                <a:latin typeface="Montserrat"/>
              </a:rPr>
              <a:t>Prueba UNE 60670-8: sin ella no hay gas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El tubo ya no se te resiste. En el último vídeo: aire, humos y papeles.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
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cerramos la guía?</a:t>
            </a:r>
          </a:p>
          <a:p>
            <a:r>
              <a:t>N2: Con lo que más vidas salva. El aparato quema gas, y hay que darle aire para quemar y sacarle los humos. En este vídeo vemos cómo se ventilan los locales con aparatos a gas, qué volumen mínimo necesitan, cómo funcionan los patios, qué exige el RITE para evacuar los productos de la combustión, y qué certificados hay que rellenar al terminar. Ventilaciones, volúmenes, patios, humos y papeles, todo con sus cifras exactas. Es el vídeo de la seguridad de verdad.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dicen estas tres cifras?</a:t>
            </a:r>
          </a:p>
          <a:p>
            <a:r>
              <a:t>N2: Son el esqueleto de la seguridad del vídeo. Ciento veinticinco centímetros cuadrados es la ventilación mínima que pide un local con gas, por pequeña que sea la potencia. Ocho metros cúbicos es el volumen mínimo con una cocina de gas de hasta dieciséis kilovatios. Y ochenta y seis por ciento es el rendimiento que exige la normativa europea a las calderas pequeñas, que en la práctica solo alcanza la condensación. Aire, espacio y rendimiento: las tres patas de este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no se puede poner un aparato a gas en un dormitorio o un baño?</a:t>
            </a:r>
          </a:p>
          <a:p>
            <a:r>
              <a:t>N2: Por la misma razón por la que no metíamos ahí el contador: son sitios donde te encierras con la puerta cerrada, a veces a dormir, a veces a ducharte con vapor, y sin ventilación garantizada. Un aparato quemando gas consume aire y suelta humos; si la combustión se tuerce, aparece monóxido de carbono, que no huele. En un cuarto cerrado eso es una intoxicación silenciosa. Por eso ni tipo A ni tipo B en dormitorio, baño, ducha o aseo. Y otra prohibición hermana: nada de aparatos por debajo del primer sótano, porque el gas natural tiene densidad relativa menor que uno, es más ligero que el aire, y en un sótano profundo no ventila. Ojo al dato de examen: se considera primer sótano aquel cuyo suelo está, en todas sus paredes, a más de sesenta centímetros por debajo del nivel de la calle. Y una última pieza: las salas de máquinas de más de setenta kilovatios ya no las gobierna esta norma, tienen la suya propia.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Veo el número metro y medio cuadrado dos veces. ¿Es lo mismo?</a:t>
            </a:r>
          </a:p>
          <a:p>
            <a:r>
              <a:t>N2: Coincide el número, pero son dos conceptos distintos, así que cuidado. El primero es local único: dos locales cuentan como uno solo si los une una abertura permanente de más de metro y medio cuadrado. ¿Para qué sirve? Para sumar sus volúmenes y su ventilación como si fueran una sola estancia; por ejemplo, una cocina abierta al comedor. El segundo es zona exterior: una galería, una terraza o un balcón cuentan como exterior, a efectos de la norma, si tienen una abertura permanente de al menos metro y medio cuadrado hacia fuera o a un patio, y con el borde superior de esa abertura a medio metro o menos del techo. Truco para no confundirlos: cuando veas metro y medio cuadrado, pregúntate qué te están diciendo, si me están uniendo dos locales en uno o me están sacando una galería al exterior.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no puede ir nunca un aparato a gas?</a:t>
            </a:r>
          </a:p>
          <a:p>
            <a:r>
              <a:t>N2: Primera parte de la tabla de reglas. Nada de aparatos, ni tipo A ni tipo B, en dormitorio, baño, ducha o aseo, porque son cuartos donde te encierras y una fuga intoxica. Nada de aparatos más ligeros que el aire, con densidad relativa menor que uno, por debajo del primer sótano, porque abajo no ventila; y ojo al dato: es primer sótano el que tiene el suelo a más de sesenta centímetros por debajo de la calle en todas sus paredes. Tampoco un aparato de tipo B de tiro natural en un local cuya puerta comunique con un dormitorio o un baño. Y define local único: dos estancias cuentan como una sola si las une una abertura permanente de más de metro y medio cuadrado. Ejemplo de obra: una cocina abierta al salón por un hueco grande se calcula como un solo local.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ventilación indirecta y cuándo una galería cuenta como exterior?</a:t>
            </a:r>
          </a:p>
          <a:p>
            <a:r>
              <a:t>N2: Segunda parte de la tabla. Ventilación indirecta es la que sale a través de un local contiguo que tenga ventilación directa y que no sea dormitorio ni baño. Una galería, terraza o balcón cuenta como zona exterior si tiene una abertura permanente de al menos metro y medio cuadrado y con el borde superior a medio metro o menos del techo. En cocinas, un tipo B de tiro natural convive con el extractor solo si un dispositivo evita que se peleen, arrancando en dos minutos o menos. Y en un loft se admiten aparatos tipo A solo para cocinar, con seguridad de llama, con la suma de potencias hasta doce kilovatios y un volumen del loft de al menos ochenta metros cúbicos. Ejemplo de obra: para meter el contador en un loft diáfano, su volumen tiene que pasar de setenta y cinco metros cúbicos.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necesito una abertura de ventilación y cuándo dos?</a:t>
            </a:r>
          </a:p>
          <a:p>
            <a:r>
              <a:t>N2: Depende del tipo de aparato y de la potencia. Recordemos: los aparatos tipo A sueltan los humos al propio local, como una cocina de gas; los tipo B los sacan por un conducto. Si en el local solo hay tipo B, o hay tipo A hasta dieciséis kilovatios, basta con una abertura en la parte alta: extremo inferior a un metro con ochenta o más del suelo y a cuarenta centímetros o menos del techo. Pero en cuanto los aparatos tipo A pasan de dieciséis kilovatios, ya necesitas dos aberturas: una abajo, con el extremo superior a cincuenta centímetros o menos del suelo, y otra arriba; y la de arriba tiene que ser obligatoriamente directa al exterior. La lógica: más potencia significa más humos y más aire necesario, así que separas la entrada de aire por abajo y la salida por arriba. Dieciséis kilovatios es la frontera que tienes que recordar.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hace falta una abertura y cuándo dos?</a:t>
            </a:r>
          </a:p>
          <a:p>
            <a:r>
              <a:t>N2: Depende del tipo de aparato y de la potencia. Con solo tipo B, o con tipo A hasta dieciséis kilovatios, basta una abertura arriba: a un metro con ochenta o más del suelo y a cuarenta centímetros o menos del techo. En cuanto el tipo A pasa de dieciséis kilovatios, necesitas dos aberturas: una abajo, con su extremo superior a cincuenta centímetros o menos del suelo, y otra arriba; y la de arriba, obligatoriamente directa al exterior. La lógica: más potencia, más humos, así que separas la entrada de aire baja de la salida alta. Ejemplo de obra: en una cocina con solo una encimera pequeña, una rejilla alta basta; si sumas varios aparatos de tipo A y pasas de dieciséis kilovatios, rejilla arriba y rejilla abajo.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calculo los centímetros de ventilación que necesita una cocina?</a:t>
            </a:r>
          </a:p>
          <a:p>
            <a:r>
              <a:t>N2: Con una regla que es la estrella del tema, muy fácil de recordar. Sumas la potencia de todos los aparatos de circuito abierto del local, en kilovatios, y la multiplicas por cinco: eso te da los centímetros cuadrados de ventilación. Pero con un suelo: nunca menos de ciento veinticinco centímetros cuadrados. Por eso una cocina de diez kilovatios, que por la cuenta daría cincuenta, se queda igualmente en ciento veinticinco. Dos avisos importantes. Uno: los aparatos estancos no cuentan en esta suma, porque cogen el aire de fuera y sueltan los humos fuera por su propio conducto; solo cuentan los de circuito abierto, que respiran del local. Y dos: cuando la potencia de tipo A pasa de dieciséis kilovatios y necesitas dos aberturas, repartes esa superficie en dos mitades iguales, una arriba y otra abajo.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aplican las reglas en un caso real de hasta dieciséis kilovatios?</a:t>
            </a:r>
          </a:p>
          <a:p>
            <a:r>
              <a:t>N2: La tabla resuelve tres ejemplos. Una cocina de tipo A de diez kilovatios: por cinco daría cincuenta, pero el mínimo manda, ciento veinticinco centímetros cuadrados, ocho metros cúbicos de volumen y ventilación rápida de cuatro décimas de metro cuadrado. Una cocina de diez más una caldera de veinticuatro, mezcla de tipo A y B: sumas treinta y cuatro por cinco, ciento setenta centímetros cuadrados. Y solo una caldera de tipo B de veinticuatro kilovatios: por cinco daría ciento veinte, sube al mínimo de ciento veinticinco, pero como es estanca conducida no precisa volumen ni ventilación rápida. Fíjate: el tipo B conectado saca los humos fuera, por eso no pide volumen; el tipo A respira del local y sí lo pide.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ventilación se calcula multiplicando por cinco, pero hay un suelo por debajo del cual no se baja. La pregunta: ¿cuál es la superficie mínima de ventilación de un local con gas, aunque la potencia sea pequeña? Opción A, ciento veinticinco centímetros cuadrados. Opción B, cien centímetros cuadrados. Opción C, ciento cincuenta centímetros cuadrados. Opción D, doscientos centímetros cuadrados. Piénsalo un momento.</a:t>
            </a:r>
          </a:p>
          <a:p>
            <a:r>
              <a:t>N2: Pista: una cocina pequeña de diez kilovatios daría cincuenta por la cuenta, pero la norma no deja bajar de cierto valor.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ciento veinticinco centímetros cuadrados. La regla es kilovatios por cinco, pero con ese suelo de ciento veinticinco: aunque la cuenta dé menos, no bajas de ahí. Por eso una cocina de diez kilovatios, que daría cincuenta, se queda en ciento veinticinco. El truco: multiplica por cinco, y si te sale menos de ciento veinticinco, sube al mínimo. Y recuerda, los aparatos estancos no cuentan, solo el circuito abierto.</a:t>
            </a:r>
          </a:p>
          <a:p>
            <a:r>
              <a:t>N1: Ciento veinticinco, ese es el suelo.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la ventilación rápida y qué cambia al pasar de treinta kilovatios?</a:t>
            </a:r>
          </a:p>
          <a:p>
            <a:r>
              <a:t>N2: La ventilación rápida es una abertura pensada para evacuar deprisa un exceso de gas si algo va mal; el valor típico que verás es de cuatro décimas de metro cuadrado. Ahora, fíjate en la frontera de los treinta kilovatios, porque marca el nivel de exigencia. Por debajo de treinta, la ventilación puede ser directa o indirecta. Pero por encima de treinta, la ventilación tiene que ser directa al exterior y, además, montas un sistema de corte de gas por fallo de la ventilación, con una electroválvula de rearme manual colocada fuera del local. ¿Por qué fuera? Para que, si salta, alguien tenga que ir, comprobar qué ha pasado y rearmarla a conciencia, no desde dentro sin mirar. La idea de fondo se repite en todo el tema: más potencia, más humos posibles, más seguridad activa.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el local pasa de dieciséis kilovatios?</a:t>
            </a:r>
          </a:p>
          <a:p>
            <a:r>
              <a:t>N2: Dos ejemplos. Dos cocinas, una de diez y otra de quince, suman veinticinco kilovatios: por cinco, ciento veinticinco centímetros cuadrados, repartidos en dos mitades iguales, arriba y abajo; el volumen es veinticinco menos ocho, diecisiete metros cúbicos; y como no pasa de treinta, la ventilación puede ser directa o indirecta. Si añades una plancha de veinte, llegas a cuarenta y cinco kilovatios: doscientos veinticinco centímetros cuadrados repartidos, treinta y siete metros cúbicos de volumen, y aquí sí, por pasar de treinta, la ventilación tiene que ser directa, con sistema de corte por fallo y electroválvula de rearme manual colocada fuera del local. Más potencia, más exigencia.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 volumen mínimo pide un local con una cocina de gas?</a:t>
            </a:r>
          </a:p>
          <a:p>
            <a:r>
              <a:t>N2: Depende de la potencia y del tipo de aparato. Para aparatos tipo A de cocción o gasodomésticos, hasta dieciséis kilovatios se piden ocho metros cúbicos fijos. Por encima de dieciséis, la cuenta es el número de kilovatios menos ocho, en metros cúbicos: por ejemplo, veinticinco kilovatios dan diecisiete metros cúbicos; cuarenta y cinco kilovatios, treinta y siete. Para aparatos de calefacción directa la fórmula es otra: potencia por once, con un mínimo de quince metros cúbicos. Y si hay de los dos tipos, calculas cada volumen y los sumas. Ojo a lo importante: los aparatos estancos y los de circuito abierto conducido no piden volumen mínimo, porque no vierten sus humos al local. El volumen es para los que respiran y sueltan en la propia estancia.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 volumen mínimo pide una cocina de gas?</a:t>
            </a:r>
          </a:p>
          <a:p>
            <a:r>
              <a:t>N2: La tabla lo da según el aparato tipo A. Cocción o gasodomésticos hasta dieciséis kilovatios, ocho metros cúbicos fijos; por encima, la cuenta es kilovatios menos ocho, así que veinticinco dan diecisiete y cuarenta y cinco dan treinta y siete. Calefacción directa, potencia por once, con un mínimo de quince metros cúbicos. Y si hay de los dos tipos, calculas cada volumen y los sumas. En edificio ya construido puedes bajar entre seis y ocho metros cúbicos si incrementas un cincuenta por ciento la ventilación. Recuerda: los estancos y conducidos no piden volumen, porque no sueltan humos al local. Ejemplo de obra: una cocina con una encimera de doce kilovatios pide ocho metros cúbicos de local.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local grande de restaurante, ¿siempre necesita extractor mecánico?</a:t>
            </a:r>
          </a:p>
          <a:p>
            <a:r>
              <a:t>N2: No siempre, y aquí está el matiz. Cuando el consumo calorífico total del local supera los treinta kilovatios, la norma pide un sistema de impulsión o extracción mecánica de aire que garantice la renovación continua, más un corte de gas por fallo de la ventilación, para que si el extractor se para, el gas se cierre. El caudal de aire que hay que extraer sale de una fórmula sencilla: diez por la superficie en planta del local, en metros cuadrados, más dos por la suma de potencias de los aparatos tipo A que no sean de calefacción. Ahora, la excepción práctica: no hace falta ese extractor mecánico cuando el local es tan grande que la relación entre su volumen y el consumo supera el valor diez. O sea, si hay aire de sobra por metro cúbico, el propio local ventila. Más gas en poco sitio, ventilación forzada; mucho sitio para poco gas, te libras.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un piso antiguo no siempre hay ocho metros cúbicos. ¿Qué se hace?</a:t>
            </a:r>
          </a:p>
          <a:p>
            <a:r>
              <a:t>N2: Buena pregunta, porque en obra existente el hueco es el que es. La norma te deja bajar del volumen de la tabla, pero siempre compensando con más seguridad. Si el local tiene entre el setenta y cinco y el cien por cien del volumen que pedía la tabla, incrementas un cincuenta por ciento la superficie de ventilación. Si tiene entre el cincuenta y el setenta y cinco por ciento, además de ese cincuenta por ciento más de ventilación, tienes que poner un detector de monóxido de carbono que, cuando detecte, accione una electroválvula normalmente cerrada y corte el gas. Menos aire, más seguridad activa. Y hay una línea roja que no se cruza nunca: el volumen bruto del local no puede ser inferior a seis metros cúbicos, por muchas compensaciones que pongas. Por debajo de ahí, no hay aparato de gas que valga.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patio de ventilación y patio de evacuación?</a:t>
            </a:r>
          </a:p>
          <a:p>
            <a:r>
              <a:t>N2: No es lo mismo meter aire que sacar humos, y por eso hay dos patios con exigencias distintas. El patio de ventilación, que sirve para dar aire a los locales, pide poco: una superficie mínima de tres metros cuadrados, con el lado menor de al menos un metro, y si está techado por arriba, tiene que dejar dos metros cuadrados libres de comunicación con el exterior. El patio de evacuación es donde desembocan los humos de aparatos conducidos, calderas y calentadores, y pide más: la superficie sale de multiplicar cero coma cinco metros cuadrados por el número de locales, con un mínimo de cuatro metros cuadrados, y si está techado, tiene que dejar libre el veinticinco por ciento de su sección. Y cuidado con el error clásico: ese número, ene te, son los locales que pueden tener aparatos conducidos, no las ventanas ni las puertas que dan al patio. Cuenta habitaciones que sueltan humos, no huecos.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medidas pide un patio de ventilación?</a:t>
            </a:r>
          </a:p>
          <a:p>
            <a:r>
              <a:t>N2: Este patio sirve para meter aire a los locales. Pide poco: una superficie mínima de tres metros cuadrados, tanto en finca nueva como en ya construida, con el lado menor de al menos un metro, y si está techado por arriba, tiene que dejar dos metros cuadrados libres de comunicación con el exterior. En finca ya construida, el mínimo de tres metros cuadrados se pide cuando no es posible una entrada de aire directa por un conducto de trescientos centímetros cuadrados en la parte inferior. Ejemplo de obra: un patinillo de tres metros cuadrados con un metro de lado menor sirve como patio de ventilación.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 el patio de evacuación?</a:t>
            </a:r>
          </a:p>
          <a:p>
            <a:r>
              <a:t>N2: Este es por donde salen los humos de los aparatos conducidos, calderas y calentadores, y pide más. En finca nueva no hay superficie mínima porque todo va a cubierta, y no pueden evacuar al patio aparatos tipo B ni C. En finca ya construida, la superficie sale de multiplicar cero coma cinco metros cuadrados por el número de locales, con un mínimo de cuatro metros cuadrados, y si está techado, deja libre el veinticinco por ciento de su sección. Ojo al error clásico: ene te son los locales que pueden tener aparatos conducidos, no las ventanas ni las puertas. Ejemplo de obra: ocho locales que desembocan dan ocho por cero coma cinco, cuatro metros cuadrados, que además es el mínimo.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solo cambio una caldera vieja por otra, ¿tengo que cumplir la norma nueva?</a:t>
            </a:r>
          </a:p>
          <a:p>
            <a:r>
              <a:t>N2: Sí, y esta es una frase que cae en el examen: cambiar el aparato equivale a aplicar el RITE. Aunque la instalación sea antigua, en el momento en que sustituyes la caldera entras en las reglas actuales, al menos en la parte reformada. ¿Y qué exigen esas reglas? Que los productos de la combustión se evacúen a cubierta mediante conducto, con carácter general; solo se admite salida directa a fachada en viviendas unifamiliares o en edificios habitados donde se demuestre que no se puede llevar un conducto a cubierta. Que las calderas sean de condensación, de clase cinco de óxidos de nitrógeno, las menos contaminantes, y estancas. Y algo tajante: queda prohibido instalar nuevos calentadores atmosféricos de tiro natural en interiores, ni de estreno ni como recambio. La norma empuja hacia aparatos estancos, que cogen y sueltan el aire por conducto y no roban el aire del local.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Solo vas a cambiar una caldera vieja por otra; ¿puedes poner cualquiera? La pregunta: al sustituir una caldera antigua por una nueva, ¿qué exige el RITE para la caldera? Opción A, que sea de condensación, clase cinco de óxidos de nitrógeno y estanca. Opción B, que sea atmosférica de tiro natural. Opción C, que sea de tiro forzado y clase tres. Opción D, cualquiera que tenga marcado CE. Piénsalo.</a:t>
            </a:r>
          </a:p>
          <a:p>
            <a:r>
              <a:t>N2: Pista: recuerda la frase de examen; cambiar el aparato es aplicar el reglamento nuevo, aunque la instalación sea antigua.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de condensación, clase cinco de óxidos de nitrógeno y estanca. Al sustituir la caldera entras en las reglas actuales, con los humos evacuados a cubierta por conducto. Y ojo, porque la opción B es justo lo prohibido: queda vetado montar nuevos calentadores atmosféricos de tiro natural en interior, ni de estreno ni como recambio. El truco: cambiar el aparato es aplicar el RITE, y el RITE pide condensación, clase cinco y estanca.</a:t>
            </a:r>
          </a:p>
          <a:p>
            <a:r>
              <a:t>N1: Condensación, clase cinco y estanca; lo demás, fuera.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prácticamente todas las calderas nuevas son de condensación?</a:t>
            </a:r>
          </a:p>
          <a:p>
            <a:r>
              <a:t>N2: Por rendimiento. La normativa europea de productos, la que hay que cumplir para conseguir el marcado CE, fija rendimientos mínimos. Para calderas de menos de setenta kilovatios, que son casi todas las de vivienda, pide del orden de un ochenta y seis por ciento o más, referido al poder calorífico superior del gas. Y ese ochenta y seis por ciento, en la práctica, solo se alcanza con tecnología de condensación, que es la que aprovecha también el calor del vapor de agua de los humos en vez de tirarlo por la chimenea. Por eso el RITE impone condensación en obra nueva: no es un capricho, es que un aparato normal no llega a ese rendimiento. Quédate con el número redondo: ochenta y seis por ciento mínimo, y eso significa caldera de condensación.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rendimiento hay que darle a una caldera pequeña?</a:t>
            </a:r>
          </a:p>
          <a:p>
            <a:r>
              <a:t>N2: La tabla compara, para una caldera de veinticinco kilovatios, lo que pide el reglamento de instalaciones térmicas y lo que pide la normativa europea de productos. Fíjate en la columna europea: en todos los escenarios, obra nueva o reforma, gas natural o gasóleo, exige ochenta y seis por ciento. Y ese ochenta y seis por ciento, en calderas de menos de setenta kilovatios, en la práctica solo lo alcanza la condensación, que aprovecha también el calor del vapor de agua de los humos. Por eso el reglamento impone condensación en obra nueva. Quédate con el número redondo: ochenta y seis por ciento mínimo, caldera de condensación.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una caldera B3x?</a:t>
            </a:r>
          </a:p>
          <a:p>
            <a:r>
              <a:t>N2: Tiene un truco de seguridad muy elegante: el tubo concéntrico, que es un tubo dentro de otro tubo. El de fuera, el de mayor diámetro, mete aire para la combustión; el de dentro saca los humos. La gracia está aquí: si el tubo de humos tuviera una fuga, el propio tubo de aire, que lo envuelve, reaspira esa fuga hacia dentro del aparato en lugar de dejarla salir al local. Por eso el de aire tiene que envolver por completo al de humos. Lo que convierte una estanca en B3x es que coge el aire del propio local donde está, no de la calle. Son ideales para renovar los shunts comunitarios, esos conductos colectivos de las calderas atmosféricas antiguas, pero con una condición estricta: todos los vecinos conectados al mismo conducto tienen que montar tiro forzado. Si queda uno solo con tiro natural, la evacuación colectiva falla y los humos vuelven al interior. Y ojo, las bolas giratorias en la salida de humos del shunt no valen: si se paran, dificultan la salida.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la caldera saca los humos a fachada, ¿qué distancias tengo que respetar?</a:t>
            </a:r>
          </a:p>
          <a:p>
            <a:r>
              <a:t>N2: Hay dos cifras que caen siempre. La primera: si la salida está bajo el techo de una terraza, balcón o galería, tiene que quedar a más de treinta centímetros por debajo de ese techo, para que los humos no se acumulen pegados al forjado. La segunda: frente a la salida se respeta una distancia a ventanas y huecos, típicamente dos metros con veinte, para que el humo no se meta por la ventana de al lado. Ahora los matices: si evacúas a una zona privada tuya, esa distancia de dos veinte no hace falta, pero mantienes como mínimo treinta centímetros del suelo. Y un detalle que confunde: estas distancias se miden solo en tu misma planta; lo que haya en los pisos de arriba no se tiene en cuenta. Por último, cuando la fachada va justa de espacio, existen deflectores divergentes que dispersan el flujo y permiten reducir la distancia mínima. Una salida mal puesta ennegrece la fachada y devuelve humos al vecino.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los IRG y cómo no confundirlos?</a:t>
            </a:r>
          </a:p>
          <a:p>
            <a:r>
              <a:t>N2: Son los certificados de instalación que rellena y firma la empresa instaladora al terminar, y los memorizas siguiendo el recorrido del gas. IRG uno es el certificado de acometida interior, el tramo que va de la calle al edificio. IRG dos es el de la instalación común, el montante que comparten los vecinos. IRG tres es el de la instalación individual, ya dentro de la vivienda. Uno, dos y tres, de fuera hacia dentro. Estos papeles se entregan a la empresa distribuidora para la puesta en servicio. Y ojo a dos casos en los que no hace falta certificado, que caen en el examen: si no modificas más de un metro de instalación, se considera una simple reparación; y si la instalación no ha estado más de un año de baja y tiene la inspección periódica vigente sin anomalías, tampoco. Fuera de esos casos, el que no se documenta no existe para la distribuidora.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calcula la potencia de diseño de una vivienda?</a:t>
            </a:r>
          </a:p>
          <a:p>
            <a:r>
              <a:t>N2: Con una fórmula que tiene truco de simultaneidad. La potencia de diseño individual, la Piv, se calcula así: coges los dos aparatos de mayor consumo y entran enteros; el resto de aparatos entran a la mitad, divididos entre dos; sumas todo y lo multiplicas por uno coma diez, que es un coeficiente corrector. ¿Por qué los demás a la mitad? Porque no todos los aparatos de la casa tiran a tope a la vez; es simultaneidad. Y hay un suelo importantísimo: aunque la cuenta te dé menos, la Piv se toma como mínimo treinta kilovatios. Ese es el punto de partida para dimensionar la vivienda. Con esa potencia eliges el contador, que para una vivienda normal es el G cuatro, doméstico, que da hasta seis metros cúbicos por hora, y el regulador individual, que da igual si entra en media presión A o B, siempre sale a veinte milésimas de bar, baja presión, que es lo que piden los aparatos domésticos.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contador se pone en una vivienda normal?</a:t>
            </a:r>
          </a:p>
          <a:p>
            <a:r>
              <a:t>N2: La tabla da, para cada modelo de contador de membranas, su caudal máximo y mínimo en metros cúbicos normales por hora. El de casa es el ge cuatro, doméstico, que da hasta seis metros cúbicos hora. Según sube la demanda, subes de modelo: ge seis hasta diez, ge dieciséis hasta veinticinco, y así hasta el ge ciento sesenta, que llega a doscientos cincuenta. El mínimo importa para medir bien los consumos pequeños, como un piloto. Ejemplo de obra: para una vivienda con cocina, caldera y calentador, el ge cuatro basta; si es un local con mucha potencia, subes de modelo.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qué presión entrega el regulador de una vivienda?</a:t>
            </a:r>
          </a:p>
          <a:p>
            <a:r>
              <a:t>N2: La tabla lo deja claro: da igual que el regulador individual coja media presión A, de cinco centésimas a cuatro décimas de bar, o media presión B, de cuatro décimas a cinco bar; a la salida siempre entrega veinte milésimas de bar, que es baja presión, la que piden los aparatos domésticos. No lo confundas con el regulador común, que sale a otra presión. Ejemplo de obra: si a la vivienda le llega media presión B, el regulador individual la baja hasta baja presión antes de los aparatos.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Calculas la potencia de diseño de una vivienda y te sale un número bajo, pero hay un suelo que no se baja. La pregunta: ¿cuál es la potencia de diseño individual, la Piv, mínima de una vivienda? Opción A, treinta kilovatios. Opción B, veinte kilovatios. Opción C, dieciséis kilovatios. Opción D, cuarenta kilovatios. Piénsalo un momento.</a:t>
            </a:r>
          </a:p>
          <a:p>
            <a:r>
              <a:t>N2: Pista: es la potencia mínima de partida para dimensionar cualquier vivienda, aunque tenga pocos aparatos.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N2: La respuesta correcta es la opción A: treinta kilovatios. Aunque la fórmula, con los dos aparatos mayores enteros, el resto a la mitad y todo por uno coma diez, te dé menos, la potencia de diseño individual se toma como mínimo treinta kilovatios. Es el suelo para no quedarte corto al dimensionar la instalación. El truco: haz la cuenta, pero si baja de treinta, súbela a treinta.</a:t>
            </a:r>
          </a:p>
          <a:p>
            <a:r>
              <a:t>N1: Treinta kilovatios, el punto de partida.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instalación común no se dimensiona sumando la potencia de todas las viviendas?</a:t>
            </a:r>
          </a:p>
          <a:p>
            <a:r>
              <a:t>N2: Porque sería absurdo pensar que todos los vecinos van a consumir a tope en el mismo instante. Eso es la simultaneidad. La potencia de diseño de la comunitaria, la Pc, se calcula aplicando un factor de simultaneidad, la ese, que baja cuanto más viviendas hay: en una vivienda es uno, y va bajando hasta quedarse en torno a quince o treinta y cinco centésimas cuando pasas de treinta viviendas. Hay dos columnas: la ese uno, cuando no hay calefacción individual, baja más rápido; y la ese dos, cuando sí hay calefacción individual, baja más despacio, porque las calderas de todos sí coinciden en las mañanas frías de invierno. El caudal de diseño sale de dividir esa potencia entre el poder calorífico superior. Y no confundas los reguladores: el común coge media presión B, de cuatro décimas a cinco bar, y la baja a media presión A o a baja presión, mientras que el individual salía a veinte milésimas. Cada uno a lo suyo.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elige el armario de regulación de un edificio?</a:t>
            </a:r>
          </a:p>
          <a:p>
            <a:r>
              <a:t>N2: La tabla asocia cada modelo de armario con su caudal nominal en metros cúbicos normales por hora: el a seis da seis, el a diez da diez, y así hasta el a cien, que da cien. Se elige según el caudal de diseño de la instalación común, que sale de la potencia con su simultaneidad dividida entre el poder calorífico. Ejemplo de obra: si la comunidad necesita un caudal de veinte metros cúbicos hora, coges el modelo de veinticinco, el inmediato superior, nunca uno que se quede corto.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qué presión trabaja el regulador de la instalación común?</a:t>
            </a:r>
          </a:p>
          <a:p>
            <a:r>
              <a:t>N2: La tabla lo dice: el regulador común coge media presión B, de cuatro décimas a cinco bar, y la baja a media presión A, cincuenta y cinco milésimas, o a baja presión, veintiuna milésimas, según cómo esté diseñado el edificio. No lo confundas con el regulador individual, que salía a veinte milésimas. Cada uno a lo suyo. Ejemplo de obra: en un edificio con montante en media presión A, el regulador común deja media presión A en el montante, y luego cada regulador individual la baja a baja presión.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la instalación común no se dimensiona sumando todas las viviendas a lo bruto?</a:t>
            </a:r>
          </a:p>
          <a:p>
            <a:r>
              <a:t>N2: Porque no todos los vecinos consumen a tope a la vez; eso es la simultaneidad. Esta tabla da el factor según el número de viviendas, de una a dieciséis. Fíjate en el patrón: con una vivienda el factor es uno; con dos ya baja, y así va cayendo. Hay dos columnas: la ese uno, cuando no hay calefacción individual, que baja más rápido; y la ese dos, con calefacción individual, que baja más despacio, porque las calderas de todos sí coinciden en las mañanas frías. Ejemplo de obra: en un edificio de diez viviendas sin calefacción individual aplicas cero coma veintiséis; con calefacción individual, cero coma cincuenta y dos.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cuando el edificio tiene muchas viviendas?</a:t>
            </a:r>
          </a:p>
          <a:p>
            <a:r>
              <a:t>N2: Segunda parte de la tabla, de diecisiete viviendas en adelante. El factor sigue bajando, pero cada vez más despacio, hasta que a partir de treinta viviendas se queda plano: cero coma quince sin calefacción individual y cero coma treinta y cinco con calefacción individual. La idea de fondo: cuantos más vecinos, menos probable es que todos abran el gas en el mismo instante, así que el factor baja; pero llega un punto en que ya no baja más. Ejemplo de obra: un bloque grande de cuarenta viviendas se dimensiona con cero coma quince o cero coma treinta y cinco, según lleve o no calefacción individual.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el final del tema. ¿Cómo lo cierro todo en la cabeza?</a:t>
            </a:r>
          </a:p>
          <a:p>
            <a:r>
              <a:t>N2: Reconstruyamos el hilo, porque este vídeo es el de la seguridad de verdad. Todo parte de una idea: un aparato quema gas, y para hacerlo bien necesita aire limpio para la combustión y una salida para los humos; si le falta cualquiera de las dos, la combustión se tuerce y aparece monóxido de carbono, que no huele y mata. Por eso nada de aparatos donde se duerme o se ducha, ni bajo el primer sótano donde el gas ligero no ventila. Por eso la ventilación se calcula, kilovatios por cinco con mínimo de ciento veinticinco centímetros cuadrados, y el volumen también, kilovatios menos ocho. Por eso, al cambiar un aparato, se despierta el RITE y exige condensación, clase cinco, estanca y humos a cubierta, con sus distancias de treinta centímetros al techo y dos con veinte a los huecos. Y por eso, al terminar, se firma: IRG uno para la acometida, IRG dos para la común con su simultaneidad, IRG tres para la individual con la Piv mínima de treinta kilovatios. En el examen te lo preguntarán con números concretos, una ventilación, un volumen, una distancia de humos, un certificado; en la obra, cada una de estas cifras separa una instalación segura de una intoxicación por monóxido. Con esto has completado la guía práctica de Gas a la primera: ya sabes preparar los contadores, trazar y probar el tubo, y darle aire y salida a los aparatos. Ya no montas gas de cualquier manera: lo montas bien, a la primera. Enhorabuena, hoy eres gasista de pleno derecho.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Gas a la primera</a:t>
            </a:r>
          </a:p>
          <a:p>
            <a:r>
              <a:rPr sz="2200" b="0" i="0">
                <a:solidFill>
                  <a:srgbClr val="CADCFC"/>
                </a:solidFill>
                <a:latin typeface="Montserrat"/>
              </a:rPr>
              <a:t>Ventilación, evacuación de humos y certificados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17 · Guía práctica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125 cm²</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ventilación mínima de un local con gas</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8 m³</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volumen mínimo con cocina ≤ 16 kW</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86 %</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rendimiento ErP en calderas pequeñas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Ventilaciones</a:t>
            </a:r>
          </a:p>
          <a:p>
            <a:pPr>
              <a:spcAft>
                <a:spcPts val="900"/>
              </a:spcAft>
            </a:pPr>
            <a:r>
              <a:rPr sz="1800" b="1" i="0">
                <a:solidFill>
                  <a:srgbClr val="E8801A"/>
                </a:solidFill>
                <a:latin typeface="Montserrat"/>
              </a:rPr>
              <a:t>02   </a:t>
            </a:r>
            <a:r>
              <a:rPr sz="1700" b="0" i="0">
                <a:solidFill>
                  <a:srgbClr val="1B2330"/>
                </a:solidFill>
                <a:latin typeface="Montserrat"/>
              </a:rPr>
              <a:t>Aberturas de ventilación</a:t>
            </a:r>
          </a:p>
          <a:p>
            <a:pPr>
              <a:spcAft>
                <a:spcPts val="900"/>
              </a:spcAft>
            </a:pPr>
            <a:r>
              <a:rPr sz="1800" b="1" i="0">
                <a:solidFill>
                  <a:srgbClr val="E8801A"/>
                </a:solidFill>
                <a:latin typeface="Montserrat"/>
              </a:rPr>
              <a:t>03   </a:t>
            </a:r>
            <a:r>
              <a:rPr sz="1700" b="0" i="0">
                <a:solidFill>
                  <a:srgbClr val="1B2330"/>
                </a:solidFill>
                <a:latin typeface="Montserrat"/>
              </a:rPr>
              <a:t>Cálculo de la ventilación</a:t>
            </a:r>
          </a:p>
          <a:p>
            <a:pPr>
              <a:spcAft>
                <a:spcPts val="900"/>
              </a:spcAft>
            </a:pPr>
            <a:r>
              <a:rPr sz="1800" b="1" i="0">
                <a:solidFill>
                  <a:srgbClr val="E8801A"/>
                </a:solidFill>
                <a:latin typeface="Montserrat"/>
              </a:rPr>
              <a:t>04   </a:t>
            </a:r>
            <a:r>
              <a:rPr sz="1700" b="0" i="0">
                <a:solidFill>
                  <a:srgbClr val="1B2330"/>
                </a:solidFill>
                <a:latin typeface="Montserrat"/>
              </a:rPr>
              <a:t>Ventilación rápida</a:t>
            </a:r>
          </a:p>
          <a:p>
            <a:pPr>
              <a:spcAft>
                <a:spcPts val="900"/>
              </a:spcAft>
            </a:pPr>
            <a:r>
              <a:rPr sz="1800" b="1" i="0">
                <a:solidFill>
                  <a:srgbClr val="E8801A"/>
                </a:solidFill>
                <a:latin typeface="Montserrat"/>
              </a:rPr>
              <a:t>05   </a:t>
            </a:r>
            <a:r>
              <a:rPr sz="1700" b="0" i="0">
                <a:solidFill>
                  <a:srgbClr val="1B2330"/>
                </a:solidFill>
                <a:latin typeface="Montserrat"/>
              </a:rPr>
              <a:t>Volumen mínimo</a:t>
            </a:r>
          </a:p>
          <a:p>
            <a:pPr>
              <a:spcAft>
                <a:spcPts val="900"/>
              </a:spcAft>
            </a:pPr>
            <a:r>
              <a:rPr sz="1800" b="1" i="0">
                <a:solidFill>
                  <a:srgbClr val="E8801A"/>
                </a:solidFill>
                <a:latin typeface="Montserrat"/>
              </a:rPr>
              <a:t>06   </a:t>
            </a:r>
            <a:r>
              <a:rPr sz="1700" b="0" i="0">
                <a:solidFill>
                  <a:srgbClr val="1B2330"/>
                </a:solidFill>
                <a:latin typeface="Montserrat"/>
              </a:rPr>
              <a:t>Consumo &gt; 30 kW</a:t>
            </a:r>
          </a:p>
          <a:p>
            <a:pPr>
              <a:spcAft>
                <a:spcPts val="900"/>
              </a:spcAft>
            </a:pPr>
            <a:r>
              <a:rPr sz="1800" b="1" i="0">
                <a:solidFill>
                  <a:srgbClr val="E8801A"/>
                </a:solidFill>
                <a:latin typeface="Montserrat"/>
              </a:rPr>
              <a:t>07   </a:t>
            </a:r>
            <a:r>
              <a:rPr sz="1700" b="0" i="0">
                <a:solidFill>
                  <a:srgbClr val="1B2330"/>
                </a:solidFill>
                <a:latin typeface="Montserrat"/>
              </a:rPr>
              <a:t>Edificios ya construidos</a:t>
            </a:r>
          </a:p>
          <a:p>
            <a:pPr>
              <a:spcAft>
                <a:spcPts val="900"/>
              </a:spcAft>
            </a:pPr>
            <a:r>
              <a:rPr sz="1800" b="1" i="0">
                <a:solidFill>
                  <a:srgbClr val="E8801A"/>
                </a:solidFill>
                <a:latin typeface="Montserrat"/>
              </a:rPr>
              <a:t>08   </a:t>
            </a:r>
            <a:r>
              <a:rPr sz="1700" b="0" i="0">
                <a:solidFill>
                  <a:srgbClr val="1B2330"/>
                </a:solidFill>
                <a:latin typeface="Montserrat"/>
              </a:rPr>
              <a:t>Patios de ventilación y evacuación</a:t>
            </a:r>
          </a:p>
          <a:p>
            <a:pPr>
              <a:spcAft>
                <a:spcPts val="900"/>
              </a:spcAft>
            </a:pPr>
            <a:r>
              <a:rPr sz="1800" b="1" i="0">
                <a:solidFill>
                  <a:srgbClr val="E8801A"/>
                </a:solidFill>
                <a:latin typeface="Montserrat"/>
              </a:rPr>
              <a:t>09   </a:t>
            </a:r>
            <a:r>
              <a:rPr sz="1700" b="0" i="0">
                <a:solidFill>
                  <a:srgbClr val="1B2330"/>
                </a:solidFill>
                <a:latin typeface="Montserrat"/>
              </a:rPr>
              <a:t>RITE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VENTILACIONES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no puede haber un aparato a gas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 dormitorio, baño, ducha o aseo: no</a:t>
            </a:r>
          </a:p>
          <a:p>
            <a:pPr>
              <a:spcAft>
                <a:spcPts val="1100"/>
              </a:spcAft>
            </a:pPr>
            <a:r>
              <a:rPr sz="1600" b="1" i="0">
                <a:solidFill>
                  <a:srgbClr val="E8801A"/>
                </a:solidFill>
                <a:latin typeface="Montserrat"/>
              </a:rPr>
              <a:t>▸  </a:t>
            </a:r>
            <a:r>
              <a:rPr sz="1600" b="0" i="0">
                <a:solidFill>
                  <a:srgbClr val="1B2330"/>
                </a:solidFill>
                <a:latin typeface="Montserrat"/>
              </a:rPr>
              <a:t>Nunca bajo el primer sótano (dr&lt;1)</a:t>
            </a:r>
          </a:p>
          <a:p>
            <a:pPr>
              <a:spcAft>
                <a:spcPts val="1100"/>
              </a:spcAft>
            </a:pPr>
            <a:r>
              <a:rPr sz="1600" b="1" i="0">
                <a:solidFill>
                  <a:srgbClr val="E8801A"/>
                </a:solidFill>
                <a:latin typeface="Montserrat"/>
              </a:rPr>
              <a:t>▸  </a:t>
            </a:r>
            <a:r>
              <a:rPr sz="1600" b="0" i="0">
                <a:solidFill>
                  <a:srgbClr val="1B2330"/>
                </a:solidFill>
                <a:latin typeface="Montserrat"/>
              </a:rPr>
              <a:t>Primer sótano: suelo a &gt;60 cm bajo la calle</a:t>
            </a:r>
          </a:p>
          <a:p>
            <a:pPr>
              <a:spcAft>
                <a:spcPts val="1100"/>
              </a:spcAft>
            </a:pPr>
            <a:r>
              <a:rPr sz="1600" b="1" i="0">
                <a:solidFill>
                  <a:srgbClr val="E8801A"/>
                </a:solidFill>
                <a:latin typeface="Montserrat"/>
              </a:rPr>
              <a:t>▸  </a:t>
            </a:r>
            <a:r>
              <a:rPr sz="1600" b="0" i="0">
                <a:solidFill>
                  <a:srgbClr val="1B2330"/>
                </a:solidFill>
                <a:latin typeface="Montserrat"/>
              </a:rPr>
              <a:t>Salas &gt; 70 kW van por otra norma</a:t>
            </a:r>
          </a:p>
        </p:txBody>
      </p:sp>
      <p:sp>
        <p:nvSpPr>
          <p:cNvPr id="9" name="imgph" descr="IMGQ:gas boiler in ventilated utility room"/>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boiler in ventilated utility room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VENTILACIONES · GENERALIDADES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Local único y zona exterior: 1,5 m²</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Local único: abertura &gt; 1,5 m² entre locales</a:t>
            </a:r>
          </a:p>
          <a:p>
            <a:pPr>
              <a:spcAft>
                <a:spcPts val="1100"/>
              </a:spcAft>
            </a:pPr>
            <a:r>
              <a:rPr sz="1600" b="1" i="0">
                <a:solidFill>
                  <a:srgbClr val="E8801A"/>
                </a:solidFill>
                <a:latin typeface="Montserrat"/>
              </a:rPr>
              <a:t>▸  </a:t>
            </a:r>
            <a:r>
              <a:rPr sz="1600" b="0" i="0">
                <a:solidFill>
                  <a:srgbClr val="1B2330"/>
                </a:solidFill>
                <a:latin typeface="Montserrat"/>
              </a:rPr>
              <a:t>Zona exterior: abertura ≥ 1,5 m²</a:t>
            </a:r>
          </a:p>
          <a:p>
            <a:pPr>
              <a:spcAft>
                <a:spcPts val="1100"/>
              </a:spcAft>
            </a:pPr>
            <a:r>
              <a:rPr sz="1600" b="1" i="0">
                <a:solidFill>
                  <a:srgbClr val="E8801A"/>
                </a:solidFill>
                <a:latin typeface="Montserrat"/>
              </a:rPr>
              <a:t>▸  </a:t>
            </a:r>
            <a:r>
              <a:rPr sz="1600" b="0" i="0">
                <a:solidFill>
                  <a:srgbClr val="1B2330"/>
                </a:solidFill>
                <a:latin typeface="Montserrat"/>
              </a:rPr>
              <a:t>Con el borde a ≤ 0,5 m del techo</a:t>
            </a:r>
          </a:p>
          <a:p>
            <a:pPr>
              <a:spcAft>
                <a:spcPts val="1100"/>
              </a:spcAft>
            </a:pPr>
            <a:r>
              <a:rPr sz="1600" b="1" i="0">
                <a:solidFill>
                  <a:srgbClr val="E8801A"/>
                </a:solidFill>
                <a:latin typeface="Montserrat"/>
              </a:rPr>
              <a:t>▸  </a:t>
            </a:r>
            <a:r>
              <a:rPr sz="1600" b="0" i="0">
                <a:solidFill>
                  <a:srgbClr val="1B2330"/>
                </a:solidFill>
                <a:latin typeface="Montserrat"/>
              </a:rPr>
              <a:t>Local único: se suman los volúmenes</a:t>
            </a:r>
          </a:p>
        </p:txBody>
      </p:sp>
      <p:sp>
        <p:nvSpPr>
          <p:cNvPr id="9" name="imgph" descr="IMGQ:open plan kitchen and living roo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open plan kitchen and living room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VENTILACIONES · GENERALIDADES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Reglas de ubicación de aparatos a gas (I)</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804672">
                <a:tc>
                  <a:txBody>
                    <a:bodyPr/>
                    <a:lstStyle/>
                    <a:p>
                      <a:r>
                        <a:rPr sz="1200" b="1" i="0">
                          <a:solidFill>
                            <a:srgbClr val="FFFFFF"/>
                          </a:solidFill>
                          <a:latin typeface="Montserrat"/>
                        </a:rPr>
                        <a:t>Concepto</a:t>
                      </a:r>
                    </a:p>
                  </a:txBody>
                  <a:tcPr>
                    <a:solidFill>
                      <a:srgbClr val="1E2761"/>
                    </a:solidFill>
                  </a:tcPr>
                </a:tc>
                <a:tc>
                  <a:txBody>
                    <a:bodyPr/>
                    <a:lstStyle/>
                    <a:p>
                      <a:r>
                        <a:rPr sz="1200" b="1" i="0">
                          <a:solidFill>
                            <a:srgbClr val="FFFFFF"/>
                          </a:solidFill>
                          <a:latin typeface="Montserrat"/>
                        </a:rPr>
                        <a:t>Regla</a:t>
                      </a:r>
                    </a:p>
                  </a:txBody>
                  <a:tcPr>
                    <a:solidFill>
                      <a:srgbClr val="1E2761"/>
                    </a:solidFill>
                  </a:tcPr>
                </a:tc>
              </a:tr>
              <a:tr h="804672">
                <a:tc>
                  <a:txBody>
                    <a:bodyPr/>
                    <a:lstStyle/>
                    <a:p>
                      <a:r>
                        <a:rPr sz="1200" b="0" i="0">
                          <a:solidFill>
                            <a:srgbClr val="1B2330"/>
                          </a:solidFill>
                          <a:latin typeface="Montserrat"/>
                        </a:rPr>
                        <a:t>Dormitorio, baño, ducha o aseo</a:t>
                      </a:r>
                    </a:p>
                  </a:txBody>
                  <a:tcPr>
                    <a:solidFill>
                      <a:srgbClr val="F6F8FC"/>
                    </a:solidFill>
                  </a:tcPr>
                </a:tc>
                <a:tc>
                  <a:txBody>
                    <a:bodyPr/>
                    <a:lstStyle/>
                    <a:p>
                      <a:r>
                        <a:rPr sz="1200" b="0" i="0">
                          <a:solidFill>
                            <a:srgbClr val="1B2330"/>
                          </a:solidFill>
                          <a:latin typeface="Montserrat"/>
                        </a:rPr>
                        <a:t>No deben contener aparatos a gas (tipo A y B).</a:t>
                      </a:r>
                    </a:p>
                  </a:txBody>
                  <a:tcPr>
                    <a:solidFill>
                      <a:srgbClr val="F6F8FC"/>
                    </a:solidFill>
                  </a:tcPr>
                </a:tc>
              </a:tr>
              <a:tr h="804672">
                <a:tc>
                  <a:txBody>
                    <a:bodyPr/>
                    <a:lstStyle/>
                    <a:p>
                      <a:r>
                        <a:rPr sz="1200" b="0" i="0">
                          <a:solidFill>
                            <a:srgbClr val="1B2330"/>
                          </a:solidFill>
                          <a:latin typeface="Montserrat"/>
                        </a:rPr>
                        <a:t>Primer sótano</a:t>
                      </a:r>
                    </a:p>
                  </a:txBody>
                  <a:tcPr>
                    <a:solidFill>
                      <a:srgbClr val="FFFFFF"/>
                    </a:solidFill>
                  </a:tcPr>
                </a:tc>
                <a:tc>
                  <a:txBody>
                    <a:bodyPr/>
                    <a:lstStyle/>
                    <a:p>
                      <a:r>
                        <a:rPr sz="1200" b="0" i="0">
                          <a:solidFill>
                            <a:srgbClr val="1B2330"/>
                          </a:solidFill>
                          <a:latin typeface="Montserrat"/>
                        </a:rPr>
                        <a:t>No se instalan aparatos con dr &lt; 1 (más ligeros que el aire) por debajo del primer sótano. Es primer sótano/semisótano la planta cuyo suelo está, en todas sus paredes, a más de 60 cm por debajo del suelo exterior de la calle o patio contiguo.</a:t>
                      </a:r>
                    </a:p>
                  </a:txBody>
                  <a:tcPr>
                    <a:solidFill>
                      <a:srgbClr val="FFFFFF"/>
                    </a:solidFill>
                  </a:tcPr>
                </a:tc>
              </a:tr>
              <a:tr h="804672">
                <a:tc>
                  <a:txBody>
                    <a:bodyPr/>
                    <a:lstStyle/>
                    <a:p>
                      <a:r>
                        <a:rPr sz="1200" b="0" i="0">
                          <a:solidFill>
                            <a:srgbClr val="1B2330"/>
                          </a:solidFill>
                          <a:latin typeface="Montserrat"/>
                        </a:rPr>
                        <a:t>Local que comunica con dormitorio, baño o ducha</a:t>
                      </a:r>
                    </a:p>
                  </a:txBody>
                  <a:tcPr>
                    <a:solidFill>
                      <a:srgbClr val="F6F8FC"/>
                    </a:solidFill>
                  </a:tcPr>
                </a:tc>
                <a:tc>
                  <a:txBody>
                    <a:bodyPr/>
                    <a:lstStyle/>
                    <a:p>
                      <a:r>
                        <a:rPr sz="1200" b="0" i="0">
                          <a:solidFill>
                            <a:srgbClr val="1B2330"/>
                          </a:solidFill>
                          <a:latin typeface="Montserrat"/>
                        </a:rPr>
                        <a:t>No se ubican aparatos de circuito abierto conducido de tiro natural (B) si el acceso a ese cuarto es una puerta que comunica con el local.</a:t>
                      </a:r>
                    </a:p>
                  </a:txBody>
                  <a:tcPr>
                    <a:solidFill>
                      <a:srgbClr val="F6F8FC"/>
                    </a:solidFill>
                  </a:tcPr>
                </a:tc>
              </a:tr>
              <a:tr h="804672">
                <a:tc>
                  <a:txBody>
                    <a:bodyPr/>
                    <a:lstStyle/>
                    <a:p>
                      <a:r>
                        <a:rPr sz="1200" b="0" i="0">
                          <a:solidFill>
                            <a:srgbClr val="1B2330"/>
                          </a:solidFill>
                          <a:latin typeface="Montserrat"/>
                        </a:rPr>
                        <a:t>Local único</a:t>
                      </a:r>
                    </a:p>
                  </a:txBody>
                  <a:tcPr>
                    <a:solidFill>
                      <a:srgbClr val="FFFFFF"/>
                    </a:solidFill>
                  </a:tcPr>
                </a:tc>
                <a:tc>
                  <a:txBody>
                    <a:bodyPr/>
                    <a:lstStyle/>
                    <a:p>
                      <a:r>
                        <a:rPr sz="1200" b="0" i="0">
                          <a:solidFill>
                            <a:srgbClr val="1B2330"/>
                          </a:solidFill>
                          <a:latin typeface="Montserrat"/>
                        </a:rPr>
                        <a:t>Dos locales son local único si se comunican con una abertura permanente superior a 1,5 m².</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Dónde no puede ir un aparato a gas y qué es primer sótano y local único. dr &lt; 1 significa gas más ligero que el aire.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VENTILACIONES · GENERALIDADES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Reglas de ubicación de aparatos a gas (II)</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804672">
                <a:tc>
                  <a:txBody>
                    <a:bodyPr/>
                    <a:lstStyle/>
                    <a:p>
                      <a:r>
                        <a:rPr sz="1200" b="1" i="0">
                          <a:solidFill>
                            <a:srgbClr val="FFFFFF"/>
                          </a:solidFill>
                          <a:latin typeface="Montserrat"/>
                        </a:rPr>
                        <a:t>Concepto</a:t>
                      </a:r>
                    </a:p>
                  </a:txBody>
                  <a:tcPr>
                    <a:solidFill>
                      <a:srgbClr val="1E2761"/>
                    </a:solidFill>
                  </a:tcPr>
                </a:tc>
                <a:tc>
                  <a:txBody>
                    <a:bodyPr/>
                    <a:lstStyle/>
                    <a:p>
                      <a:r>
                        <a:rPr sz="1200" b="1" i="0">
                          <a:solidFill>
                            <a:srgbClr val="FFFFFF"/>
                          </a:solidFill>
                          <a:latin typeface="Montserrat"/>
                        </a:rPr>
                        <a:t>Regla</a:t>
                      </a:r>
                    </a:p>
                  </a:txBody>
                  <a:tcPr>
                    <a:solidFill>
                      <a:srgbClr val="1E2761"/>
                    </a:solidFill>
                  </a:tcPr>
                </a:tc>
              </a:tr>
              <a:tr h="804672">
                <a:tc>
                  <a:txBody>
                    <a:bodyPr/>
                    <a:lstStyle/>
                    <a:p>
                      <a:r>
                        <a:rPr sz="1200" b="0" i="0">
                          <a:solidFill>
                            <a:srgbClr val="1B2330"/>
                          </a:solidFill>
                          <a:latin typeface="Montserrat"/>
                        </a:rPr>
                        <a:t>Aparatos de circuito abierto en cocinas, tipo B de tiro natural</a:t>
                      </a:r>
                    </a:p>
                  </a:txBody>
                  <a:tcPr>
                    <a:solidFill>
                      <a:srgbClr val="F6F8FC"/>
                    </a:solidFill>
                  </a:tcPr>
                </a:tc>
                <a:tc>
                  <a:txBody>
                    <a:bodyPr/>
                    <a:lstStyle/>
                    <a:p>
                      <a:r>
                        <a:rPr sz="1200" b="0" i="0">
                          <a:solidFill>
                            <a:srgbClr val="1B2330"/>
                          </a:solidFill>
                          <a:latin typeface="Montserrat"/>
                        </a:rPr>
                        <a:t>Se instalan en cocinas si impiden la interacción entre la extracción mecánica y la evacuación de los productos de la combustión. El dispositivo que lo evita debe arrancar en ≤ 2 minutos. La ayuda de tiro permite que funcionen los dos a la vez.</a:t>
                      </a:r>
                    </a:p>
                  </a:txBody>
                  <a:tcPr>
                    <a:solidFill>
                      <a:srgbClr val="F6F8FC"/>
                    </a:solidFill>
                  </a:tcPr>
                </a:tc>
              </a:tr>
              <a:tr h="804672">
                <a:tc>
                  <a:txBody>
                    <a:bodyPr/>
                    <a:lstStyle/>
                    <a:p>
                      <a:r>
                        <a:rPr sz="1200" b="0" i="0">
                          <a:solidFill>
                            <a:srgbClr val="1B2330"/>
                          </a:solidFill>
                          <a:latin typeface="Montserrat"/>
                        </a:rPr>
                        <a:t>Ventilación indirecta</a:t>
                      </a:r>
                    </a:p>
                  </a:txBody>
                  <a:tcPr>
                    <a:solidFill>
                      <a:srgbClr val="FFFFFF"/>
                    </a:solidFill>
                  </a:tcPr>
                </a:tc>
                <a:tc>
                  <a:txBody>
                    <a:bodyPr/>
                    <a:lstStyle/>
                    <a:p>
                      <a:r>
                        <a:rPr sz="1200" b="0" i="0">
                          <a:solidFill>
                            <a:srgbClr val="1B2330"/>
                          </a:solidFill>
                          <a:latin typeface="Montserrat"/>
                        </a:rPr>
                        <a:t>La que se hace a través de un local contiguo que no sea dormitorio, baño, ducha o aseo, y que disponga de ventilación directa.</a:t>
                      </a:r>
                    </a:p>
                  </a:txBody>
                  <a:tcPr>
                    <a:solidFill>
                      <a:srgbClr val="FFFFFF"/>
                    </a:solidFill>
                  </a:tcPr>
                </a:tc>
              </a:tr>
              <a:tr h="804672">
                <a:tc>
                  <a:txBody>
                    <a:bodyPr/>
                    <a:lstStyle/>
                    <a:p>
                      <a:r>
                        <a:rPr sz="1200" b="0" i="0">
                          <a:solidFill>
                            <a:srgbClr val="1B2330"/>
                          </a:solidFill>
                          <a:latin typeface="Montserrat"/>
                        </a:rPr>
                        <a:t>Local considerado zona exterior</a:t>
                      </a:r>
                    </a:p>
                  </a:txBody>
                  <a:tcPr>
                    <a:solidFill>
                      <a:srgbClr val="F6F8FC"/>
                    </a:solidFill>
                  </a:tcPr>
                </a:tc>
                <a:tc>
                  <a:txBody>
                    <a:bodyPr/>
                    <a:lstStyle/>
                    <a:p>
                      <a:r>
                        <a:rPr sz="1200" b="0" i="0">
                          <a:solidFill>
                            <a:srgbClr val="1B2330"/>
                          </a:solidFill>
                          <a:latin typeface="Montserrat"/>
                        </a:rPr>
                        <a:t>Galería, terraza o balcón cuenta como zona exterior si tiene abertura permanente al exterior o patio, con superficie libre ≥ 1,5 m² y borde superior a ≤ 0,5 m del techo.</a:t>
                      </a:r>
                    </a:p>
                  </a:txBody>
                  <a:tcPr>
                    <a:solidFill>
                      <a:srgbClr val="F6F8FC"/>
                    </a:solidFill>
                  </a:tcPr>
                </a:tc>
              </a:tr>
              <a:tr h="804672">
                <a:tc>
                  <a:txBody>
                    <a:bodyPr/>
                    <a:lstStyle/>
                    <a:p>
                      <a:r>
                        <a:rPr sz="1200" b="0" i="0">
                          <a:solidFill>
                            <a:srgbClr val="1B2330"/>
                          </a:solidFill>
                          <a:latin typeface="Montserrat"/>
                        </a:rPr>
                        <a:t>Aparatos de circuito abierto tipo A en lofts</a:t>
                      </a:r>
                    </a:p>
                  </a:txBody>
                  <a:tcPr>
                    <a:solidFill>
                      <a:srgbClr val="FFFFFF"/>
                    </a:solidFill>
                  </a:tcPr>
                </a:tc>
                <a:tc>
                  <a:txBody>
                    <a:bodyPr/>
                    <a:lstStyle/>
                    <a:p>
                      <a:r>
                        <a:rPr sz="1200" b="0" i="0">
                          <a:solidFill>
                            <a:srgbClr val="1B2330"/>
                          </a:solidFill>
                          <a:latin typeface="Montserrat"/>
                        </a:rPr>
                        <a:t>Solo para cocción si: los quemadores llevan seguridad por detección de llama; la suma de potencias tipo A de cocción es ≤ 12 kW; y el volumen bruto del loft no baja de 80 m³. El contador cabe en el loft si su volumen supera 75 m³.</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Segunda parte: qué es ventilación indirecta, cuándo una galería cuenta como exterior y las condiciones del loft.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ABERTURAS DE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frontera de los 16 kW en tipo 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Solo tipo B: una abertura arriba</a:t>
            </a:r>
          </a:p>
          <a:p>
            <a:pPr>
              <a:spcAft>
                <a:spcPts val="1100"/>
              </a:spcAft>
            </a:pPr>
            <a:r>
              <a:rPr sz="1600" b="1" i="0">
                <a:solidFill>
                  <a:srgbClr val="E8801A"/>
                </a:solidFill>
                <a:latin typeface="Montserrat"/>
              </a:rPr>
              <a:t>▸  </a:t>
            </a:r>
            <a:r>
              <a:rPr sz="1600" b="0" i="0">
                <a:solidFill>
                  <a:srgbClr val="1B2330"/>
                </a:solidFill>
                <a:latin typeface="Montserrat"/>
              </a:rPr>
              <a:t>Tipo A ≤ 16 kW: una abertura arriba</a:t>
            </a:r>
          </a:p>
          <a:p>
            <a:pPr>
              <a:spcAft>
                <a:spcPts val="1100"/>
              </a:spcAft>
            </a:pPr>
            <a:r>
              <a:rPr sz="1600" b="1" i="0">
                <a:solidFill>
                  <a:srgbClr val="E8801A"/>
                </a:solidFill>
                <a:latin typeface="Montserrat"/>
              </a:rPr>
              <a:t>▸  </a:t>
            </a:r>
            <a:r>
              <a:rPr sz="1600" b="0" i="0">
                <a:solidFill>
                  <a:srgbClr val="1B2330"/>
                </a:solidFill>
                <a:latin typeface="Montserrat"/>
              </a:rPr>
              <a:t>Tipo A &gt; 16 kW: dos aberturas</a:t>
            </a:r>
          </a:p>
          <a:p>
            <a:pPr>
              <a:spcAft>
                <a:spcPts val="1100"/>
              </a:spcAft>
            </a:pPr>
            <a:r>
              <a:rPr sz="1600" b="1" i="0">
                <a:solidFill>
                  <a:srgbClr val="E8801A"/>
                </a:solidFill>
                <a:latin typeface="Montserrat"/>
              </a:rPr>
              <a:t>▸  </a:t>
            </a:r>
            <a:r>
              <a:rPr sz="1600" b="0" i="0">
                <a:solidFill>
                  <a:srgbClr val="1B2330"/>
                </a:solidFill>
                <a:latin typeface="Montserrat"/>
              </a:rPr>
              <a:t>La superior, siempre directa</a:t>
            </a:r>
          </a:p>
        </p:txBody>
      </p:sp>
      <p:sp>
        <p:nvSpPr>
          <p:cNvPr id="9" name="imgph" descr="IMGQ:ventilation grilles high and low on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ventilation grilles high and low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ABERTURAS DE VENTILACIÓN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Posición de las aberturas según el aparato</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1005840">
                <a:tc>
                  <a:txBody>
                    <a:bodyPr/>
                    <a:lstStyle/>
                    <a:p>
                      <a:r>
                        <a:rPr sz="1200" b="1" i="0">
                          <a:solidFill>
                            <a:srgbClr val="FFFFFF"/>
                          </a:solidFill>
                          <a:latin typeface="Montserrat"/>
                        </a:rPr>
                        <a:t>Contenido del local</a:t>
                      </a:r>
                    </a:p>
                  </a:txBody>
                  <a:tcPr>
                    <a:solidFill>
                      <a:srgbClr val="1E2761"/>
                    </a:solidFill>
                  </a:tcPr>
                </a:tc>
                <a:tc>
                  <a:txBody>
                    <a:bodyPr/>
                    <a:lstStyle/>
                    <a:p>
                      <a:r>
                        <a:rPr sz="1200" b="1" i="0">
                          <a:solidFill>
                            <a:srgbClr val="FFFFFF"/>
                          </a:solidFill>
                          <a:latin typeface="Montserrat"/>
                        </a:rPr>
                        <a:t>Posición de la abertura</a:t>
                      </a:r>
                    </a:p>
                  </a:txBody>
                  <a:tcPr>
                    <a:solidFill>
                      <a:srgbClr val="1E2761"/>
                    </a:solidFill>
                  </a:tcPr>
                </a:tc>
                <a:tc>
                  <a:txBody>
                    <a:bodyPr/>
                    <a:lstStyle/>
                    <a:p>
                      <a:r>
                        <a:rPr sz="1200" b="1" i="0">
                          <a:solidFill>
                            <a:srgbClr val="FFFFFF"/>
                          </a:solidFill>
                          <a:latin typeface="Montserrat"/>
                        </a:rPr>
                        <a:t>Ventilación</a:t>
                      </a:r>
                    </a:p>
                  </a:txBody>
                  <a:tcPr>
                    <a:solidFill>
                      <a:srgbClr val="1E2761"/>
                    </a:solidFill>
                  </a:tcPr>
                </a:tc>
              </a:tr>
              <a:tr h="1005840">
                <a:tc>
                  <a:txBody>
                    <a:bodyPr/>
                    <a:lstStyle/>
                    <a:p>
                      <a:r>
                        <a:rPr sz="1200" b="0" i="0">
                          <a:solidFill>
                            <a:srgbClr val="1B2330"/>
                          </a:solidFill>
                          <a:latin typeface="Montserrat"/>
                        </a:rPr>
                        <a:t>Solo aparatos tipo B</a:t>
                      </a:r>
                    </a:p>
                  </a:txBody>
                  <a:tcPr>
                    <a:solidFill>
                      <a:srgbClr val="F6F8FC"/>
                    </a:solidFill>
                  </a:tcPr>
                </a:tc>
                <a:tc>
                  <a:txBody>
                    <a:bodyPr/>
                    <a:lstStyle/>
                    <a:p>
                      <a:r>
                        <a:rPr sz="1200" b="0" i="0">
                          <a:solidFill>
                            <a:srgbClr val="1B2330"/>
                          </a:solidFill>
                          <a:latin typeface="Montserrat"/>
                        </a:rPr>
                        <a:t>Extremo inferior a ≥ 1,80 m del suelo y ≤ 40 cm del techo. En edificios construidos, a cualquier altura.</a:t>
                      </a:r>
                    </a:p>
                  </a:txBody>
                  <a:tcPr>
                    <a:solidFill>
                      <a:srgbClr val="F6F8FC"/>
                    </a:solidFill>
                  </a:tcPr>
                </a:tc>
                <a:tc>
                  <a:txBody>
                    <a:bodyPr/>
                    <a:lstStyle/>
                    <a:p>
                      <a:r>
                        <a:rPr sz="1200" b="0" i="0">
                          <a:solidFill>
                            <a:srgbClr val="1B2330"/>
                          </a:solidFill>
                          <a:latin typeface="Montserrat"/>
                        </a:rPr>
                        <a:t>Directa o indirecta</a:t>
                      </a:r>
                    </a:p>
                  </a:txBody>
                  <a:tcPr>
                    <a:solidFill>
                      <a:srgbClr val="F6F8FC"/>
                    </a:solidFill>
                  </a:tcPr>
                </a:tc>
              </a:tr>
              <a:tr h="1005840">
                <a:tc>
                  <a:txBody>
                    <a:bodyPr/>
                    <a:lstStyle/>
                    <a:p>
                      <a:r>
                        <a:rPr sz="1200" b="0" i="0">
                          <a:solidFill>
                            <a:srgbClr val="1B2330"/>
                          </a:solidFill>
                          <a:latin typeface="Montserrat"/>
                        </a:rPr>
                        <a:t>Tipo A y B juntos, o solo tipo A, con ∑Qn (A) ≤ 16 kW</a:t>
                      </a:r>
                    </a:p>
                  </a:txBody>
                  <a:tcPr>
                    <a:solidFill>
                      <a:srgbClr val="FFFFFF"/>
                    </a:solidFill>
                  </a:tcPr>
                </a:tc>
                <a:tc>
                  <a:txBody>
                    <a:bodyPr/>
                    <a:lstStyle/>
                    <a:p>
                      <a:r>
                        <a:rPr sz="1200" b="0" i="0">
                          <a:solidFill>
                            <a:srgbClr val="1B2330"/>
                          </a:solidFill>
                          <a:latin typeface="Montserrat"/>
                        </a:rPr>
                        <a:t>Extremo inferior a ≥ 1,80 m del suelo y ≤ 40 cm del techo. En edificios construidos, extremo inferior a ≥ 1,80 m del suelo.</a:t>
                      </a:r>
                    </a:p>
                  </a:txBody>
                  <a:tcPr>
                    <a:solidFill>
                      <a:srgbClr val="FFFFFF"/>
                    </a:solidFill>
                  </a:tcPr>
                </a:tc>
                <a:tc>
                  <a:txBody>
                    <a:bodyPr/>
                    <a:lstStyle/>
                    <a:p>
                      <a:r>
                        <a:rPr sz="1200" b="0" i="0">
                          <a:solidFill>
                            <a:srgbClr val="1B2330"/>
                          </a:solidFill>
                          <a:latin typeface="Montserrat"/>
                        </a:rPr>
                        <a:t>Directa o indirecta</a:t>
                      </a:r>
                    </a:p>
                  </a:txBody>
                  <a:tcPr>
                    <a:solidFill>
                      <a:srgbClr val="FFFFFF"/>
                    </a:solidFill>
                  </a:tcPr>
                </a:tc>
              </a:tr>
              <a:tr h="1005840">
                <a:tc>
                  <a:txBody>
                    <a:bodyPr/>
                    <a:lstStyle/>
                    <a:p>
                      <a:r>
                        <a:rPr sz="1200" b="0" i="0">
                          <a:solidFill>
                            <a:srgbClr val="1B2330"/>
                          </a:solidFill>
                          <a:latin typeface="Montserrat"/>
                        </a:rPr>
                        <a:t>Tipo A y B juntos, o solo tipo A, con ∑Qn (A) &gt; 16 kW</a:t>
                      </a:r>
                    </a:p>
                  </a:txBody>
                  <a:tcPr>
                    <a:solidFill>
                      <a:srgbClr val="F6F8FC"/>
                    </a:solidFill>
                  </a:tcPr>
                </a:tc>
                <a:tc>
                  <a:txBody>
                    <a:bodyPr/>
                    <a:lstStyle/>
                    <a:p>
                      <a:r>
                        <a:rPr sz="1200" b="0" i="0">
                          <a:solidFill>
                            <a:srgbClr val="1B2330"/>
                          </a:solidFill>
                          <a:latin typeface="Montserrat"/>
                        </a:rPr>
                        <a:t>Dos aberturas (UNE 60670-6, 6.2): una inferior con extremo superior ≤ 50 cm del suelo, y una superior con extremo inferior ≥ 1,80 m del suelo y ≤ 40 cm del techo.</a:t>
                      </a:r>
                    </a:p>
                  </a:txBody>
                  <a:tcPr>
                    <a:solidFill>
                      <a:srgbClr val="F6F8FC"/>
                    </a:solidFill>
                  </a:tcPr>
                </a:tc>
                <a:tc>
                  <a:txBody>
                    <a:bodyPr/>
                    <a:lstStyle/>
                    <a:p>
                      <a:r>
                        <a:rPr sz="1200" b="0" i="0">
                          <a:solidFill>
                            <a:srgbClr val="1B2330"/>
                          </a:solidFill>
                          <a:latin typeface="Montserrat"/>
                        </a:rPr>
                        <a:t>Inferior directa o indirecta; superior directa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Cuántas aberturas y dónde, según el tipo de aparato y la potencia. La frontera son los 16 kW de tipo A: por encima, dos aberturas.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CÁLCULO DE LA VENTILACIÓN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kW × 5, mínimo 125 cm²</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Superficie = kW × 5 (cm²)</a:t>
            </a:r>
          </a:p>
          <a:p>
            <a:pPr>
              <a:spcAft>
                <a:spcPts val="1100"/>
              </a:spcAft>
            </a:pPr>
            <a:r>
              <a:rPr sz="1600" b="1" i="0">
                <a:solidFill>
                  <a:srgbClr val="E8801A"/>
                </a:solidFill>
                <a:latin typeface="Montserrat"/>
              </a:rPr>
              <a:t>▸  </a:t>
            </a:r>
            <a:r>
              <a:rPr sz="1600" b="0" i="0">
                <a:solidFill>
                  <a:srgbClr val="1B2330"/>
                </a:solidFill>
                <a:latin typeface="Montserrat"/>
              </a:rPr>
              <a:t>Nunca menos de 125 cm²</a:t>
            </a:r>
          </a:p>
          <a:p>
            <a:pPr>
              <a:spcAft>
                <a:spcPts val="1100"/>
              </a:spcAft>
            </a:pPr>
            <a:r>
              <a:rPr sz="1600" b="1" i="0">
                <a:solidFill>
                  <a:srgbClr val="E8801A"/>
                </a:solidFill>
                <a:latin typeface="Montserrat"/>
              </a:rPr>
              <a:t>▸  </a:t>
            </a:r>
            <a:r>
              <a:rPr sz="1600" b="0" i="0">
                <a:solidFill>
                  <a:srgbClr val="1B2330"/>
                </a:solidFill>
                <a:latin typeface="Montserrat"/>
              </a:rPr>
              <a:t>Los aparatos estancos no cuentan</a:t>
            </a:r>
          </a:p>
          <a:p>
            <a:pPr>
              <a:spcAft>
                <a:spcPts val="1100"/>
              </a:spcAft>
            </a:pPr>
            <a:r>
              <a:rPr sz="1600" b="1" i="0">
                <a:solidFill>
                  <a:srgbClr val="E8801A"/>
                </a:solidFill>
                <a:latin typeface="Montserrat"/>
              </a:rPr>
              <a:t>▸  </a:t>
            </a:r>
            <a:r>
              <a:rPr sz="1600" b="0" i="0">
                <a:solidFill>
                  <a:srgbClr val="1B2330"/>
                </a:solidFill>
                <a:latin typeface="Montserrat"/>
              </a:rPr>
              <a:t>Solo cuenta el circuito abierto</a:t>
            </a:r>
          </a:p>
        </p:txBody>
      </p:sp>
      <p:sp>
        <p:nvSpPr>
          <p:cNvPr id="9" name="imgph" descr="IMGQ:kitchen ventilation grille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kitchen ventilation grille on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VENTILACIONES · EJEMPLOS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Ejemplos de locales con potencia ≤ 16 kW</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218334"/>
                <a:gridCol w="2218334"/>
                <a:gridCol w="2218334"/>
                <a:gridCol w="2218334"/>
                <a:gridCol w="2218336"/>
              </a:tblGrid>
              <a:tr h="1005840">
                <a:tc>
                  <a:txBody>
                    <a:bodyPr/>
                    <a:lstStyle/>
                    <a:p>
                      <a:r>
                        <a:rPr sz="1100" b="1" i="0">
                          <a:solidFill>
                            <a:srgbClr val="FFFFFF"/>
                          </a:solidFill>
                          <a:latin typeface="Montserrat"/>
                        </a:rPr>
                        <a:t>Tipo de aparato</a:t>
                      </a:r>
                    </a:p>
                  </a:txBody>
                  <a:tcPr>
                    <a:solidFill>
                      <a:srgbClr val="1E2761"/>
                    </a:solidFill>
                  </a:tcPr>
                </a:tc>
                <a:tc>
                  <a:txBody>
                    <a:bodyPr/>
                    <a:lstStyle/>
                    <a:p>
                      <a:r>
                        <a:rPr sz="1100" b="1" i="0">
                          <a:solidFill>
                            <a:srgbClr val="FFFFFF"/>
                          </a:solidFill>
                          <a:latin typeface="Montserrat"/>
                        </a:rPr>
                        <a:t>Ejemplo</a:t>
                      </a:r>
                    </a:p>
                  </a:txBody>
                  <a:tcPr>
                    <a:solidFill>
                      <a:srgbClr val="1E2761"/>
                    </a:solidFill>
                  </a:tcPr>
                </a:tc>
                <a:tc>
                  <a:txBody>
                    <a:bodyPr/>
                    <a:lstStyle/>
                    <a:p>
                      <a:r>
                        <a:rPr sz="1100" b="1" i="0">
                          <a:solidFill>
                            <a:srgbClr val="FFFFFF"/>
                          </a:solidFill>
                          <a:latin typeface="Montserrat"/>
                        </a:rPr>
                        <a:t>Ventilación</a:t>
                      </a:r>
                    </a:p>
                  </a:txBody>
                  <a:tcPr>
                    <a:solidFill>
                      <a:srgbClr val="1E2761"/>
                    </a:solidFill>
                  </a:tcPr>
                </a:tc>
                <a:tc>
                  <a:txBody>
                    <a:bodyPr/>
                    <a:lstStyle/>
                    <a:p>
                      <a:r>
                        <a:rPr sz="1100" b="1" i="0">
                          <a:solidFill>
                            <a:srgbClr val="FFFFFF"/>
                          </a:solidFill>
                          <a:latin typeface="Montserrat"/>
                        </a:rPr>
                        <a:t>Volumen mínimo</a:t>
                      </a:r>
                    </a:p>
                  </a:txBody>
                  <a:tcPr>
                    <a:solidFill>
                      <a:srgbClr val="1E2761"/>
                    </a:solidFill>
                  </a:tcPr>
                </a:tc>
                <a:tc>
                  <a:txBody>
                    <a:bodyPr/>
                    <a:lstStyle/>
                    <a:p>
                      <a:r>
                        <a:rPr sz="1100" b="1" i="0">
                          <a:solidFill>
                            <a:srgbClr val="FFFFFF"/>
                          </a:solidFill>
                          <a:latin typeface="Montserrat"/>
                        </a:rPr>
                        <a:t>Ventilación rápida</a:t>
                      </a:r>
                    </a:p>
                  </a:txBody>
                  <a:tcPr>
                    <a:solidFill>
                      <a:srgbClr val="1E2761"/>
                    </a:solidFill>
                  </a:tcPr>
                </a:tc>
              </a:tr>
              <a:tr h="1005840">
                <a:tc>
                  <a:txBody>
                    <a:bodyPr/>
                    <a:lstStyle/>
                    <a:p>
                      <a:r>
                        <a:rPr sz="1100" b="0" i="0">
                          <a:solidFill>
                            <a:srgbClr val="1B2330"/>
                          </a:solidFill>
                          <a:latin typeface="Montserrat"/>
                        </a:rPr>
                        <a:t>Tipo A (no conectados)</a:t>
                      </a:r>
                    </a:p>
                  </a:txBody>
                  <a:tcPr>
                    <a:solidFill>
                      <a:srgbClr val="F6F8FC"/>
                    </a:solidFill>
                  </a:tcPr>
                </a:tc>
                <a:tc>
                  <a:txBody>
                    <a:bodyPr/>
                    <a:lstStyle/>
                    <a:p>
                      <a:r>
                        <a:rPr sz="1100" b="0" i="0">
                          <a:solidFill>
                            <a:srgbClr val="1B2330"/>
                          </a:solidFill>
                          <a:latin typeface="Montserrat"/>
                        </a:rPr>
                        <a:t>Cocina 10 kW</a:t>
                      </a:r>
                    </a:p>
                  </a:txBody>
                  <a:tcPr>
                    <a:solidFill>
                      <a:srgbClr val="F6F8FC"/>
                    </a:solidFill>
                  </a:tcPr>
                </a:tc>
                <a:tc>
                  <a:txBody>
                    <a:bodyPr/>
                    <a:lstStyle/>
                    <a:p>
                      <a:r>
                        <a:rPr sz="1100" b="0" i="0">
                          <a:solidFill>
                            <a:srgbClr val="1B2330"/>
                          </a:solidFill>
                          <a:latin typeface="Montserrat"/>
                        </a:rPr>
                        <a:t>10 × 5 = 50 → mín. 125 cm² (1,80 m suelo, 0,40 m techo)</a:t>
                      </a:r>
                    </a:p>
                  </a:txBody>
                  <a:tcPr>
                    <a:solidFill>
                      <a:srgbClr val="F6F8FC"/>
                    </a:solidFill>
                  </a:tcPr>
                </a:tc>
                <a:tc>
                  <a:txBody>
                    <a:bodyPr/>
                    <a:lstStyle/>
                    <a:p>
                      <a:r>
                        <a:rPr sz="1100" b="0" i="0">
                          <a:solidFill>
                            <a:srgbClr val="1B2330"/>
                          </a:solidFill>
                          <a:latin typeface="Montserrat"/>
                        </a:rPr>
                        <a:t>&lt; 16 kW → 8 m³</a:t>
                      </a:r>
                    </a:p>
                  </a:txBody>
                  <a:tcPr>
                    <a:solidFill>
                      <a:srgbClr val="F6F8FC"/>
                    </a:solidFill>
                  </a:tcPr>
                </a:tc>
                <a:tc>
                  <a:txBody>
                    <a:bodyPr/>
                    <a:lstStyle/>
                    <a:p>
                      <a:r>
                        <a:rPr sz="1100" b="0" i="0">
                          <a:solidFill>
                            <a:srgbClr val="1B2330"/>
                          </a:solidFill>
                          <a:latin typeface="Montserrat"/>
                        </a:rPr>
                        <a:t>Sin dispositivo por falta de llama → 0,4 m²</a:t>
                      </a:r>
                    </a:p>
                  </a:txBody>
                  <a:tcPr>
                    <a:solidFill>
                      <a:srgbClr val="F6F8FC"/>
                    </a:solidFill>
                  </a:tcPr>
                </a:tc>
              </a:tr>
              <a:tr h="1005840">
                <a:tc>
                  <a:txBody>
                    <a:bodyPr/>
                    <a:lstStyle/>
                    <a:p>
                      <a:r>
                        <a:rPr sz="1100" b="0" i="0">
                          <a:solidFill>
                            <a:srgbClr val="1B2330"/>
                          </a:solidFill>
                          <a:latin typeface="Montserrat"/>
                        </a:rPr>
                        <a:t>Tipo A + B (conectados y no)</a:t>
                      </a:r>
                    </a:p>
                  </a:txBody>
                  <a:tcPr>
                    <a:solidFill>
                      <a:srgbClr val="FFFFFF"/>
                    </a:solidFill>
                  </a:tcPr>
                </a:tc>
                <a:tc>
                  <a:txBody>
                    <a:bodyPr/>
                    <a:lstStyle/>
                    <a:p>
                      <a:r>
                        <a:rPr sz="1100" b="0" i="0">
                          <a:solidFill>
                            <a:srgbClr val="1B2330"/>
                          </a:solidFill>
                          <a:latin typeface="Montserrat"/>
                        </a:rPr>
                        <a:t>Cocina 10 kW + caldera 24 kW</a:t>
                      </a:r>
                    </a:p>
                  </a:txBody>
                  <a:tcPr>
                    <a:solidFill>
                      <a:srgbClr val="FFFFFF"/>
                    </a:solidFill>
                  </a:tcPr>
                </a:tc>
                <a:tc>
                  <a:txBody>
                    <a:bodyPr/>
                    <a:lstStyle/>
                    <a:p>
                      <a:r>
                        <a:rPr sz="1100" b="0" i="0">
                          <a:solidFill>
                            <a:srgbClr val="1B2330"/>
                          </a:solidFill>
                          <a:latin typeface="Montserrat"/>
                        </a:rPr>
                        <a:t>(10 + 24) × 5 = 170 cm²</a:t>
                      </a:r>
                    </a:p>
                  </a:txBody>
                  <a:tcPr>
                    <a:solidFill>
                      <a:srgbClr val="FFFFFF"/>
                    </a:solidFill>
                  </a:tcPr>
                </a:tc>
                <a:tc>
                  <a:txBody>
                    <a:bodyPr/>
                    <a:lstStyle/>
                    <a:p>
                      <a:r>
                        <a:rPr sz="1100" b="0" i="0">
                          <a:solidFill>
                            <a:srgbClr val="1B2330"/>
                          </a:solidFill>
                          <a:latin typeface="Montserrat"/>
                        </a:rPr>
                        <a:t>Aparato A &lt; 16 kW → 8 m³</a:t>
                      </a:r>
                    </a:p>
                  </a:txBody>
                  <a:tcPr>
                    <a:solidFill>
                      <a:srgbClr val="FFFFFF"/>
                    </a:solidFill>
                  </a:tcPr>
                </a:tc>
                <a:tc>
                  <a:txBody>
                    <a:bodyPr/>
                    <a:lstStyle/>
                    <a:p>
                      <a:r>
                        <a:rPr sz="1100" b="0" i="0">
                          <a:solidFill>
                            <a:srgbClr val="1B2330"/>
                          </a:solidFill>
                          <a:latin typeface="Montserrat"/>
                        </a:rPr>
                        <a:t>Aparatos A sin dispositivo por falta de llama → 0,4 m²</a:t>
                      </a:r>
                    </a:p>
                  </a:txBody>
                  <a:tcPr>
                    <a:solidFill>
                      <a:srgbClr val="FFFFFF"/>
                    </a:solidFill>
                  </a:tcPr>
                </a:tc>
              </a:tr>
              <a:tr h="1005840">
                <a:tc>
                  <a:txBody>
                    <a:bodyPr/>
                    <a:lstStyle/>
                    <a:p>
                      <a:r>
                        <a:rPr sz="1100" b="0" i="0">
                          <a:solidFill>
                            <a:srgbClr val="1B2330"/>
                          </a:solidFill>
                          <a:latin typeface="Montserrat"/>
                        </a:rPr>
                        <a:t>Tipo B (conectados)</a:t>
                      </a:r>
                    </a:p>
                  </a:txBody>
                  <a:tcPr>
                    <a:solidFill>
                      <a:srgbClr val="F6F8FC"/>
                    </a:solidFill>
                  </a:tcPr>
                </a:tc>
                <a:tc>
                  <a:txBody>
                    <a:bodyPr/>
                    <a:lstStyle/>
                    <a:p>
                      <a:r>
                        <a:rPr sz="1100" b="0" i="0">
                          <a:solidFill>
                            <a:srgbClr val="1B2330"/>
                          </a:solidFill>
                          <a:latin typeface="Montserrat"/>
                        </a:rPr>
                        <a:t>Calentador/caldera 24 kW</a:t>
                      </a:r>
                    </a:p>
                  </a:txBody>
                  <a:tcPr>
                    <a:solidFill>
                      <a:srgbClr val="F6F8FC"/>
                    </a:solidFill>
                  </a:tcPr>
                </a:tc>
                <a:tc>
                  <a:txBody>
                    <a:bodyPr/>
                    <a:lstStyle/>
                    <a:p>
                      <a:r>
                        <a:rPr sz="1100" b="0" i="0">
                          <a:solidFill>
                            <a:srgbClr val="1B2330"/>
                          </a:solidFill>
                          <a:latin typeface="Montserrat"/>
                        </a:rPr>
                        <a:t>24 × 5 = 120 → 125 cm²</a:t>
                      </a:r>
                    </a:p>
                  </a:txBody>
                  <a:tcPr>
                    <a:solidFill>
                      <a:srgbClr val="F6F8FC"/>
                    </a:solidFill>
                  </a:tcPr>
                </a:tc>
                <a:tc>
                  <a:txBody>
                    <a:bodyPr/>
                    <a:lstStyle/>
                    <a:p>
                      <a:r>
                        <a:rPr sz="1100" b="0" i="0">
                          <a:solidFill>
                            <a:srgbClr val="1B2330"/>
                          </a:solidFill>
                          <a:latin typeface="Montserrat"/>
                        </a:rPr>
                        <a:t>No precisa</a:t>
                      </a:r>
                    </a:p>
                  </a:txBody>
                  <a:tcPr>
                    <a:solidFill>
                      <a:srgbClr val="F6F8FC"/>
                    </a:solidFill>
                  </a:tcPr>
                </a:tc>
                <a:tc>
                  <a:txBody>
                    <a:bodyPr/>
                    <a:lstStyle/>
                    <a:p>
                      <a:r>
                        <a:rPr sz="1100" b="0" i="0">
                          <a:solidFill>
                            <a:srgbClr val="1B2330"/>
                          </a:solidFill>
                          <a:latin typeface="Montserrat"/>
                        </a:rPr>
                        <a:t>No precisa</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Ejemplos resueltos: cómo se aplican kW × 5, el mínimo de 125 cm², el volumen de 8 m³ y la ventilación rápida según el tipo de aparato.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la superficie mínima de ventilación de un local con gas, aunque la potencia sea pequeña?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125 cm²</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100 cm²</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150 cm²</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200 cm²</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la superficie mínima de ventilación de un local con gas, aunque la potencia sea pequeña?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125 cm²</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superficie es kW × 5, pero nunca menos de 125 cm²; por eso una cocina de 10 kW, que daría 50, se queda en 125.</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VENTILACIÓN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Pasando de 30 kW, más exigencia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Ventilación rápida típica: 0,4 m²</a:t>
            </a:r>
          </a:p>
          <a:p>
            <a:pPr>
              <a:spcAft>
                <a:spcPts val="1100"/>
              </a:spcAft>
            </a:pPr>
            <a:r>
              <a:rPr sz="1600" b="1" i="0">
                <a:solidFill>
                  <a:srgbClr val="E8801A"/>
                </a:solidFill>
                <a:latin typeface="Montserrat"/>
              </a:rPr>
              <a:t>▸  </a:t>
            </a:r>
            <a:r>
              <a:rPr sz="1600" b="0" i="0">
                <a:solidFill>
                  <a:srgbClr val="1B2330"/>
                </a:solidFill>
                <a:latin typeface="Montserrat"/>
              </a:rPr>
              <a:t>≤ 30 kW: directa o indirecta</a:t>
            </a:r>
          </a:p>
          <a:p>
            <a:pPr>
              <a:spcAft>
                <a:spcPts val="1100"/>
              </a:spcAft>
            </a:pPr>
            <a:r>
              <a:rPr sz="1600" b="1" i="0">
                <a:solidFill>
                  <a:srgbClr val="E8801A"/>
                </a:solidFill>
                <a:latin typeface="Montserrat"/>
              </a:rPr>
              <a:t>▸  </a:t>
            </a:r>
            <a:r>
              <a:rPr sz="1600" b="0" i="0">
                <a:solidFill>
                  <a:srgbClr val="1B2330"/>
                </a:solidFill>
                <a:latin typeface="Montserrat"/>
              </a:rPr>
              <a:t>&gt; 30 kW: directa obligatoria</a:t>
            </a:r>
          </a:p>
          <a:p>
            <a:pPr>
              <a:spcAft>
                <a:spcPts val="1100"/>
              </a:spcAft>
            </a:pPr>
            <a:r>
              <a:rPr sz="1600" b="1" i="0">
                <a:solidFill>
                  <a:srgbClr val="E8801A"/>
                </a:solidFill>
                <a:latin typeface="Montserrat"/>
              </a:rPr>
              <a:t>▸  </a:t>
            </a:r>
            <a:r>
              <a:rPr sz="1600" b="0" i="0">
                <a:solidFill>
                  <a:srgbClr val="1B2330"/>
                </a:solidFill>
                <a:latin typeface="Montserrat"/>
              </a:rPr>
              <a:t>Corte por fallo, electroválvula fuera</a:t>
            </a:r>
          </a:p>
        </p:txBody>
      </p:sp>
      <p:sp>
        <p:nvSpPr>
          <p:cNvPr id="9" name="imgph" descr="IMGQ:commercial kitchen ventilation hoo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commercial kitchen ventilation hood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VENTILACIONES · EJEMPLOS</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Ejemplos de locales con potencia &gt; 16 kW</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1341120">
                <a:tc>
                  <a:txBody>
                    <a:bodyPr/>
                    <a:lstStyle/>
                    <a:p>
                      <a:r>
                        <a:rPr sz="1200" b="1" i="0">
                          <a:solidFill>
                            <a:srgbClr val="FFFFFF"/>
                          </a:solidFill>
                          <a:latin typeface="Montserrat"/>
                        </a:rPr>
                        <a:t>Ejemplo</a:t>
                      </a:r>
                    </a:p>
                  </a:txBody>
                  <a:tcPr>
                    <a:solidFill>
                      <a:srgbClr val="1E2761"/>
                    </a:solidFill>
                  </a:tcPr>
                </a:tc>
                <a:tc>
                  <a:txBody>
                    <a:bodyPr/>
                    <a:lstStyle/>
                    <a:p>
                      <a:r>
                        <a:rPr sz="1200" b="1" i="0">
                          <a:solidFill>
                            <a:srgbClr val="FFFFFF"/>
                          </a:solidFill>
                          <a:latin typeface="Montserrat"/>
                        </a:rPr>
                        <a:t>Ventilación</a:t>
                      </a:r>
                    </a:p>
                  </a:txBody>
                  <a:tcPr>
                    <a:solidFill>
                      <a:srgbClr val="1E2761"/>
                    </a:solidFill>
                  </a:tcPr>
                </a:tc>
                <a:tc>
                  <a:txBody>
                    <a:bodyPr/>
                    <a:lstStyle/>
                    <a:p>
                      <a:r>
                        <a:rPr sz="1200" b="1" i="0">
                          <a:solidFill>
                            <a:srgbClr val="FFFFFF"/>
                          </a:solidFill>
                          <a:latin typeface="Montserrat"/>
                        </a:rPr>
                        <a:t>Volumen mínimo</a:t>
                      </a:r>
                    </a:p>
                  </a:txBody>
                  <a:tcPr>
                    <a:solidFill>
                      <a:srgbClr val="1E2761"/>
                    </a:solidFill>
                  </a:tcPr>
                </a:tc>
                <a:tc>
                  <a:txBody>
                    <a:bodyPr/>
                    <a:lstStyle/>
                    <a:p>
                      <a:r>
                        <a:rPr sz="1200" b="1" i="0">
                          <a:solidFill>
                            <a:srgbClr val="FFFFFF"/>
                          </a:solidFill>
                          <a:latin typeface="Montserrat"/>
                        </a:rPr>
                        <a:t>Ventilación rápida</a:t>
                      </a:r>
                    </a:p>
                  </a:txBody>
                  <a:tcPr>
                    <a:solidFill>
                      <a:srgbClr val="1E2761"/>
                    </a:solidFill>
                  </a:tcPr>
                </a:tc>
              </a:tr>
              <a:tr h="1341120">
                <a:tc>
                  <a:txBody>
                    <a:bodyPr/>
                    <a:lstStyle/>
                    <a:p>
                      <a:r>
                        <a:rPr sz="1200" b="0" i="0">
                          <a:solidFill>
                            <a:srgbClr val="1B2330"/>
                          </a:solidFill>
                          <a:latin typeface="Montserrat"/>
                        </a:rPr>
                        <a:t>Cocina 10 kW + cocina 15 kW</a:t>
                      </a:r>
                    </a:p>
                  </a:txBody>
                  <a:tcPr>
                    <a:solidFill>
                      <a:srgbClr val="F6F8FC"/>
                    </a:solidFill>
                  </a:tcPr>
                </a:tc>
                <a:tc>
                  <a:txBody>
                    <a:bodyPr/>
                    <a:lstStyle/>
                    <a:p>
                      <a:r>
                        <a:rPr sz="1200" b="0" i="0">
                          <a:solidFill>
                            <a:srgbClr val="1B2330"/>
                          </a:solidFill>
                          <a:latin typeface="Montserrat"/>
                        </a:rPr>
                        <a:t>25 kW → 25 × 5 = 125 cm² (Sup. 62,5 / Inf. 62,5)</a:t>
                      </a:r>
                    </a:p>
                  </a:txBody>
                  <a:tcPr>
                    <a:solidFill>
                      <a:srgbClr val="F6F8FC"/>
                    </a:solidFill>
                  </a:tcPr>
                </a:tc>
                <a:tc>
                  <a:txBody>
                    <a:bodyPr/>
                    <a:lstStyle/>
                    <a:p>
                      <a:r>
                        <a:rPr sz="1200" b="0" i="0">
                          <a:solidFill>
                            <a:srgbClr val="1B2330"/>
                          </a:solidFill>
                          <a:latin typeface="Montserrat"/>
                        </a:rPr>
                        <a:t>25 − 8 = 17 m³</a:t>
                      </a:r>
                    </a:p>
                  </a:txBody>
                  <a:tcPr>
                    <a:solidFill>
                      <a:srgbClr val="F6F8FC"/>
                    </a:solidFill>
                  </a:tcPr>
                </a:tc>
                <a:tc>
                  <a:txBody>
                    <a:bodyPr/>
                    <a:lstStyle/>
                    <a:p>
                      <a:r>
                        <a:rPr sz="1200" b="0" i="0">
                          <a:solidFill>
                            <a:srgbClr val="1B2330"/>
                          </a:solidFill>
                          <a:latin typeface="Montserrat"/>
                        </a:rPr>
                        <a:t>≤ 30 kW; sin dispositivo por extinción de llama VR = 0,4 m²; directa o indirecta</a:t>
                      </a:r>
                    </a:p>
                  </a:txBody>
                  <a:tcPr>
                    <a:solidFill>
                      <a:srgbClr val="F6F8FC"/>
                    </a:solidFill>
                  </a:tcPr>
                </a:tc>
              </a:tr>
              <a:tr h="1341120">
                <a:tc>
                  <a:txBody>
                    <a:bodyPr/>
                    <a:lstStyle/>
                    <a:p>
                      <a:r>
                        <a:rPr sz="1200" b="0" i="0">
                          <a:solidFill>
                            <a:srgbClr val="1B2330"/>
                          </a:solidFill>
                          <a:latin typeface="Montserrat"/>
                        </a:rPr>
                        <a:t>Cocina 10 + cocina 15 + plancha 20 kW</a:t>
                      </a:r>
                    </a:p>
                  </a:txBody>
                  <a:tcPr>
                    <a:solidFill>
                      <a:srgbClr val="FFFFFF"/>
                    </a:solidFill>
                  </a:tcPr>
                </a:tc>
                <a:tc>
                  <a:txBody>
                    <a:bodyPr/>
                    <a:lstStyle/>
                    <a:p>
                      <a:r>
                        <a:rPr sz="1200" b="0" i="0">
                          <a:solidFill>
                            <a:srgbClr val="1B2330"/>
                          </a:solidFill>
                          <a:latin typeface="Montserrat"/>
                        </a:rPr>
                        <a:t>45 kW → 45 × 5 = 225 cm² (Sup. 112,5 / Inf. 112,5)</a:t>
                      </a:r>
                    </a:p>
                  </a:txBody>
                  <a:tcPr>
                    <a:solidFill>
                      <a:srgbClr val="FFFFFF"/>
                    </a:solidFill>
                  </a:tcPr>
                </a:tc>
                <a:tc>
                  <a:txBody>
                    <a:bodyPr/>
                    <a:lstStyle/>
                    <a:p>
                      <a:r>
                        <a:rPr sz="1200" b="0" i="0">
                          <a:solidFill>
                            <a:srgbClr val="1B2330"/>
                          </a:solidFill>
                          <a:latin typeface="Montserrat"/>
                        </a:rPr>
                        <a:t>45 − 8 = 37 m³</a:t>
                      </a:r>
                    </a:p>
                  </a:txBody>
                  <a:tcPr>
                    <a:solidFill>
                      <a:srgbClr val="FFFFFF"/>
                    </a:solidFill>
                  </a:tcPr>
                </a:tc>
                <a:tc>
                  <a:txBody>
                    <a:bodyPr/>
                    <a:lstStyle/>
                    <a:p>
                      <a:r>
                        <a:rPr sz="1200" b="0" i="0">
                          <a:solidFill>
                            <a:srgbClr val="1B2330"/>
                          </a:solidFill>
                          <a:latin typeface="Montserrat"/>
                        </a:rPr>
                        <a:t>&gt; 30 kW; VR = 0,4 m²; directa; corte por fallo de ventilación; electroválvula de rearme manual fuera del local</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Con más de 16 kW la ventilación se reparte en dos mitades iguales; pasando de 30 kW, la ventilación es directa y con corte por fallo.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VOLUMEN MÍNIMO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kW − 8, con suelo de 8 m³</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A ≤ 16 kW → 8 m³</a:t>
            </a:r>
          </a:p>
          <a:p>
            <a:pPr>
              <a:spcAft>
                <a:spcPts val="1100"/>
              </a:spcAft>
            </a:pPr>
            <a:r>
              <a:rPr sz="1600" b="1" i="0">
                <a:solidFill>
                  <a:srgbClr val="E8801A"/>
                </a:solidFill>
                <a:latin typeface="Montserrat"/>
              </a:rPr>
              <a:t>▸  </a:t>
            </a:r>
            <a:r>
              <a:rPr sz="1600" b="0" i="0">
                <a:solidFill>
                  <a:srgbClr val="1B2330"/>
                </a:solidFill>
                <a:latin typeface="Montserrat"/>
              </a:rPr>
              <a:t>Tipo A &gt; 16 kW → kW − 8</a:t>
            </a:r>
          </a:p>
          <a:p>
            <a:pPr>
              <a:spcAft>
                <a:spcPts val="1100"/>
              </a:spcAft>
            </a:pPr>
            <a:r>
              <a:rPr sz="1600" b="1" i="0">
                <a:solidFill>
                  <a:srgbClr val="E8801A"/>
                </a:solidFill>
                <a:latin typeface="Montserrat"/>
              </a:rPr>
              <a:t>▸  </a:t>
            </a:r>
            <a:r>
              <a:rPr sz="1600" b="0" i="0">
                <a:solidFill>
                  <a:srgbClr val="1B2330"/>
                </a:solidFill>
                <a:latin typeface="Montserrat"/>
              </a:rPr>
              <a:t>Calefacción directa → kW × 11 (mín. 15 m³)</a:t>
            </a:r>
          </a:p>
          <a:p>
            <a:pPr>
              <a:spcAft>
                <a:spcPts val="1100"/>
              </a:spcAft>
            </a:pPr>
            <a:r>
              <a:rPr sz="1600" b="1" i="0">
                <a:solidFill>
                  <a:srgbClr val="E8801A"/>
                </a:solidFill>
                <a:latin typeface="Montserrat"/>
              </a:rPr>
              <a:t>▸  </a:t>
            </a:r>
            <a:r>
              <a:rPr sz="1600" b="0" i="0">
                <a:solidFill>
                  <a:srgbClr val="1B2330"/>
                </a:solidFill>
                <a:latin typeface="Montserrat"/>
              </a:rPr>
              <a:t>Estancos y conducidos: sin volumen</a:t>
            </a:r>
          </a:p>
        </p:txBody>
      </p:sp>
      <p:sp>
        <p:nvSpPr>
          <p:cNvPr id="9" name="imgph" descr="IMGQ:spacious kitchen with gas appliance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spacious kitchen with gas appliances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VOLUMEN MÍNIMO</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Volumen mínimo con aparatos tipo A</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804672">
                <a:tc>
                  <a:txBody>
                    <a:bodyPr/>
                    <a:lstStyle/>
                    <a:p>
                      <a:r>
                        <a:rPr sz="1200" b="1" i="0">
                          <a:solidFill>
                            <a:srgbClr val="FFFFFF"/>
                          </a:solidFill>
                          <a:latin typeface="Montserrat"/>
                        </a:rPr>
                        <a:t>Aparatos</a:t>
                      </a:r>
                    </a:p>
                  </a:txBody>
                  <a:tcPr>
                    <a:solidFill>
                      <a:srgbClr val="1E2761"/>
                    </a:solidFill>
                  </a:tcPr>
                </a:tc>
                <a:tc>
                  <a:txBody>
                    <a:bodyPr/>
                    <a:lstStyle/>
                    <a:p>
                      <a:r>
                        <a:rPr sz="1200" b="1" i="0">
                          <a:solidFill>
                            <a:srgbClr val="FFFFFF"/>
                          </a:solidFill>
                          <a:latin typeface="Montserrat"/>
                        </a:rPr>
                        <a:t>Potencia</a:t>
                      </a:r>
                    </a:p>
                  </a:txBody>
                  <a:tcPr>
                    <a:solidFill>
                      <a:srgbClr val="1E2761"/>
                    </a:solidFill>
                  </a:tcPr>
                </a:tc>
                <a:tc>
                  <a:txBody>
                    <a:bodyPr/>
                    <a:lstStyle/>
                    <a:p>
                      <a:r>
                        <a:rPr sz="1200" b="1" i="0">
                          <a:solidFill>
                            <a:srgbClr val="FFFFFF"/>
                          </a:solidFill>
                          <a:latin typeface="Montserrat"/>
                        </a:rPr>
                        <a:t>Volumen</a:t>
                      </a:r>
                    </a:p>
                  </a:txBody>
                  <a:tcPr>
                    <a:solidFill>
                      <a:srgbClr val="1E2761"/>
                    </a:solidFill>
                  </a:tcPr>
                </a:tc>
              </a:tr>
              <a:tr h="804672">
                <a:tc>
                  <a:txBody>
                    <a:bodyPr/>
                    <a:lstStyle/>
                    <a:p>
                      <a:r>
                        <a:rPr sz="1200" b="0" i="0">
                          <a:solidFill>
                            <a:srgbClr val="1B2330"/>
                          </a:solidFill>
                          <a:latin typeface="Montserrat"/>
                        </a:rPr>
                        <a:t>Aparatos de cocción o gasodomésticos</a:t>
                      </a:r>
                    </a:p>
                  </a:txBody>
                  <a:tcPr>
                    <a:solidFill>
                      <a:srgbClr val="F6F8FC"/>
                    </a:solidFill>
                  </a:tcPr>
                </a:tc>
                <a:tc>
                  <a:txBody>
                    <a:bodyPr/>
                    <a:lstStyle/>
                    <a:p>
                      <a:r>
                        <a:rPr sz="1200" b="0" i="0">
                          <a:solidFill>
                            <a:srgbClr val="1B2330"/>
                          </a:solidFill>
                          <a:latin typeface="Montserrat"/>
                        </a:rPr>
                        <a:t>hasta 16 kW</a:t>
                      </a:r>
                    </a:p>
                  </a:txBody>
                  <a:tcPr>
                    <a:solidFill>
                      <a:srgbClr val="F6F8FC"/>
                    </a:solidFill>
                  </a:tcPr>
                </a:tc>
                <a:tc>
                  <a:txBody>
                    <a:bodyPr/>
                    <a:lstStyle/>
                    <a:p>
                      <a:r>
                        <a:rPr sz="1200" b="0" i="0">
                          <a:solidFill>
                            <a:srgbClr val="1B2330"/>
                          </a:solidFill>
                          <a:latin typeface="Montserrat"/>
                        </a:rPr>
                        <a:t>8 m³. En edificios construidos, entre 6 y 8 m³ si se incrementa un 50 % la ventilación.</a:t>
                      </a:r>
                    </a:p>
                  </a:txBody>
                  <a:tcPr>
                    <a:solidFill>
                      <a:srgbClr val="F6F8FC"/>
                    </a:solidFill>
                  </a:tcPr>
                </a:tc>
              </a:tr>
              <a:tr h="804672">
                <a:tc>
                  <a:txBody>
                    <a:bodyPr/>
                    <a:lstStyle/>
                    <a:p>
                      <a:r>
                        <a:rPr sz="1200" b="0" i="0">
                          <a:solidFill>
                            <a:srgbClr val="1B2330"/>
                          </a:solidFill>
                          <a:latin typeface="Montserrat"/>
                        </a:rPr>
                        <a:t>Aparatos de cocción o gasodomésticos</a:t>
                      </a:r>
                    </a:p>
                  </a:txBody>
                  <a:tcPr>
                    <a:solidFill>
                      <a:srgbClr val="FFFFFF"/>
                    </a:solidFill>
                  </a:tcPr>
                </a:tc>
                <a:tc>
                  <a:txBody>
                    <a:bodyPr/>
                    <a:lstStyle/>
                    <a:p>
                      <a:r>
                        <a:rPr sz="1200" b="0" i="0">
                          <a:solidFill>
                            <a:srgbClr val="1B2330"/>
                          </a:solidFill>
                          <a:latin typeface="Montserrat"/>
                        </a:rPr>
                        <a:t>&gt; 16 kW</a:t>
                      </a:r>
                    </a:p>
                  </a:txBody>
                  <a:tcPr>
                    <a:solidFill>
                      <a:srgbClr val="FFFFFF"/>
                    </a:solidFill>
                  </a:tcPr>
                </a:tc>
                <a:tc>
                  <a:txBody>
                    <a:bodyPr/>
                    <a:lstStyle/>
                    <a:p>
                      <a:r>
                        <a:rPr sz="1200" b="0" i="0">
                          <a:solidFill>
                            <a:srgbClr val="1B2330"/>
                          </a:solidFill>
                          <a:latin typeface="Montserrat"/>
                        </a:rPr>
                        <a:t>kW − 8 (en m³)</a:t>
                      </a:r>
                    </a:p>
                  </a:txBody>
                  <a:tcPr>
                    <a:solidFill>
                      <a:srgbClr val="FFFFFF"/>
                    </a:solidFill>
                  </a:tcPr>
                </a:tc>
              </a:tr>
              <a:tr h="804672">
                <a:tc>
                  <a:txBody>
                    <a:bodyPr/>
                    <a:lstStyle/>
                    <a:p>
                      <a:r>
                        <a:rPr sz="1200" b="0" i="0">
                          <a:solidFill>
                            <a:srgbClr val="1B2330"/>
                          </a:solidFill>
                          <a:latin typeface="Montserrat"/>
                        </a:rPr>
                        <a:t>Aparatos de calefacción directa</a:t>
                      </a:r>
                    </a:p>
                  </a:txBody>
                  <a:tcPr>
                    <a:solidFill>
                      <a:srgbClr val="F6F8FC"/>
                    </a:solidFill>
                  </a:tcPr>
                </a:tc>
                <a:tc>
                  <a:txBody>
                    <a:bodyPr/>
                    <a:lstStyle/>
                    <a:p>
                      <a:r>
                        <a:rPr sz="1200" b="0" i="0">
                          <a:solidFill>
                            <a:srgbClr val="1B2330"/>
                          </a:solidFill>
                          <a:latin typeface="Montserrat"/>
                        </a:rPr>
                        <a:t>—</a:t>
                      </a:r>
                    </a:p>
                  </a:txBody>
                  <a:tcPr>
                    <a:solidFill>
                      <a:srgbClr val="F6F8FC"/>
                    </a:solidFill>
                  </a:tcPr>
                </a:tc>
                <a:tc>
                  <a:txBody>
                    <a:bodyPr/>
                    <a:lstStyle/>
                    <a:p>
                      <a:r>
                        <a:rPr sz="1200" b="0" i="0">
                          <a:solidFill>
                            <a:srgbClr val="1B2330"/>
                          </a:solidFill>
                          <a:latin typeface="Montserrat"/>
                        </a:rPr>
                        <a:t>V (m³) = Potencia (kW) × 11 (mínimo 15 m³)</a:t>
                      </a:r>
                    </a:p>
                  </a:txBody>
                  <a:tcPr>
                    <a:solidFill>
                      <a:srgbClr val="F6F8FC"/>
                    </a:solidFill>
                  </a:tcPr>
                </a:tc>
              </a:tr>
              <a:tr h="804672">
                <a:tc>
                  <a:txBody>
                    <a:bodyPr/>
                    <a:lstStyle/>
                    <a:p>
                      <a:r>
                        <a:rPr sz="1200" b="0" i="0">
                          <a:solidFill>
                            <a:srgbClr val="1B2330"/>
                          </a:solidFill>
                          <a:latin typeface="Montserrat"/>
                        </a:rPr>
                        <a:t>Cocción/gasodomésticos y calefacción directa</a:t>
                      </a:r>
                    </a:p>
                  </a:txBody>
                  <a:tcPr>
                    <a:solidFill>
                      <a:srgbClr val="FFFFFF"/>
                    </a:solidFill>
                  </a:tcPr>
                </a:tc>
                <a:tc>
                  <a:txBody>
                    <a:bodyPr/>
                    <a:lstStyle/>
                    <a:p>
                      <a:r>
                        <a:rPr sz="1200" b="0" i="0">
                          <a:solidFill>
                            <a:srgbClr val="1B2330"/>
                          </a:solidFill>
                          <a:latin typeface="Montserrat"/>
                        </a:rPr>
                        <a:t>—</a:t>
                      </a:r>
                    </a:p>
                  </a:txBody>
                  <a:tcPr>
                    <a:solidFill>
                      <a:srgbClr val="FFFFFF"/>
                    </a:solidFill>
                  </a:tcPr>
                </a:tc>
                <a:tc>
                  <a:txBody>
                    <a:bodyPr/>
                    <a:lstStyle/>
                    <a:p>
                      <a:r>
                        <a:rPr sz="1200" b="0" i="0">
                          <a:solidFill>
                            <a:srgbClr val="1B2330"/>
                          </a:solidFill>
                          <a:latin typeface="Montserrat"/>
                        </a:rPr>
                        <a:t>Se calculan los dos volúmenes por separado y se suman.</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Volumen bruto mínimo del local según el aparato tipo A; los estancos y conducidos no piden volumen porque no vierten humos al local.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CONSUMO &gt; 30 KW</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Cuándo hace falta extracción mecánica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&gt; 30 kW: extracción mecánica y corte</a:t>
            </a:r>
          </a:p>
          <a:p>
            <a:pPr>
              <a:spcAft>
                <a:spcPts val="1100"/>
              </a:spcAft>
            </a:pPr>
            <a:r>
              <a:rPr sz="1600" b="1" i="0">
                <a:solidFill>
                  <a:srgbClr val="E8801A"/>
                </a:solidFill>
                <a:latin typeface="Montserrat"/>
              </a:rPr>
              <a:t>▸  </a:t>
            </a:r>
            <a:r>
              <a:rPr sz="1600" b="0" i="0">
                <a:solidFill>
                  <a:srgbClr val="1B2330"/>
                </a:solidFill>
                <a:latin typeface="Montserrat"/>
              </a:rPr>
              <a:t>Fórmula: q = 10·A + 2·ΣQn</a:t>
            </a:r>
          </a:p>
          <a:p>
            <a:pPr>
              <a:spcAft>
                <a:spcPts val="1100"/>
              </a:spcAft>
            </a:pPr>
            <a:r>
              <a:rPr sz="1600" b="1" i="0">
                <a:solidFill>
                  <a:srgbClr val="E8801A"/>
                </a:solidFill>
                <a:latin typeface="Montserrat"/>
              </a:rPr>
              <a:t>▸  </a:t>
            </a:r>
            <a:r>
              <a:rPr sz="1600" b="0" i="0">
                <a:solidFill>
                  <a:srgbClr val="1B2330"/>
                </a:solidFill>
                <a:latin typeface="Montserrat"/>
              </a:rPr>
              <a:t>Renovación continua de aire</a:t>
            </a:r>
          </a:p>
          <a:p>
            <a:pPr>
              <a:spcAft>
                <a:spcPts val="1100"/>
              </a:spcAft>
            </a:pPr>
            <a:r>
              <a:rPr sz="1600" b="1" i="0">
                <a:solidFill>
                  <a:srgbClr val="E8801A"/>
                </a:solidFill>
                <a:latin typeface="Montserrat"/>
              </a:rPr>
              <a:t>▸  </a:t>
            </a:r>
            <a:r>
              <a:rPr sz="1600" b="0" i="0">
                <a:solidFill>
                  <a:srgbClr val="1B2330"/>
                </a:solidFill>
                <a:latin typeface="Montserrat"/>
              </a:rPr>
              <a:t>Salvo que volumen/kW &gt; 10</a:t>
            </a:r>
          </a:p>
        </p:txBody>
      </p:sp>
      <p:sp>
        <p:nvSpPr>
          <p:cNvPr id="9" name="imgph" descr="IMGQ:mechanical extraction fan and duc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mechanical extraction fan and duct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EDIFICIOS YA CONSTRUIDOS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Rebajar volumen tiene precio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75–100 % del volumen → +50 % ventilación</a:t>
            </a:r>
          </a:p>
          <a:p>
            <a:pPr>
              <a:spcAft>
                <a:spcPts val="1100"/>
              </a:spcAft>
            </a:pPr>
            <a:r>
              <a:rPr sz="1600" b="1" i="0">
                <a:solidFill>
                  <a:srgbClr val="E8801A"/>
                </a:solidFill>
                <a:latin typeface="Montserrat"/>
              </a:rPr>
              <a:t>▸  </a:t>
            </a:r>
            <a:r>
              <a:rPr sz="1600" b="0" i="0">
                <a:solidFill>
                  <a:srgbClr val="1B2330"/>
                </a:solidFill>
                <a:latin typeface="Montserrat"/>
              </a:rPr>
              <a:t>50–75 % → +50 % y detector de CO</a:t>
            </a:r>
          </a:p>
          <a:p>
            <a:pPr>
              <a:spcAft>
                <a:spcPts val="1100"/>
              </a:spcAft>
            </a:pPr>
            <a:r>
              <a:rPr sz="1600" b="1" i="0">
                <a:solidFill>
                  <a:srgbClr val="E8801A"/>
                </a:solidFill>
                <a:latin typeface="Montserrat"/>
              </a:rPr>
              <a:t>▸  </a:t>
            </a:r>
            <a:r>
              <a:rPr sz="1600" b="0" i="0">
                <a:solidFill>
                  <a:srgbClr val="1B2330"/>
                </a:solidFill>
                <a:latin typeface="Montserrat"/>
              </a:rPr>
              <a:t>El CO corta el gas (electroválvula)</a:t>
            </a:r>
          </a:p>
          <a:p>
            <a:pPr>
              <a:spcAft>
                <a:spcPts val="1100"/>
              </a:spcAft>
            </a:pPr>
            <a:r>
              <a:rPr sz="1600" b="1" i="0">
                <a:solidFill>
                  <a:srgbClr val="E8801A"/>
                </a:solidFill>
                <a:latin typeface="Montserrat"/>
              </a:rPr>
              <a:t>▸  </a:t>
            </a:r>
            <a:r>
              <a:rPr sz="1600" b="0" i="0">
                <a:solidFill>
                  <a:srgbClr val="1B2330"/>
                </a:solidFill>
                <a:latin typeface="Montserrat"/>
              </a:rPr>
              <a:t>Nunca por debajo de 6 m³</a:t>
            </a:r>
          </a:p>
        </p:txBody>
      </p:sp>
      <p:sp>
        <p:nvSpPr>
          <p:cNvPr id="9" name="imgph" descr="IMGQ:carbon monoxide detector on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carbon monoxide detector on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PATIOS DE VENTILACIÓN Y EVACUACIÓN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Meter aire o sacar humos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Ventilación: 3 m², lado ≥ 1 m</a:t>
            </a:r>
          </a:p>
          <a:p>
            <a:pPr>
              <a:spcAft>
                <a:spcPts val="1100"/>
              </a:spcAft>
            </a:pPr>
            <a:r>
              <a:rPr sz="1600" b="1" i="0">
                <a:solidFill>
                  <a:srgbClr val="E8801A"/>
                </a:solidFill>
                <a:latin typeface="Montserrat"/>
              </a:rPr>
              <a:t>▸  </a:t>
            </a:r>
            <a:r>
              <a:rPr sz="1600" b="0" i="0">
                <a:solidFill>
                  <a:srgbClr val="1B2330"/>
                </a:solidFill>
                <a:latin typeface="Montserrat"/>
              </a:rPr>
              <a:t>Techado: 2 m² libres al exterior</a:t>
            </a:r>
          </a:p>
          <a:p>
            <a:pPr>
              <a:spcAft>
                <a:spcPts val="1100"/>
              </a:spcAft>
            </a:pPr>
            <a:r>
              <a:rPr sz="1600" b="1" i="0">
                <a:solidFill>
                  <a:srgbClr val="E8801A"/>
                </a:solidFill>
                <a:latin typeface="Montserrat"/>
              </a:rPr>
              <a:t>▸  </a:t>
            </a:r>
            <a:r>
              <a:rPr sz="1600" b="0" i="0">
                <a:solidFill>
                  <a:srgbClr val="1B2330"/>
                </a:solidFill>
                <a:latin typeface="Montserrat"/>
              </a:rPr>
              <a:t>Evacuación: NT × 0,5 m² (mín. 4 m²)</a:t>
            </a:r>
          </a:p>
          <a:p>
            <a:pPr>
              <a:spcAft>
                <a:spcPts val="1100"/>
              </a:spcAft>
            </a:pPr>
            <a:r>
              <a:rPr sz="1600" b="1" i="0">
                <a:solidFill>
                  <a:srgbClr val="E8801A"/>
                </a:solidFill>
                <a:latin typeface="Montserrat"/>
              </a:rPr>
              <a:t>▸  </a:t>
            </a:r>
            <a:r>
              <a:rPr sz="1600" b="0" i="0">
                <a:solidFill>
                  <a:srgbClr val="1B2330"/>
                </a:solidFill>
                <a:latin typeface="Montserrat"/>
              </a:rPr>
              <a:t>NT son locales, no ventanas</a:t>
            </a:r>
          </a:p>
        </p:txBody>
      </p:sp>
      <p:sp>
        <p:nvSpPr>
          <p:cNvPr id="9" name="imgph" descr="IMGQ:building interior ventilation courtyard"/>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building interior ventilation courtyard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PATIOS DE VENTILACIÓN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Patios de ventilación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1341120">
                <a:tc>
                  <a:txBody>
                    <a:bodyPr/>
                    <a:lstStyle/>
                    <a:p>
                      <a:r>
                        <a:rPr sz="1200" b="1" i="0">
                          <a:solidFill>
                            <a:srgbClr val="FFFFFF"/>
                          </a:solidFill>
                          <a:latin typeface="Montserrat"/>
                        </a:rPr>
                        <a:t>Patio de ventilación</a:t>
                      </a:r>
                    </a:p>
                  </a:txBody>
                  <a:tcPr>
                    <a:solidFill>
                      <a:srgbClr val="1E2761"/>
                    </a:solidFill>
                  </a:tcPr>
                </a:tc>
                <a:tc>
                  <a:txBody>
                    <a:bodyPr/>
                    <a:lstStyle/>
                    <a:p>
                      <a:r>
                        <a:rPr sz="1200" b="1" i="0">
                          <a:solidFill>
                            <a:srgbClr val="FFFFFF"/>
                          </a:solidFill>
                          <a:latin typeface="Montserrat"/>
                        </a:rPr>
                        <a:t>Superficie mínima</a:t>
                      </a:r>
                    </a:p>
                  </a:txBody>
                  <a:tcPr>
                    <a:solidFill>
                      <a:srgbClr val="1E2761"/>
                    </a:solidFill>
                  </a:tcPr>
                </a:tc>
                <a:tc>
                  <a:txBody>
                    <a:bodyPr/>
                    <a:lstStyle/>
                    <a:p>
                      <a:r>
                        <a:rPr sz="1200" b="1" i="0">
                          <a:solidFill>
                            <a:srgbClr val="FFFFFF"/>
                          </a:solidFill>
                          <a:latin typeface="Montserrat"/>
                        </a:rPr>
                        <a:t>Lado menor</a:t>
                      </a:r>
                    </a:p>
                  </a:txBody>
                  <a:tcPr>
                    <a:solidFill>
                      <a:srgbClr val="1E2761"/>
                    </a:solidFill>
                  </a:tcPr>
                </a:tc>
                <a:tc>
                  <a:txBody>
                    <a:bodyPr/>
                    <a:lstStyle/>
                    <a:p>
                      <a:r>
                        <a:rPr sz="1200" b="1" i="0">
                          <a:solidFill>
                            <a:srgbClr val="FFFFFF"/>
                          </a:solidFill>
                          <a:latin typeface="Montserrat"/>
                        </a:rPr>
                        <a:t>Techado libre mínimo</a:t>
                      </a:r>
                    </a:p>
                  </a:txBody>
                  <a:tcPr>
                    <a:solidFill>
                      <a:srgbClr val="1E2761"/>
                    </a:solidFill>
                  </a:tcPr>
                </a:tc>
              </a:tr>
              <a:tr h="1341120">
                <a:tc>
                  <a:txBody>
                    <a:bodyPr/>
                    <a:lstStyle/>
                    <a:p>
                      <a:r>
                        <a:rPr sz="1200" b="0" i="0">
                          <a:solidFill>
                            <a:srgbClr val="1B2330"/>
                          </a:solidFill>
                          <a:latin typeface="Montserrat"/>
                        </a:rPr>
                        <a:t>Finca nueva</a:t>
                      </a:r>
                    </a:p>
                  </a:txBody>
                  <a:tcPr>
                    <a:solidFill>
                      <a:srgbClr val="F6F8FC"/>
                    </a:solidFill>
                  </a:tcPr>
                </a:tc>
                <a:tc>
                  <a:txBody>
                    <a:bodyPr/>
                    <a:lstStyle/>
                    <a:p>
                      <a:r>
                        <a:rPr sz="1200" b="0" i="0">
                          <a:solidFill>
                            <a:srgbClr val="1B2330"/>
                          </a:solidFill>
                          <a:latin typeface="Montserrat"/>
                        </a:rPr>
                        <a:t>Mínimo 3 m²</a:t>
                      </a:r>
                    </a:p>
                  </a:txBody>
                  <a:tcPr>
                    <a:solidFill>
                      <a:srgbClr val="F6F8FC"/>
                    </a:solidFill>
                  </a:tcPr>
                </a:tc>
                <a:tc>
                  <a:txBody>
                    <a:bodyPr/>
                    <a:lstStyle/>
                    <a:p>
                      <a:r>
                        <a:rPr sz="1200" b="0" i="0">
                          <a:solidFill>
                            <a:srgbClr val="1B2330"/>
                          </a:solidFill>
                          <a:latin typeface="Montserrat"/>
                        </a:rPr>
                        <a:t>1 m</a:t>
                      </a:r>
                    </a:p>
                  </a:txBody>
                  <a:tcPr>
                    <a:solidFill>
                      <a:srgbClr val="F6F8FC"/>
                    </a:solidFill>
                  </a:tcPr>
                </a:tc>
                <a:tc>
                  <a:txBody>
                    <a:bodyPr/>
                    <a:lstStyle/>
                    <a:p>
                      <a:r>
                        <a:rPr sz="1200" b="0" i="0">
                          <a:solidFill>
                            <a:srgbClr val="1B2330"/>
                          </a:solidFill>
                          <a:latin typeface="Montserrat"/>
                        </a:rPr>
                        <a:t>S = 2 m²</a:t>
                      </a:r>
                    </a:p>
                  </a:txBody>
                  <a:tcPr>
                    <a:solidFill>
                      <a:srgbClr val="F6F8FC"/>
                    </a:solidFill>
                  </a:tcPr>
                </a:tc>
              </a:tr>
              <a:tr h="1341120">
                <a:tc>
                  <a:txBody>
                    <a:bodyPr/>
                    <a:lstStyle/>
                    <a:p>
                      <a:r>
                        <a:rPr sz="1200" b="0" i="0">
                          <a:solidFill>
                            <a:srgbClr val="1B2330"/>
                          </a:solidFill>
                          <a:latin typeface="Montserrat"/>
                        </a:rPr>
                        <a:t>Finca ya construida</a:t>
                      </a:r>
                    </a:p>
                  </a:txBody>
                  <a:tcPr>
                    <a:solidFill>
                      <a:srgbClr val="FFFFFF"/>
                    </a:solidFill>
                  </a:tcPr>
                </a:tc>
                <a:tc>
                  <a:txBody>
                    <a:bodyPr/>
                    <a:lstStyle/>
                    <a:p>
                      <a:r>
                        <a:rPr sz="1200" b="0" i="0">
                          <a:solidFill>
                            <a:srgbClr val="1B2330"/>
                          </a:solidFill>
                          <a:latin typeface="Montserrat"/>
                        </a:rPr>
                        <a:t>Mínimo 3 m² (si no hay entrada directa por conducto de 300 cm² en la parte inferior)</a:t>
                      </a:r>
                    </a:p>
                  </a:txBody>
                  <a:tcPr>
                    <a:solidFill>
                      <a:srgbClr val="FFFFFF"/>
                    </a:solidFill>
                  </a:tcPr>
                </a:tc>
                <a:tc>
                  <a:txBody>
                    <a:bodyPr/>
                    <a:lstStyle/>
                    <a:p>
                      <a:r>
                        <a:rPr sz="1200" b="0" i="0">
                          <a:solidFill>
                            <a:srgbClr val="1B2330"/>
                          </a:solidFill>
                          <a:latin typeface="Montserrat"/>
                        </a:rPr>
                        <a:t>1 m</a:t>
                      </a:r>
                    </a:p>
                  </a:txBody>
                  <a:tcPr>
                    <a:solidFill>
                      <a:srgbClr val="FFFFFF"/>
                    </a:solidFill>
                  </a:tcPr>
                </a:tc>
                <a:tc>
                  <a:txBody>
                    <a:bodyPr/>
                    <a:lstStyle/>
                    <a:p>
                      <a:r>
                        <a:rPr sz="1200" b="0" i="0">
                          <a:solidFill>
                            <a:srgbClr val="1B2330"/>
                          </a:solidFill>
                          <a:latin typeface="Montserrat"/>
                        </a:rPr>
                        <a:t>S = 2 m²</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Dimensiones del patio que sirve para meter aire a los locales: 3 m² mínimo, lado menor 1 m y, si está techado, 2 m² libres al exterior.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PATIOS DE EVACUACIÓN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Patios de evacuación de productos de la combustión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2772918"/>
                <a:gridCol w="2772918"/>
                <a:gridCol w="2772918"/>
                <a:gridCol w="2772918"/>
              </a:tblGrid>
              <a:tr h="1341120">
                <a:tc>
                  <a:txBody>
                    <a:bodyPr/>
                    <a:lstStyle/>
                    <a:p>
                      <a:r>
                        <a:rPr sz="1200" b="1" i="0">
                          <a:solidFill>
                            <a:srgbClr val="FFFFFF"/>
                          </a:solidFill>
                          <a:latin typeface="Montserrat"/>
                        </a:rPr>
                        <a:t>Patio de evacuación</a:t>
                      </a:r>
                    </a:p>
                  </a:txBody>
                  <a:tcPr>
                    <a:solidFill>
                      <a:srgbClr val="1E2761"/>
                    </a:solidFill>
                  </a:tcPr>
                </a:tc>
                <a:tc>
                  <a:txBody>
                    <a:bodyPr/>
                    <a:lstStyle/>
                    <a:p>
                      <a:r>
                        <a:rPr sz="1200" b="1" i="0">
                          <a:solidFill>
                            <a:srgbClr val="FFFFFF"/>
                          </a:solidFill>
                          <a:latin typeface="Montserrat"/>
                        </a:rPr>
                        <a:t>Superficie mínima</a:t>
                      </a:r>
                    </a:p>
                  </a:txBody>
                  <a:tcPr>
                    <a:solidFill>
                      <a:srgbClr val="1E2761"/>
                    </a:solidFill>
                  </a:tcPr>
                </a:tc>
                <a:tc>
                  <a:txBody>
                    <a:bodyPr/>
                    <a:lstStyle/>
                    <a:p>
                      <a:r>
                        <a:rPr sz="1200" b="1" i="0">
                          <a:solidFill>
                            <a:srgbClr val="FFFFFF"/>
                          </a:solidFill>
                          <a:latin typeface="Montserrat"/>
                        </a:rPr>
                        <a:t>Techado libre (S)</a:t>
                      </a:r>
                    </a:p>
                  </a:txBody>
                  <a:tcPr>
                    <a:solidFill>
                      <a:srgbClr val="1E2761"/>
                    </a:solidFill>
                  </a:tcPr>
                </a:tc>
                <a:tc>
                  <a:txBody>
                    <a:bodyPr/>
                    <a:lstStyle/>
                    <a:p>
                      <a:r>
                        <a:rPr sz="1200" b="1" i="0">
                          <a:solidFill>
                            <a:srgbClr val="FFFFFF"/>
                          </a:solidFill>
                          <a:latin typeface="Montserrat"/>
                        </a:rPr>
                        <a:t>Observaciones</a:t>
                      </a:r>
                    </a:p>
                  </a:txBody>
                  <a:tcPr>
                    <a:solidFill>
                      <a:srgbClr val="1E2761"/>
                    </a:solidFill>
                  </a:tcPr>
                </a:tc>
              </a:tr>
              <a:tr h="1341120">
                <a:tc>
                  <a:txBody>
                    <a:bodyPr/>
                    <a:lstStyle/>
                    <a:p>
                      <a:r>
                        <a:rPr sz="1200" b="0" i="0">
                          <a:solidFill>
                            <a:srgbClr val="1B2330"/>
                          </a:solidFill>
                          <a:latin typeface="Montserrat"/>
                        </a:rPr>
                        <a:t>Finca nueva (todo a cubierta)</a:t>
                      </a:r>
                    </a:p>
                  </a:txBody>
                  <a:tcPr>
                    <a:solidFill>
                      <a:srgbClr val="F6F8FC"/>
                    </a:solidFill>
                  </a:tcPr>
                </a:tc>
                <a:tc>
                  <a:txBody>
                    <a:bodyPr/>
                    <a:lstStyle/>
                    <a:p>
                      <a:r>
                        <a:rPr sz="1200" b="0" i="0">
                          <a:solidFill>
                            <a:srgbClr val="1B2330"/>
                          </a:solidFill>
                          <a:latin typeface="Montserrat"/>
                        </a:rPr>
                        <a:t>No existe superficie mínima</a:t>
                      </a:r>
                    </a:p>
                  </a:txBody>
                  <a:tcPr>
                    <a:solidFill>
                      <a:srgbClr val="F6F8FC"/>
                    </a:solidFill>
                  </a:tcPr>
                </a:tc>
                <a:tc>
                  <a:txBody>
                    <a:bodyPr/>
                    <a:lstStyle/>
                    <a:p>
                      <a:r>
                        <a:rPr sz="1200" b="0" i="0">
                          <a:solidFill>
                            <a:srgbClr val="1B2330"/>
                          </a:solidFill>
                          <a:latin typeface="Montserrat"/>
                        </a:rPr>
                        <a:t>No existe superficie mínima</a:t>
                      </a:r>
                    </a:p>
                  </a:txBody>
                  <a:tcPr>
                    <a:solidFill>
                      <a:srgbClr val="F6F8FC"/>
                    </a:solidFill>
                  </a:tcPr>
                </a:tc>
                <a:tc>
                  <a:txBody>
                    <a:bodyPr/>
                    <a:lstStyle/>
                    <a:p>
                      <a:r>
                        <a:rPr sz="1200" b="0" i="0">
                          <a:solidFill>
                            <a:srgbClr val="1B2330"/>
                          </a:solidFill>
                          <a:latin typeface="Montserrat"/>
                        </a:rPr>
                        <a:t>No pueden evacuarse aparatos tipo B y C</a:t>
                      </a:r>
                    </a:p>
                  </a:txBody>
                  <a:tcPr>
                    <a:solidFill>
                      <a:srgbClr val="F6F8FC"/>
                    </a:solidFill>
                  </a:tcPr>
                </a:tc>
              </a:tr>
              <a:tr h="1341120">
                <a:tc>
                  <a:txBody>
                    <a:bodyPr/>
                    <a:lstStyle/>
                    <a:p>
                      <a:r>
                        <a:rPr sz="1200" b="0" i="0">
                          <a:solidFill>
                            <a:srgbClr val="1B2330"/>
                          </a:solidFill>
                          <a:latin typeface="Montserrat"/>
                        </a:rPr>
                        <a:t>Finca ya construida</a:t>
                      </a:r>
                    </a:p>
                  </a:txBody>
                  <a:tcPr>
                    <a:solidFill>
                      <a:srgbClr val="FFFFFF"/>
                    </a:solidFill>
                  </a:tcPr>
                </a:tc>
                <a:tc>
                  <a:txBody>
                    <a:bodyPr/>
                    <a:lstStyle/>
                    <a:p>
                      <a:r>
                        <a:rPr sz="1200" b="0" i="0">
                          <a:solidFill>
                            <a:srgbClr val="1B2330"/>
                          </a:solidFill>
                          <a:latin typeface="Montserrat"/>
                        </a:rPr>
                        <a:t>NT × 0,5 m² (mínimo 4 m²)</a:t>
                      </a:r>
                    </a:p>
                  </a:txBody>
                  <a:tcPr>
                    <a:solidFill>
                      <a:srgbClr val="FFFFFF"/>
                    </a:solidFill>
                  </a:tcPr>
                </a:tc>
                <a:tc>
                  <a:txBody>
                    <a:bodyPr/>
                    <a:lstStyle/>
                    <a:p>
                      <a:r>
                        <a:rPr sz="1200" b="0" i="0">
                          <a:solidFill>
                            <a:srgbClr val="1B2330"/>
                          </a:solidFill>
                          <a:latin typeface="Montserrat"/>
                        </a:rPr>
                        <a:t>25 % de la superficie del patio</a:t>
                      </a:r>
                    </a:p>
                  </a:txBody>
                  <a:tcPr>
                    <a:solidFill>
                      <a:srgbClr val="FFFFFF"/>
                    </a:solidFill>
                  </a:tcPr>
                </a:tc>
                <a:tc>
                  <a:txBody>
                    <a:bodyPr/>
                    <a:lstStyle/>
                    <a:p>
                      <a:r>
                        <a:rPr sz="1200" b="0" i="0">
                          <a:solidFill>
                            <a:srgbClr val="1B2330"/>
                          </a:solidFill>
                          <a:latin typeface="Montserrat"/>
                        </a:rPr>
                        <a:t>NT es el número de locales con aparatos B y C que desemboquen al patio. No cuentan ventanas ni puertas, solo locales.</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Patio por donde salen los humos de aparatos conducidos: superficie 0,5 m² por cada local (NT), mínimo 4 m². NT son locales, no ventanas.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RITE · EVACUACIÓN DE HUMOS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Cambiar el aparato es aplicar el RITE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Sustituir la caldera → entra el RITE</a:t>
            </a:r>
          </a:p>
          <a:p>
            <a:pPr>
              <a:spcAft>
                <a:spcPts val="1100"/>
              </a:spcAft>
            </a:pPr>
            <a:r>
              <a:rPr sz="1600" b="1" i="0">
                <a:solidFill>
                  <a:srgbClr val="E8801A"/>
                </a:solidFill>
                <a:latin typeface="Montserrat"/>
              </a:rPr>
              <a:t>▸  </a:t>
            </a:r>
            <a:r>
              <a:rPr sz="1600" b="0" i="0">
                <a:solidFill>
                  <a:srgbClr val="1B2330"/>
                </a:solidFill>
                <a:latin typeface="Montserrat"/>
              </a:rPr>
              <a:t>Humos a cubierta por conducto</a:t>
            </a:r>
          </a:p>
          <a:p>
            <a:pPr>
              <a:spcAft>
                <a:spcPts val="1100"/>
              </a:spcAft>
            </a:pPr>
            <a:r>
              <a:rPr sz="1600" b="1" i="0">
                <a:solidFill>
                  <a:srgbClr val="E8801A"/>
                </a:solidFill>
                <a:latin typeface="Montserrat"/>
              </a:rPr>
              <a:t>▸  </a:t>
            </a:r>
            <a:r>
              <a:rPr sz="1600" b="0" i="0">
                <a:solidFill>
                  <a:srgbClr val="1B2330"/>
                </a:solidFill>
                <a:latin typeface="Montserrat"/>
              </a:rPr>
              <a:t>Calderas: condensación, clase 5, estancas</a:t>
            </a:r>
          </a:p>
          <a:p>
            <a:pPr>
              <a:spcAft>
                <a:spcPts val="1100"/>
              </a:spcAft>
            </a:pPr>
            <a:r>
              <a:rPr sz="1600" b="1" i="0">
                <a:solidFill>
                  <a:srgbClr val="E8801A"/>
                </a:solidFill>
                <a:latin typeface="Montserrat"/>
              </a:rPr>
              <a:t>▸  </a:t>
            </a:r>
            <a:r>
              <a:rPr sz="1600" b="0" i="0">
                <a:solidFill>
                  <a:srgbClr val="1B2330"/>
                </a:solidFill>
                <a:latin typeface="Montserrat"/>
              </a:rPr>
              <a:t>Prohibido el atmosférico de tiro natural</a:t>
            </a:r>
          </a:p>
        </p:txBody>
      </p:sp>
      <p:sp>
        <p:nvSpPr>
          <p:cNvPr id="9" name="imgph" descr="IMGQ:condensing boiler flue on roof"/>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condensing boiler flue on roof</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Al sustituir una caldera antigua por una nueva, ¿qué exige el RITE para la caldera?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Que sea de condensación, clase 5 de NOx y estanca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Que sea atmosférica de tiro natural</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Que sea de tiro forzado y clase 3</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Cualquiera que tenga marcado 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Al sustituir una caldera antigua por una nueva, ¿qué exige el RITE para la caldera?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Que sea de condensación, clase 5 de NOx y estanca</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Cambiar el aparato equivale a aplicar el RITE: caldera de condensación, clase 5 de NOx y estanca, con humos a cubierta y sin atmosféricos de tiro natural.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026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RENDIMIENTOS · ERP</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86 % o condensación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ErP: rendimientos mínimos para el CE</a:t>
            </a:r>
          </a:p>
          <a:p>
            <a:pPr>
              <a:spcAft>
                <a:spcPts val="1100"/>
              </a:spcAft>
            </a:pPr>
            <a:r>
              <a:rPr sz="1600" b="1" i="0">
                <a:solidFill>
                  <a:srgbClr val="E8801A"/>
                </a:solidFill>
                <a:latin typeface="Montserrat"/>
              </a:rPr>
              <a:t>▸  </a:t>
            </a:r>
            <a:r>
              <a:rPr sz="1600" b="0" i="0">
                <a:solidFill>
                  <a:srgbClr val="1B2330"/>
                </a:solidFill>
                <a:latin typeface="Montserrat"/>
              </a:rPr>
              <a:t>≥ 86 % en calderas &lt; 70 kW</a:t>
            </a:r>
          </a:p>
          <a:p>
            <a:pPr>
              <a:spcAft>
                <a:spcPts val="1100"/>
              </a:spcAft>
            </a:pPr>
            <a:r>
              <a:rPr sz="1600" b="1" i="0">
                <a:solidFill>
                  <a:srgbClr val="E8801A"/>
                </a:solidFill>
                <a:latin typeface="Montserrat"/>
              </a:rPr>
              <a:t>▸  </a:t>
            </a:r>
            <a:r>
              <a:rPr sz="1600" b="0" i="0">
                <a:solidFill>
                  <a:srgbClr val="1B2330"/>
                </a:solidFill>
                <a:latin typeface="Montserrat"/>
              </a:rPr>
              <a:t>En la práctica, condensación</a:t>
            </a:r>
          </a:p>
          <a:p>
            <a:pPr>
              <a:spcAft>
                <a:spcPts val="1100"/>
              </a:spcAft>
            </a:pPr>
            <a:r>
              <a:rPr sz="1600" b="1" i="0">
                <a:solidFill>
                  <a:srgbClr val="E8801A"/>
                </a:solidFill>
                <a:latin typeface="Montserrat"/>
              </a:rPr>
              <a:t>▸  </a:t>
            </a:r>
            <a:r>
              <a:rPr sz="1600" b="0" i="0">
                <a:solidFill>
                  <a:srgbClr val="1B2330"/>
                </a:solidFill>
                <a:latin typeface="Montserrat"/>
              </a:rPr>
              <a:t>Referido al poder calorífico superior</a:t>
            </a:r>
          </a:p>
        </p:txBody>
      </p:sp>
      <p:sp>
        <p:nvSpPr>
          <p:cNvPr id="9" name="imgph" descr="IMGQ:modern condensing gas boiler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modern condensing gas boiler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027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RENDIMIENTOS · RITE / ERP</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Rendimientos exigidos para P = 25 kW (condensación)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804672">
                <a:tc>
                  <a:txBody>
                    <a:bodyPr/>
                    <a:lstStyle/>
                    <a:p>
                      <a:r>
                        <a:rPr sz="1200" b="1" i="0">
                          <a:solidFill>
                            <a:srgbClr val="FFFFFF"/>
                          </a:solidFill>
                          <a:latin typeface="Montserrat"/>
                        </a:rPr>
                        <a:t>Escenario</a:t>
                      </a:r>
                    </a:p>
                  </a:txBody>
                  <a:tcPr>
                    <a:solidFill>
                      <a:srgbClr val="1E2761"/>
                    </a:solidFill>
                  </a:tcPr>
                </a:tc>
                <a:tc>
                  <a:txBody>
                    <a:bodyPr/>
                    <a:lstStyle/>
                    <a:p>
                      <a:r>
                        <a:rPr sz="1200" b="1" i="0">
                          <a:solidFill>
                            <a:srgbClr val="FFFFFF"/>
                          </a:solidFill>
                          <a:latin typeface="Montserrat"/>
                        </a:rPr>
                        <a:t>RITE</a:t>
                      </a:r>
                    </a:p>
                  </a:txBody>
                  <a:tcPr>
                    <a:solidFill>
                      <a:srgbClr val="1E2761"/>
                    </a:solidFill>
                  </a:tcPr>
                </a:tc>
                <a:tc>
                  <a:txBody>
                    <a:bodyPr/>
                    <a:lstStyle/>
                    <a:p>
                      <a:r>
                        <a:rPr sz="1200" b="1" i="0">
                          <a:solidFill>
                            <a:srgbClr val="FFFFFF"/>
                          </a:solidFill>
                          <a:latin typeface="Montserrat"/>
                        </a:rPr>
                        <a:t>ErP</a:t>
                      </a:r>
                    </a:p>
                  </a:txBody>
                  <a:tcPr>
                    <a:solidFill>
                      <a:srgbClr val="1E2761"/>
                    </a:solidFill>
                  </a:tcPr>
                </a:tc>
              </a:tr>
              <a:tr h="804672">
                <a:tc>
                  <a:txBody>
                    <a:bodyPr/>
                    <a:lstStyle/>
                    <a:p>
                      <a:r>
                        <a:rPr sz="1200" b="0" i="0">
                          <a:solidFill>
                            <a:srgbClr val="1B2330"/>
                          </a:solidFill>
                          <a:latin typeface="Montserrat"/>
                        </a:rPr>
                        <a:t>Obra nueva · Gas natural</a:t>
                      </a:r>
                    </a:p>
                  </a:txBody>
                  <a:tcPr>
                    <a:solidFill>
                      <a:srgbClr val="F6F8FC"/>
                    </a:solidFill>
                  </a:tcPr>
                </a:tc>
                <a:tc>
                  <a:txBody>
                    <a:bodyPr/>
                    <a:lstStyle/>
                    <a:p>
                      <a:r>
                        <a:rPr sz="1200" b="0" i="0">
                          <a:solidFill>
                            <a:srgbClr val="1B2330"/>
                          </a:solidFill>
                          <a:latin typeface="Montserrat"/>
                        </a:rPr>
                        <a:t>82,1 %</a:t>
                      </a:r>
                    </a:p>
                  </a:txBody>
                  <a:tcPr>
                    <a:solidFill>
                      <a:srgbClr val="F6F8FC"/>
                    </a:solidFill>
                  </a:tcPr>
                </a:tc>
                <a:tc>
                  <a:txBody>
                    <a:bodyPr/>
                    <a:lstStyle/>
                    <a:p>
                      <a:r>
                        <a:rPr sz="1200" b="0" i="0">
                          <a:solidFill>
                            <a:srgbClr val="1B2330"/>
                          </a:solidFill>
                          <a:latin typeface="Montserrat"/>
                        </a:rPr>
                        <a:t>86 %</a:t>
                      </a:r>
                    </a:p>
                  </a:txBody>
                  <a:tcPr>
                    <a:solidFill>
                      <a:srgbClr val="F6F8FC"/>
                    </a:solidFill>
                  </a:tcPr>
                </a:tc>
              </a:tr>
              <a:tr h="804672">
                <a:tc>
                  <a:txBody>
                    <a:bodyPr/>
                    <a:lstStyle/>
                    <a:p>
                      <a:r>
                        <a:rPr sz="1200" b="0" i="0">
                          <a:solidFill>
                            <a:srgbClr val="1B2330"/>
                          </a:solidFill>
                          <a:latin typeface="Montserrat"/>
                        </a:rPr>
                        <a:t>Obra nueva · Gasóleo</a:t>
                      </a:r>
                    </a:p>
                  </a:txBody>
                  <a:tcPr>
                    <a:solidFill>
                      <a:srgbClr val="FFFFFF"/>
                    </a:solidFill>
                  </a:tcPr>
                </a:tc>
                <a:tc>
                  <a:txBody>
                    <a:bodyPr/>
                    <a:lstStyle/>
                    <a:p>
                      <a:r>
                        <a:rPr sz="1200" b="0" i="0">
                          <a:solidFill>
                            <a:srgbClr val="1B2330"/>
                          </a:solidFill>
                          <a:latin typeface="Montserrat"/>
                        </a:rPr>
                        <a:t>78,9 %</a:t>
                      </a:r>
                    </a:p>
                  </a:txBody>
                  <a:tcPr>
                    <a:solidFill>
                      <a:srgbClr val="FFFFFF"/>
                    </a:solidFill>
                  </a:tcPr>
                </a:tc>
                <a:tc>
                  <a:txBody>
                    <a:bodyPr/>
                    <a:lstStyle/>
                    <a:p>
                      <a:r>
                        <a:rPr sz="1200" b="0" i="0">
                          <a:solidFill>
                            <a:srgbClr val="1B2330"/>
                          </a:solidFill>
                          <a:latin typeface="Montserrat"/>
                        </a:rPr>
                        <a:t>86 %</a:t>
                      </a:r>
                    </a:p>
                  </a:txBody>
                  <a:tcPr>
                    <a:solidFill>
                      <a:srgbClr val="FFFFFF"/>
                    </a:solidFill>
                  </a:tcPr>
                </a:tc>
              </a:tr>
              <a:tr h="804672">
                <a:tc>
                  <a:txBody>
                    <a:bodyPr/>
                    <a:lstStyle/>
                    <a:p>
                      <a:r>
                        <a:rPr sz="1200" b="0" i="0">
                          <a:solidFill>
                            <a:srgbClr val="1B2330"/>
                          </a:solidFill>
                          <a:latin typeface="Montserrat"/>
                        </a:rPr>
                        <a:t>Reforma · Gas natural</a:t>
                      </a:r>
                    </a:p>
                  </a:txBody>
                  <a:tcPr>
                    <a:solidFill>
                      <a:srgbClr val="F6F8FC"/>
                    </a:solidFill>
                  </a:tcPr>
                </a:tc>
                <a:tc>
                  <a:txBody>
                    <a:bodyPr/>
                    <a:lstStyle/>
                    <a:p>
                      <a:r>
                        <a:rPr sz="1200" b="0" i="0">
                          <a:solidFill>
                            <a:srgbClr val="1B2330"/>
                          </a:solidFill>
                          <a:latin typeface="Montserrat"/>
                        </a:rPr>
                        <a:t>75,9 %</a:t>
                      </a:r>
                    </a:p>
                  </a:txBody>
                  <a:tcPr>
                    <a:solidFill>
                      <a:srgbClr val="F6F8FC"/>
                    </a:solidFill>
                  </a:tcPr>
                </a:tc>
                <a:tc>
                  <a:txBody>
                    <a:bodyPr/>
                    <a:lstStyle/>
                    <a:p>
                      <a:r>
                        <a:rPr sz="1200" b="0" i="0">
                          <a:solidFill>
                            <a:srgbClr val="1B2330"/>
                          </a:solidFill>
                          <a:latin typeface="Montserrat"/>
                        </a:rPr>
                        <a:t>86 %</a:t>
                      </a:r>
                    </a:p>
                  </a:txBody>
                  <a:tcPr>
                    <a:solidFill>
                      <a:srgbClr val="F6F8FC"/>
                    </a:solidFill>
                  </a:tcPr>
                </a:tc>
              </a:tr>
              <a:tr h="804672">
                <a:tc>
                  <a:txBody>
                    <a:bodyPr/>
                    <a:lstStyle/>
                    <a:p>
                      <a:r>
                        <a:rPr sz="1200" b="0" i="0">
                          <a:solidFill>
                            <a:srgbClr val="1B2330"/>
                          </a:solidFill>
                          <a:latin typeface="Montserrat"/>
                        </a:rPr>
                        <a:t>Reforma · Gasóleo</a:t>
                      </a:r>
                    </a:p>
                  </a:txBody>
                  <a:tcPr>
                    <a:solidFill>
                      <a:srgbClr val="FFFFFF"/>
                    </a:solidFill>
                  </a:tcPr>
                </a:tc>
                <a:tc>
                  <a:txBody>
                    <a:bodyPr/>
                    <a:lstStyle/>
                    <a:p>
                      <a:r>
                        <a:rPr sz="1200" b="0" i="0">
                          <a:solidFill>
                            <a:srgbClr val="1B2330"/>
                          </a:solidFill>
                          <a:latin typeface="Montserrat"/>
                        </a:rPr>
                        <a:t>78,9 %</a:t>
                      </a:r>
                    </a:p>
                  </a:txBody>
                  <a:tcPr>
                    <a:solidFill>
                      <a:srgbClr val="FFFFFF"/>
                    </a:solidFill>
                  </a:tcPr>
                </a:tc>
                <a:tc>
                  <a:txBody>
                    <a:bodyPr/>
                    <a:lstStyle/>
                    <a:p>
                      <a:r>
                        <a:rPr sz="1200" b="0" i="0">
                          <a:solidFill>
                            <a:srgbClr val="1B2330"/>
                          </a:solidFill>
                          <a:latin typeface="Montserrat"/>
                        </a:rPr>
                        <a:t>86 %</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Rendimiento mínimo según RITE y según la normativa europea ErP; el 86 % de la ErP en calderas pequeñas solo se logra con condensación.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028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CALDERAS B3X</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truco del tubo concéntrico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Estancas, tubo dentro de tubo</a:t>
            </a:r>
          </a:p>
          <a:p>
            <a:pPr>
              <a:spcAft>
                <a:spcPts val="1100"/>
              </a:spcAft>
            </a:pPr>
            <a:r>
              <a:rPr sz="1600" b="1" i="0">
                <a:solidFill>
                  <a:srgbClr val="E8801A"/>
                </a:solidFill>
                <a:latin typeface="Montserrat"/>
              </a:rPr>
              <a:t>▸  </a:t>
            </a:r>
            <a:r>
              <a:rPr sz="1600" b="0" i="0">
                <a:solidFill>
                  <a:srgbClr val="1B2330"/>
                </a:solidFill>
                <a:latin typeface="Montserrat"/>
              </a:rPr>
              <a:t>El exterior mete aire; el interior saca humos</a:t>
            </a:r>
          </a:p>
          <a:p>
            <a:pPr>
              <a:spcAft>
                <a:spcPts val="1100"/>
              </a:spcAft>
            </a:pPr>
            <a:r>
              <a:rPr sz="1600" b="1" i="0">
                <a:solidFill>
                  <a:srgbClr val="E8801A"/>
                </a:solidFill>
                <a:latin typeface="Montserrat"/>
              </a:rPr>
              <a:t>▸  </a:t>
            </a:r>
            <a:r>
              <a:rPr sz="1600" b="0" i="0">
                <a:solidFill>
                  <a:srgbClr val="1B2330"/>
                </a:solidFill>
                <a:latin typeface="Montserrat"/>
              </a:rPr>
              <a:t>Una fuga se reaspira al aparato</a:t>
            </a:r>
          </a:p>
          <a:p>
            <a:pPr>
              <a:spcAft>
                <a:spcPts val="1100"/>
              </a:spcAft>
            </a:pPr>
            <a:r>
              <a:rPr sz="1600" b="1" i="0">
                <a:solidFill>
                  <a:srgbClr val="E8801A"/>
                </a:solidFill>
                <a:latin typeface="Montserrat"/>
              </a:rPr>
              <a:t>▸  </a:t>
            </a:r>
            <a:r>
              <a:rPr sz="1600" b="0" i="0">
                <a:solidFill>
                  <a:srgbClr val="1B2330"/>
                </a:solidFill>
                <a:latin typeface="Montserrat"/>
              </a:rPr>
              <a:t>Renuevan shunts si todos llevan tiro forzado</a:t>
            </a:r>
          </a:p>
        </p:txBody>
      </p:sp>
      <p:sp>
        <p:nvSpPr>
          <p:cNvPr id="9" name="imgph" descr="IMGQ:concentric flue pipe of a boil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concentric flue pipe of a boiler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029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SALIDA DIRECTA AL EXTERIOR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30 cm del techo, 2,20 m a huecos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Más de 30 cm bajo el techo</a:t>
            </a:r>
          </a:p>
          <a:p>
            <a:pPr>
              <a:spcAft>
                <a:spcPts val="1100"/>
              </a:spcAft>
            </a:pPr>
            <a:r>
              <a:rPr sz="1600" b="1" i="0">
                <a:solidFill>
                  <a:srgbClr val="E8801A"/>
                </a:solidFill>
                <a:latin typeface="Montserrat"/>
              </a:rPr>
              <a:t>▸  </a:t>
            </a:r>
            <a:r>
              <a:rPr sz="1600" b="0" i="0">
                <a:solidFill>
                  <a:srgbClr val="1B2330"/>
                </a:solidFill>
                <a:latin typeface="Montserrat"/>
              </a:rPr>
              <a:t>2,20 m a ventanas y huecos</a:t>
            </a:r>
          </a:p>
          <a:p>
            <a:pPr>
              <a:spcAft>
                <a:spcPts val="1100"/>
              </a:spcAft>
            </a:pPr>
            <a:r>
              <a:rPr sz="1600" b="1" i="0">
                <a:solidFill>
                  <a:srgbClr val="E8801A"/>
                </a:solidFill>
                <a:latin typeface="Montserrat"/>
              </a:rPr>
              <a:t>▸  </a:t>
            </a:r>
            <a:r>
              <a:rPr sz="1600" b="0" i="0">
                <a:solidFill>
                  <a:srgbClr val="1B2330"/>
                </a:solidFill>
                <a:latin typeface="Montserrat"/>
              </a:rPr>
              <a:t>Zona privada: basta 30 cm del suelo</a:t>
            </a:r>
          </a:p>
          <a:p>
            <a:pPr>
              <a:spcAft>
                <a:spcPts val="1100"/>
              </a:spcAft>
            </a:pPr>
            <a:r>
              <a:rPr sz="1600" b="1" i="0">
                <a:solidFill>
                  <a:srgbClr val="E8801A"/>
                </a:solidFill>
                <a:latin typeface="Montserrat"/>
              </a:rPr>
              <a:t>▸  </a:t>
            </a:r>
            <a:r>
              <a:rPr sz="1600" b="0" i="0">
                <a:solidFill>
                  <a:srgbClr val="1B2330"/>
                </a:solidFill>
                <a:latin typeface="Montserrat"/>
              </a:rPr>
              <a:t>Solo cuenta tu planta; deflectores ayudan</a:t>
            </a:r>
          </a:p>
        </p:txBody>
      </p:sp>
      <p:sp>
        <p:nvSpPr>
          <p:cNvPr id="9" name="imgph" descr="IMGQ:boiler flue outlet on building facad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boiler flue outlet on building facade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030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CERTIFICADOS DE INSTALACIÓN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IRG-1, IRG-2 e IRG-3</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IRG-1: acometida interior</a:t>
            </a:r>
          </a:p>
          <a:p>
            <a:pPr>
              <a:spcAft>
                <a:spcPts val="1100"/>
              </a:spcAft>
            </a:pPr>
            <a:r>
              <a:rPr sz="1600" b="1" i="0">
                <a:solidFill>
                  <a:srgbClr val="E8801A"/>
                </a:solidFill>
                <a:latin typeface="Montserrat"/>
              </a:rPr>
              <a:t>▸  </a:t>
            </a:r>
            <a:r>
              <a:rPr sz="1600" b="0" i="0">
                <a:solidFill>
                  <a:srgbClr val="1B2330"/>
                </a:solidFill>
                <a:latin typeface="Montserrat"/>
              </a:rPr>
              <a:t>IRG-2: instalación común</a:t>
            </a:r>
          </a:p>
          <a:p>
            <a:pPr>
              <a:spcAft>
                <a:spcPts val="1100"/>
              </a:spcAft>
            </a:pPr>
            <a:r>
              <a:rPr sz="1600" b="1" i="0">
                <a:solidFill>
                  <a:srgbClr val="E8801A"/>
                </a:solidFill>
                <a:latin typeface="Montserrat"/>
              </a:rPr>
              <a:t>▸  </a:t>
            </a:r>
            <a:r>
              <a:rPr sz="1600" b="0" i="0">
                <a:solidFill>
                  <a:srgbClr val="1B2330"/>
                </a:solidFill>
                <a:latin typeface="Montserrat"/>
              </a:rPr>
              <a:t>IRG-3: instalación individual</a:t>
            </a:r>
          </a:p>
          <a:p>
            <a:pPr>
              <a:spcAft>
                <a:spcPts val="1100"/>
              </a:spcAft>
            </a:pPr>
            <a:r>
              <a:rPr sz="1600" b="1" i="0">
                <a:solidFill>
                  <a:srgbClr val="E8801A"/>
                </a:solidFill>
                <a:latin typeface="Montserrat"/>
              </a:rPr>
              <a:t>▸  </a:t>
            </a:r>
            <a:r>
              <a:rPr sz="1600" b="0" i="0">
                <a:solidFill>
                  <a:srgbClr val="1B2330"/>
                </a:solidFill>
                <a:latin typeface="Montserrat"/>
              </a:rPr>
              <a:t>Los firma la empresa instaladora</a:t>
            </a:r>
          </a:p>
        </p:txBody>
      </p:sp>
      <p:sp>
        <p:nvSpPr>
          <p:cNvPr id="9" name="imgph" descr="IMGQ:technician filling installation certificate for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filling installation certificate form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031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CERTIFICADO INDIVIDUAL · IRG-3</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Piv nunca baja de 30 kW</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Piv de diseño: mínimo 30 kW</a:t>
            </a:r>
          </a:p>
          <a:p>
            <a:pPr>
              <a:spcAft>
                <a:spcPts val="1100"/>
              </a:spcAft>
            </a:pPr>
            <a:r>
              <a:rPr sz="1600" b="1" i="0">
                <a:solidFill>
                  <a:srgbClr val="E8801A"/>
                </a:solidFill>
                <a:latin typeface="Montserrat"/>
              </a:rPr>
              <a:t>▸  </a:t>
            </a:r>
            <a:r>
              <a:rPr sz="1600" b="0" i="0">
                <a:solidFill>
                  <a:srgbClr val="1B2330"/>
                </a:solidFill>
                <a:latin typeface="Montserrat"/>
              </a:rPr>
              <a:t>Los 2 mayores enteros; el resto, mitad</a:t>
            </a:r>
          </a:p>
          <a:p>
            <a:pPr>
              <a:spcAft>
                <a:spcPts val="1100"/>
              </a:spcAft>
            </a:pPr>
            <a:r>
              <a:rPr sz="1600" b="1" i="0">
                <a:solidFill>
                  <a:srgbClr val="E8801A"/>
                </a:solidFill>
                <a:latin typeface="Montserrat"/>
              </a:rPr>
              <a:t>▸  </a:t>
            </a:r>
            <a:r>
              <a:rPr sz="1600" b="0" i="0">
                <a:solidFill>
                  <a:srgbClr val="1B2330"/>
                </a:solidFill>
                <a:latin typeface="Montserrat"/>
              </a:rPr>
              <a:t>Coeficiente corrector 1,10</a:t>
            </a:r>
          </a:p>
          <a:p>
            <a:pPr>
              <a:spcAft>
                <a:spcPts val="1100"/>
              </a:spcAft>
            </a:pPr>
            <a:r>
              <a:rPr sz="1600" b="1" i="0">
                <a:solidFill>
                  <a:srgbClr val="E8801A"/>
                </a:solidFill>
                <a:latin typeface="Montserrat"/>
              </a:rPr>
              <a:t>▸  </a:t>
            </a:r>
            <a:r>
              <a:rPr sz="1600" b="0" i="0">
                <a:solidFill>
                  <a:srgbClr val="1B2330"/>
                </a:solidFill>
                <a:latin typeface="Montserrat"/>
              </a:rPr>
              <a:t>Contador de casa G-4; regulador a 0,020 bar</a:t>
            </a:r>
          </a:p>
        </p:txBody>
      </p:sp>
      <p:sp>
        <p:nvSpPr>
          <p:cNvPr id="9" name="imgph" descr="IMGQ:domestic gas meter G4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domestic gas meter G4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032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INDIVIDUAL · IRG-3</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Correspondencia de contadores de membranas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447040">
                <a:tc>
                  <a:txBody>
                    <a:bodyPr/>
                    <a:lstStyle/>
                    <a:p>
                      <a:r>
                        <a:rPr sz="1200" b="1" i="0">
                          <a:solidFill>
                            <a:srgbClr val="FFFFFF"/>
                          </a:solidFill>
                          <a:latin typeface="Montserrat"/>
                        </a:rPr>
                        <a:t>Tipo</a:t>
                      </a:r>
                    </a:p>
                  </a:txBody>
                  <a:tcPr>
                    <a:solidFill>
                      <a:srgbClr val="1E2761"/>
                    </a:solidFill>
                  </a:tcPr>
                </a:tc>
                <a:tc>
                  <a:txBody>
                    <a:bodyPr/>
                    <a:lstStyle/>
                    <a:p>
                      <a:r>
                        <a:rPr sz="1200" b="1" i="0">
                          <a:solidFill>
                            <a:srgbClr val="FFFFFF"/>
                          </a:solidFill>
                          <a:latin typeface="Montserrat"/>
                        </a:rPr>
                        <a:t>Máximo (Nm³/h)</a:t>
                      </a:r>
                    </a:p>
                  </a:txBody>
                  <a:tcPr>
                    <a:solidFill>
                      <a:srgbClr val="1E2761"/>
                    </a:solidFill>
                  </a:tcPr>
                </a:tc>
                <a:tc>
                  <a:txBody>
                    <a:bodyPr/>
                    <a:lstStyle/>
                    <a:p>
                      <a:r>
                        <a:rPr sz="1200" b="1" i="0">
                          <a:solidFill>
                            <a:srgbClr val="FFFFFF"/>
                          </a:solidFill>
                          <a:latin typeface="Montserrat"/>
                        </a:rPr>
                        <a:t>Mínimo (Nm³/h)</a:t>
                      </a:r>
                    </a:p>
                  </a:txBody>
                  <a:tcPr>
                    <a:solidFill>
                      <a:srgbClr val="1E2761"/>
                    </a:solidFill>
                  </a:tcPr>
                </a:tc>
              </a:tr>
              <a:tr h="447040">
                <a:tc>
                  <a:txBody>
                    <a:bodyPr/>
                    <a:lstStyle/>
                    <a:p>
                      <a:r>
                        <a:rPr sz="1200" b="0" i="0">
                          <a:solidFill>
                            <a:srgbClr val="1B2330"/>
                          </a:solidFill>
                          <a:latin typeface="Montserrat"/>
                        </a:rPr>
                        <a:t>G-4 (doméstico)</a:t>
                      </a:r>
                    </a:p>
                  </a:txBody>
                  <a:tcPr>
                    <a:solidFill>
                      <a:srgbClr val="F6F8FC"/>
                    </a:solidFill>
                  </a:tcPr>
                </a:tc>
                <a:tc>
                  <a:txBody>
                    <a:bodyPr/>
                    <a:lstStyle/>
                    <a:p>
                      <a:r>
                        <a:rPr sz="1200" b="0" i="0">
                          <a:solidFill>
                            <a:srgbClr val="1B2330"/>
                          </a:solidFill>
                          <a:latin typeface="Montserrat"/>
                        </a:rPr>
                        <a:t>6</a:t>
                      </a:r>
                    </a:p>
                  </a:txBody>
                  <a:tcPr>
                    <a:solidFill>
                      <a:srgbClr val="F6F8FC"/>
                    </a:solidFill>
                  </a:tcPr>
                </a:tc>
                <a:tc>
                  <a:txBody>
                    <a:bodyPr/>
                    <a:lstStyle/>
                    <a:p>
                      <a:r>
                        <a:rPr sz="1200" b="0" i="0">
                          <a:solidFill>
                            <a:srgbClr val="1B2330"/>
                          </a:solidFill>
                          <a:latin typeface="Montserrat"/>
                        </a:rPr>
                        <a:t>0,04</a:t>
                      </a:r>
                    </a:p>
                  </a:txBody>
                  <a:tcPr>
                    <a:solidFill>
                      <a:srgbClr val="F6F8FC"/>
                    </a:solidFill>
                  </a:tcPr>
                </a:tc>
              </a:tr>
              <a:tr h="447040">
                <a:tc>
                  <a:txBody>
                    <a:bodyPr/>
                    <a:lstStyle/>
                    <a:p>
                      <a:r>
                        <a:rPr sz="1200" b="0" i="0">
                          <a:solidFill>
                            <a:srgbClr val="1B2330"/>
                          </a:solidFill>
                          <a:latin typeface="Montserrat"/>
                        </a:rPr>
                        <a:t>G-6</a:t>
                      </a:r>
                    </a:p>
                  </a:txBody>
                  <a:tcPr>
                    <a:solidFill>
                      <a:srgbClr val="FFFFFF"/>
                    </a:solidFill>
                  </a:tcPr>
                </a:tc>
                <a:tc>
                  <a:txBody>
                    <a:bodyPr/>
                    <a:lstStyle/>
                    <a:p>
                      <a:r>
                        <a:rPr sz="1200" b="0" i="0">
                          <a:solidFill>
                            <a:srgbClr val="1B2330"/>
                          </a:solidFill>
                          <a:latin typeface="Montserrat"/>
                        </a:rPr>
                        <a:t>10</a:t>
                      </a:r>
                    </a:p>
                  </a:txBody>
                  <a:tcPr>
                    <a:solidFill>
                      <a:srgbClr val="FFFFFF"/>
                    </a:solidFill>
                  </a:tcPr>
                </a:tc>
                <a:tc>
                  <a:txBody>
                    <a:bodyPr/>
                    <a:lstStyle/>
                    <a:p>
                      <a:r>
                        <a:rPr sz="1200" b="0" i="0">
                          <a:solidFill>
                            <a:srgbClr val="1B2330"/>
                          </a:solidFill>
                          <a:latin typeface="Montserrat"/>
                        </a:rPr>
                        <a:t>0,06</a:t>
                      </a:r>
                    </a:p>
                  </a:txBody>
                  <a:tcPr>
                    <a:solidFill>
                      <a:srgbClr val="FFFFFF"/>
                    </a:solidFill>
                  </a:tcPr>
                </a:tc>
              </a:tr>
              <a:tr h="447040">
                <a:tc>
                  <a:txBody>
                    <a:bodyPr/>
                    <a:lstStyle/>
                    <a:p>
                      <a:r>
                        <a:rPr sz="1200" b="0" i="0">
                          <a:solidFill>
                            <a:srgbClr val="1B2330"/>
                          </a:solidFill>
                          <a:latin typeface="Montserrat"/>
                        </a:rPr>
                        <a:t>G-16</a:t>
                      </a:r>
                    </a:p>
                  </a:txBody>
                  <a:tcPr>
                    <a:solidFill>
                      <a:srgbClr val="F6F8FC"/>
                    </a:solidFill>
                  </a:tcPr>
                </a:tc>
                <a:tc>
                  <a:txBody>
                    <a:bodyPr/>
                    <a:lstStyle/>
                    <a:p>
                      <a:r>
                        <a:rPr sz="1200" b="0" i="0">
                          <a:solidFill>
                            <a:srgbClr val="1B2330"/>
                          </a:solidFill>
                          <a:latin typeface="Montserrat"/>
                        </a:rPr>
                        <a:t>25</a:t>
                      </a:r>
                    </a:p>
                  </a:txBody>
                  <a:tcPr>
                    <a:solidFill>
                      <a:srgbClr val="F6F8FC"/>
                    </a:solidFill>
                  </a:tcPr>
                </a:tc>
                <a:tc>
                  <a:txBody>
                    <a:bodyPr/>
                    <a:lstStyle/>
                    <a:p>
                      <a:r>
                        <a:rPr sz="1200" b="0" i="0">
                          <a:solidFill>
                            <a:srgbClr val="1B2330"/>
                          </a:solidFill>
                          <a:latin typeface="Montserrat"/>
                        </a:rPr>
                        <a:t>0,16</a:t>
                      </a:r>
                    </a:p>
                  </a:txBody>
                  <a:tcPr>
                    <a:solidFill>
                      <a:srgbClr val="F6F8FC"/>
                    </a:solidFill>
                  </a:tcPr>
                </a:tc>
              </a:tr>
              <a:tr h="447040">
                <a:tc>
                  <a:txBody>
                    <a:bodyPr/>
                    <a:lstStyle/>
                    <a:p>
                      <a:r>
                        <a:rPr sz="1200" b="0" i="0">
                          <a:solidFill>
                            <a:srgbClr val="1B2330"/>
                          </a:solidFill>
                          <a:latin typeface="Montserrat"/>
                        </a:rPr>
                        <a:t>G-25</a:t>
                      </a:r>
                    </a:p>
                  </a:txBody>
                  <a:tcPr>
                    <a:solidFill>
                      <a:srgbClr val="FFFFFF"/>
                    </a:solidFill>
                  </a:tcPr>
                </a:tc>
                <a:tc>
                  <a:txBody>
                    <a:bodyPr/>
                    <a:lstStyle/>
                    <a:p>
                      <a:r>
                        <a:rPr sz="1200" b="0" i="0">
                          <a:solidFill>
                            <a:srgbClr val="1B2330"/>
                          </a:solidFill>
                          <a:latin typeface="Montserrat"/>
                        </a:rPr>
                        <a:t>40</a:t>
                      </a:r>
                    </a:p>
                  </a:txBody>
                  <a:tcPr>
                    <a:solidFill>
                      <a:srgbClr val="FFFFFF"/>
                    </a:solidFill>
                  </a:tcPr>
                </a:tc>
                <a:tc>
                  <a:txBody>
                    <a:bodyPr/>
                    <a:lstStyle/>
                    <a:p>
                      <a:r>
                        <a:rPr sz="1200" b="0" i="0">
                          <a:solidFill>
                            <a:srgbClr val="1B2330"/>
                          </a:solidFill>
                          <a:latin typeface="Montserrat"/>
                        </a:rPr>
                        <a:t>0,25</a:t>
                      </a:r>
                    </a:p>
                  </a:txBody>
                  <a:tcPr>
                    <a:solidFill>
                      <a:srgbClr val="FFFFFF"/>
                    </a:solidFill>
                  </a:tcPr>
                </a:tc>
              </a:tr>
              <a:tr h="447040">
                <a:tc>
                  <a:txBody>
                    <a:bodyPr/>
                    <a:lstStyle/>
                    <a:p>
                      <a:r>
                        <a:rPr sz="1200" b="0" i="0">
                          <a:solidFill>
                            <a:srgbClr val="1B2330"/>
                          </a:solidFill>
                          <a:latin typeface="Montserrat"/>
                        </a:rPr>
                        <a:t>G-40</a:t>
                      </a:r>
                    </a:p>
                  </a:txBody>
                  <a:tcPr>
                    <a:solidFill>
                      <a:srgbClr val="F6F8FC"/>
                    </a:solidFill>
                  </a:tcPr>
                </a:tc>
                <a:tc>
                  <a:txBody>
                    <a:bodyPr/>
                    <a:lstStyle/>
                    <a:p>
                      <a:r>
                        <a:rPr sz="1200" b="0" i="0">
                          <a:solidFill>
                            <a:srgbClr val="1B2330"/>
                          </a:solidFill>
                          <a:latin typeface="Montserrat"/>
                        </a:rPr>
                        <a:t>65</a:t>
                      </a:r>
                    </a:p>
                  </a:txBody>
                  <a:tcPr>
                    <a:solidFill>
                      <a:srgbClr val="F6F8FC"/>
                    </a:solidFill>
                  </a:tcPr>
                </a:tc>
                <a:tc>
                  <a:txBody>
                    <a:bodyPr/>
                    <a:lstStyle/>
                    <a:p>
                      <a:r>
                        <a:rPr sz="1200" b="0" i="0">
                          <a:solidFill>
                            <a:srgbClr val="1B2330"/>
                          </a:solidFill>
                          <a:latin typeface="Montserrat"/>
                        </a:rPr>
                        <a:t>0,40</a:t>
                      </a:r>
                    </a:p>
                  </a:txBody>
                  <a:tcPr>
                    <a:solidFill>
                      <a:srgbClr val="F6F8FC"/>
                    </a:solidFill>
                  </a:tcPr>
                </a:tc>
              </a:tr>
              <a:tr h="447040">
                <a:tc>
                  <a:txBody>
                    <a:bodyPr/>
                    <a:lstStyle/>
                    <a:p>
                      <a:r>
                        <a:rPr sz="1200" b="0" i="0">
                          <a:solidFill>
                            <a:srgbClr val="1B2330"/>
                          </a:solidFill>
                          <a:latin typeface="Montserrat"/>
                        </a:rPr>
                        <a:t>G-65</a:t>
                      </a:r>
                    </a:p>
                  </a:txBody>
                  <a:tcPr>
                    <a:solidFill>
                      <a:srgbClr val="FFFFFF"/>
                    </a:solidFill>
                  </a:tcPr>
                </a:tc>
                <a:tc>
                  <a:txBody>
                    <a:bodyPr/>
                    <a:lstStyle/>
                    <a:p>
                      <a:r>
                        <a:rPr sz="1200" b="0" i="0">
                          <a:solidFill>
                            <a:srgbClr val="1B2330"/>
                          </a:solidFill>
                          <a:latin typeface="Montserrat"/>
                        </a:rPr>
                        <a:t>100</a:t>
                      </a:r>
                    </a:p>
                  </a:txBody>
                  <a:tcPr>
                    <a:solidFill>
                      <a:srgbClr val="FFFFFF"/>
                    </a:solidFill>
                  </a:tcPr>
                </a:tc>
                <a:tc>
                  <a:txBody>
                    <a:bodyPr/>
                    <a:lstStyle/>
                    <a:p>
                      <a:r>
                        <a:rPr sz="1200" b="0" i="0">
                          <a:solidFill>
                            <a:srgbClr val="1B2330"/>
                          </a:solidFill>
                          <a:latin typeface="Montserrat"/>
                        </a:rPr>
                        <a:t>0,65</a:t>
                      </a:r>
                    </a:p>
                  </a:txBody>
                  <a:tcPr>
                    <a:solidFill>
                      <a:srgbClr val="FFFFFF"/>
                    </a:solidFill>
                  </a:tcPr>
                </a:tc>
              </a:tr>
              <a:tr h="447040">
                <a:tc>
                  <a:txBody>
                    <a:bodyPr/>
                    <a:lstStyle/>
                    <a:p>
                      <a:r>
                        <a:rPr sz="1200" b="0" i="0">
                          <a:solidFill>
                            <a:srgbClr val="1B2330"/>
                          </a:solidFill>
                          <a:latin typeface="Montserrat"/>
                        </a:rPr>
                        <a:t>G-100</a:t>
                      </a:r>
                    </a:p>
                  </a:txBody>
                  <a:tcPr>
                    <a:solidFill>
                      <a:srgbClr val="F6F8FC"/>
                    </a:solidFill>
                  </a:tcPr>
                </a:tc>
                <a:tc>
                  <a:txBody>
                    <a:bodyPr/>
                    <a:lstStyle/>
                    <a:p>
                      <a:r>
                        <a:rPr sz="1200" b="0" i="0">
                          <a:solidFill>
                            <a:srgbClr val="1B2330"/>
                          </a:solidFill>
                          <a:latin typeface="Montserrat"/>
                        </a:rPr>
                        <a:t>160</a:t>
                      </a:r>
                    </a:p>
                  </a:txBody>
                  <a:tcPr>
                    <a:solidFill>
                      <a:srgbClr val="F6F8FC"/>
                    </a:solidFill>
                  </a:tcPr>
                </a:tc>
                <a:tc>
                  <a:txBody>
                    <a:bodyPr/>
                    <a:lstStyle/>
                    <a:p>
                      <a:r>
                        <a:rPr sz="1200" b="0" i="0">
                          <a:solidFill>
                            <a:srgbClr val="1B2330"/>
                          </a:solidFill>
                          <a:latin typeface="Montserrat"/>
                        </a:rPr>
                        <a:t>1</a:t>
                      </a:r>
                    </a:p>
                  </a:txBody>
                  <a:tcPr>
                    <a:solidFill>
                      <a:srgbClr val="F6F8FC"/>
                    </a:solidFill>
                  </a:tcPr>
                </a:tc>
              </a:tr>
              <a:tr h="447040">
                <a:tc>
                  <a:txBody>
                    <a:bodyPr/>
                    <a:lstStyle/>
                    <a:p>
                      <a:r>
                        <a:rPr sz="1200" b="0" i="0">
                          <a:solidFill>
                            <a:srgbClr val="1B2330"/>
                          </a:solidFill>
                          <a:latin typeface="Montserrat"/>
                        </a:rPr>
                        <a:t>G-160</a:t>
                      </a:r>
                    </a:p>
                  </a:txBody>
                  <a:tcPr>
                    <a:solidFill>
                      <a:srgbClr val="FFFFFF"/>
                    </a:solidFill>
                  </a:tcPr>
                </a:tc>
                <a:tc>
                  <a:txBody>
                    <a:bodyPr/>
                    <a:lstStyle/>
                    <a:p>
                      <a:r>
                        <a:rPr sz="1200" b="0" i="0">
                          <a:solidFill>
                            <a:srgbClr val="1B2330"/>
                          </a:solidFill>
                          <a:latin typeface="Montserrat"/>
                        </a:rPr>
                        <a:t>250</a:t>
                      </a:r>
                    </a:p>
                  </a:txBody>
                  <a:tcPr>
                    <a:solidFill>
                      <a:srgbClr val="FFFFFF"/>
                    </a:solidFill>
                  </a:tcPr>
                </a:tc>
                <a:tc>
                  <a:txBody>
                    <a:bodyPr/>
                    <a:lstStyle/>
                    <a:p>
                      <a:r>
                        <a:rPr sz="1200" b="0" i="0">
                          <a:solidFill>
                            <a:srgbClr val="1B2330"/>
                          </a:solidFill>
                          <a:latin typeface="Montserrat"/>
                        </a:rPr>
                        <a:t>1,6</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Caudal máximo y mínimo de cada modelo de contador de membranas; el G-4 es el contador típico de una vivienda.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033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INDIVIDUAL · IRG-3</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Presiones del regulador individual</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341120">
                <a:tc>
                  <a:txBody>
                    <a:bodyPr/>
                    <a:lstStyle/>
                    <a:p>
                      <a:r>
                        <a:rPr sz="1200" b="1" i="0">
                          <a:solidFill>
                            <a:srgbClr val="FFFFFF"/>
                          </a:solidFill>
                          <a:latin typeface="Montserrat"/>
                        </a:rPr>
                        <a:t>MOP entrada</a:t>
                      </a:r>
                    </a:p>
                  </a:txBody>
                  <a:tcPr>
                    <a:solidFill>
                      <a:srgbClr val="1E2761"/>
                    </a:solidFill>
                  </a:tcPr>
                </a:tc>
                <a:tc>
                  <a:txBody>
                    <a:bodyPr/>
                    <a:lstStyle/>
                    <a:p>
                      <a:r>
                        <a:rPr sz="1200" b="1" i="0">
                          <a:solidFill>
                            <a:srgbClr val="FFFFFF"/>
                          </a:solidFill>
                          <a:latin typeface="Montserrat"/>
                        </a:rPr>
                        <a:t>MOP salida</a:t>
                      </a:r>
                    </a:p>
                  </a:txBody>
                  <a:tcPr>
                    <a:solidFill>
                      <a:srgbClr val="1E2761"/>
                    </a:solidFill>
                  </a:tcPr>
                </a:tc>
              </a:tr>
              <a:tr h="1341120">
                <a:tc>
                  <a:txBody>
                    <a:bodyPr/>
                    <a:lstStyle/>
                    <a:p>
                      <a:r>
                        <a:rPr sz="1200" b="0" i="0">
                          <a:solidFill>
                            <a:srgbClr val="1B2330"/>
                          </a:solidFill>
                          <a:latin typeface="Montserrat"/>
                        </a:rPr>
                        <a:t>0,05 a 0,4 bar (MP-A)</a:t>
                      </a:r>
                    </a:p>
                  </a:txBody>
                  <a:tcPr>
                    <a:solidFill>
                      <a:srgbClr val="F6F8FC"/>
                    </a:solidFill>
                  </a:tcPr>
                </a:tc>
                <a:tc>
                  <a:txBody>
                    <a:bodyPr/>
                    <a:lstStyle/>
                    <a:p>
                      <a:r>
                        <a:rPr sz="1200" b="0" i="0">
                          <a:solidFill>
                            <a:srgbClr val="1B2330"/>
                          </a:solidFill>
                          <a:latin typeface="Montserrat"/>
                        </a:rPr>
                        <a:t>0,020 bar (BP)</a:t>
                      </a:r>
                    </a:p>
                  </a:txBody>
                  <a:tcPr>
                    <a:solidFill>
                      <a:srgbClr val="F6F8FC"/>
                    </a:solidFill>
                  </a:tcPr>
                </a:tc>
              </a:tr>
              <a:tr h="1341120">
                <a:tc>
                  <a:txBody>
                    <a:bodyPr/>
                    <a:lstStyle/>
                    <a:p>
                      <a:r>
                        <a:rPr sz="1200" b="0" i="0">
                          <a:solidFill>
                            <a:srgbClr val="1B2330"/>
                          </a:solidFill>
                          <a:latin typeface="Montserrat"/>
                        </a:rPr>
                        <a:t>0,4 a 5 bar (MP-B)</a:t>
                      </a:r>
                    </a:p>
                  </a:txBody>
                  <a:tcPr>
                    <a:solidFill>
                      <a:srgbClr val="FFFFFF"/>
                    </a:solidFill>
                  </a:tcPr>
                </a:tc>
                <a:tc>
                  <a:txBody>
                    <a:bodyPr/>
                    <a:lstStyle/>
                    <a:p>
                      <a:r>
                        <a:rPr sz="1200" b="0" i="0">
                          <a:solidFill>
                            <a:srgbClr val="1B2330"/>
                          </a:solidFill>
                          <a:latin typeface="Montserrat"/>
                        </a:rPr>
                        <a:t>0,020 bar (BP)</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regulador individual, entre en MP-A o MP-B, siempre da salida a 0,020 bar (baja presión), que es lo que piden los aparatos domésticos.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034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la potencia de diseño individual (Piv) mínima de una vivienda?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30 kW</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20 kW</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16 kW</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40 kW</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035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la potencia de diseño individual (Piv) mínima de una vivienda?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30 kW</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Aunque la fórmula dé menos, la Piv se toma como mínimo 30 kW; es el suelo para dimensionar la instalación individual.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036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CERTIFICADO COMÚN · IRG-2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simultaneidad baja con más vecinos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Pc con factor de simultaneidad S</a:t>
            </a:r>
          </a:p>
          <a:p>
            <a:pPr>
              <a:spcAft>
                <a:spcPts val="1100"/>
              </a:spcAft>
            </a:pPr>
            <a:r>
              <a:rPr sz="1600" b="1" i="0">
                <a:solidFill>
                  <a:srgbClr val="E8801A"/>
                </a:solidFill>
                <a:latin typeface="Montserrat"/>
              </a:rPr>
              <a:t>▸  </a:t>
            </a:r>
            <a:r>
              <a:rPr sz="1600" b="0" i="0">
                <a:solidFill>
                  <a:srgbClr val="1B2330"/>
                </a:solidFill>
                <a:latin typeface="Montserrat"/>
              </a:rPr>
              <a:t>S1 sin calefacción; S2 con calefacción</a:t>
            </a:r>
          </a:p>
          <a:p>
            <a:pPr>
              <a:spcAft>
                <a:spcPts val="1100"/>
              </a:spcAft>
            </a:pPr>
            <a:r>
              <a:rPr sz="1600" b="1" i="0">
                <a:solidFill>
                  <a:srgbClr val="E8801A"/>
                </a:solidFill>
                <a:latin typeface="Montserrat"/>
              </a:rPr>
              <a:t>▸  </a:t>
            </a:r>
            <a:r>
              <a:rPr sz="1600" b="0" i="0">
                <a:solidFill>
                  <a:srgbClr val="1B2330"/>
                </a:solidFill>
                <a:latin typeface="Montserrat"/>
              </a:rPr>
              <a:t>Más viviendas → factor S más bajo</a:t>
            </a:r>
          </a:p>
          <a:p>
            <a:pPr>
              <a:spcAft>
                <a:spcPts val="1100"/>
              </a:spcAft>
            </a:pPr>
            <a:r>
              <a:rPr sz="1600" b="1" i="0">
                <a:solidFill>
                  <a:srgbClr val="E8801A"/>
                </a:solidFill>
                <a:latin typeface="Montserrat"/>
              </a:rPr>
              <a:t>▸  </a:t>
            </a:r>
            <a:r>
              <a:rPr sz="1600" b="0" i="0">
                <a:solidFill>
                  <a:srgbClr val="1B2330"/>
                </a:solidFill>
                <a:latin typeface="Montserrat"/>
              </a:rPr>
              <a:t>Regulador común: entra MP-B, sale MP-A o BP</a:t>
            </a:r>
          </a:p>
        </p:txBody>
      </p:sp>
      <p:sp>
        <p:nvSpPr>
          <p:cNvPr id="9" name="imgph" descr="IMGQ:centralized gas meter battery in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centralized gas meter battery in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037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COMÚN · IRG-2</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Modelos de armario de regulación y caudal</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574765">
                <a:tc>
                  <a:txBody>
                    <a:bodyPr/>
                    <a:lstStyle/>
                    <a:p>
                      <a:r>
                        <a:rPr sz="1200" b="1" i="0">
                          <a:solidFill>
                            <a:srgbClr val="FFFFFF"/>
                          </a:solidFill>
                          <a:latin typeface="Montserrat"/>
                        </a:rPr>
                        <a:t>Modelo de armario</a:t>
                      </a:r>
                    </a:p>
                  </a:txBody>
                  <a:tcPr>
                    <a:solidFill>
                      <a:srgbClr val="1E2761"/>
                    </a:solidFill>
                  </a:tcPr>
                </a:tc>
                <a:tc>
                  <a:txBody>
                    <a:bodyPr/>
                    <a:lstStyle/>
                    <a:p>
                      <a:r>
                        <a:rPr sz="1200" b="1" i="0">
                          <a:solidFill>
                            <a:srgbClr val="FFFFFF"/>
                          </a:solidFill>
                          <a:latin typeface="Montserrat"/>
                        </a:rPr>
                        <a:t>Caudal nominal (Nm³/h)</a:t>
                      </a:r>
                    </a:p>
                  </a:txBody>
                  <a:tcPr>
                    <a:solidFill>
                      <a:srgbClr val="1E2761"/>
                    </a:solidFill>
                  </a:tcPr>
                </a:tc>
              </a:tr>
              <a:tr h="574765">
                <a:tc>
                  <a:txBody>
                    <a:bodyPr/>
                    <a:lstStyle/>
                    <a:p>
                      <a:r>
                        <a:rPr sz="1200" b="0" i="0">
                          <a:solidFill>
                            <a:srgbClr val="1B2330"/>
                          </a:solidFill>
                          <a:latin typeface="Montserrat"/>
                        </a:rPr>
                        <a:t>A-6</a:t>
                      </a:r>
                    </a:p>
                  </a:txBody>
                  <a:tcPr>
                    <a:solidFill>
                      <a:srgbClr val="F6F8FC"/>
                    </a:solidFill>
                  </a:tcPr>
                </a:tc>
                <a:tc>
                  <a:txBody>
                    <a:bodyPr/>
                    <a:lstStyle/>
                    <a:p>
                      <a:r>
                        <a:rPr sz="1200" b="0" i="0">
                          <a:solidFill>
                            <a:srgbClr val="1B2330"/>
                          </a:solidFill>
                          <a:latin typeface="Montserrat"/>
                        </a:rPr>
                        <a:t>6</a:t>
                      </a:r>
                    </a:p>
                  </a:txBody>
                  <a:tcPr>
                    <a:solidFill>
                      <a:srgbClr val="F6F8FC"/>
                    </a:solidFill>
                  </a:tcPr>
                </a:tc>
              </a:tr>
              <a:tr h="574765">
                <a:tc>
                  <a:txBody>
                    <a:bodyPr/>
                    <a:lstStyle/>
                    <a:p>
                      <a:r>
                        <a:rPr sz="1200" b="0" i="0">
                          <a:solidFill>
                            <a:srgbClr val="1B2330"/>
                          </a:solidFill>
                          <a:latin typeface="Montserrat"/>
                        </a:rPr>
                        <a:t>A-10</a:t>
                      </a:r>
                    </a:p>
                  </a:txBody>
                  <a:tcPr>
                    <a:solidFill>
                      <a:srgbClr val="FFFFFF"/>
                    </a:solidFill>
                  </a:tcPr>
                </a:tc>
                <a:tc>
                  <a:txBody>
                    <a:bodyPr/>
                    <a:lstStyle/>
                    <a:p>
                      <a:r>
                        <a:rPr sz="1200" b="0" i="0">
                          <a:solidFill>
                            <a:srgbClr val="1B2330"/>
                          </a:solidFill>
                          <a:latin typeface="Montserrat"/>
                        </a:rPr>
                        <a:t>10</a:t>
                      </a:r>
                    </a:p>
                  </a:txBody>
                  <a:tcPr>
                    <a:solidFill>
                      <a:srgbClr val="FFFFFF"/>
                    </a:solidFill>
                  </a:tcPr>
                </a:tc>
              </a:tr>
              <a:tr h="574765">
                <a:tc>
                  <a:txBody>
                    <a:bodyPr/>
                    <a:lstStyle/>
                    <a:p>
                      <a:r>
                        <a:rPr sz="1200" b="0" i="0">
                          <a:solidFill>
                            <a:srgbClr val="1B2330"/>
                          </a:solidFill>
                          <a:latin typeface="Montserrat"/>
                        </a:rPr>
                        <a:t>A-25 / E-25</a:t>
                      </a:r>
                    </a:p>
                  </a:txBody>
                  <a:tcPr>
                    <a:solidFill>
                      <a:srgbClr val="F6F8FC"/>
                    </a:solidFill>
                  </a:tcPr>
                </a:tc>
                <a:tc>
                  <a:txBody>
                    <a:bodyPr/>
                    <a:lstStyle/>
                    <a:p>
                      <a:r>
                        <a:rPr sz="1200" b="0" i="0">
                          <a:solidFill>
                            <a:srgbClr val="1B2330"/>
                          </a:solidFill>
                          <a:latin typeface="Montserrat"/>
                        </a:rPr>
                        <a:t>25</a:t>
                      </a:r>
                    </a:p>
                  </a:txBody>
                  <a:tcPr>
                    <a:solidFill>
                      <a:srgbClr val="F6F8FC"/>
                    </a:solidFill>
                  </a:tcPr>
                </a:tc>
              </a:tr>
              <a:tr h="574765">
                <a:tc>
                  <a:txBody>
                    <a:bodyPr/>
                    <a:lstStyle/>
                    <a:p>
                      <a:r>
                        <a:rPr sz="1200" b="0" i="0">
                          <a:solidFill>
                            <a:srgbClr val="1B2330"/>
                          </a:solidFill>
                          <a:latin typeface="Montserrat"/>
                        </a:rPr>
                        <a:t>A-50 / E-50</a:t>
                      </a:r>
                    </a:p>
                  </a:txBody>
                  <a:tcPr>
                    <a:solidFill>
                      <a:srgbClr val="FFFFFF"/>
                    </a:solidFill>
                  </a:tcPr>
                </a:tc>
                <a:tc>
                  <a:txBody>
                    <a:bodyPr/>
                    <a:lstStyle/>
                    <a:p>
                      <a:r>
                        <a:rPr sz="1200" b="0" i="0">
                          <a:solidFill>
                            <a:srgbClr val="1B2330"/>
                          </a:solidFill>
                          <a:latin typeface="Montserrat"/>
                        </a:rPr>
                        <a:t>50</a:t>
                      </a:r>
                    </a:p>
                  </a:txBody>
                  <a:tcPr>
                    <a:solidFill>
                      <a:srgbClr val="FFFFFF"/>
                    </a:solidFill>
                  </a:tcPr>
                </a:tc>
              </a:tr>
              <a:tr h="574765">
                <a:tc>
                  <a:txBody>
                    <a:bodyPr/>
                    <a:lstStyle/>
                    <a:p>
                      <a:r>
                        <a:rPr sz="1200" b="0" i="0">
                          <a:solidFill>
                            <a:srgbClr val="1B2330"/>
                          </a:solidFill>
                          <a:latin typeface="Montserrat"/>
                        </a:rPr>
                        <a:t>A-75</a:t>
                      </a:r>
                    </a:p>
                  </a:txBody>
                  <a:tcPr>
                    <a:solidFill>
                      <a:srgbClr val="F6F8FC"/>
                    </a:solidFill>
                  </a:tcPr>
                </a:tc>
                <a:tc>
                  <a:txBody>
                    <a:bodyPr/>
                    <a:lstStyle/>
                    <a:p>
                      <a:r>
                        <a:rPr sz="1200" b="0" i="0">
                          <a:solidFill>
                            <a:srgbClr val="1B2330"/>
                          </a:solidFill>
                          <a:latin typeface="Montserrat"/>
                        </a:rPr>
                        <a:t>75</a:t>
                      </a:r>
                    </a:p>
                  </a:txBody>
                  <a:tcPr>
                    <a:solidFill>
                      <a:srgbClr val="F6F8FC"/>
                    </a:solidFill>
                  </a:tcPr>
                </a:tc>
              </a:tr>
              <a:tr h="574770">
                <a:tc>
                  <a:txBody>
                    <a:bodyPr/>
                    <a:lstStyle/>
                    <a:p>
                      <a:r>
                        <a:rPr sz="1200" b="0" i="0">
                          <a:solidFill>
                            <a:srgbClr val="1B2330"/>
                          </a:solidFill>
                          <a:latin typeface="Montserrat"/>
                        </a:rPr>
                        <a:t>A-100</a:t>
                      </a:r>
                    </a:p>
                  </a:txBody>
                  <a:tcPr>
                    <a:solidFill>
                      <a:srgbClr val="FFFFFF"/>
                    </a:solidFill>
                  </a:tcPr>
                </a:tc>
                <a:tc>
                  <a:txBody>
                    <a:bodyPr/>
                    <a:lstStyle/>
                    <a:p>
                      <a:r>
                        <a:rPr sz="1200" b="0" i="0">
                          <a:solidFill>
                            <a:srgbClr val="1B2330"/>
                          </a:solidFill>
                          <a:latin typeface="Montserrat"/>
                        </a:rPr>
                        <a:t>100</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Cada modelo de armario de regulación con su caudal nominal; se elige según el caudal de diseño de la comunidad.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038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COMÚN · IRG-2</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Presiones del regulador común</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1341120">
                <a:tc>
                  <a:txBody>
                    <a:bodyPr/>
                    <a:lstStyle/>
                    <a:p>
                      <a:r>
                        <a:rPr sz="1200" b="1" i="0">
                          <a:solidFill>
                            <a:srgbClr val="FFFFFF"/>
                          </a:solidFill>
                          <a:latin typeface="Montserrat"/>
                        </a:rPr>
                        <a:t>MOP entrada</a:t>
                      </a:r>
                    </a:p>
                  </a:txBody>
                  <a:tcPr>
                    <a:solidFill>
                      <a:srgbClr val="1E2761"/>
                    </a:solidFill>
                  </a:tcPr>
                </a:tc>
                <a:tc>
                  <a:txBody>
                    <a:bodyPr/>
                    <a:lstStyle/>
                    <a:p>
                      <a:r>
                        <a:rPr sz="1200" b="1" i="0">
                          <a:solidFill>
                            <a:srgbClr val="FFFFFF"/>
                          </a:solidFill>
                          <a:latin typeface="Montserrat"/>
                        </a:rPr>
                        <a:t>MOP salida</a:t>
                      </a:r>
                    </a:p>
                  </a:txBody>
                  <a:tcPr>
                    <a:solidFill>
                      <a:srgbClr val="1E2761"/>
                    </a:solidFill>
                  </a:tcPr>
                </a:tc>
              </a:tr>
              <a:tr h="1341120">
                <a:tc>
                  <a:txBody>
                    <a:bodyPr/>
                    <a:lstStyle/>
                    <a:p>
                      <a:r>
                        <a:rPr sz="1200" b="0" i="0">
                          <a:solidFill>
                            <a:srgbClr val="1B2330"/>
                          </a:solidFill>
                          <a:latin typeface="Montserrat"/>
                        </a:rPr>
                        <a:t>0,4 a 5 bar (MP-B)</a:t>
                      </a:r>
                    </a:p>
                  </a:txBody>
                  <a:tcPr>
                    <a:solidFill>
                      <a:srgbClr val="F6F8FC"/>
                    </a:solidFill>
                  </a:tcPr>
                </a:tc>
                <a:tc>
                  <a:txBody>
                    <a:bodyPr/>
                    <a:lstStyle/>
                    <a:p>
                      <a:r>
                        <a:rPr sz="1200" b="0" i="0">
                          <a:solidFill>
                            <a:srgbClr val="1B2330"/>
                          </a:solidFill>
                          <a:latin typeface="Montserrat"/>
                        </a:rPr>
                        <a:t>0,055 bar (MP-A)</a:t>
                      </a:r>
                    </a:p>
                  </a:txBody>
                  <a:tcPr>
                    <a:solidFill>
                      <a:srgbClr val="F6F8FC"/>
                    </a:solidFill>
                  </a:tcPr>
                </a:tc>
              </a:tr>
              <a:tr h="1341120">
                <a:tc>
                  <a:txBody>
                    <a:bodyPr/>
                    <a:lstStyle/>
                    <a:p>
                      <a:r>
                        <a:rPr sz="1200" b="0" i="0">
                          <a:solidFill>
                            <a:srgbClr val="1B2330"/>
                          </a:solidFill>
                          <a:latin typeface="Montserrat"/>
                        </a:rPr>
                        <a:t>0,4 a 5 bar (MP-B)</a:t>
                      </a:r>
                    </a:p>
                  </a:txBody>
                  <a:tcPr>
                    <a:solidFill>
                      <a:srgbClr val="FFFFFF"/>
                    </a:solidFill>
                  </a:tcPr>
                </a:tc>
                <a:tc>
                  <a:txBody>
                    <a:bodyPr/>
                    <a:lstStyle/>
                    <a:p>
                      <a:r>
                        <a:rPr sz="1200" b="0" i="0">
                          <a:solidFill>
                            <a:srgbClr val="1B2330"/>
                          </a:solidFill>
                          <a:latin typeface="Montserrat"/>
                        </a:rPr>
                        <a:t>0,021 bar (BP)</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El regulador común entra en MP-B y baja a MP-A o a baja presión, según el diseño; no confundir con el individual, que sale a 0,020 bar.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039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COMÚN · IRG-2</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Factores de simultaneidad S1 y S2 (1 a 16 viviendas)</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236668">
                <a:tc>
                  <a:txBody>
                    <a:bodyPr/>
                    <a:lstStyle/>
                    <a:p>
                      <a:r>
                        <a:rPr sz="1200" b="1" i="0">
                          <a:solidFill>
                            <a:srgbClr val="FFFFFF"/>
                          </a:solidFill>
                          <a:latin typeface="Montserrat"/>
                        </a:rPr>
                        <a:t>Núm. viviendas</a:t>
                      </a:r>
                    </a:p>
                  </a:txBody>
                  <a:tcPr>
                    <a:solidFill>
                      <a:srgbClr val="1E2761"/>
                    </a:solidFill>
                  </a:tcPr>
                </a:tc>
                <a:tc>
                  <a:txBody>
                    <a:bodyPr/>
                    <a:lstStyle/>
                    <a:p>
                      <a:r>
                        <a:rPr sz="1200" b="1" i="0">
                          <a:solidFill>
                            <a:srgbClr val="FFFFFF"/>
                          </a:solidFill>
                          <a:latin typeface="Montserrat"/>
                        </a:rPr>
                        <a:t>S1</a:t>
                      </a:r>
                    </a:p>
                  </a:txBody>
                  <a:tcPr>
                    <a:solidFill>
                      <a:srgbClr val="1E2761"/>
                    </a:solidFill>
                  </a:tcPr>
                </a:tc>
                <a:tc>
                  <a:txBody>
                    <a:bodyPr/>
                    <a:lstStyle/>
                    <a:p>
                      <a:r>
                        <a:rPr sz="1200" b="1" i="0">
                          <a:solidFill>
                            <a:srgbClr val="FFFFFF"/>
                          </a:solidFill>
                          <a:latin typeface="Montserrat"/>
                        </a:rPr>
                        <a:t>S2</a:t>
                      </a:r>
                    </a:p>
                  </a:txBody>
                  <a:tcPr>
                    <a:solidFill>
                      <a:srgbClr val="1E2761"/>
                    </a:solidFill>
                  </a:tcPr>
                </a:tc>
              </a:tr>
              <a:tr h="236668">
                <a:tc>
                  <a:txBody>
                    <a:bodyPr/>
                    <a:lstStyle/>
                    <a:p>
                      <a:r>
                        <a:rPr sz="1200" b="0" i="0">
                          <a:solidFill>
                            <a:srgbClr val="1B2330"/>
                          </a:solidFill>
                          <a:latin typeface="Montserrat"/>
                        </a:rPr>
                        <a:t>1</a:t>
                      </a:r>
                    </a:p>
                  </a:txBody>
                  <a:tcPr>
                    <a:solidFill>
                      <a:srgbClr val="F6F8FC"/>
                    </a:solidFill>
                  </a:tcPr>
                </a:tc>
                <a:tc>
                  <a:txBody>
                    <a:bodyPr/>
                    <a:lstStyle/>
                    <a:p>
                      <a:r>
                        <a:rPr sz="1200" b="0" i="0">
                          <a:solidFill>
                            <a:srgbClr val="1B2330"/>
                          </a:solidFill>
                          <a:latin typeface="Montserrat"/>
                        </a:rPr>
                        <a:t>1,00</a:t>
                      </a:r>
                    </a:p>
                  </a:txBody>
                  <a:tcPr>
                    <a:solidFill>
                      <a:srgbClr val="F6F8FC"/>
                    </a:solidFill>
                  </a:tcPr>
                </a:tc>
                <a:tc>
                  <a:txBody>
                    <a:bodyPr/>
                    <a:lstStyle/>
                    <a:p>
                      <a:r>
                        <a:rPr sz="1200" b="0" i="0">
                          <a:solidFill>
                            <a:srgbClr val="1B2330"/>
                          </a:solidFill>
                          <a:latin typeface="Montserrat"/>
                        </a:rPr>
                        <a:t>1,00</a:t>
                      </a:r>
                    </a:p>
                  </a:txBody>
                  <a:tcPr>
                    <a:solidFill>
                      <a:srgbClr val="F6F8FC"/>
                    </a:solidFill>
                  </a:tcPr>
                </a:tc>
              </a:tr>
              <a:tr h="236668">
                <a:tc>
                  <a:txBody>
                    <a:bodyPr/>
                    <a:lstStyle/>
                    <a:p>
                      <a:r>
                        <a:rPr sz="1200" b="0" i="0">
                          <a:solidFill>
                            <a:srgbClr val="1B2330"/>
                          </a:solidFill>
                          <a:latin typeface="Montserrat"/>
                        </a:rPr>
                        <a:t>2</a:t>
                      </a:r>
                    </a:p>
                  </a:txBody>
                  <a:tcPr>
                    <a:solidFill>
                      <a:srgbClr val="FFFFFF"/>
                    </a:solidFill>
                  </a:tcPr>
                </a:tc>
                <a:tc>
                  <a:txBody>
                    <a:bodyPr/>
                    <a:lstStyle/>
                    <a:p>
                      <a:r>
                        <a:rPr sz="1200" b="0" i="0">
                          <a:solidFill>
                            <a:srgbClr val="1B2330"/>
                          </a:solidFill>
                          <a:latin typeface="Montserrat"/>
                        </a:rPr>
                        <a:t>0,70</a:t>
                      </a:r>
                    </a:p>
                  </a:txBody>
                  <a:tcPr>
                    <a:solidFill>
                      <a:srgbClr val="FFFFFF"/>
                    </a:solidFill>
                  </a:tcPr>
                </a:tc>
                <a:tc>
                  <a:txBody>
                    <a:bodyPr/>
                    <a:lstStyle/>
                    <a:p>
                      <a:r>
                        <a:rPr sz="1200" b="0" i="0">
                          <a:solidFill>
                            <a:srgbClr val="1B2330"/>
                          </a:solidFill>
                          <a:latin typeface="Montserrat"/>
                        </a:rPr>
                        <a:t>0,88</a:t>
                      </a:r>
                    </a:p>
                  </a:txBody>
                  <a:tcPr>
                    <a:solidFill>
                      <a:srgbClr val="FFFFFF"/>
                    </a:solidFill>
                  </a:tcPr>
                </a:tc>
              </a:tr>
              <a:tr h="236668">
                <a:tc>
                  <a:txBody>
                    <a:bodyPr/>
                    <a:lstStyle/>
                    <a:p>
                      <a:r>
                        <a:rPr sz="1200" b="0" i="0">
                          <a:solidFill>
                            <a:srgbClr val="1B2330"/>
                          </a:solidFill>
                          <a:latin typeface="Montserrat"/>
                        </a:rPr>
                        <a:t>3</a:t>
                      </a:r>
                    </a:p>
                  </a:txBody>
                  <a:tcPr>
                    <a:solidFill>
                      <a:srgbClr val="F6F8FC"/>
                    </a:solidFill>
                  </a:tcPr>
                </a:tc>
                <a:tc>
                  <a:txBody>
                    <a:bodyPr/>
                    <a:lstStyle/>
                    <a:p>
                      <a:r>
                        <a:rPr sz="1200" b="0" i="0">
                          <a:solidFill>
                            <a:srgbClr val="1B2330"/>
                          </a:solidFill>
                          <a:latin typeface="Montserrat"/>
                        </a:rPr>
                        <a:t>0,55</a:t>
                      </a:r>
                    </a:p>
                  </a:txBody>
                  <a:tcPr>
                    <a:solidFill>
                      <a:srgbClr val="F6F8FC"/>
                    </a:solidFill>
                  </a:tcPr>
                </a:tc>
                <a:tc>
                  <a:txBody>
                    <a:bodyPr/>
                    <a:lstStyle/>
                    <a:p>
                      <a:r>
                        <a:rPr sz="1200" b="0" i="0">
                          <a:solidFill>
                            <a:srgbClr val="1B2330"/>
                          </a:solidFill>
                          <a:latin typeface="Montserrat"/>
                        </a:rPr>
                        <a:t>0,79</a:t>
                      </a:r>
                    </a:p>
                  </a:txBody>
                  <a:tcPr>
                    <a:solidFill>
                      <a:srgbClr val="F6F8FC"/>
                    </a:solidFill>
                  </a:tcPr>
                </a:tc>
              </a:tr>
              <a:tr h="236668">
                <a:tc>
                  <a:txBody>
                    <a:bodyPr/>
                    <a:lstStyle/>
                    <a:p>
                      <a:r>
                        <a:rPr sz="1200" b="0" i="0">
                          <a:solidFill>
                            <a:srgbClr val="1B2330"/>
                          </a:solidFill>
                          <a:latin typeface="Montserrat"/>
                        </a:rPr>
                        <a:t>4</a:t>
                      </a:r>
                    </a:p>
                  </a:txBody>
                  <a:tcPr>
                    <a:solidFill>
                      <a:srgbClr val="FFFFFF"/>
                    </a:solidFill>
                  </a:tcPr>
                </a:tc>
                <a:tc>
                  <a:txBody>
                    <a:bodyPr/>
                    <a:lstStyle/>
                    <a:p>
                      <a:r>
                        <a:rPr sz="1200" b="0" i="0">
                          <a:solidFill>
                            <a:srgbClr val="1B2330"/>
                          </a:solidFill>
                          <a:latin typeface="Montserrat"/>
                        </a:rPr>
                        <a:t>0,46</a:t>
                      </a:r>
                    </a:p>
                  </a:txBody>
                  <a:tcPr>
                    <a:solidFill>
                      <a:srgbClr val="FFFFFF"/>
                    </a:solidFill>
                  </a:tcPr>
                </a:tc>
                <a:tc>
                  <a:txBody>
                    <a:bodyPr/>
                    <a:lstStyle/>
                    <a:p>
                      <a:r>
                        <a:rPr sz="1200" b="0" i="0">
                          <a:solidFill>
                            <a:srgbClr val="1B2330"/>
                          </a:solidFill>
                          <a:latin typeface="Montserrat"/>
                        </a:rPr>
                        <a:t>0,72</a:t>
                      </a:r>
                    </a:p>
                  </a:txBody>
                  <a:tcPr>
                    <a:solidFill>
                      <a:srgbClr val="FFFFFF"/>
                    </a:solidFill>
                  </a:tcPr>
                </a:tc>
              </a:tr>
              <a:tr h="236668">
                <a:tc>
                  <a:txBody>
                    <a:bodyPr/>
                    <a:lstStyle/>
                    <a:p>
                      <a:r>
                        <a:rPr sz="1200" b="0" i="0">
                          <a:solidFill>
                            <a:srgbClr val="1B2330"/>
                          </a:solidFill>
                          <a:latin typeface="Montserrat"/>
                        </a:rPr>
                        <a:t>5</a:t>
                      </a:r>
                    </a:p>
                  </a:txBody>
                  <a:tcPr>
                    <a:solidFill>
                      <a:srgbClr val="F6F8FC"/>
                    </a:solidFill>
                  </a:tcPr>
                </a:tc>
                <a:tc>
                  <a:txBody>
                    <a:bodyPr/>
                    <a:lstStyle/>
                    <a:p>
                      <a:r>
                        <a:rPr sz="1200" b="0" i="0">
                          <a:solidFill>
                            <a:srgbClr val="1B2330"/>
                          </a:solidFill>
                          <a:latin typeface="Montserrat"/>
                        </a:rPr>
                        <a:t>0,40</a:t>
                      </a:r>
                    </a:p>
                  </a:txBody>
                  <a:tcPr>
                    <a:solidFill>
                      <a:srgbClr val="F6F8FC"/>
                    </a:solidFill>
                  </a:tcPr>
                </a:tc>
                <a:tc>
                  <a:txBody>
                    <a:bodyPr/>
                    <a:lstStyle/>
                    <a:p>
                      <a:r>
                        <a:rPr sz="1200" b="0" i="0">
                          <a:solidFill>
                            <a:srgbClr val="1B2330"/>
                          </a:solidFill>
                          <a:latin typeface="Montserrat"/>
                        </a:rPr>
                        <a:t>0,67</a:t>
                      </a:r>
                    </a:p>
                  </a:txBody>
                  <a:tcPr>
                    <a:solidFill>
                      <a:srgbClr val="F6F8FC"/>
                    </a:solidFill>
                  </a:tcPr>
                </a:tc>
              </a:tr>
              <a:tr h="236668">
                <a:tc>
                  <a:txBody>
                    <a:bodyPr/>
                    <a:lstStyle/>
                    <a:p>
                      <a:r>
                        <a:rPr sz="1200" b="0" i="0">
                          <a:solidFill>
                            <a:srgbClr val="1B2330"/>
                          </a:solidFill>
                          <a:latin typeface="Montserrat"/>
                        </a:rPr>
                        <a:t>6</a:t>
                      </a:r>
                    </a:p>
                  </a:txBody>
                  <a:tcPr>
                    <a:solidFill>
                      <a:srgbClr val="FFFFFF"/>
                    </a:solidFill>
                  </a:tcPr>
                </a:tc>
                <a:tc>
                  <a:txBody>
                    <a:bodyPr/>
                    <a:lstStyle/>
                    <a:p>
                      <a:r>
                        <a:rPr sz="1200" b="0" i="0">
                          <a:solidFill>
                            <a:srgbClr val="1B2330"/>
                          </a:solidFill>
                          <a:latin typeface="Montserrat"/>
                        </a:rPr>
                        <a:t>0,36</a:t>
                      </a:r>
                    </a:p>
                  </a:txBody>
                  <a:tcPr>
                    <a:solidFill>
                      <a:srgbClr val="FFFFFF"/>
                    </a:solidFill>
                  </a:tcPr>
                </a:tc>
                <a:tc>
                  <a:txBody>
                    <a:bodyPr/>
                    <a:lstStyle/>
                    <a:p>
                      <a:r>
                        <a:rPr sz="1200" b="0" i="0">
                          <a:solidFill>
                            <a:srgbClr val="1B2330"/>
                          </a:solidFill>
                          <a:latin typeface="Montserrat"/>
                        </a:rPr>
                        <a:t>0,63</a:t>
                      </a:r>
                    </a:p>
                  </a:txBody>
                  <a:tcPr>
                    <a:solidFill>
                      <a:srgbClr val="FFFFFF"/>
                    </a:solidFill>
                  </a:tcPr>
                </a:tc>
              </a:tr>
              <a:tr h="236668">
                <a:tc>
                  <a:txBody>
                    <a:bodyPr/>
                    <a:lstStyle/>
                    <a:p>
                      <a:r>
                        <a:rPr sz="1200" b="0" i="0">
                          <a:solidFill>
                            <a:srgbClr val="1B2330"/>
                          </a:solidFill>
                          <a:latin typeface="Montserrat"/>
                        </a:rPr>
                        <a:t>7</a:t>
                      </a:r>
                    </a:p>
                  </a:txBody>
                  <a:tcPr>
                    <a:solidFill>
                      <a:srgbClr val="F6F8FC"/>
                    </a:solidFill>
                  </a:tcPr>
                </a:tc>
                <a:tc>
                  <a:txBody>
                    <a:bodyPr/>
                    <a:lstStyle/>
                    <a:p>
                      <a:r>
                        <a:rPr sz="1200" b="0" i="0">
                          <a:solidFill>
                            <a:srgbClr val="1B2330"/>
                          </a:solidFill>
                          <a:latin typeface="Montserrat"/>
                        </a:rPr>
                        <a:t>0,33</a:t>
                      </a:r>
                    </a:p>
                  </a:txBody>
                  <a:tcPr>
                    <a:solidFill>
                      <a:srgbClr val="F6F8FC"/>
                    </a:solidFill>
                  </a:tcPr>
                </a:tc>
                <a:tc>
                  <a:txBody>
                    <a:bodyPr/>
                    <a:lstStyle/>
                    <a:p>
                      <a:r>
                        <a:rPr sz="1200" b="0" i="0">
                          <a:solidFill>
                            <a:srgbClr val="1B2330"/>
                          </a:solidFill>
                          <a:latin typeface="Montserrat"/>
                        </a:rPr>
                        <a:t>0,59</a:t>
                      </a:r>
                    </a:p>
                  </a:txBody>
                  <a:tcPr>
                    <a:solidFill>
                      <a:srgbClr val="F6F8FC"/>
                    </a:solidFill>
                  </a:tcPr>
                </a:tc>
              </a:tr>
              <a:tr h="236668">
                <a:tc>
                  <a:txBody>
                    <a:bodyPr/>
                    <a:lstStyle/>
                    <a:p>
                      <a:r>
                        <a:rPr sz="1200" b="0" i="0">
                          <a:solidFill>
                            <a:srgbClr val="1B2330"/>
                          </a:solidFill>
                          <a:latin typeface="Montserrat"/>
                        </a:rPr>
                        <a:t>8</a:t>
                      </a:r>
                    </a:p>
                  </a:txBody>
                  <a:tcPr>
                    <a:solidFill>
                      <a:srgbClr val="FFFFFF"/>
                    </a:solidFill>
                  </a:tcPr>
                </a:tc>
                <a:tc>
                  <a:txBody>
                    <a:bodyPr/>
                    <a:lstStyle/>
                    <a:p>
                      <a:r>
                        <a:rPr sz="1200" b="0" i="0">
                          <a:solidFill>
                            <a:srgbClr val="1B2330"/>
                          </a:solidFill>
                          <a:latin typeface="Montserrat"/>
                        </a:rPr>
                        <a:t>0,30</a:t>
                      </a:r>
                    </a:p>
                  </a:txBody>
                  <a:tcPr>
                    <a:solidFill>
                      <a:srgbClr val="FFFFFF"/>
                    </a:solidFill>
                  </a:tcPr>
                </a:tc>
                <a:tc>
                  <a:txBody>
                    <a:bodyPr/>
                    <a:lstStyle/>
                    <a:p>
                      <a:r>
                        <a:rPr sz="1200" b="0" i="0">
                          <a:solidFill>
                            <a:srgbClr val="1B2330"/>
                          </a:solidFill>
                          <a:latin typeface="Montserrat"/>
                        </a:rPr>
                        <a:t>0,56</a:t>
                      </a:r>
                    </a:p>
                  </a:txBody>
                  <a:tcPr>
                    <a:solidFill>
                      <a:srgbClr val="FFFFFF"/>
                    </a:solidFill>
                  </a:tcPr>
                </a:tc>
              </a:tr>
              <a:tr h="236668">
                <a:tc>
                  <a:txBody>
                    <a:bodyPr/>
                    <a:lstStyle/>
                    <a:p>
                      <a:r>
                        <a:rPr sz="1200" b="0" i="0">
                          <a:solidFill>
                            <a:srgbClr val="1B2330"/>
                          </a:solidFill>
                          <a:latin typeface="Montserrat"/>
                        </a:rPr>
                        <a:t>9</a:t>
                      </a:r>
                    </a:p>
                  </a:txBody>
                  <a:tcPr>
                    <a:solidFill>
                      <a:srgbClr val="F6F8FC"/>
                    </a:solidFill>
                  </a:tcPr>
                </a:tc>
                <a:tc>
                  <a:txBody>
                    <a:bodyPr/>
                    <a:lstStyle/>
                    <a:p>
                      <a:r>
                        <a:rPr sz="1200" b="0" i="0">
                          <a:solidFill>
                            <a:srgbClr val="1B2330"/>
                          </a:solidFill>
                          <a:latin typeface="Montserrat"/>
                        </a:rPr>
                        <a:t>0,28</a:t>
                      </a:r>
                    </a:p>
                  </a:txBody>
                  <a:tcPr>
                    <a:solidFill>
                      <a:srgbClr val="F6F8FC"/>
                    </a:solidFill>
                  </a:tcPr>
                </a:tc>
                <a:tc>
                  <a:txBody>
                    <a:bodyPr/>
                    <a:lstStyle/>
                    <a:p>
                      <a:r>
                        <a:rPr sz="1200" b="0" i="0">
                          <a:solidFill>
                            <a:srgbClr val="1B2330"/>
                          </a:solidFill>
                          <a:latin typeface="Montserrat"/>
                        </a:rPr>
                        <a:t>0,54</a:t>
                      </a:r>
                    </a:p>
                  </a:txBody>
                  <a:tcPr>
                    <a:solidFill>
                      <a:srgbClr val="F6F8FC"/>
                    </a:solidFill>
                  </a:tcPr>
                </a:tc>
              </a:tr>
              <a:tr h="236668">
                <a:tc>
                  <a:txBody>
                    <a:bodyPr/>
                    <a:lstStyle/>
                    <a:p>
                      <a:r>
                        <a:rPr sz="1200" b="0" i="0">
                          <a:solidFill>
                            <a:srgbClr val="1B2330"/>
                          </a:solidFill>
                          <a:latin typeface="Montserrat"/>
                        </a:rPr>
                        <a:t>10</a:t>
                      </a:r>
                    </a:p>
                  </a:txBody>
                  <a:tcPr>
                    <a:solidFill>
                      <a:srgbClr val="FFFFFF"/>
                    </a:solidFill>
                  </a:tcPr>
                </a:tc>
                <a:tc>
                  <a:txBody>
                    <a:bodyPr/>
                    <a:lstStyle/>
                    <a:p>
                      <a:r>
                        <a:rPr sz="1200" b="0" i="0">
                          <a:solidFill>
                            <a:srgbClr val="1B2330"/>
                          </a:solidFill>
                          <a:latin typeface="Montserrat"/>
                        </a:rPr>
                        <a:t>0,26</a:t>
                      </a:r>
                    </a:p>
                  </a:txBody>
                  <a:tcPr>
                    <a:solidFill>
                      <a:srgbClr val="FFFFFF"/>
                    </a:solidFill>
                  </a:tcPr>
                </a:tc>
                <a:tc>
                  <a:txBody>
                    <a:bodyPr/>
                    <a:lstStyle/>
                    <a:p>
                      <a:r>
                        <a:rPr sz="1200" b="0" i="0">
                          <a:solidFill>
                            <a:srgbClr val="1B2330"/>
                          </a:solidFill>
                          <a:latin typeface="Montserrat"/>
                        </a:rPr>
                        <a:t>0,52</a:t>
                      </a:r>
                    </a:p>
                  </a:txBody>
                  <a:tcPr>
                    <a:solidFill>
                      <a:srgbClr val="FFFFFF"/>
                    </a:solidFill>
                  </a:tcPr>
                </a:tc>
              </a:tr>
              <a:tr h="236668">
                <a:tc>
                  <a:txBody>
                    <a:bodyPr/>
                    <a:lstStyle/>
                    <a:p>
                      <a:r>
                        <a:rPr sz="1200" b="0" i="0">
                          <a:solidFill>
                            <a:srgbClr val="1B2330"/>
                          </a:solidFill>
                          <a:latin typeface="Montserrat"/>
                        </a:rPr>
                        <a:t>11</a:t>
                      </a:r>
                    </a:p>
                  </a:txBody>
                  <a:tcPr>
                    <a:solidFill>
                      <a:srgbClr val="F6F8FC"/>
                    </a:solidFill>
                  </a:tcPr>
                </a:tc>
                <a:tc>
                  <a:txBody>
                    <a:bodyPr/>
                    <a:lstStyle/>
                    <a:p>
                      <a:r>
                        <a:rPr sz="1200" b="0" i="0">
                          <a:solidFill>
                            <a:srgbClr val="1B2330"/>
                          </a:solidFill>
                          <a:latin typeface="Montserrat"/>
                        </a:rPr>
                        <a:t>0,25</a:t>
                      </a:r>
                    </a:p>
                  </a:txBody>
                  <a:tcPr>
                    <a:solidFill>
                      <a:srgbClr val="F6F8FC"/>
                    </a:solidFill>
                  </a:tcPr>
                </a:tc>
                <a:tc>
                  <a:txBody>
                    <a:bodyPr/>
                    <a:lstStyle/>
                    <a:p>
                      <a:r>
                        <a:rPr sz="1200" b="0" i="0">
                          <a:solidFill>
                            <a:srgbClr val="1B2330"/>
                          </a:solidFill>
                          <a:latin typeface="Montserrat"/>
                        </a:rPr>
                        <a:t>0,50</a:t>
                      </a:r>
                    </a:p>
                  </a:txBody>
                  <a:tcPr>
                    <a:solidFill>
                      <a:srgbClr val="F6F8FC"/>
                    </a:solidFill>
                  </a:tcPr>
                </a:tc>
              </a:tr>
              <a:tr h="236668">
                <a:tc>
                  <a:txBody>
                    <a:bodyPr/>
                    <a:lstStyle/>
                    <a:p>
                      <a:r>
                        <a:rPr sz="1200" b="0" i="0">
                          <a:solidFill>
                            <a:srgbClr val="1B2330"/>
                          </a:solidFill>
                          <a:latin typeface="Montserrat"/>
                        </a:rPr>
                        <a:t>12</a:t>
                      </a:r>
                    </a:p>
                  </a:txBody>
                  <a:tcPr>
                    <a:solidFill>
                      <a:srgbClr val="FFFFFF"/>
                    </a:solidFill>
                  </a:tcPr>
                </a:tc>
                <a:tc>
                  <a:txBody>
                    <a:bodyPr/>
                    <a:lstStyle/>
                    <a:p>
                      <a:r>
                        <a:rPr sz="1200" b="0" i="0">
                          <a:solidFill>
                            <a:srgbClr val="1B2330"/>
                          </a:solidFill>
                          <a:latin typeface="Montserrat"/>
                        </a:rPr>
                        <a:t>0,24</a:t>
                      </a:r>
                    </a:p>
                  </a:txBody>
                  <a:tcPr>
                    <a:solidFill>
                      <a:srgbClr val="FFFFFF"/>
                    </a:solidFill>
                  </a:tcPr>
                </a:tc>
                <a:tc>
                  <a:txBody>
                    <a:bodyPr/>
                    <a:lstStyle/>
                    <a:p>
                      <a:r>
                        <a:rPr sz="1200" b="0" i="0">
                          <a:solidFill>
                            <a:srgbClr val="1B2330"/>
                          </a:solidFill>
                          <a:latin typeface="Montserrat"/>
                        </a:rPr>
                        <a:t>0,48</a:t>
                      </a:r>
                    </a:p>
                  </a:txBody>
                  <a:tcPr>
                    <a:solidFill>
                      <a:srgbClr val="FFFFFF"/>
                    </a:solidFill>
                  </a:tcPr>
                </a:tc>
              </a:tr>
              <a:tr h="236668">
                <a:tc>
                  <a:txBody>
                    <a:bodyPr/>
                    <a:lstStyle/>
                    <a:p>
                      <a:r>
                        <a:rPr sz="1200" b="0" i="0">
                          <a:solidFill>
                            <a:srgbClr val="1B2330"/>
                          </a:solidFill>
                          <a:latin typeface="Montserrat"/>
                        </a:rPr>
                        <a:t>13</a:t>
                      </a:r>
                    </a:p>
                  </a:txBody>
                  <a:tcPr>
                    <a:solidFill>
                      <a:srgbClr val="F6F8FC"/>
                    </a:solidFill>
                  </a:tcPr>
                </a:tc>
                <a:tc>
                  <a:txBody>
                    <a:bodyPr/>
                    <a:lstStyle/>
                    <a:p>
                      <a:r>
                        <a:rPr sz="1200" b="0" i="0">
                          <a:solidFill>
                            <a:srgbClr val="1B2330"/>
                          </a:solidFill>
                          <a:latin typeface="Montserrat"/>
                        </a:rPr>
                        <a:t>0,23</a:t>
                      </a:r>
                    </a:p>
                  </a:txBody>
                  <a:tcPr>
                    <a:solidFill>
                      <a:srgbClr val="F6F8FC"/>
                    </a:solidFill>
                  </a:tcPr>
                </a:tc>
                <a:tc>
                  <a:txBody>
                    <a:bodyPr/>
                    <a:lstStyle/>
                    <a:p>
                      <a:r>
                        <a:rPr sz="1200" b="0" i="0">
                          <a:solidFill>
                            <a:srgbClr val="1B2330"/>
                          </a:solidFill>
                          <a:latin typeface="Montserrat"/>
                        </a:rPr>
                        <a:t>0,47</a:t>
                      </a:r>
                    </a:p>
                  </a:txBody>
                  <a:tcPr>
                    <a:solidFill>
                      <a:srgbClr val="F6F8FC"/>
                    </a:solidFill>
                  </a:tcPr>
                </a:tc>
              </a:tr>
              <a:tr h="236668">
                <a:tc>
                  <a:txBody>
                    <a:bodyPr/>
                    <a:lstStyle/>
                    <a:p>
                      <a:r>
                        <a:rPr sz="1200" b="0" i="0">
                          <a:solidFill>
                            <a:srgbClr val="1B2330"/>
                          </a:solidFill>
                          <a:latin typeface="Montserrat"/>
                        </a:rPr>
                        <a:t>14</a:t>
                      </a:r>
                    </a:p>
                  </a:txBody>
                  <a:tcPr>
                    <a:solidFill>
                      <a:srgbClr val="FFFFFF"/>
                    </a:solidFill>
                  </a:tcPr>
                </a:tc>
                <a:tc>
                  <a:txBody>
                    <a:bodyPr/>
                    <a:lstStyle/>
                    <a:p>
                      <a:r>
                        <a:rPr sz="1200" b="0" i="0">
                          <a:solidFill>
                            <a:srgbClr val="1B2330"/>
                          </a:solidFill>
                          <a:latin typeface="Montserrat"/>
                        </a:rPr>
                        <a:t>0,22</a:t>
                      </a:r>
                    </a:p>
                  </a:txBody>
                  <a:tcPr>
                    <a:solidFill>
                      <a:srgbClr val="FFFFFF"/>
                    </a:solidFill>
                  </a:tcPr>
                </a:tc>
                <a:tc>
                  <a:txBody>
                    <a:bodyPr/>
                    <a:lstStyle/>
                    <a:p>
                      <a:r>
                        <a:rPr sz="1200" b="0" i="0">
                          <a:solidFill>
                            <a:srgbClr val="1B2330"/>
                          </a:solidFill>
                          <a:latin typeface="Montserrat"/>
                        </a:rPr>
                        <a:t>0,46</a:t>
                      </a:r>
                    </a:p>
                  </a:txBody>
                  <a:tcPr>
                    <a:solidFill>
                      <a:srgbClr val="FFFFFF"/>
                    </a:solidFill>
                  </a:tcPr>
                </a:tc>
              </a:tr>
              <a:tr h="236668">
                <a:tc>
                  <a:txBody>
                    <a:bodyPr/>
                    <a:lstStyle/>
                    <a:p>
                      <a:r>
                        <a:rPr sz="1200" b="0" i="0">
                          <a:solidFill>
                            <a:srgbClr val="1B2330"/>
                          </a:solidFill>
                          <a:latin typeface="Montserrat"/>
                        </a:rPr>
                        <a:t>15</a:t>
                      </a:r>
                    </a:p>
                  </a:txBody>
                  <a:tcPr>
                    <a:solidFill>
                      <a:srgbClr val="F6F8FC"/>
                    </a:solidFill>
                  </a:tcPr>
                </a:tc>
                <a:tc>
                  <a:txBody>
                    <a:bodyPr/>
                    <a:lstStyle/>
                    <a:p>
                      <a:r>
                        <a:rPr sz="1200" b="0" i="0">
                          <a:solidFill>
                            <a:srgbClr val="1B2330"/>
                          </a:solidFill>
                          <a:latin typeface="Montserrat"/>
                        </a:rPr>
                        <a:t>0,21</a:t>
                      </a:r>
                    </a:p>
                  </a:txBody>
                  <a:tcPr>
                    <a:solidFill>
                      <a:srgbClr val="F6F8FC"/>
                    </a:solidFill>
                  </a:tcPr>
                </a:tc>
                <a:tc>
                  <a:txBody>
                    <a:bodyPr/>
                    <a:lstStyle/>
                    <a:p>
                      <a:r>
                        <a:rPr sz="1200" b="0" i="0">
                          <a:solidFill>
                            <a:srgbClr val="1B2330"/>
                          </a:solidFill>
                          <a:latin typeface="Montserrat"/>
                        </a:rPr>
                        <a:t>0,45</a:t>
                      </a:r>
                    </a:p>
                  </a:txBody>
                  <a:tcPr>
                    <a:solidFill>
                      <a:srgbClr val="F6F8FC"/>
                    </a:solidFill>
                  </a:tcPr>
                </a:tc>
              </a:tr>
              <a:tr h="236672">
                <a:tc>
                  <a:txBody>
                    <a:bodyPr/>
                    <a:lstStyle/>
                    <a:p>
                      <a:r>
                        <a:rPr sz="1200" b="0" i="0">
                          <a:solidFill>
                            <a:srgbClr val="1B2330"/>
                          </a:solidFill>
                          <a:latin typeface="Montserrat"/>
                        </a:rPr>
                        <a:t>16</a:t>
                      </a:r>
                    </a:p>
                  </a:txBody>
                  <a:tcPr>
                    <a:solidFill>
                      <a:srgbClr val="FFFFFF"/>
                    </a:solidFill>
                  </a:tcPr>
                </a:tc>
                <a:tc>
                  <a:txBody>
                    <a:bodyPr/>
                    <a:lstStyle/>
                    <a:p>
                      <a:r>
                        <a:rPr sz="1200" b="0" i="0">
                          <a:solidFill>
                            <a:srgbClr val="1B2330"/>
                          </a:solidFill>
                          <a:latin typeface="Montserrat"/>
                        </a:rPr>
                        <a:t>0,21</a:t>
                      </a:r>
                    </a:p>
                  </a:txBody>
                  <a:tcPr>
                    <a:solidFill>
                      <a:srgbClr val="FFFFFF"/>
                    </a:solidFill>
                  </a:tcPr>
                </a:tc>
                <a:tc>
                  <a:txBody>
                    <a:bodyPr/>
                    <a:lstStyle/>
                    <a:p>
                      <a:r>
                        <a:rPr sz="1200" b="0" i="0">
                          <a:solidFill>
                            <a:srgbClr val="1B2330"/>
                          </a:solidFill>
                          <a:latin typeface="Montserrat"/>
                        </a:rPr>
                        <a:t>0,44</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Factor de simultaneidad según el número de viviendas: S1 sin calefacción individual, S2 con calefacción. Cuantas más viviendas, más baja el factor.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040 / 041</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CERTIFICADO COMÚN · IRG-2</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Factores de simultaneidad S1 y S2 (17 viviendas en adelante)</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251460">
                <a:tc>
                  <a:txBody>
                    <a:bodyPr/>
                    <a:lstStyle/>
                    <a:p>
                      <a:r>
                        <a:rPr sz="1200" b="1" i="0">
                          <a:solidFill>
                            <a:srgbClr val="FFFFFF"/>
                          </a:solidFill>
                          <a:latin typeface="Montserrat"/>
                        </a:rPr>
                        <a:t>Núm. viviendas</a:t>
                      </a:r>
                    </a:p>
                  </a:txBody>
                  <a:tcPr>
                    <a:solidFill>
                      <a:srgbClr val="1E2761"/>
                    </a:solidFill>
                  </a:tcPr>
                </a:tc>
                <a:tc>
                  <a:txBody>
                    <a:bodyPr/>
                    <a:lstStyle/>
                    <a:p>
                      <a:r>
                        <a:rPr sz="1200" b="1" i="0">
                          <a:solidFill>
                            <a:srgbClr val="FFFFFF"/>
                          </a:solidFill>
                          <a:latin typeface="Montserrat"/>
                        </a:rPr>
                        <a:t>S1</a:t>
                      </a:r>
                    </a:p>
                  </a:txBody>
                  <a:tcPr>
                    <a:solidFill>
                      <a:srgbClr val="1E2761"/>
                    </a:solidFill>
                  </a:tcPr>
                </a:tc>
                <a:tc>
                  <a:txBody>
                    <a:bodyPr/>
                    <a:lstStyle/>
                    <a:p>
                      <a:r>
                        <a:rPr sz="1200" b="1" i="0">
                          <a:solidFill>
                            <a:srgbClr val="FFFFFF"/>
                          </a:solidFill>
                          <a:latin typeface="Montserrat"/>
                        </a:rPr>
                        <a:t>S2</a:t>
                      </a:r>
                    </a:p>
                  </a:txBody>
                  <a:tcPr>
                    <a:solidFill>
                      <a:srgbClr val="1E2761"/>
                    </a:solidFill>
                  </a:tcPr>
                </a:tc>
              </a:tr>
              <a:tr h="251460">
                <a:tc>
                  <a:txBody>
                    <a:bodyPr/>
                    <a:lstStyle/>
                    <a:p>
                      <a:r>
                        <a:rPr sz="1200" b="0" i="0">
                          <a:solidFill>
                            <a:srgbClr val="1B2330"/>
                          </a:solidFill>
                          <a:latin typeface="Montserrat"/>
                        </a:rPr>
                        <a:t>17</a:t>
                      </a:r>
                    </a:p>
                  </a:txBody>
                  <a:tcPr>
                    <a:solidFill>
                      <a:srgbClr val="F6F8FC"/>
                    </a:solidFill>
                  </a:tcPr>
                </a:tc>
                <a:tc>
                  <a:txBody>
                    <a:bodyPr/>
                    <a:lstStyle/>
                    <a:p>
                      <a:r>
                        <a:rPr sz="1200" b="0" i="0">
                          <a:solidFill>
                            <a:srgbClr val="1B2330"/>
                          </a:solidFill>
                          <a:latin typeface="Montserrat"/>
                        </a:rPr>
                        <a:t>0,20</a:t>
                      </a:r>
                    </a:p>
                  </a:txBody>
                  <a:tcPr>
                    <a:solidFill>
                      <a:srgbClr val="F6F8FC"/>
                    </a:solidFill>
                  </a:tcPr>
                </a:tc>
                <a:tc>
                  <a:txBody>
                    <a:bodyPr/>
                    <a:lstStyle/>
                    <a:p>
                      <a:r>
                        <a:rPr sz="1200" b="0" i="0">
                          <a:solidFill>
                            <a:srgbClr val="1B2330"/>
                          </a:solidFill>
                          <a:latin typeface="Montserrat"/>
                        </a:rPr>
                        <a:t>0,43</a:t>
                      </a:r>
                    </a:p>
                  </a:txBody>
                  <a:tcPr>
                    <a:solidFill>
                      <a:srgbClr val="F6F8FC"/>
                    </a:solidFill>
                  </a:tcPr>
                </a:tc>
              </a:tr>
              <a:tr h="251460">
                <a:tc>
                  <a:txBody>
                    <a:bodyPr/>
                    <a:lstStyle/>
                    <a:p>
                      <a:r>
                        <a:rPr sz="1200" b="0" i="0">
                          <a:solidFill>
                            <a:srgbClr val="1B2330"/>
                          </a:solidFill>
                          <a:latin typeface="Montserrat"/>
                        </a:rPr>
                        <a:t>18</a:t>
                      </a:r>
                    </a:p>
                  </a:txBody>
                  <a:tcPr>
                    <a:solidFill>
                      <a:srgbClr val="FFFFFF"/>
                    </a:solidFill>
                  </a:tcPr>
                </a:tc>
                <a:tc>
                  <a:txBody>
                    <a:bodyPr/>
                    <a:lstStyle/>
                    <a:p>
                      <a:r>
                        <a:rPr sz="1200" b="0" i="0">
                          <a:solidFill>
                            <a:srgbClr val="1B2330"/>
                          </a:solidFill>
                          <a:latin typeface="Montserrat"/>
                        </a:rPr>
                        <a:t>0,19</a:t>
                      </a:r>
                    </a:p>
                  </a:txBody>
                  <a:tcPr>
                    <a:solidFill>
                      <a:srgbClr val="FFFFFF"/>
                    </a:solidFill>
                  </a:tcPr>
                </a:tc>
                <a:tc>
                  <a:txBody>
                    <a:bodyPr/>
                    <a:lstStyle/>
                    <a:p>
                      <a:r>
                        <a:rPr sz="1200" b="0" i="0">
                          <a:solidFill>
                            <a:srgbClr val="1B2330"/>
                          </a:solidFill>
                          <a:latin typeface="Montserrat"/>
                        </a:rPr>
                        <a:t>0,42</a:t>
                      </a:r>
                    </a:p>
                  </a:txBody>
                  <a:tcPr>
                    <a:solidFill>
                      <a:srgbClr val="FFFFFF"/>
                    </a:solidFill>
                  </a:tcPr>
                </a:tc>
              </a:tr>
              <a:tr h="251460">
                <a:tc>
                  <a:txBody>
                    <a:bodyPr/>
                    <a:lstStyle/>
                    <a:p>
                      <a:r>
                        <a:rPr sz="1200" b="0" i="0">
                          <a:solidFill>
                            <a:srgbClr val="1B2330"/>
                          </a:solidFill>
                          <a:latin typeface="Montserrat"/>
                        </a:rPr>
                        <a:t>19</a:t>
                      </a:r>
                    </a:p>
                  </a:txBody>
                  <a:tcPr>
                    <a:solidFill>
                      <a:srgbClr val="F6F8FC"/>
                    </a:solidFill>
                  </a:tcPr>
                </a:tc>
                <a:tc>
                  <a:txBody>
                    <a:bodyPr/>
                    <a:lstStyle/>
                    <a:p>
                      <a:r>
                        <a:rPr sz="1200" b="0" i="0">
                          <a:solidFill>
                            <a:srgbClr val="1B2330"/>
                          </a:solidFill>
                          <a:latin typeface="Montserrat"/>
                        </a:rPr>
                        <a:t>0,19</a:t>
                      </a:r>
                    </a:p>
                  </a:txBody>
                  <a:tcPr>
                    <a:solidFill>
                      <a:srgbClr val="F6F8FC"/>
                    </a:solidFill>
                  </a:tcPr>
                </a:tc>
                <a:tc>
                  <a:txBody>
                    <a:bodyPr/>
                    <a:lstStyle/>
                    <a:p>
                      <a:r>
                        <a:rPr sz="1200" b="0" i="0">
                          <a:solidFill>
                            <a:srgbClr val="1B2330"/>
                          </a:solidFill>
                          <a:latin typeface="Montserrat"/>
                        </a:rPr>
                        <a:t>0,41</a:t>
                      </a:r>
                    </a:p>
                  </a:txBody>
                  <a:tcPr>
                    <a:solidFill>
                      <a:srgbClr val="F6F8FC"/>
                    </a:solidFill>
                  </a:tcPr>
                </a:tc>
              </a:tr>
              <a:tr h="251460">
                <a:tc>
                  <a:txBody>
                    <a:bodyPr/>
                    <a:lstStyle/>
                    <a:p>
                      <a:r>
                        <a:rPr sz="1200" b="0" i="0">
                          <a:solidFill>
                            <a:srgbClr val="1B2330"/>
                          </a:solidFill>
                          <a:latin typeface="Montserrat"/>
                        </a:rPr>
                        <a:t>20</a:t>
                      </a:r>
                    </a:p>
                  </a:txBody>
                  <a:tcPr>
                    <a:solidFill>
                      <a:srgbClr val="FFFFFF"/>
                    </a:solidFill>
                  </a:tcPr>
                </a:tc>
                <a:tc>
                  <a:txBody>
                    <a:bodyPr/>
                    <a:lstStyle/>
                    <a:p>
                      <a:r>
                        <a:rPr sz="1200" b="0" i="0">
                          <a:solidFill>
                            <a:srgbClr val="1B2330"/>
                          </a:solidFill>
                          <a:latin typeface="Montserrat"/>
                        </a:rPr>
                        <a:t>0,19</a:t>
                      </a:r>
                    </a:p>
                  </a:txBody>
                  <a:tcPr>
                    <a:solidFill>
                      <a:srgbClr val="FFFFFF"/>
                    </a:solidFill>
                  </a:tcPr>
                </a:tc>
                <a:tc>
                  <a:txBody>
                    <a:bodyPr/>
                    <a:lstStyle/>
                    <a:p>
                      <a:r>
                        <a:rPr sz="1200" b="0" i="0">
                          <a:solidFill>
                            <a:srgbClr val="1B2330"/>
                          </a:solidFill>
                          <a:latin typeface="Montserrat"/>
                        </a:rPr>
                        <a:t>0,41</a:t>
                      </a:r>
                    </a:p>
                  </a:txBody>
                  <a:tcPr>
                    <a:solidFill>
                      <a:srgbClr val="FFFFFF"/>
                    </a:solidFill>
                  </a:tcPr>
                </a:tc>
              </a:tr>
              <a:tr h="251460">
                <a:tc>
                  <a:txBody>
                    <a:bodyPr/>
                    <a:lstStyle/>
                    <a:p>
                      <a:r>
                        <a:rPr sz="1200" b="0" i="0">
                          <a:solidFill>
                            <a:srgbClr val="1B2330"/>
                          </a:solidFill>
                          <a:latin typeface="Montserrat"/>
                        </a:rPr>
                        <a:t>21</a:t>
                      </a:r>
                    </a:p>
                  </a:txBody>
                  <a:tcPr>
                    <a:solidFill>
                      <a:srgbClr val="F6F8FC"/>
                    </a:solidFill>
                  </a:tcPr>
                </a:tc>
                <a:tc>
                  <a:txBody>
                    <a:bodyPr/>
                    <a:lstStyle/>
                    <a:p>
                      <a:r>
                        <a:rPr sz="1200" b="0" i="0">
                          <a:solidFill>
                            <a:srgbClr val="1B2330"/>
                          </a:solidFill>
                          <a:latin typeface="Montserrat"/>
                        </a:rPr>
                        <a:t>0,18</a:t>
                      </a:r>
                    </a:p>
                  </a:txBody>
                  <a:tcPr>
                    <a:solidFill>
                      <a:srgbClr val="F6F8FC"/>
                    </a:solidFill>
                  </a:tcPr>
                </a:tc>
                <a:tc>
                  <a:txBody>
                    <a:bodyPr/>
                    <a:lstStyle/>
                    <a:p>
                      <a:r>
                        <a:rPr sz="1200" b="0" i="0">
                          <a:solidFill>
                            <a:srgbClr val="1B2330"/>
                          </a:solidFill>
                          <a:latin typeface="Montserrat"/>
                        </a:rPr>
                        <a:t>0,40</a:t>
                      </a:r>
                    </a:p>
                  </a:txBody>
                  <a:tcPr>
                    <a:solidFill>
                      <a:srgbClr val="F6F8FC"/>
                    </a:solidFill>
                  </a:tcPr>
                </a:tc>
              </a:tr>
              <a:tr h="251460">
                <a:tc>
                  <a:txBody>
                    <a:bodyPr/>
                    <a:lstStyle/>
                    <a:p>
                      <a:r>
                        <a:rPr sz="1200" b="0" i="0">
                          <a:solidFill>
                            <a:srgbClr val="1B2330"/>
                          </a:solidFill>
                          <a:latin typeface="Montserrat"/>
                        </a:rPr>
                        <a:t>22</a:t>
                      </a:r>
                    </a:p>
                  </a:txBody>
                  <a:tcPr>
                    <a:solidFill>
                      <a:srgbClr val="FFFFFF"/>
                    </a:solidFill>
                  </a:tcPr>
                </a:tc>
                <a:tc>
                  <a:txBody>
                    <a:bodyPr/>
                    <a:lstStyle/>
                    <a:p>
                      <a:r>
                        <a:rPr sz="1200" b="0" i="0">
                          <a:solidFill>
                            <a:srgbClr val="1B2330"/>
                          </a:solidFill>
                          <a:latin typeface="Montserrat"/>
                        </a:rPr>
                        <a:t>0,18</a:t>
                      </a:r>
                    </a:p>
                  </a:txBody>
                  <a:tcPr>
                    <a:solidFill>
                      <a:srgbClr val="FFFFFF"/>
                    </a:solidFill>
                  </a:tcPr>
                </a:tc>
                <a:tc>
                  <a:txBody>
                    <a:bodyPr/>
                    <a:lstStyle/>
                    <a:p>
                      <a:r>
                        <a:rPr sz="1200" b="0" i="0">
                          <a:solidFill>
                            <a:srgbClr val="1B2330"/>
                          </a:solidFill>
                          <a:latin typeface="Montserrat"/>
                        </a:rPr>
                        <a:t>0,39</a:t>
                      </a:r>
                    </a:p>
                  </a:txBody>
                  <a:tcPr>
                    <a:solidFill>
                      <a:srgbClr val="FFFFFF"/>
                    </a:solidFill>
                  </a:tcPr>
                </a:tc>
              </a:tr>
              <a:tr h="251460">
                <a:tc>
                  <a:txBody>
                    <a:bodyPr/>
                    <a:lstStyle/>
                    <a:p>
                      <a:r>
                        <a:rPr sz="1200" b="0" i="0">
                          <a:solidFill>
                            <a:srgbClr val="1B2330"/>
                          </a:solidFill>
                          <a:latin typeface="Montserrat"/>
                        </a:rPr>
                        <a:t>23</a:t>
                      </a:r>
                    </a:p>
                  </a:txBody>
                  <a:tcPr>
                    <a:solidFill>
                      <a:srgbClr val="F6F8FC"/>
                    </a:solidFill>
                  </a:tcPr>
                </a:tc>
                <a:tc>
                  <a:txBody>
                    <a:bodyPr/>
                    <a:lstStyle/>
                    <a:p>
                      <a:r>
                        <a:rPr sz="1200" b="0" i="0">
                          <a:solidFill>
                            <a:srgbClr val="1B2330"/>
                          </a:solidFill>
                          <a:latin typeface="Montserrat"/>
                        </a:rPr>
                        <a:t>0,18</a:t>
                      </a:r>
                    </a:p>
                  </a:txBody>
                  <a:tcPr>
                    <a:solidFill>
                      <a:srgbClr val="F6F8FC"/>
                    </a:solidFill>
                  </a:tcPr>
                </a:tc>
                <a:tc>
                  <a:txBody>
                    <a:bodyPr/>
                    <a:lstStyle/>
                    <a:p>
                      <a:r>
                        <a:rPr sz="1200" b="0" i="0">
                          <a:solidFill>
                            <a:srgbClr val="1B2330"/>
                          </a:solidFill>
                          <a:latin typeface="Montserrat"/>
                        </a:rPr>
                        <a:t>0,39</a:t>
                      </a:r>
                    </a:p>
                  </a:txBody>
                  <a:tcPr>
                    <a:solidFill>
                      <a:srgbClr val="F6F8FC"/>
                    </a:solidFill>
                  </a:tcPr>
                </a:tc>
              </a:tr>
              <a:tr h="251460">
                <a:tc>
                  <a:txBody>
                    <a:bodyPr/>
                    <a:lstStyle/>
                    <a:p>
                      <a:r>
                        <a:rPr sz="1200" b="0" i="0">
                          <a:solidFill>
                            <a:srgbClr val="1B2330"/>
                          </a:solidFill>
                          <a:latin typeface="Montserrat"/>
                        </a:rPr>
                        <a:t>24</a:t>
                      </a:r>
                    </a:p>
                  </a:txBody>
                  <a:tcPr>
                    <a:solidFill>
                      <a:srgbClr val="FFFFFF"/>
                    </a:solidFill>
                  </a:tcPr>
                </a:tc>
                <a:tc>
                  <a:txBody>
                    <a:bodyPr/>
                    <a:lstStyle/>
                    <a:p>
                      <a:r>
                        <a:rPr sz="1200" b="0" i="0">
                          <a:solidFill>
                            <a:srgbClr val="1B2330"/>
                          </a:solidFill>
                          <a:latin typeface="Montserrat"/>
                        </a:rPr>
                        <a:t>0,17</a:t>
                      </a:r>
                    </a:p>
                  </a:txBody>
                  <a:tcPr>
                    <a:solidFill>
                      <a:srgbClr val="FFFFFF"/>
                    </a:solidFill>
                  </a:tcPr>
                </a:tc>
                <a:tc>
                  <a:txBody>
                    <a:bodyPr/>
                    <a:lstStyle/>
                    <a:p>
                      <a:r>
                        <a:rPr sz="1200" b="0" i="0">
                          <a:solidFill>
                            <a:srgbClr val="1B2330"/>
                          </a:solidFill>
                          <a:latin typeface="Montserrat"/>
                        </a:rPr>
                        <a:t>0,38</a:t>
                      </a:r>
                    </a:p>
                  </a:txBody>
                  <a:tcPr>
                    <a:solidFill>
                      <a:srgbClr val="FFFFFF"/>
                    </a:solidFill>
                  </a:tcPr>
                </a:tc>
              </a:tr>
              <a:tr h="251460">
                <a:tc>
                  <a:txBody>
                    <a:bodyPr/>
                    <a:lstStyle/>
                    <a:p>
                      <a:r>
                        <a:rPr sz="1200" b="0" i="0">
                          <a:solidFill>
                            <a:srgbClr val="1B2330"/>
                          </a:solidFill>
                          <a:latin typeface="Montserrat"/>
                        </a:rPr>
                        <a:t>25</a:t>
                      </a:r>
                    </a:p>
                  </a:txBody>
                  <a:tcPr>
                    <a:solidFill>
                      <a:srgbClr val="F6F8FC"/>
                    </a:solidFill>
                  </a:tcPr>
                </a:tc>
                <a:tc>
                  <a:txBody>
                    <a:bodyPr/>
                    <a:lstStyle/>
                    <a:p>
                      <a:r>
                        <a:rPr sz="1200" b="0" i="0">
                          <a:solidFill>
                            <a:srgbClr val="1B2330"/>
                          </a:solidFill>
                          <a:latin typeface="Montserrat"/>
                        </a:rPr>
                        <a:t>0,17</a:t>
                      </a:r>
                    </a:p>
                  </a:txBody>
                  <a:tcPr>
                    <a:solidFill>
                      <a:srgbClr val="F6F8FC"/>
                    </a:solidFill>
                  </a:tcPr>
                </a:tc>
                <a:tc>
                  <a:txBody>
                    <a:bodyPr/>
                    <a:lstStyle/>
                    <a:p>
                      <a:r>
                        <a:rPr sz="1200" b="0" i="0">
                          <a:solidFill>
                            <a:srgbClr val="1B2330"/>
                          </a:solidFill>
                          <a:latin typeface="Montserrat"/>
                        </a:rPr>
                        <a:t>0,38</a:t>
                      </a:r>
                    </a:p>
                  </a:txBody>
                  <a:tcPr>
                    <a:solidFill>
                      <a:srgbClr val="F6F8FC"/>
                    </a:solidFill>
                  </a:tcPr>
                </a:tc>
              </a:tr>
              <a:tr h="251460">
                <a:tc>
                  <a:txBody>
                    <a:bodyPr/>
                    <a:lstStyle/>
                    <a:p>
                      <a:r>
                        <a:rPr sz="1200" b="0" i="0">
                          <a:solidFill>
                            <a:srgbClr val="1B2330"/>
                          </a:solidFill>
                          <a:latin typeface="Montserrat"/>
                        </a:rPr>
                        <a:t>26</a:t>
                      </a:r>
                    </a:p>
                  </a:txBody>
                  <a:tcPr>
                    <a:solidFill>
                      <a:srgbClr val="FFFFFF"/>
                    </a:solidFill>
                  </a:tcPr>
                </a:tc>
                <a:tc>
                  <a:txBody>
                    <a:bodyPr/>
                    <a:lstStyle/>
                    <a:p>
                      <a:r>
                        <a:rPr sz="1200" b="0" i="0">
                          <a:solidFill>
                            <a:srgbClr val="1B2330"/>
                          </a:solidFill>
                          <a:latin typeface="Montserrat"/>
                        </a:rPr>
                        <a:t>0,17</a:t>
                      </a:r>
                    </a:p>
                  </a:txBody>
                  <a:tcPr>
                    <a:solidFill>
                      <a:srgbClr val="FFFFFF"/>
                    </a:solidFill>
                  </a:tcPr>
                </a:tc>
                <a:tc>
                  <a:txBody>
                    <a:bodyPr/>
                    <a:lstStyle/>
                    <a:p>
                      <a:r>
                        <a:rPr sz="1200" b="0" i="0">
                          <a:solidFill>
                            <a:srgbClr val="1B2330"/>
                          </a:solidFill>
                          <a:latin typeface="Montserrat"/>
                        </a:rPr>
                        <a:t>0,38</a:t>
                      </a:r>
                    </a:p>
                  </a:txBody>
                  <a:tcPr>
                    <a:solidFill>
                      <a:srgbClr val="FFFFFF"/>
                    </a:solidFill>
                  </a:tcPr>
                </a:tc>
              </a:tr>
              <a:tr h="251460">
                <a:tc>
                  <a:txBody>
                    <a:bodyPr/>
                    <a:lstStyle/>
                    <a:p>
                      <a:r>
                        <a:rPr sz="1200" b="0" i="0">
                          <a:solidFill>
                            <a:srgbClr val="1B2330"/>
                          </a:solidFill>
                          <a:latin typeface="Montserrat"/>
                        </a:rPr>
                        <a:t>27</a:t>
                      </a:r>
                    </a:p>
                  </a:txBody>
                  <a:tcPr>
                    <a:solidFill>
                      <a:srgbClr val="F6F8FC"/>
                    </a:solidFill>
                  </a:tcPr>
                </a:tc>
                <a:tc>
                  <a:txBody>
                    <a:bodyPr/>
                    <a:lstStyle/>
                    <a:p>
                      <a:r>
                        <a:rPr sz="1200" b="0" i="0">
                          <a:solidFill>
                            <a:srgbClr val="1B2330"/>
                          </a:solidFill>
                          <a:latin typeface="Montserrat"/>
                        </a:rPr>
                        <a:t>0,16</a:t>
                      </a:r>
                    </a:p>
                  </a:txBody>
                  <a:tcPr>
                    <a:solidFill>
                      <a:srgbClr val="F6F8FC"/>
                    </a:solidFill>
                  </a:tcPr>
                </a:tc>
                <a:tc>
                  <a:txBody>
                    <a:bodyPr/>
                    <a:lstStyle/>
                    <a:p>
                      <a:r>
                        <a:rPr sz="1200" b="0" i="0">
                          <a:solidFill>
                            <a:srgbClr val="1B2330"/>
                          </a:solidFill>
                          <a:latin typeface="Montserrat"/>
                        </a:rPr>
                        <a:t>0,37</a:t>
                      </a:r>
                    </a:p>
                  </a:txBody>
                  <a:tcPr>
                    <a:solidFill>
                      <a:srgbClr val="F6F8FC"/>
                    </a:solidFill>
                  </a:tcPr>
                </a:tc>
              </a:tr>
              <a:tr h="251460">
                <a:tc>
                  <a:txBody>
                    <a:bodyPr/>
                    <a:lstStyle/>
                    <a:p>
                      <a:r>
                        <a:rPr sz="1200" b="0" i="0">
                          <a:solidFill>
                            <a:srgbClr val="1B2330"/>
                          </a:solidFill>
                          <a:latin typeface="Montserrat"/>
                        </a:rPr>
                        <a:t>28</a:t>
                      </a:r>
                    </a:p>
                  </a:txBody>
                  <a:tcPr>
                    <a:solidFill>
                      <a:srgbClr val="FFFFFF"/>
                    </a:solidFill>
                  </a:tcPr>
                </a:tc>
                <a:tc>
                  <a:txBody>
                    <a:bodyPr/>
                    <a:lstStyle/>
                    <a:p>
                      <a:r>
                        <a:rPr sz="1200" b="0" i="0">
                          <a:solidFill>
                            <a:srgbClr val="1B2330"/>
                          </a:solidFill>
                          <a:latin typeface="Montserrat"/>
                        </a:rPr>
                        <a:t>0,16</a:t>
                      </a:r>
                    </a:p>
                  </a:txBody>
                  <a:tcPr>
                    <a:solidFill>
                      <a:srgbClr val="FFFFFF"/>
                    </a:solidFill>
                  </a:tcPr>
                </a:tc>
                <a:tc>
                  <a:txBody>
                    <a:bodyPr/>
                    <a:lstStyle/>
                    <a:p>
                      <a:r>
                        <a:rPr sz="1200" b="0" i="0">
                          <a:solidFill>
                            <a:srgbClr val="1B2330"/>
                          </a:solidFill>
                          <a:latin typeface="Montserrat"/>
                        </a:rPr>
                        <a:t>0,37</a:t>
                      </a:r>
                    </a:p>
                  </a:txBody>
                  <a:tcPr>
                    <a:solidFill>
                      <a:srgbClr val="FFFFFF"/>
                    </a:solidFill>
                  </a:tcPr>
                </a:tc>
              </a:tr>
              <a:tr h="251460">
                <a:tc>
                  <a:txBody>
                    <a:bodyPr/>
                    <a:lstStyle/>
                    <a:p>
                      <a:r>
                        <a:rPr sz="1200" b="0" i="0">
                          <a:solidFill>
                            <a:srgbClr val="1B2330"/>
                          </a:solidFill>
                          <a:latin typeface="Montserrat"/>
                        </a:rPr>
                        <a:t>29</a:t>
                      </a:r>
                    </a:p>
                  </a:txBody>
                  <a:tcPr>
                    <a:solidFill>
                      <a:srgbClr val="F6F8FC"/>
                    </a:solidFill>
                  </a:tcPr>
                </a:tc>
                <a:tc>
                  <a:txBody>
                    <a:bodyPr/>
                    <a:lstStyle/>
                    <a:p>
                      <a:r>
                        <a:rPr sz="1200" b="0" i="0">
                          <a:solidFill>
                            <a:srgbClr val="1B2330"/>
                          </a:solidFill>
                          <a:latin typeface="Montserrat"/>
                        </a:rPr>
                        <a:t>0,16</a:t>
                      </a:r>
                    </a:p>
                  </a:txBody>
                  <a:tcPr>
                    <a:solidFill>
                      <a:srgbClr val="F6F8FC"/>
                    </a:solidFill>
                  </a:tcPr>
                </a:tc>
                <a:tc>
                  <a:txBody>
                    <a:bodyPr/>
                    <a:lstStyle/>
                    <a:p>
                      <a:r>
                        <a:rPr sz="1200" b="0" i="0">
                          <a:solidFill>
                            <a:srgbClr val="1B2330"/>
                          </a:solidFill>
                          <a:latin typeface="Montserrat"/>
                        </a:rPr>
                        <a:t>0,36</a:t>
                      </a:r>
                    </a:p>
                  </a:txBody>
                  <a:tcPr>
                    <a:solidFill>
                      <a:srgbClr val="F6F8FC"/>
                    </a:solidFill>
                  </a:tcPr>
                </a:tc>
              </a:tr>
              <a:tr h="251460">
                <a:tc>
                  <a:txBody>
                    <a:bodyPr/>
                    <a:lstStyle/>
                    <a:p>
                      <a:r>
                        <a:rPr sz="1200" b="0" i="0">
                          <a:solidFill>
                            <a:srgbClr val="1B2330"/>
                          </a:solidFill>
                          <a:latin typeface="Montserrat"/>
                        </a:rPr>
                        <a:t>30</a:t>
                      </a:r>
                    </a:p>
                  </a:txBody>
                  <a:tcPr>
                    <a:solidFill>
                      <a:srgbClr val="FFFFFF"/>
                    </a:solidFill>
                  </a:tcPr>
                </a:tc>
                <a:tc>
                  <a:txBody>
                    <a:bodyPr/>
                    <a:lstStyle/>
                    <a:p>
                      <a:r>
                        <a:rPr sz="1200" b="0" i="0">
                          <a:solidFill>
                            <a:srgbClr val="1B2330"/>
                          </a:solidFill>
                          <a:latin typeface="Montserrat"/>
                        </a:rPr>
                        <a:t>0,16</a:t>
                      </a:r>
                    </a:p>
                  </a:txBody>
                  <a:tcPr>
                    <a:solidFill>
                      <a:srgbClr val="FFFFFF"/>
                    </a:solidFill>
                  </a:tcPr>
                </a:tc>
                <a:tc>
                  <a:txBody>
                    <a:bodyPr/>
                    <a:lstStyle/>
                    <a:p>
                      <a:r>
                        <a:rPr sz="1200" b="0" i="0">
                          <a:solidFill>
                            <a:srgbClr val="1B2330"/>
                          </a:solidFill>
                          <a:latin typeface="Montserrat"/>
                        </a:rPr>
                        <a:t>0,36</a:t>
                      </a:r>
                    </a:p>
                  </a:txBody>
                  <a:tcPr>
                    <a:solidFill>
                      <a:srgbClr val="FFFFFF"/>
                    </a:solidFill>
                  </a:tcPr>
                </a:tc>
              </a:tr>
              <a:tr h="251460">
                <a:tc>
                  <a:txBody>
                    <a:bodyPr/>
                    <a:lstStyle/>
                    <a:p>
                      <a:r>
                        <a:rPr sz="1200" b="0" i="0">
                          <a:solidFill>
                            <a:srgbClr val="1B2330"/>
                          </a:solidFill>
                          <a:latin typeface="Montserrat"/>
                        </a:rPr>
                        <a:t>Más de 30</a:t>
                      </a:r>
                    </a:p>
                  </a:txBody>
                  <a:tcPr>
                    <a:solidFill>
                      <a:srgbClr val="F6F8FC"/>
                    </a:solidFill>
                  </a:tcPr>
                </a:tc>
                <a:tc>
                  <a:txBody>
                    <a:bodyPr/>
                    <a:lstStyle/>
                    <a:p>
                      <a:r>
                        <a:rPr sz="1200" b="0" i="0">
                          <a:solidFill>
                            <a:srgbClr val="1B2330"/>
                          </a:solidFill>
                          <a:latin typeface="Montserrat"/>
                        </a:rPr>
                        <a:t>0,15</a:t>
                      </a:r>
                    </a:p>
                  </a:txBody>
                  <a:tcPr>
                    <a:solidFill>
                      <a:srgbClr val="F6F8FC"/>
                    </a:solidFill>
                  </a:tcPr>
                </a:tc>
                <a:tc>
                  <a:txBody>
                    <a:bodyPr/>
                    <a:lstStyle/>
                    <a:p>
                      <a:r>
                        <a:rPr sz="1200" b="0" i="0">
                          <a:solidFill>
                            <a:srgbClr val="1B2330"/>
                          </a:solidFill>
                          <a:latin typeface="Montserrat"/>
                        </a:rPr>
                        <a:t>0,35</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Continuación de la tabla: a partir de 30 viviendas el factor se estabiliza en 0,15 (S1) y 0,35 (S2).</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das aire, sacas humos y firmas la obra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Nada de gas donde se duerme, se ducha o bajo el primer sótano</a:t>
            </a:r>
          </a:p>
          <a:p>
            <a:pPr>
              <a:spcAft>
                <a:spcPts val="1200"/>
              </a:spcAft>
            </a:pPr>
            <a:r>
              <a:rPr sz="2000" b="1" i="0">
                <a:solidFill>
                  <a:srgbClr val="F4A24C"/>
                </a:solidFill>
                <a:latin typeface="Montserrat"/>
              </a:rPr>
              <a:t>✓  </a:t>
            </a:r>
            <a:r>
              <a:rPr sz="1900" b="0" i="0">
                <a:solidFill>
                  <a:srgbClr val="FFFFFF"/>
                </a:solidFill>
                <a:latin typeface="Montserrat"/>
              </a:rPr>
              <a:t>Ventilación kW × 5 (mín. 125 cm²) y volumen kW − 8</a:t>
            </a:r>
          </a:p>
          <a:p>
            <a:pPr>
              <a:spcAft>
                <a:spcPts val="1200"/>
              </a:spcAft>
            </a:pPr>
            <a:r>
              <a:rPr sz="2000" b="1" i="0">
                <a:solidFill>
                  <a:srgbClr val="F4A24C"/>
                </a:solidFill>
                <a:latin typeface="Montserrat"/>
              </a:rPr>
              <a:t>✓  </a:t>
            </a:r>
            <a:r>
              <a:rPr sz="1900" b="0" i="0">
                <a:solidFill>
                  <a:srgbClr val="FFFFFF"/>
                </a:solidFill>
                <a:latin typeface="Montserrat"/>
              </a:rPr>
              <a:t>RITE: condensación, clase 5, estanca y a cubierta</a:t>
            </a:r>
          </a:p>
          <a:p>
            <a:pPr>
              <a:spcAft>
                <a:spcPts val="1200"/>
              </a:spcAft>
            </a:pPr>
            <a:r>
              <a:rPr sz="2000" b="1" i="0">
                <a:solidFill>
                  <a:srgbClr val="F4A24C"/>
                </a:solidFill>
                <a:latin typeface="Montserrat"/>
              </a:rPr>
              <a:t>✓  </a:t>
            </a:r>
            <a:r>
              <a:rPr sz="1900" b="0" i="0">
                <a:solidFill>
                  <a:srgbClr val="FFFFFF"/>
                </a:solidFill>
                <a:latin typeface="Montserrat"/>
              </a:rPr>
              <a:t>IRG-1, 2 y 3: la obra queda documentada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Has completado la guía de Gas a la primera. Ya haces gas… a la primera.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
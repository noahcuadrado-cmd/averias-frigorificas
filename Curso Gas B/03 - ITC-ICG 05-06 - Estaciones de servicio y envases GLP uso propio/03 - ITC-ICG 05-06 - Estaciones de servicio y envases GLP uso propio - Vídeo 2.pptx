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¿Esto va de las bombonas de butano de casa? Eso parece muy sencillo, ¿no?</a:t>
            </a:r>
          </a:p>
          <a:p>
            <a:r>
              <a:t>N2: Va de eso, sí, pero verás que de sencillo tiene poco cuando lo montas bien. Esta instrucción, la cero seis, regula las instalaciones de envases de gas licuado del petróleo, butano y propano, que alimentan una instalación receptora para uso propio, es decir, para una vivienda o un negocio. Y te aviso de una cosa: este es el vídeo de los números. Aquí salen las capacidades máximas, las distancias de seguridad a fuegos y enchufes, las condiciones de los armarios y las casetas, y la famosa prueba de estanquidad. Son datos muy preguntables. La instrucción parte en dos según el tamaño del envase: hasta quince kilos, la bombona doméstica típica, y más de quince kilos, los envases grandes. Domina esas dos tablas de distancias y tendrás medio vídeo ganado.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Dame los tres números que mandan en este vídeo.</a:t>
            </a:r>
          </a:p>
          <a:p>
            <a:r>
              <a:t>N2: Toma nota, porque estos tres son puro examen. El primero, trescientos: con bombonas pequeñas, de hasta quince kilos, el almacenamiento total no puede pasar de trescientos kilos. El segundo, mil: con envases grandes, de más de quince kilos, el tope sube a mil kilos. Y el tercero, setenta: setenta kilos es la frontera que decide si los envases grandes pueden ir dentro del local o tienen que ir fuera, en caseta. Trescientos, mil, setenta. Fíjate en la lógica: bombona pequeña, instalación pequeña; bombona grande, instalación grande; y setenta es la línea de dentro o fuera. Con esos tres números ya tienes el esqueleto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¿Cualquier bombona entra en esta instrucción, hasta el cartucho de camping?</a:t>
            </a:r>
          </a:p>
          <a:p>
            <a:r>
              <a:t>N2: No, y aquí está el primer filtro, el umbral de entrada. Esta instrucción se ocupa de los envases de gas licuado del petróleo, o sea butano y propano, cuya carga unitaria sea superior a tres kilos, y que sirvan para alimentar una instalación receptora, la de una vivienda o un negocio. La palabra clave es superior a tres kilos por envase. Por debajo de eso, los cartuchos de camping-gas o las bombonitas de menos de tres kilos, esta instrucción ni los mira. La regla mental: bombona de butano de doce kilos y medio o de propano de treinta y cinco kilos, están dentro; el cartuchito de dos kilos, fuera. Fija ese tres como la puerta de entrada.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por qué se separa según el tamaño de la bombona?</a:t>
            </a:r>
          </a:p>
          <a:p>
            <a:r>
              <a:t>N2: Porque no es lo mismo montar cuatro bombonas de butano en un patio que una batería de envases grandes de propano detrás de un restaurante. El riesgo cambia, y por eso la instrucción divide en dos mundos según la capacidad unitaria del envase, es decir, según lo que pesa cada envase por separado. Mundo uno: envases de hasta quince kilos, la bombona doméstica clásica; ahí el almacenamiento total no puede pasar de trescientos kilos. Mundo dos: envases de más de quince kilos, los industriales; ahí el tope sube a mil kilos. No mezcles nunca los dos límites: pequeño va con trescientos, grande va con mil. A partir de aquí, cada mundo tiene sus propias reglas de ubicación, ventilación y distancias, y las vamos a ver una a una.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Ese tope de trescientos kilos, ¿cómo se cuenta exactamente?</a:t>
            </a:r>
          </a:p>
          <a:p>
            <a:r>
              <a:t>N2: Con cuidado, porque aquí se cae mucha gente. La capacidad total de almacenamiento es la suma de las capacidades de todos los envases que haya, y ojo al detalle: cuentan tanto los llenos como los vacíos. ¿Por qué un vacío cuenta si no tiene gas? Por dos motivos: uno, porque un envase vacío casi nunca está del todo vacío, siempre le quedan restos de gas dentro; y dos, porque ese envase se va a rellenar, forma parte de la instalación. Así que si en un examen te dan una batería de bombonas, unas llenas y otras vacías, y te preguntan si cumple, sumas las capacidades de todas, llenas y vacías, y compruebas que no pasa de trescientos kilos. Sumar solo las llenas es el error típico.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tanta manía con los sótanos?</a:t>
            </a:r>
          </a:p>
          <a:p>
            <a:r>
              <a:t>N2: Por una propiedad física del GLP que tienes que llevar tatuada: el butano y el propano pesan más que el aire. Eso significa que si hay una fuga, el gas no sube ni se dispersa, sino que cae y se va al punto más bajo, donde se acumula formando una bolsa. Ahora piensa qué es un sótano: precisamente el punto más bajo, un agujero donde el gas se embolsa y solo espera una chispa. Por eso la instrucción prohíbe los envases en sótanos, en semisótanos, en cajas de escalera y en pasillos: son trampas para el gas pesado. La regla de oro del GLP: el gas cae, así que nada de meterlo en agujeros. Solo con autorización expresa de la Comunidad Autónoma se puede saltar esta prohibición, y no es lo normal.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los envases van fuera y la cocina dentro, ¿hay algo especial que poner?</a:t>
            </a:r>
          </a:p>
          <a:p>
            <a:r>
              <a:t>N2: Sí, tres detalles que se preguntan. Primero: cuando los envases están en el exterior, en una terraza o un patio, y los aparatos de consumo están en el interior, tiene que haber, dentro de la vivienda, una llave general de corte de gas fácilmente accesible. ¿Por qué dentro? Para que, si hueles a gas, puedas cortarlo sin salir a la terraza, que es justo donde no quieres ir si hay fuga. Segundo: dentro de la vivienda no puede haber más de dos envases conectados en batería, ni en servicio ni en reserva; cuantos más envases dentro, más gas acumulado en caso de fuga. Y tercero: los envases que llevan válvula de seguridad, estén llenos o vacíos, se colocan siempre en posición vertical, para que esa válvula funcione como debe y no suelte líquido.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los armarios de bombonas veo rejillas abajo. ¿Por qué ahí y no arriba?</a:t>
            </a:r>
          </a:p>
          <a:p>
            <a:r>
              <a:t>N2: Otra vez la misma lógica: el GLP pesa y se va al fondo. Si la fuga se acumula en la parte baja del armario, la rejilla tiene que estar abajo para que ese gas pueda escapar por su propio peso. Por eso la ventilación permanente va en la base o suelo del armario. ¿Y de qué tamaño? La superficie libre de paso tiene que ser mayor de una centésima parte, es decir, más de un uno por ciento de la superficie de la pared o el fondo del armario. Y hay una condición de forma: una dimensión no puede ser mayor del doble de la otra, lo que en cristiano significa que la rejilla debe ser más o menos cuadrada, no una ranura larguísima y finísima. Y una advertencia de obra: ningún envase puede tapar, ni siquiera en parte, esa rejilla. Una ventilación tapada es gas acumulado esperando.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¿Puedo conectar la bombona directa al aparato para ahorrarme piezas?</a:t>
            </a:r>
          </a:p>
          <a:p>
            <a:r>
              <a:t>N2: No, y esto es de los que hay que tener grabado. Entre la bombona y el aparato siempre va un regulador. ¿Por qué? Porque la bombona da una presión alta y variable, que además cambia según lo llena que esté y la temperatura, mientras que el aparato necesita una presión baja y estable para dar una llama controlada. El regulador es el que traduce esa presión alta y caprichosa en presión baja y constante. Conectar a pelo, sin regulador, es peligrosísimo: mandas al quemador una presión que no controla. La única excepción son los aparatos aprobados expresamente para funcionar a presión directa, y en ese caso la conexión se hace con canalización rígida, con tubo rígido, no flexible. Así que si alguna vez ves escrito que se pueden conectar aparatos sin regulador, es falso, salvo ese caso concreto de presión directa con tubo rígido.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cuadro de distancias me agobia. ¿Hay forma de memorizarlo?</a:t>
            </a:r>
          </a:p>
          <a:p>
            <a:r>
              <a:t>N2: Sí, ordénalo de más peligro a menos, que es de más distancia a menos. Lo que da fuego de verdad, los hogares y otras fuentes de calor, es lo más peligroso, así que lo más lejos: un metro y medio. Luego, las tomas de corriente, los enchufes, a medio metro, porque un enchufe puede chispear justo al conectar o desconectar algo. Y lo más cerca que se permite, treinta centímetros, para los hornillos, los interruptores y los conductores eléctricos. Uno y medio, medio, treinta centímetros. Y dos trampillas de reducción que caen: si pones una protección contra la radiación, una pantalla sólida y eficaz de material casi incombustible, el hogar puede acercarse de un metro y medio a medio metro, y el hornillo de treinta a diez centímetros. Ese material de la pantalla tiene una clase concreta de reacción al fuego, prácticamente incombustible.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los envases grandes, ¿qué cambia respecto a las bombonas pequeñas?</a:t>
            </a:r>
          </a:p>
          <a:p>
            <a:r>
              <a:t>N2: Sube el listón. Con envases de más de quince kilos, el almacenamiento total ya no es trescientos, sino mil kilos como máximo. Y la instalación se monta normalmente en baterías: un grupo de envases en servicio, dando gas, y otro grupo en reserva, esperando. ¿Y quién gestiona ese relevo? Un aparato llamado inversor. El inversor es listo: cuando la batería que está dando gas se vacía, cambia solo a la de reserva sin que te quedes sin suministro, y de paso hace la primera etapa de regulación de presión. Si no hay envases de reserva, ese papel de primera regulación lo hace un simple regulador. Y en el colector, el tubo donde se juntan los envases, va una válvula antirretorno, que impide que el gas se vaya para atrás hacia los envases vacíos. Además, un envase que se pueda llenar en su propio sitio pasa a regirse por la instrucción de los depósitos fijos de GLP.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¿Los envases grandes también pueden ir dentro de casa?</a:t>
            </a:r>
          </a:p>
          <a:p>
            <a:r>
              <a:t>N2: Por norma general, no: los envases de más de quince kilos van siempre en el exterior de las edificaciones, protegidos por una caseta que cumple unas condiciones que veremos enseguida. Y siguen valiendo las prohibiciones de siempre: nada de sótanos, semisótanos, cajas de escalera ni pasillos, por lo del gas que pesa y se embolsa. Además, aparece una prohibición nueva: tampoco se permiten en locales con ventilación forzada, esos que llevan extractores metiendo y sacando aire, salvo que se tomen medidas especiales, como que la ventilación sea antiexplosiva y sus conductos no pasen por otros locales, o que haya un sistema de detección de fugas que corte el gas y active los extractores. ¿Por qué? Porque un extractor moviendo una atmósfera con gas puede repartir la fuga o incluso provocar la chispa. Por defecto, quédate con: envases grandes, fuera y en caseta.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única forma de tenerlos dentro cuál es?</a:t>
            </a:r>
          </a:p>
          <a:p>
            <a:r>
              <a:t>N2: Hay una sola puerta, y es estrecha. Los envases grandes pueden ir en el interior del local únicamente si el contenido total de GLP no pasa de setenta kilos, y además el local es grande y está muy bien ventilado. En concreto: volumen superior a mil metros cúbicos, superficie mínima de ciento cincuenta metros cuadrados, huecos de ventilación con una superficie libre de al menos una quinceava parte de la superficie del local, y sirviendo cualquier abertura permanente, puertas o ventanas, que llegue a ras de suelo, otra vez porque el gas se posa abajo. Y encima, protección contra incendios: dos extintores de una eficacia concreta, veintiuno A, ciento trece B, cerca de los envases y en sitio de fácil acceso. Memoriza los setenta kilos como la frontera dentro o fuera para los envases de más de quince kilos. Si se pasa de setenta, fuera sí o sí.</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cómo tiene que ser esa caseta por dentro?</a:t>
            </a:r>
          </a:p>
          <a:p>
            <a:r>
              <a:t>N2: La caseta se construye con material casi incombustible, una clase de reacción al fuego alta. Y su secreto son dos rejillas, no una: ventila arriba y abajo. Los huecos van a menos de quince centímetros del suelo y a menos de quince centímetros del techo. ¿Por qué las dos? Abajo escapa el GLP que se posa, que es lo más importante; y arriba salen los vapores más ligeros y se favorece la corriente de aire. La superficie de esas aberturas es de al menos una décima parte de la superficie de la caseta, y de nuevo casi cuadradas, sin que una dimensión pase del doble de la otra. Y un detalle bonito: el suelo de la caseta va ligeramente inclinado hacia el exterior, para que el gas pesado resbale afuera en vez de quedarse dentro. Cuidado con un lío típico de examen: la ventilación de la caseta es una décima parte, y la del armario de las bombonas pequeñas era una centésima. No confundas la décima de la caseta con la centésima del armario. Y si la caseta se pega a la fachada, se duplica la ventilación.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segundo cuadro de distancias tiene muchas columnas. ¿Cómo lo leo sin agobio?</a:t>
            </a:r>
          </a:p>
          <a:p>
            <a:r>
              <a:t>N2: Con dos ideas y ya está. Idea una: cuanto más gas, más distancia. Por eso el cuadro separa según el contenido total, hasta setenta kilos o por encima, y cuando pasas de setenta las distancias crecen. Por ejemplo, a un hogar se está a más de metro y medio hasta setenta kilos, pero a más de tres metros por encima. Idea dos: la caseta protege, así que a veces la distancia baja. Fíjate en las alcantarillas, desagües y aberturas a sótanos: sin caseta necesitas metro y medio, pero con caseta te basta medio metro, porque la caseta ya hace de barrera y evita que el gas se cuele por esos huecos hacia abajo. En cambio, para los hogares y los motores, la caseta no rebaja nada, siguen lejos. La chuleta: más kilos, más metros; y la caseta recorta hacia desagües y sótanos, pero no hacia fuegos ni motores.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Lo de los extintores me lía. ¿Cuándo hacen falta?</a:t>
            </a:r>
          </a:p>
          <a:p>
            <a:r>
              <a:t>N2: Es fácil si separas los dos casos, porque el extintor es el mismo pero el motivo por el que se pone cambia. El extintor siempre es el mismo modelo de eficacia, veintiuno A, ciento trece B, y siempre son dos. Caso uno: cuando metes los envases en el interior del local, esa excepción de los setenta kilos que vimos, los dos extintores son obligatorios siempre, por el simple hecho de tener gas dentro. Caso dos: cuando los envases están en la caseta, los dos extintores solo hacen falta si el contenido total sobrepasa los trescientos cincuenta kilos, y se colocan en el exterior de la caseta, a mano. Resumen para no fallar: mismo extintor, distinto disparador. Interior, siempre; caseta, a partir de trescientos cincuenta kilos.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¿Cambiar una bombona tiene tanto riesgo como para venir en la norma?</a:t>
            </a:r>
          </a:p>
          <a:p>
            <a:r>
              <a:t>N2: Es el momento más peligroso de toda la instalación, y por eso tiene reglas propias. Al desacoplar un envase siempre se escapa un poquito de gas, es inevitable. Así que durante el cambio: nada de encender ni mantener ningún punto de fuego, no accionar ningún interruptor eléctrico, y ningún motor en marcha. ¿Por qué tan estricto? Porque cualquier chispa, la de un interruptor o la de un motor, con ese gas suelto en el aire, puede prender. Ahora bien, la norma se relaja si hay distancia de sobra: no hace falta tanta precaución si entre los envases y esos elementos median más de veinte metros cuando están dentro de un local, o más de diez metros cuando están fuera. Dentro se pide más distancia porque el gas no se dispersa igual. Y si los aparatos eléctricos son antiexplosivos, de esos que no dan chispa al aire, las dos precauciones eléctricas ya no hacen falta. Truco: cambiar bombona es apagarlo todo, salvo que estés muy lejos o el material sea antichispa.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estufa de butano con su bombona, ¿también lleva todo este papeleo?</a:t>
            </a:r>
          </a:p>
          <a:p>
            <a:r>
              <a:t>N2: No, y esa es la primera exclusión que tienes que conocer. Queda fuera del papeleo de puesta en servicio la instalación más sencilla que existe: un único envase de GLP de contenido igual o menor a quince kilos, conectado por tubería flexible o acoplado directamente a un solo aparato de gas móvil. Es el clásico bombona de butano más estufa móvil, o la bombona con el infiernillo. Eso se libra. Pero en cuanto haya más de un envase, o tubería fija, o varios aparatos, ya deja de estar excluido y entra el papeleo. Este límite, un envase de hasta quince kilos a un solo aparato móvil, aparece una y otra vez en el reglamento; apréndetelo como la frontera del cacharro suelto. Y para el resto, igual que la estación de servicio: las instalaciones de envases de GLP no precisan autorización administrativa previa.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 la prueba de estanquidad y qué números lleva?</a:t>
            </a:r>
          </a:p>
          <a:p>
            <a:r>
              <a:t>N2: Estanquidad significa que no se escape ni una burbuja de gas por ningún lado. Y antes de dar servicio, la empresa instaladora comprueba justo eso en las canalizaciones. Los tres números que caen fijo: se prueba a una presión de una vez y media la presión de operación, es decir, la presión normal de trabajo multiplicada por uno coma cinco, para tener margen de seguridad; se mantiene durante diez minutos; y se hace con aire, con gas inerte o con GLP en fase gaseosa. Si te dan dos veces la presión, o media hora, es falso: aquí es una vez y media y diez minutos. Además, si la prueba se hace con GLP, hay precauciones extra: prohibido fumar, evitar puntos de ignición, y algo muy de oficio, purgar y soplar las canalizaciones antes de reparar, o sea sacar todo el gas y limpiar con aire o inerte para que no quede GLP dentro cuando entre la herramienta. Con resultado positivo, la empresa instaladora emite el certificado de instalación.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aquí también hay que avisar a la Administración en quince días como en la estación?</a:t>
            </a:r>
          </a:p>
          <a:p>
            <a:r>
              <a:t>N2: Pues no, y es una diferencia fuerte que conviene tener clarísima. En la estación de servicio del vídeo anterior sí se comunicaba, en quince días hábiles. Aquí, en los envases de GLP, no es precisa ninguna comunicación a la Administración. Basta con que tanto el titular como la empresa instaladora conserven el certificado de instalación y lo tengan a mano por si la Administración lo pide. La idea: envases de GLP, ni autorización ni comunicación, pero certificado guardado. La puesta en servicio, además, se hace conjuntamente con la instalación receptora a la que alimentan. Y una última pieza, la del mantenimiento: fíjate en la palabra, aquí se habla de revisión, no de inspección. Es coherente con lo que aprendiste: como los envases no cuelgan de una red de distribución, el control se llama revisión. El titular la encarga a una empresa instaladora, coincidiendo con la revisión periódica de la instalación receptora, para no hacer dos visitas. Y otra vez se libra el único envase de menos de quince kilos con su aparato móvil.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Cierre del vídeo y del tema. ¿Me reconstruyes el hilo entero?</a:t>
            </a:r>
          </a:p>
          <a:p>
            <a:r>
              <a:t>N2: Con mucho gusto, porque si entiendes el porqué, los números se quedan solos. Todo nace de una sola idea física: el GLP pesa más que el aire, así que si fuga, cae y se embolsa abajo. De ahí sale casi todo: la prohibición de sótanos, semisótanos, escaleras y pasillos; la ventilación siempre por abajo, una centésima parte en el armario de las bombonas pequeñas y una décima en la caseta de las grandes; y el suelo de la caseta inclinado hacia fuera para que el gas resbale. Luego, los números de capacidad: bombonas de hasta quince kilos, tope trescientos; envases de más de quince, tope mil, contando siempre llenos y vacíos; y setenta kilos como la frontera para poder tenerlos dentro. Entre bombona y aparato, regulador siempre, porque la bombona da presión alta y variable y el aparato la necesita baja y estable.</a:t>
            </a:r>
          </a:p>
          <a:p>
            <a:r>
              <a:t>N1: ¿Y la parte de papeles y seguridad?</a:t>
            </a:r>
          </a:p>
          <a:p>
            <a:r>
              <a:t>N2: Ahí, tres cosas que caen. Una, la prueba de estanquidad: una vez y media la presión de operación, diez minutos, con aire, inerte o GLP en gas. Dos, el papeleo ligero: ni autorización ni comunicación, pero titular e instalador guardan el certificado de instalación; y el control periódico se llama revisión, no inspección, y va de la mano de la receptora. Y tres, el momento crítico, el cambio de bombona: apágalo todo salvo que haya mucha distancia o material antiexplosivo. En el examen esto se pregunta cruzando las dos tablas de distancias y los extintores; en la obra, es lo que decide si esa batería de bombonas es segura o es un susto esperando. Con esto has cerrado el Tema cero tres entero: de la gasolinera de gas del vídeo anterior a las bombonas de uso propio de este. Enhorabuena, hoy ya eres bastante más gasista que ayer.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2 DE 2</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Envases de GLP para uso propio</a:t>
            </a:r>
          </a:p>
          <a:p>
            <a:r>
              <a:rPr sz="2200" b="0" i="0">
                <a:solidFill>
                  <a:srgbClr val="CADCFC"/>
                </a:solidFill>
                <a:latin typeface="Montserrat"/>
              </a:rPr>
              <a:t>ITC-ICG 06 · Las bombonas «de verdad», con normativa</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03 · Reglamento · ITC-ICG 05/06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300</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kg máximos con envases ≤ 15 kg</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1.000</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kg máximos con envases &gt; 15 kg</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70</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kg: frontera dentro / fuera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¿Qué entra en esta ITC?</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Envases de GLP: butano y propano</a:t>
            </a:r>
          </a:p>
          <a:p>
            <a:pPr>
              <a:spcAft>
                <a:spcPts val="1000"/>
              </a:spcAft>
            </a:pPr>
            <a:r>
              <a:rPr sz="1600" b="1" i="0">
                <a:solidFill>
                  <a:srgbClr val="2E3A80"/>
                </a:solidFill>
                <a:latin typeface="Montserrat"/>
              </a:rPr>
              <a:t>•  </a:t>
            </a:r>
            <a:r>
              <a:rPr sz="1600" b="0" i="0">
                <a:solidFill>
                  <a:srgbClr val="1B2330"/>
                </a:solidFill>
                <a:latin typeface="Montserrat"/>
              </a:rPr>
              <a:t>Carga unitaria &gt; 3 kg</a:t>
            </a:r>
          </a:p>
          <a:p>
            <a:pPr>
              <a:spcAft>
                <a:spcPts val="1000"/>
              </a:spcAft>
            </a:pPr>
            <a:r>
              <a:rPr sz="1600" b="1" i="0">
                <a:solidFill>
                  <a:srgbClr val="2E3A80"/>
                </a:solidFill>
                <a:latin typeface="Montserrat"/>
              </a:rPr>
              <a:t>•  </a:t>
            </a:r>
            <a:r>
              <a:rPr sz="1600" b="0" i="0">
                <a:solidFill>
                  <a:srgbClr val="1B2330"/>
                </a:solidFill>
                <a:latin typeface="Montserrat"/>
              </a:rPr>
              <a:t>Alimentan una instalación receptora</a:t>
            </a:r>
          </a:p>
        </p:txBody>
      </p:sp>
      <p:sp>
        <p:nvSpPr>
          <p:cNvPr id="8" name="imgph" descr="IMGQ:row of propane gas cylinders outdoor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row of propane gas cylinders outdoors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 · DOS GRUPOS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Todo se parte por el tamaño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Envases ≤ 15 kg → tope 300 kg</a:t>
            </a:r>
          </a:p>
          <a:p>
            <a:pPr>
              <a:spcAft>
                <a:spcPts val="1000"/>
              </a:spcAft>
            </a:pPr>
            <a:r>
              <a:rPr sz="1600" b="1" i="0">
                <a:solidFill>
                  <a:srgbClr val="2E3A80"/>
                </a:solidFill>
                <a:latin typeface="Montserrat"/>
              </a:rPr>
              <a:t>•  </a:t>
            </a:r>
            <a:r>
              <a:rPr sz="1600" b="0" i="0">
                <a:solidFill>
                  <a:srgbClr val="1B2330"/>
                </a:solidFill>
                <a:latin typeface="Montserrat"/>
              </a:rPr>
              <a:t>Envases &gt; 15 kg → tope 1.000 kg</a:t>
            </a:r>
          </a:p>
          <a:p>
            <a:pPr>
              <a:spcAft>
                <a:spcPts val="1000"/>
              </a:spcAft>
            </a:pPr>
            <a:r>
              <a:rPr sz="1600" b="1" i="0">
                <a:solidFill>
                  <a:srgbClr val="2E3A80"/>
                </a:solidFill>
                <a:latin typeface="Montserrat"/>
              </a:rPr>
              <a:t>•  </a:t>
            </a:r>
            <a:r>
              <a:rPr sz="1600" b="0" i="0">
                <a:solidFill>
                  <a:srgbClr val="1B2330"/>
                </a:solidFill>
                <a:latin typeface="Montserrat"/>
              </a:rPr>
              <a:t>Cada grupo, sus propias reglas</a:t>
            </a:r>
          </a:p>
        </p:txBody>
      </p:sp>
      <p:sp>
        <p:nvSpPr>
          <p:cNvPr id="8" name="imgph" descr="IMGQ:small butane cylinder next to large propane tan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small butane cylinder next to large propane tank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2.1 · HASTA 15 KG</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tope de los 300 kg</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Suma de TODOS los envases</a:t>
            </a:r>
          </a:p>
          <a:p>
            <a:pPr>
              <a:spcAft>
                <a:spcPts val="1000"/>
              </a:spcAft>
            </a:pPr>
            <a:r>
              <a:rPr sz="1600" b="1" i="0">
                <a:solidFill>
                  <a:srgbClr val="2E3A80"/>
                </a:solidFill>
                <a:latin typeface="Montserrat"/>
              </a:rPr>
              <a:t>•  </a:t>
            </a:r>
            <a:r>
              <a:rPr sz="1600" b="0" i="0">
                <a:solidFill>
                  <a:srgbClr val="1B2330"/>
                </a:solidFill>
                <a:latin typeface="Montserrat"/>
              </a:rPr>
              <a:t>Llenos y vacíos cuentan igual</a:t>
            </a:r>
          </a:p>
          <a:p>
            <a:pPr>
              <a:spcAft>
                <a:spcPts val="1000"/>
              </a:spcAft>
            </a:pPr>
            <a:r>
              <a:rPr sz="1600" b="1" i="0">
                <a:solidFill>
                  <a:srgbClr val="2E3A80"/>
                </a:solidFill>
                <a:latin typeface="Montserrat"/>
              </a:rPr>
              <a:t>•  </a:t>
            </a:r>
            <a:r>
              <a:rPr sz="1600" b="0" i="0">
                <a:solidFill>
                  <a:srgbClr val="1B2330"/>
                </a:solidFill>
                <a:latin typeface="Montserrat"/>
              </a:rPr>
              <a:t>Máximo 300 kg en total</a:t>
            </a:r>
          </a:p>
        </p:txBody>
      </p:sp>
      <p:sp>
        <p:nvSpPr>
          <p:cNvPr id="8" name="imgph" descr="IMGQ:cluster of butane cylinders full and empty"/>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cluster of butane cylinders full and empty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2.1 · UBICACIÓN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Nada de sótanos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Prohibido en sótanos y semisótanos</a:t>
            </a:r>
          </a:p>
          <a:p>
            <a:pPr>
              <a:spcAft>
                <a:spcPts val="1000"/>
              </a:spcAft>
            </a:pPr>
            <a:r>
              <a:rPr sz="1600" b="1" i="0">
                <a:solidFill>
                  <a:srgbClr val="2E3A80"/>
                </a:solidFill>
                <a:latin typeface="Montserrat"/>
              </a:rPr>
              <a:t>•  </a:t>
            </a:r>
            <a:r>
              <a:rPr sz="1600" b="0" i="0">
                <a:solidFill>
                  <a:srgbClr val="1B2330"/>
                </a:solidFill>
                <a:latin typeface="Montserrat"/>
              </a:rPr>
              <a:t>Ni cajas de escalera ni pasillos</a:t>
            </a:r>
          </a:p>
          <a:p>
            <a:pPr>
              <a:spcAft>
                <a:spcPts val="1000"/>
              </a:spcAft>
            </a:pPr>
            <a:r>
              <a:rPr sz="1600" b="1" i="0">
                <a:solidFill>
                  <a:srgbClr val="2E3A80"/>
                </a:solidFill>
                <a:latin typeface="Montserrat"/>
              </a:rPr>
              <a:t>•  </a:t>
            </a:r>
            <a:r>
              <a:rPr sz="1600" b="0" i="0">
                <a:solidFill>
                  <a:srgbClr val="1B2330"/>
                </a:solidFill>
                <a:latin typeface="Montserrat"/>
              </a:rPr>
              <a:t>El GLP pesa y se acumula abajo</a:t>
            </a:r>
          </a:p>
        </p:txBody>
      </p:sp>
      <p:sp>
        <p:nvSpPr>
          <p:cNvPr id="8" name="imgph" descr="IMGQ:basement stairwell warning no gas cylinder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basement stairwell warning no gas cylinders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2.1 · REGLAS DE INTERIOR</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Tres reglas que caen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Llave general de corte accesible dentro</a:t>
            </a:r>
          </a:p>
          <a:p>
            <a:pPr>
              <a:spcAft>
                <a:spcPts val="1000"/>
              </a:spcAft>
            </a:pPr>
            <a:r>
              <a:rPr sz="1600" b="1" i="0">
                <a:solidFill>
                  <a:srgbClr val="2E3A80"/>
                </a:solidFill>
                <a:latin typeface="Montserrat"/>
              </a:rPr>
              <a:t>•  </a:t>
            </a:r>
            <a:r>
              <a:rPr sz="1600" b="0" i="0">
                <a:solidFill>
                  <a:srgbClr val="1B2330"/>
                </a:solidFill>
                <a:latin typeface="Montserrat"/>
              </a:rPr>
              <a:t>Máximo dos envases en batería</a:t>
            </a:r>
          </a:p>
          <a:p>
            <a:pPr>
              <a:spcAft>
                <a:spcPts val="1000"/>
              </a:spcAft>
            </a:pPr>
            <a:r>
              <a:rPr sz="1600" b="1" i="0">
                <a:solidFill>
                  <a:srgbClr val="2E3A80"/>
                </a:solidFill>
                <a:latin typeface="Montserrat"/>
              </a:rPr>
              <a:t>•  </a:t>
            </a:r>
            <a:r>
              <a:rPr sz="1600" b="0" i="0">
                <a:solidFill>
                  <a:srgbClr val="1B2330"/>
                </a:solidFill>
                <a:latin typeface="Montserrat"/>
              </a:rPr>
              <a:t>Con válvula de seguridad, siempre vertical</a:t>
            </a:r>
          </a:p>
        </p:txBody>
      </p:sp>
      <p:sp>
        <p:nvSpPr>
          <p:cNvPr id="8" name="imgph" descr="IMGQ:gas shut off valve on kitche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shut off valve on kitchen wall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2.1 ·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rejilla va abajo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Ventilación permanente en la base</a:t>
            </a:r>
          </a:p>
          <a:p>
            <a:pPr>
              <a:spcAft>
                <a:spcPts val="1000"/>
              </a:spcAft>
            </a:pPr>
            <a:r>
              <a:rPr sz="1600" b="1" i="0">
                <a:solidFill>
                  <a:srgbClr val="2E3A80"/>
                </a:solidFill>
                <a:latin typeface="Montserrat"/>
              </a:rPr>
              <a:t>•  </a:t>
            </a:r>
            <a:r>
              <a:rPr sz="1600" b="0" i="0">
                <a:solidFill>
                  <a:srgbClr val="1B2330"/>
                </a:solidFill>
                <a:latin typeface="Montserrat"/>
              </a:rPr>
              <a:t>Superficie libre &gt; 1/100 del fondo</a:t>
            </a:r>
          </a:p>
          <a:p>
            <a:pPr>
              <a:spcAft>
                <a:spcPts val="1000"/>
              </a:spcAft>
            </a:pPr>
            <a:r>
              <a:rPr sz="1600" b="1" i="0">
                <a:solidFill>
                  <a:srgbClr val="2E3A80"/>
                </a:solidFill>
                <a:latin typeface="Montserrat"/>
              </a:rPr>
              <a:t>•  </a:t>
            </a:r>
            <a:r>
              <a:rPr sz="1600" b="0" i="0">
                <a:solidFill>
                  <a:srgbClr val="1B2330"/>
                </a:solidFill>
                <a:latin typeface="Montserrat"/>
              </a:rPr>
              <a:t>Casi cuadrada; nunca tapada</a:t>
            </a:r>
          </a:p>
        </p:txBody>
      </p:sp>
      <p:sp>
        <p:nvSpPr>
          <p:cNvPr id="8" name="imgph" descr="IMGQ:ventilation grille at bottom of gas cabine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ventilation grille at bottom of gas cabinet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2.1 · REGULADOR</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Regulador siempre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Entre envase y aparato, regulador</a:t>
            </a:r>
          </a:p>
          <a:p>
            <a:pPr>
              <a:spcAft>
                <a:spcPts val="1000"/>
              </a:spcAft>
            </a:pPr>
            <a:r>
              <a:rPr sz="1600" b="1" i="0">
                <a:solidFill>
                  <a:srgbClr val="2E3A80"/>
                </a:solidFill>
                <a:latin typeface="Montserrat"/>
              </a:rPr>
              <a:t>•  </a:t>
            </a:r>
            <a:r>
              <a:rPr sz="1600" b="0" i="0">
                <a:solidFill>
                  <a:srgbClr val="1B2330"/>
                </a:solidFill>
                <a:latin typeface="Montserrat"/>
              </a:rPr>
              <a:t>Excepción: aparatos a presión directa</a:t>
            </a:r>
          </a:p>
          <a:p>
            <a:pPr>
              <a:spcAft>
                <a:spcPts val="1000"/>
              </a:spcAft>
            </a:pPr>
            <a:r>
              <a:rPr sz="1600" b="1" i="0">
                <a:solidFill>
                  <a:srgbClr val="2E3A80"/>
                </a:solidFill>
                <a:latin typeface="Montserrat"/>
              </a:rPr>
              <a:t>•  </a:t>
            </a:r>
            <a:r>
              <a:rPr sz="1600" b="0" i="0">
                <a:solidFill>
                  <a:srgbClr val="1B2330"/>
                </a:solidFill>
                <a:latin typeface="Montserrat"/>
              </a:rPr>
              <a:t>Y entonces, con tubo rígido</a:t>
            </a:r>
          </a:p>
        </p:txBody>
      </p:sp>
      <p:sp>
        <p:nvSpPr>
          <p:cNvPr id="8" name="imgph" descr="IMGQ:gas pressure regulator on cylinder valv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pressure regulator on cylinder valve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2.1 · CUADRO 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Distancias con envases ≤ 15 kg</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Hogares y fuentes de calor: 1,5 m</a:t>
            </a:r>
          </a:p>
          <a:p>
            <a:pPr>
              <a:spcAft>
                <a:spcPts val="1000"/>
              </a:spcAft>
            </a:pPr>
            <a:r>
              <a:rPr sz="1600" b="1" i="0">
                <a:solidFill>
                  <a:srgbClr val="2E3A80"/>
                </a:solidFill>
                <a:latin typeface="Montserrat"/>
              </a:rPr>
              <a:t>•  </a:t>
            </a:r>
            <a:r>
              <a:rPr sz="1600" b="0" i="0">
                <a:solidFill>
                  <a:srgbClr val="1B2330"/>
                </a:solidFill>
                <a:latin typeface="Montserrat"/>
              </a:rPr>
              <a:t>Tomas de corriente: 0,5 m</a:t>
            </a:r>
          </a:p>
          <a:p>
            <a:pPr>
              <a:spcAft>
                <a:spcPts val="1000"/>
              </a:spcAft>
            </a:pPr>
            <a:r>
              <a:rPr sz="1600" b="1" i="0">
                <a:solidFill>
                  <a:srgbClr val="2E3A80"/>
                </a:solidFill>
                <a:latin typeface="Montserrat"/>
              </a:rPr>
              <a:t>•  </a:t>
            </a:r>
            <a:r>
              <a:rPr sz="1600" b="0" i="0">
                <a:solidFill>
                  <a:srgbClr val="1B2330"/>
                </a:solidFill>
                <a:latin typeface="Montserrat"/>
              </a:rPr>
              <a:t>Hornillos, interruptores, conductores: 0,3 m</a:t>
            </a:r>
          </a:p>
          <a:p>
            <a:pPr>
              <a:spcAft>
                <a:spcPts val="1000"/>
              </a:spcAft>
            </a:pPr>
            <a:r>
              <a:rPr sz="1600" b="1" i="0">
                <a:solidFill>
                  <a:srgbClr val="2E3A80"/>
                </a:solidFill>
                <a:latin typeface="Montserrat"/>
              </a:rPr>
              <a:t>•  </a:t>
            </a:r>
            <a:r>
              <a:rPr sz="1600" b="0" i="0">
                <a:solidFill>
                  <a:srgbClr val="1B2330"/>
                </a:solidFill>
                <a:latin typeface="Montserrat"/>
              </a:rPr>
              <a:t>Con protección antirradiación, se reducen</a:t>
            </a:r>
          </a:p>
        </p:txBody>
      </p:sp>
      <p:sp>
        <p:nvSpPr>
          <p:cNvPr id="8" name="imgph" descr="IMGQ:gas cylinder near kitchen stove distanc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cylinder near kitchen stove distance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2.2 · MÁS DE 15 KG</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Envases grandes: hasta 1.000 kg</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Tope total: 1.000 kg</a:t>
            </a:r>
          </a:p>
          <a:p>
            <a:pPr>
              <a:spcAft>
                <a:spcPts val="1000"/>
              </a:spcAft>
            </a:pPr>
            <a:r>
              <a:rPr sz="1600" b="1" i="0">
                <a:solidFill>
                  <a:srgbClr val="2E3A80"/>
                </a:solidFill>
                <a:latin typeface="Montserrat"/>
              </a:rPr>
              <a:t>•  </a:t>
            </a:r>
            <a:r>
              <a:rPr sz="1600" b="0" i="0">
                <a:solidFill>
                  <a:srgbClr val="1B2330"/>
                </a:solidFill>
                <a:latin typeface="Montserrat"/>
              </a:rPr>
              <a:t>Baterías: servicio y reserva</a:t>
            </a:r>
          </a:p>
          <a:p>
            <a:pPr>
              <a:spcAft>
                <a:spcPts val="1000"/>
              </a:spcAft>
            </a:pPr>
            <a:r>
              <a:rPr sz="1600" b="1" i="0">
                <a:solidFill>
                  <a:srgbClr val="2E3A80"/>
                </a:solidFill>
                <a:latin typeface="Montserrat"/>
              </a:rPr>
              <a:t>•  </a:t>
            </a:r>
            <a:r>
              <a:rPr sz="1600" b="0" i="0">
                <a:solidFill>
                  <a:srgbClr val="1B2330"/>
                </a:solidFill>
                <a:latin typeface="Montserrat"/>
              </a:rPr>
              <a:t>Inversor que cambia solo</a:t>
            </a:r>
          </a:p>
        </p:txBody>
      </p:sp>
      <p:sp>
        <p:nvSpPr>
          <p:cNvPr id="8" name="imgph" descr="IMGQ:industrial propane cylinder battery manifol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industrial propane cylinder battery manifold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2.2.2 · UBICACIÓN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Fuera y en caseta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Siempre en el exterior</a:t>
            </a:r>
          </a:p>
          <a:p>
            <a:pPr>
              <a:spcAft>
                <a:spcPts val="1000"/>
              </a:spcAft>
            </a:pPr>
            <a:r>
              <a:rPr sz="1600" b="1" i="0">
                <a:solidFill>
                  <a:srgbClr val="2E3A80"/>
                </a:solidFill>
                <a:latin typeface="Montserrat"/>
              </a:rPr>
              <a:t>•  </a:t>
            </a:r>
            <a:r>
              <a:rPr sz="1600" b="0" i="0">
                <a:solidFill>
                  <a:srgbClr val="1B2330"/>
                </a:solidFill>
                <a:latin typeface="Montserrat"/>
              </a:rPr>
              <a:t>Protegidos por una caseta</a:t>
            </a:r>
          </a:p>
          <a:p>
            <a:pPr>
              <a:spcAft>
                <a:spcPts val="1000"/>
              </a:spcAft>
            </a:pPr>
            <a:r>
              <a:rPr sz="1600" b="1" i="0">
                <a:solidFill>
                  <a:srgbClr val="2E3A80"/>
                </a:solidFill>
                <a:latin typeface="Montserrat"/>
              </a:rPr>
              <a:t>•  </a:t>
            </a:r>
            <a:r>
              <a:rPr sz="1600" b="0" i="0">
                <a:solidFill>
                  <a:srgbClr val="1B2330"/>
                </a:solidFill>
                <a:latin typeface="Montserrat"/>
              </a:rPr>
              <a:t>Nada de sótanos ni ventilación forzada</a:t>
            </a:r>
          </a:p>
        </p:txBody>
      </p:sp>
      <p:sp>
        <p:nvSpPr>
          <p:cNvPr id="8" name="imgph" descr="IMGQ:outdoor gas cylinder storage cabinet enclosur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outdoor gas cylinder storage cabinet enclosure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2.2.2 · EXCEPCIÓN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Dentro solo si ≤ 70 kg</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Contenido total ≤ 70 kg</a:t>
            </a:r>
          </a:p>
          <a:p>
            <a:pPr>
              <a:spcAft>
                <a:spcPts val="1000"/>
              </a:spcAft>
            </a:pPr>
            <a:r>
              <a:rPr sz="1600" b="1" i="0">
                <a:solidFill>
                  <a:srgbClr val="2E3A80"/>
                </a:solidFill>
                <a:latin typeface="Montserrat"/>
              </a:rPr>
              <a:t>•  </a:t>
            </a:r>
            <a:r>
              <a:rPr sz="1600" b="0" i="0">
                <a:solidFill>
                  <a:srgbClr val="1B2330"/>
                </a:solidFill>
                <a:latin typeface="Montserrat"/>
              </a:rPr>
              <a:t>Local &gt; 1.000 m3 y ≥ 150 m2</a:t>
            </a:r>
          </a:p>
          <a:p>
            <a:pPr>
              <a:spcAft>
                <a:spcPts val="1000"/>
              </a:spcAft>
            </a:pPr>
            <a:r>
              <a:rPr sz="1600" b="1" i="0">
                <a:solidFill>
                  <a:srgbClr val="2E3A80"/>
                </a:solidFill>
                <a:latin typeface="Montserrat"/>
              </a:rPr>
              <a:t>•  </a:t>
            </a:r>
            <a:r>
              <a:rPr sz="1600" b="0" i="0">
                <a:solidFill>
                  <a:srgbClr val="1B2330"/>
                </a:solidFill>
                <a:latin typeface="Montserrat"/>
              </a:rPr>
              <a:t>Ventilación 1/15 a ras de suelo</a:t>
            </a:r>
          </a:p>
          <a:p>
            <a:pPr>
              <a:spcAft>
                <a:spcPts val="1000"/>
              </a:spcAft>
            </a:pPr>
            <a:r>
              <a:rPr sz="1600" b="1" i="0">
                <a:solidFill>
                  <a:srgbClr val="2E3A80"/>
                </a:solidFill>
                <a:latin typeface="Montserrat"/>
              </a:rPr>
              <a:t>•  </a:t>
            </a:r>
            <a:r>
              <a:rPr sz="1600" b="0" i="0">
                <a:solidFill>
                  <a:srgbClr val="1B2330"/>
                </a:solidFill>
                <a:latin typeface="Montserrat"/>
              </a:rPr>
              <a:t>Dos extintores 21A-113B</a:t>
            </a:r>
          </a:p>
        </p:txBody>
      </p:sp>
      <p:sp>
        <p:nvSpPr>
          <p:cNvPr id="8" name="imgph" descr="IMGQ:large industrial hall with ventilation opening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large industrial hall with ventilation openings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2.2.3 · LA CASETA</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Dos rejillas y suelo en pendiente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Material A2-s3,d0 (casi incombustible)</a:t>
            </a:r>
          </a:p>
          <a:p>
            <a:pPr>
              <a:spcAft>
                <a:spcPts val="1000"/>
              </a:spcAft>
            </a:pPr>
            <a:r>
              <a:rPr sz="1600" b="1" i="0">
                <a:solidFill>
                  <a:srgbClr val="2E3A80"/>
                </a:solidFill>
                <a:latin typeface="Montserrat"/>
              </a:rPr>
              <a:t>•  </a:t>
            </a:r>
            <a:r>
              <a:rPr sz="1600" b="0" i="0">
                <a:solidFill>
                  <a:srgbClr val="1B2330"/>
                </a:solidFill>
                <a:latin typeface="Montserrat"/>
              </a:rPr>
              <a:t>Ventilación arriba y abajo</a:t>
            </a:r>
          </a:p>
          <a:p>
            <a:pPr>
              <a:spcAft>
                <a:spcPts val="1000"/>
              </a:spcAft>
            </a:pPr>
            <a:r>
              <a:rPr sz="1600" b="1" i="0">
                <a:solidFill>
                  <a:srgbClr val="2E3A80"/>
                </a:solidFill>
                <a:latin typeface="Montserrat"/>
              </a:rPr>
              <a:t>•  </a:t>
            </a:r>
            <a:r>
              <a:rPr sz="1600" b="0" i="0">
                <a:solidFill>
                  <a:srgbClr val="1B2330"/>
                </a:solidFill>
                <a:latin typeface="Montserrat"/>
              </a:rPr>
              <a:t>Superficie 1/10; suelo inclinado hacia fuera</a:t>
            </a:r>
          </a:p>
        </p:txBody>
      </p:sp>
      <p:sp>
        <p:nvSpPr>
          <p:cNvPr id="8" name="imgph" descr="IMGQ:outdoor gas cylinder shelter with vents top and bottom"/>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outdoor gas cylinder shelter with vents top and bottom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2.2.3 · CUADRO 2</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Más kilos, más metros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A más GLP, más distancia</a:t>
            </a:r>
          </a:p>
          <a:p>
            <a:pPr>
              <a:spcAft>
                <a:spcPts val="1000"/>
              </a:spcAft>
            </a:pPr>
            <a:r>
              <a:rPr sz="1600" b="1" i="0">
                <a:solidFill>
                  <a:srgbClr val="2E3A80"/>
                </a:solidFill>
                <a:latin typeface="Montserrat"/>
              </a:rPr>
              <a:t>•  </a:t>
            </a:r>
            <a:r>
              <a:rPr sz="1600" b="0" i="0">
                <a:solidFill>
                  <a:srgbClr val="1B2330"/>
                </a:solidFill>
                <a:latin typeface="Montserrat"/>
              </a:rPr>
              <a:t>La caseta puede recortar distancias</a:t>
            </a:r>
          </a:p>
          <a:p>
            <a:pPr>
              <a:spcAft>
                <a:spcPts val="1000"/>
              </a:spcAft>
            </a:pPr>
            <a:r>
              <a:rPr sz="1600" b="1" i="0">
                <a:solidFill>
                  <a:srgbClr val="2E3A80"/>
                </a:solidFill>
                <a:latin typeface="Montserrat"/>
              </a:rPr>
              <a:t>•  </a:t>
            </a:r>
            <a:r>
              <a:rPr sz="1600" b="0" i="0">
                <a:solidFill>
                  <a:srgbClr val="1B2330"/>
                </a:solidFill>
                <a:latin typeface="Montserrat"/>
              </a:rPr>
              <a:t>Hogares y motores: no rebajan</a:t>
            </a:r>
          </a:p>
        </p:txBody>
      </p:sp>
      <p:sp>
        <p:nvSpPr>
          <p:cNvPr id="8" name="imgph" descr="IMGQ:gas caseta enclosure next to building drai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caseta enclosure next to building drain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2.2 · EXTINTORES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Mismo extintor, distinto disparador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Extintores 21A-113B, dos unidades</a:t>
            </a:r>
          </a:p>
          <a:p>
            <a:pPr>
              <a:spcAft>
                <a:spcPts val="1000"/>
              </a:spcAft>
            </a:pPr>
            <a:r>
              <a:rPr sz="1600" b="1" i="0">
                <a:solidFill>
                  <a:srgbClr val="2E3A80"/>
                </a:solidFill>
                <a:latin typeface="Montserrat"/>
              </a:rPr>
              <a:t>•  </a:t>
            </a:r>
            <a:r>
              <a:rPr sz="1600" b="0" i="0">
                <a:solidFill>
                  <a:srgbClr val="1B2330"/>
                </a:solidFill>
                <a:latin typeface="Montserrat"/>
              </a:rPr>
              <a:t>Interior del local: siempre</a:t>
            </a:r>
          </a:p>
          <a:p>
            <a:pPr>
              <a:spcAft>
                <a:spcPts val="1000"/>
              </a:spcAft>
            </a:pPr>
            <a:r>
              <a:rPr sz="1600" b="1" i="0">
                <a:solidFill>
                  <a:srgbClr val="2E3A80"/>
                </a:solidFill>
                <a:latin typeface="Montserrat"/>
              </a:rPr>
              <a:t>•  </a:t>
            </a:r>
            <a:r>
              <a:rPr sz="1600" b="0" i="0">
                <a:solidFill>
                  <a:srgbClr val="1B2330"/>
                </a:solidFill>
                <a:latin typeface="Montserrat"/>
              </a:rPr>
              <a:t>En caseta: al superar 350 kg</a:t>
            </a:r>
          </a:p>
        </p:txBody>
      </p:sp>
      <p:sp>
        <p:nvSpPr>
          <p:cNvPr id="8" name="imgph" descr="IMGQ:two fire extinguishers mounted on wall outdoo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two fire extinguishers mounted on wall outdoor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2.2.4 · CAMBIO DE ENVASES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momento más peligroso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Ni fuego, ni interruptores, ni motores</a:t>
            </a:r>
          </a:p>
          <a:p>
            <a:pPr>
              <a:spcAft>
                <a:spcPts val="1000"/>
              </a:spcAft>
            </a:pPr>
            <a:r>
              <a:rPr sz="1600" b="1" i="0">
                <a:solidFill>
                  <a:srgbClr val="2E3A80"/>
                </a:solidFill>
                <a:latin typeface="Montserrat"/>
              </a:rPr>
              <a:t>•  </a:t>
            </a:r>
            <a:r>
              <a:rPr sz="1600" b="0" i="0">
                <a:solidFill>
                  <a:srgbClr val="1B2330"/>
                </a:solidFill>
                <a:latin typeface="Montserrat"/>
              </a:rPr>
              <a:t>Se relaja si hay mucha distancia</a:t>
            </a:r>
          </a:p>
          <a:p>
            <a:pPr>
              <a:spcAft>
                <a:spcPts val="1000"/>
              </a:spcAft>
            </a:pPr>
            <a:r>
              <a:rPr sz="1600" b="1" i="0">
                <a:solidFill>
                  <a:srgbClr val="2E3A80"/>
                </a:solidFill>
                <a:latin typeface="Montserrat"/>
              </a:rPr>
              <a:t>•  </a:t>
            </a:r>
            <a:r>
              <a:rPr sz="1600" b="0" i="0">
                <a:solidFill>
                  <a:srgbClr val="1B2330"/>
                </a:solidFill>
                <a:latin typeface="Montserrat"/>
              </a:rPr>
              <a:t>20 m dentro · 10 m fuera</a:t>
            </a:r>
          </a:p>
        </p:txBody>
      </p:sp>
      <p:sp>
        <p:nvSpPr>
          <p:cNvPr id="8" name="imgph" descr="IMGQ:worker changing a propane cylinder connec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worker changing a propane cylinder connection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 · PAPELEO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Se libra el cacharro suelto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Excluido: un envase ≤ 15 kg</a:t>
            </a:r>
          </a:p>
          <a:p>
            <a:pPr>
              <a:spcAft>
                <a:spcPts val="1000"/>
              </a:spcAft>
            </a:pPr>
            <a:r>
              <a:rPr sz="1600" b="1" i="0">
                <a:solidFill>
                  <a:srgbClr val="2E3A80"/>
                </a:solidFill>
                <a:latin typeface="Montserrat"/>
              </a:rPr>
              <a:t>•  </a:t>
            </a:r>
            <a:r>
              <a:rPr sz="1600" b="0" i="0">
                <a:solidFill>
                  <a:srgbClr val="1B2330"/>
                </a:solidFill>
                <a:latin typeface="Montserrat"/>
              </a:rPr>
              <a:t>A un solo aparato móvil</a:t>
            </a:r>
          </a:p>
          <a:p>
            <a:pPr>
              <a:spcAft>
                <a:spcPts val="1000"/>
              </a:spcAft>
            </a:pPr>
            <a:r>
              <a:rPr sz="1600" b="1" i="0">
                <a:solidFill>
                  <a:srgbClr val="2E3A80"/>
                </a:solidFill>
                <a:latin typeface="Montserrat"/>
              </a:rPr>
              <a:t>•  </a:t>
            </a:r>
            <a:r>
              <a:rPr sz="1600" b="0" i="0">
                <a:solidFill>
                  <a:srgbClr val="1B2330"/>
                </a:solidFill>
                <a:latin typeface="Montserrat"/>
              </a:rPr>
              <a:t>No precisa autorización previa</a:t>
            </a:r>
          </a:p>
        </p:txBody>
      </p:sp>
      <p:sp>
        <p:nvSpPr>
          <p:cNvPr id="8" name="imgph" descr="IMGQ:portable gas heater with single butane cylind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portable gas heater with single butane cylinder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3.3 · PRUEBAS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prueba de estanquidad</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1,5 veces la presión de operación</a:t>
            </a:r>
          </a:p>
          <a:p>
            <a:pPr>
              <a:spcAft>
                <a:spcPts val="1000"/>
              </a:spcAft>
            </a:pPr>
            <a:r>
              <a:rPr sz="1600" b="1" i="0">
                <a:solidFill>
                  <a:srgbClr val="2E3A80"/>
                </a:solidFill>
                <a:latin typeface="Montserrat"/>
              </a:rPr>
              <a:t>•  </a:t>
            </a:r>
            <a:r>
              <a:rPr sz="1600" b="0" i="0">
                <a:solidFill>
                  <a:srgbClr val="1B2330"/>
                </a:solidFill>
                <a:latin typeface="Montserrat"/>
              </a:rPr>
              <a:t>Durante 10 minutos</a:t>
            </a:r>
          </a:p>
          <a:p>
            <a:pPr>
              <a:spcAft>
                <a:spcPts val="1000"/>
              </a:spcAft>
            </a:pPr>
            <a:r>
              <a:rPr sz="1600" b="1" i="0">
                <a:solidFill>
                  <a:srgbClr val="2E3A80"/>
                </a:solidFill>
                <a:latin typeface="Montserrat"/>
              </a:rPr>
              <a:t>•  </a:t>
            </a:r>
            <a:r>
              <a:rPr sz="1600" b="0" i="0">
                <a:solidFill>
                  <a:srgbClr val="1B2330"/>
                </a:solidFill>
                <a:latin typeface="Montserrat"/>
              </a:rPr>
              <a:t>Aire, gas inerte o GLP en fase gas</a:t>
            </a:r>
          </a:p>
        </p:txBody>
      </p:sp>
      <p:sp>
        <p:nvSpPr>
          <p:cNvPr id="8" name="imgph" descr="IMGQ:pressure gauge testing gas pipe install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pressure gauge testing gas pipe installation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03 · ITC-ICG 06 · Envases de GLP para uso propio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APARTADOS 3-4 · CIERRE DEL CICLO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Sin comunicación, y revisión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Sin autorización ni comunicación</a:t>
            </a:r>
          </a:p>
          <a:p>
            <a:pPr>
              <a:spcAft>
                <a:spcPts val="1000"/>
              </a:spcAft>
            </a:pPr>
            <a:r>
              <a:rPr sz="1600" b="1" i="0">
                <a:solidFill>
                  <a:srgbClr val="2E3A80"/>
                </a:solidFill>
                <a:latin typeface="Montserrat"/>
              </a:rPr>
              <a:t>•  </a:t>
            </a:r>
            <a:r>
              <a:rPr sz="1600" b="0" i="0">
                <a:solidFill>
                  <a:srgbClr val="1B2330"/>
                </a:solidFill>
                <a:latin typeface="Montserrat"/>
              </a:rPr>
              <a:t>Guardar el certificado de instalación</a:t>
            </a:r>
          </a:p>
          <a:p>
            <a:pPr>
              <a:spcAft>
                <a:spcPts val="1000"/>
              </a:spcAft>
            </a:pPr>
            <a:r>
              <a:rPr sz="1600" b="1" i="0">
                <a:solidFill>
                  <a:srgbClr val="2E3A80"/>
                </a:solidFill>
                <a:latin typeface="Montserrat"/>
              </a:rPr>
              <a:t>•  </a:t>
            </a:r>
            <a:r>
              <a:rPr sz="1600" b="0" i="0">
                <a:solidFill>
                  <a:srgbClr val="1B2330"/>
                </a:solidFill>
                <a:latin typeface="Montserrat"/>
              </a:rPr>
              <a:t>Revisión (no inspección), con la receptora</a:t>
            </a:r>
          </a:p>
        </p:txBody>
      </p:sp>
      <p:sp>
        <p:nvSpPr>
          <p:cNvPr id="8" name="imgph" descr="IMGQ:installer reviewing home gas installation checklis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installer reviewing home gas installation checklist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Ya montas envases de GLP con criterio</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El GLP pesa: nada de sótanos, ventilación abajo</a:t>
            </a:r>
          </a:p>
          <a:p>
            <a:pPr>
              <a:spcAft>
                <a:spcPts val="1200"/>
              </a:spcAft>
            </a:pPr>
            <a:r>
              <a:rPr sz="2000" b="1" i="0">
                <a:solidFill>
                  <a:srgbClr val="CADCFC"/>
                </a:solidFill>
                <a:latin typeface="Montserrat"/>
              </a:rPr>
              <a:t>✓  </a:t>
            </a:r>
            <a:r>
              <a:rPr sz="1900" b="0" i="0">
                <a:solidFill>
                  <a:srgbClr val="FFFFFF"/>
                </a:solidFill>
                <a:latin typeface="Montserrat"/>
              </a:rPr>
              <a:t>300 y 1.000 kg; 70 kg decide dentro o fuera</a:t>
            </a:r>
          </a:p>
          <a:p>
            <a:pPr>
              <a:spcAft>
                <a:spcPts val="1200"/>
              </a:spcAft>
            </a:pPr>
            <a:r>
              <a:rPr sz="2000" b="1" i="0">
                <a:solidFill>
                  <a:srgbClr val="CADCFC"/>
                </a:solidFill>
                <a:latin typeface="Montserrat"/>
              </a:rPr>
              <a:t>✓  </a:t>
            </a:r>
            <a:r>
              <a:rPr sz="1900" b="0" i="0">
                <a:solidFill>
                  <a:srgbClr val="FFFFFF"/>
                </a:solidFill>
                <a:latin typeface="Montserrat"/>
              </a:rPr>
              <a:t>Regulador siempre; estanquidad 1,5× y 10 min</a:t>
            </a:r>
          </a:p>
          <a:p>
            <a:pPr>
              <a:spcAft>
                <a:spcPts val="1200"/>
              </a:spcAft>
            </a:pPr>
            <a:r>
              <a:rPr sz="2000" b="1" i="0">
                <a:solidFill>
                  <a:srgbClr val="CADCFC"/>
                </a:solidFill>
                <a:latin typeface="Montserrat"/>
              </a:rPr>
              <a:t>✓  </a:t>
            </a:r>
            <a:r>
              <a:rPr sz="1900" b="0" i="0">
                <a:solidFill>
                  <a:srgbClr val="FFFFFF"/>
                </a:solidFill>
                <a:latin typeface="Montserrat"/>
              </a:rPr>
              <a:t>Ni autorización ni comunicación: certificado guardado</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Has cerrado el Tema 03. Hoy ya eres bastante más gasista que ayer.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
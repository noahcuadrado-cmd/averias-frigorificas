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eso de una «gasolinera de gas»? ¿Un coche se puede llenar de gas como si fuera gasolina?</a:t>
            </a:r>
          </a:p>
          <a:p>
            <a:r>
              <a:t>N2: Pues sí, y es más común de lo que parece: autobuses, camiones de reparto, taxis. En vez de gasolina o gasóleo, repostan gas. Y donde lo repostan es una estación de servicio, igual que la gasolinera de toda la vida, pero con gas. Esta instrucción técnica, la cero cinco, es tu manual cuando montas o amplías una de esas estaciones. Fíjate en una cosa desde ya, porque es la clave de todo el vídeo: en una estación pueden convivir hasta cuatro gases distintos, y ninguno se regula igual que otro. Vamos a ver qué instalaciones entran, qué norma manda según el gas, y toda la cadena de papeles hasta que la estación echa su primer suministro. Es corta, pero está llena de datos muy preguntables.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entrar en materia, ¿hay tres números que resuman el vídeo?</a:t>
            </a:r>
          </a:p>
          <a:p>
            <a:r>
              <a:t>N2: Sí, y si te los llevas, llevas media lección. El primero, cuatro: cuatro gases distintos pueden repostarse en una estación, y cada uno tiene su propia norma. El segundo, quince: quince días hábiles es el plazo que tienes, desde el primer llenado, para comunicar la instalación a la Administración. Ese plazo se olvida y cuesta un expediente. Y el tercero, cinco: cinco años es cada cuánto hay que hacer dos cosas obligatorias, la inspección oficial y el cambio de todas las mangueras. Cuatro, quince, cinco. Repítelos, porque van a volver.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lo que fija exactamente esta instrucción?</a:t>
            </a:r>
          </a:p>
          <a:p>
            <a:r>
              <a:t>N2: Vamos por partes. Toda instrucción técnica sirve para poner reglas concretas a algo, y esta las pone a las estaciones donde los vehículos repostan gas. En concreto, marca los requisitos técnicos esenciales, es decir, lo mínimo que tiene que cumplir la instalación, y las medidas de seguridad mínimas. Y lo hace en las tres fases de la vida de la estación: al proyectarla, o sea al dibujarla sobre el papel; al construirla; y al explotarla, que es el día a día repostando. Pero atención al matiz que lo cambia todo: solo cuando ese gas se usa como carburante para vehículos a motor. Si el gas es para calefacción o para cocinar, esta instrucción no pinta nada. Aquí hablamos de mover coches y camiones.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Has dicho cuatro gases. ¿Cuáles son y por qué tanto insistir en ellos?</a:t>
            </a:r>
          </a:p>
          <a:p>
            <a:r>
              <a:t>N2: Insisto porque es la pregunta de examen más fácil de meter la pata. Los cuatro son: gas licuado del petróleo a granel, que abreviamos GLP; gas natural comprimido, o GNC; gas natural licuado, o GNL; e hidrógeno en fase gas. Fíjate que los cuatro son gases. Ese es el truco de memoria: son los gases que mueven vehículos. ¿Y dónde está la trampa? En que a veces cuelan en la lista la gasolina o el gasóleo, que no son gases sino líquidos, y no tienen nada que ver con esta instrucción. Si en un examen ves gasolina o gasóleo metidos entre los combustibles de esta estación, es falso, sin dudarlo. Y quédate con la idea de que no son intercambiables: no puedes tratar el hidrógeno igual que el GLP, porque cada uno tiene su norma, como veremos ahora.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Vale, ¿y a qué estaciones se aplica esto? ¿A todas?</a:t>
            </a:r>
          </a:p>
          <a:p>
            <a:r>
              <a:t>N2: Se aplica a las de nueva construcción y a las ampliaciones de las que ya existen. O sea, si montas una nueva o agrandas una que había, entras de lleno. Y aquí aparece una distinción que cae en examen: acceso libre frente a acceso restringido. Acceso libre es la estación de siempre, abierta a cualquiera que pase, como una gasolinera pública. El acceso restringido tiene truco: no basta con poner una valla o un candado. Significa que solo entran un número limitado de personas que además han recibido formación específica, y todo bajo la responsabilidad del titular. Piensa en el surtidor interno de una flota de autobuses, donde solo repostan los conductores formados de la empresa. Lo importante que tienes que retener: la instrucción se aplica a las dos, libre y restringido, sin excepción.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hay algún caso pequeño que se libre de todo esto?</a:t>
            </a:r>
          </a:p>
          <a:p>
            <a:r>
              <a:t>N2: Sí, y conviene tenerlo muy claro porque distingue una estación de un simple aparato. Imagina un equipito de gas natural comprimido, de uso propio, que llena poco a poco un solo vehículo por la noche en un garaje. Si ese equipo mueve menos de diez metros cúbicos por hora y, además, no guarda gas en medio, es decir, no tiene almacenamiento intermedio, entonces no es una estación de servicio. La ley dice: eso es un aparato a gas más, colgado de la instalación receptora que le da el combustible. La regla mental que te salva: poco caudal más no acumula gas, igual a aparato, no estación. ¿Por qué importa? Porque cambia todo: si es aparato, no necesitas proyecto de estación ni inspecciones de estación. Encajarlo en el saco equivocado te cambia el papeleo entero.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Dijiste que cada gas tiene su norma. ¿Cómo sé cuál usar?</a:t>
            </a:r>
          </a:p>
          <a:p>
            <a:r>
              <a:t>N2: Muy sencillo: no la eliges tú, la elige el gas. Separa la cabeza en dos cajones. Cajón uno, el GLP: va por una norma nacional española, la UNE sesenta mil seiscientos treinta. Cajón dos, todos los demás, el gas natural comprimido, el licuado y el hidrógeno: van por el marco europeo, la directiva de combustibles alternativos y sus reglamentos de desarrollo. ¿Por qué esta separación? Porque el GLP lo tenemos regulado en casa desde hace mucho, mientras que el hidrógeno y el gas natural para vehículos son más nuevos y Europa quiso ponerlos bajo un mismo paraguas. La chuleta: GLP por su lado con norma española; el resto de gases por el lado europeo. Diseñar con la norma que no toca es la vía directa a que luego no te pase la inspección y haya que rehacer la obra.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qué pasa mientras esa norma europea todavía no manda del todo?</a:t>
            </a:r>
          </a:p>
          <a:p>
            <a:r>
              <a:t>N2: Buena pregunta, porque hay un periodo puente. Mientras la directiva europea no sea de aplicación plena, cada gas tira de una norma transitoria. Para el gas natural comprimido, la dieciséis mil novecientos veintitrés. Para el gas natural licuado, la dieciséis mil novecientos veinticuatro. Y para el hidrógeno, la diecinueve mil ochocientos ochenta guion uno. Te doy el truco que las fija sin esfuerzo: las dos del gas natural van pegadas, veintitrés y veinticuatro, una detrás de otra, comprimido y licuado. Y el hidrógeno se va aparte, con un número muy distinto. Así, cuando en el examen te den una norma para un gas, compruebas: ¿son las gemelas veintitrés y veinticuatro? Entonces es gas natural. ¿Es la del hidrógeno? Va sola.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Para montar la estación, ¿hay que pedir permiso a la Administración antes?</a:t>
            </a:r>
          </a:p>
          <a:p>
            <a:r>
              <a:t>N2: Aquí funciona la lógica de siempre en gas, y conviene que la interiorices porque se repite en todo el reglamento. No se pide permiso antes, se avisa después. O sea, la estación no precisa autorización administrativa previa: construyes cumpliendo la norma y luego comunicas. No confundas autorización, que sería permiso por adelantado, con comunicación, que es un aviso a toro pasado. Ahora bien, cuidado con el matiz que engaña: que no haga falta autorización no significa que valga cualquier cosa. La estación sí necesita un proyecto completo, y no una simple memoria del instalador, sino un proyecto de verdad firmado por un técnico facultativo competente, es decir, un ingeniero titulado. Es una instalación gorda, con depósitos y surtidores, así que lleva hasta planos del circuito eléctrico y un plan de emergencia.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una vez con el proyecto, ¿quién construye la estación?</a:t>
            </a:r>
          </a:p>
          <a:p>
            <a:r>
              <a:t>N2: Aquí hay un reparto de papeles muy claro, y es dato de examen. La parte de gas, es decir, las tuberías, los depósitos, los surtidores de gas, la monta obligatoriamente una empresa instaladora de gas habilitada. No un fontanero cualquiera ni el propio dueño: una empresa habilitada para gas. En cambio, todo lo demás, la obra civil, la marquesina que tapa los surtidores, la iluminación, el firme, corre por cuenta y responsabilidad del titular de la estación. ¿Por qué se separa así? Porque el gas es lo peligroso, y por eso la ley exige que solo lo toque quien está habilitado. Si en el examen te preguntan quién ejecuta la instalación de gas, la respuesta es siempre la misma: la empresa instaladora de gas.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dar gas, ¿cómo se comprueba que la estación está bien?</a:t>
            </a:r>
          </a:p>
          <a:p>
            <a:r>
              <a:t>N2: Son dos pasos, y casi siempre se preguntan juntos, así que memorízalos en orden. Primero, las pruebas: las hace el que ha montado la instalación, la empresa instaladora, supervisada por el director de obra. Es como el examen que te pones a ti mismo antes de entregar. Segundo, la inspección inicial: y esta la dirige un tercero independiente, el organismo de control, con la instaladora y el director de obra echándole una mano. La idea con la que te quedas: primero me pruebo yo, luego me examina el árbitro, que es alguien de fuera que no ha montado nada y por eso es imparcial. Y todo ello en condiciones seguras, según la norma UNE sesenta mil doscientos cincuenta. Ese orden, pruebas propias y luego inspección de un tercero, es la columna vertebral de la puesta en servicio.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todo esto salen papeles. ¿Cuántos y quién firma cada uno?</a:t>
            </a:r>
          </a:p>
          <a:p>
            <a:r>
              <a:t>N2: Salen tres certificados, y lo bonito es que cada uno lo firma justo quien ha hecho su trabajo, así que es fácil de recordar. El certificado de instalación lo firma la empresa instaladora, la que ha montado. El certificado de inspección lo firma el organismo de control, el árbitro de antes. Y el certificado de dirección de obra lo firma el director de obra. Uno hace, otro examina, otro dirige, y cada uno certifica lo suyo. Dos detalles finos que caen: el certificado de instalación se hace por triplicado, tres copias, una queda de original, otra para el titular y otra para la Comunidad Autónoma. Y el certificado de inspección es la luz verde de verdad: hasta que el organismo de control no lo emite, la estación no está en disposición de servicio. Sin ese papel, no hay gasolinera.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cuándo puede la estación echar por fin su primer gas?</a:t>
            </a:r>
          </a:p>
          <a:p>
            <a:r>
              <a:t>N2: Justo cuando aparece ese certificado de inspección del que hablábamos. En cuanto el organismo de control lo expide, la instalación pasa a estar en disposición de servicio. Ese es el momento en que el titular ya puede coger el teléfono y ponerse en contacto con el comercializador o el distribuidor para pedir el primer suministro, es decir, el primer llenado de verdad. Fíjate en el orden lógico: no se pide el gas y luego se comprueba, sino al revés: primero se comprueba todo, sale el certificado de inspección, y solo entonces se pide el gas. Tiene todo el sentido de seguridad del mundo: nadie mete carburante a presión en una instalación que aún no ha pasado el examen. Y ese primer llenado va a ser importante, porque a partir de él empieza a correr un plazo, que es lo que vemos ahora.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ese aviso a la Administración cuándo hay que darlo?</a:t>
            </a:r>
          </a:p>
          <a:p>
            <a:r>
              <a:t>N2: Aquí van dos datos calientes que se preguntan casi seguro. El plazo es de quince días hábiles, ojo, hábiles, no naturales, así que no cuentas sábados, domingos ni festivos. Y ese plazo no se cuenta desde que acabas de montar, sino desde la fecha del primer llenado, la primera vez que entra gas de verdad. Dentro de esos quince días hábiles presentas la documentación por duplicado, en dos copias, ante el órgano competente de la Comunidad Autónoma, que te devuelve una copia sellada. ¿Dónde está la trampa? En que hay otro plazo parecido en el reglamento, el general de las instalaciones receptoras, que son treinta días. No los mezcles. Para la estación de servicio, grábate esto: quince días hábiles desde el primer llenado, por duplicado. Ese es el plazo que se olvida y cuesta un expediente.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ya funcionando, ¿qué hay que hacer cada cierto tiempo?</a:t>
            </a:r>
          </a:p>
          <a:p>
            <a:r>
              <a:t>N2: El titular es el responsable de que todo esté siempre en perfecto estado, pero la ley marca dos obligaciones con la misma periodicidad, y por eso conviene tenerlas juntas: las dos son cada cinco años. Una, la inspección periódica por un organismo de control. Y dos, la sustitución de todas las mangueras de repostaje, aunque parezcan nuevas. La regla para recordarlo: cada lustro, revisión oficial y mangueras nuevas. ¿Por qué las mangueras? Porque una manguera vieja es una fuga de carburante a presión en las manos del cliente, y cambiarla a tiempo es lo que evita el fogonazo en pista. Un detalle fino que cae: en estaciones de GLP, la inspección periódica no cubre los depósitos de almacenamiento, que van por su cuenta con las reglas de los depósitos fijos de GLP. Y todo, absolutamente todo, se anota en el Libro de Mantenimiento con fecha, quién y qué: lo que no está escrito, para la inspección no existe.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fuerte. Si tuviera que quedarme con el hilo de todo el vídeo, ¿cuál es?</a:t>
            </a:r>
          </a:p>
          <a:p>
            <a:r>
              <a:t>N2: Vamos a reconstruirlo pieza a pieza, porque así se entiende y así se aprueba. Uno: esta instrucción, la cero cinco, regula la gasolinera de gas, y en ella conviven cuatro gases, GLP, gas natural comprimido, gas natural licuado e hidrógeno. Y la norma de diseño no la eliges tú, la manda el gas: GLP con norma española, el resto con marco europeo. Dos: para construirla no hace falta autorización previa, pero sí un proyecto firmado por técnico competente, y la parte de gas solo la monta una empresa instaladora habilitada. Tres, la parte que más cae: primero las pruebas que hace el instalador, luego la inspección inicial del organismo de control, y de ahí salen tres certificados, cada uno firmado por quien hizo su trabajo. El de inspección es la luz verde: sin él, no hay primer suministro.</a:t>
            </a:r>
          </a:p>
          <a:p>
            <a:r>
              <a:t>N1: ¿Y lo que más se olvida?</a:t>
            </a:r>
          </a:p>
          <a:p>
            <a:r>
              <a:t>N2: Los plazos y las periodicidades. Tras el primer llenado, quince días hábiles para comunicar por duplicado a la Comunidad Autónoma, que no es lo mismo que los treinta días de la receptora. Y ya en marcha, dos cincos innegociables: inspección cada cinco años y mangueras nuevas cada cinco años, todo anotado en el Libro de Mantenimiento. En un examen te lo van a preguntar cruzado, mezclando firmantes, plazos y normas; y en la obra, esto decide quién firma y qué entregas para que la estación abra legalmente. Si has seguido el hilo, ya lo tienes. En el siguiente vídeo bajamos de la gasolinera a algo mucho más cercano: las bombonas, los envases de GLP de uso propio, con esos números de distancias y capacidades que tanto caen.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CADCFC"/>
                </a:solidFill>
                <a:latin typeface="Montserrat"/>
              </a:rPr>
              <a:t>VÍDEO 1 DE 2</a:t>
            </a:r>
          </a:p>
        </p:txBody>
      </p:sp>
      <p:sp>
        <p:nvSpPr>
          <p:cNvPr id="4" name="TextBox 3"/>
          <p:cNvSpPr txBox="1"/>
          <p:nvPr/>
        </p:nvSpPr>
        <p:spPr>
          <a:xfrm>
            <a:off x="822960" y="2194560"/>
            <a:ext cx="10515600" cy="2011680"/>
          </a:xfrm>
          <a:prstGeom prst="rect">
            <a:avLst/>
          </a:prstGeom>
          <a:noFill/>
        </p:spPr>
        <p:txBody>
          <a:bodyPr wrap="square">
            <a:spAutoFit/>
          </a:bodyPr>
          <a:lstStyle/>
          <a:p>
            <a:r>
              <a:rPr sz="4000" b="1" i="0">
                <a:solidFill>
                  <a:srgbClr val="FFFFFF"/>
                </a:solidFill>
                <a:latin typeface="Montserrat"/>
              </a:rPr>
              <a:t>Estaciones de servicio para vehículos a gas</a:t>
            </a:r>
          </a:p>
          <a:p>
            <a:r>
              <a:rPr sz="2200" b="0" i="0">
                <a:solidFill>
                  <a:srgbClr val="CADCFC"/>
                </a:solidFill>
                <a:latin typeface="Montserrat"/>
              </a:rPr>
              <a:t>ITC-ICG 05 · La «gasolinera de gas»</a:t>
            </a:r>
          </a:p>
        </p:txBody>
      </p:sp>
      <p:sp>
        <p:nvSpPr>
          <p:cNvPr id="5" name="TextBox 4"/>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03 · Reglamento · ITC-ICG 05/06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05 · Estaciones de servicio</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1E2761"/>
                </a:solidFill>
                <a:latin typeface="Montserrat"/>
              </a:rPr>
              <a:t>Sobre este vídeo</a:t>
            </a:r>
          </a:p>
        </p:txBody>
      </p:sp>
      <p:sp>
        <p:nvSpPr>
          <p:cNvPr id="6" name="Rounded Rectangle 5"/>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4</a:t>
            </a:r>
          </a:p>
        </p:txBody>
      </p:sp>
      <p:sp>
        <p:nvSpPr>
          <p:cNvPr id="8" name="TextBox 7"/>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combustibles que puede repostar</a:t>
            </a:r>
          </a:p>
        </p:txBody>
      </p:sp>
      <p:sp>
        <p:nvSpPr>
          <p:cNvPr id="9" name="Rounded Rectangle 8"/>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15</a:t>
            </a:r>
          </a:p>
        </p:txBody>
      </p:sp>
      <p:sp>
        <p:nvSpPr>
          <p:cNvPr id="11" name="TextBox 10"/>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días hábiles para comunicar</a:t>
            </a:r>
          </a:p>
        </p:txBody>
      </p:sp>
      <p:sp>
        <p:nvSpPr>
          <p:cNvPr id="12" name="Rounded Rectangle 11"/>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5</a:t>
            </a:r>
          </a:p>
        </p:txBody>
      </p:sp>
      <p:sp>
        <p:nvSpPr>
          <p:cNvPr id="14" name="TextBox 13"/>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años entre inspecciones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05 · Estaciones de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1 · OBJETO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¿Qué regula esta ITC?</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Requisitos técnicos y de seguridad</a:t>
            </a:r>
          </a:p>
          <a:p>
            <a:pPr>
              <a:spcAft>
                <a:spcPts val="1000"/>
              </a:spcAft>
            </a:pPr>
            <a:r>
              <a:rPr sz="1600" b="1" i="0">
                <a:solidFill>
                  <a:srgbClr val="2E3A80"/>
                </a:solidFill>
                <a:latin typeface="Montserrat"/>
              </a:rPr>
              <a:t>•  </a:t>
            </a:r>
            <a:r>
              <a:rPr sz="1600" b="0" i="0">
                <a:solidFill>
                  <a:srgbClr val="1B2330"/>
                </a:solidFill>
                <a:latin typeface="Montserrat"/>
              </a:rPr>
              <a:t>Proyectar, construir y explotar</a:t>
            </a:r>
          </a:p>
          <a:p>
            <a:pPr>
              <a:spcAft>
                <a:spcPts val="1000"/>
              </a:spcAft>
            </a:pPr>
            <a:r>
              <a:rPr sz="1600" b="1" i="0">
                <a:solidFill>
                  <a:srgbClr val="2E3A80"/>
                </a:solidFill>
                <a:latin typeface="Montserrat"/>
              </a:rPr>
              <a:t>•  </a:t>
            </a:r>
            <a:r>
              <a:rPr sz="1600" b="0" i="0">
                <a:solidFill>
                  <a:srgbClr val="1B2330"/>
                </a:solidFill>
                <a:latin typeface="Montserrat"/>
              </a:rPr>
              <a:t>Gas como carburante de vehículos</a:t>
            </a:r>
          </a:p>
        </p:txBody>
      </p:sp>
      <p:sp>
        <p:nvSpPr>
          <p:cNvPr id="8" name="imgph" descr="IMGQ:gas station refueling a vehicl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station refueling a vehicle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05 · Estaciones de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1 · COMBUSTIBLES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Cuatro gases, cuatro reglas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GLP a granel</a:t>
            </a:r>
          </a:p>
          <a:p>
            <a:pPr>
              <a:spcAft>
                <a:spcPts val="1000"/>
              </a:spcAft>
            </a:pPr>
            <a:r>
              <a:rPr sz="1600" b="1" i="0">
                <a:solidFill>
                  <a:srgbClr val="2E3A80"/>
                </a:solidFill>
                <a:latin typeface="Montserrat"/>
              </a:rPr>
              <a:t>•  </a:t>
            </a:r>
            <a:r>
              <a:rPr sz="1600" b="0" i="0">
                <a:solidFill>
                  <a:srgbClr val="1B2330"/>
                </a:solidFill>
                <a:latin typeface="Montserrat"/>
              </a:rPr>
              <a:t>Gas natural comprimido (GNC)</a:t>
            </a:r>
          </a:p>
          <a:p>
            <a:pPr>
              <a:spcAft>
                <a:spcPts val="1000"/>
              </a:spcAft>
            </a:pPr>
            <a:r>
              <a:rPr sz="1600" b="1" i="0">
                <a:solidFill>
                  <a:srgbClr val="2E3A80"/>
                </a:solidFill>
                <a:latin typeface="Montserrat"/>
              </a:rPr>
              <a:t>•  </a:t>
            </a:r>
            <a:r>
              <a:rPr sz="1600" b="0" i="0">
                <a:solidFill>
                  <a:srgbClr val="1B2330"/>
                </a:solidFill>
                <a:latin typeface="Montserrat"/>
              </a:rPr>
              <a:t>Gas natural licuado (GNL)</a:t>
            </a:r>
          </a:p>
          <a:p>
            <a:pPr>
              <a:spcAft>
                <a:spcPts val="1000"/>
              </a:spcAft>
            </a:pPr>
            <a:r>
              <a:rPr sz="1600" b="1" i="0">
                <a:solidFill>
                  <a:srgbClr val="2E3A80"/>
                </a:solidFill>
                <a:latin typeface="Montserrat"/>
              </a:rPr>
              <a:t>•  </a:t>
            </a:r>
            <a:r>
              <a:rPr sz="1600" b="0" i="0">
                <a:solidFill>
                  <a:srgbClr val="1B2330"/>
                </a:solidFill>
                <a:latin typeface="Montserrat"/>
              </a:rPr>
              <a:t>Hidrógeno en fase gas</a:t>
            </a:r>
          </a:p>
        </p:txBody>
      </p:sp>
      <p:sp>
        <p:nvSpPr>
          <p:cNvPr id="8" name="imgph" descr="IMGQ:hydrogen and cng vehicle fuel pump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hydrogen and cng vehicle fuel pumps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05 · Estaciones de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 · CAMPO DE APLICACIÓN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¿A qué estaciones se aplica?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Nueva construcción y ampliaciones</a:t>
            </a:r>
          </a:p>
          <a:p>
            <a:pPr>
              <a:spcAft>
                <a:spcPts val="1000"/>
              </a:spcAft>
            </a:pPr>
            <a:r>
              <a:rPr sz="1600" b="1" i="0">
                <a:solidFill>
                  <a:srgbClr val="2E3A80"/>
                </a:solidFill>
                <a:latin typeface="Montserrat"/>
              </a:rPr>
              <a:t>•  </a:t>
            </a:r>
            <a:r>
              <a:rPr sz="1600" b="0" i="0">
                <a:solidFill>
                  <a:srgbClr val="1B2330"/>
                </a:solidFill>
                <a:latin typeface="Montserrat"/>
              </a:rPr>
              <a:t>Acceso libre: abierta al público</a:t>
            </a:r>
          </a:p>
          <a:p>
            <a:pPr>
              <a:spcAft>
                <a:spcPts val="1000"/>
              </a:spcAft>
            </a:pPr>
            <a:r>
              <a:rPr sz="1600" b="1" i="0">
                <a:solidFill>
                  <a:srgbClr val="2E3A80"/>
                </a:solidFill>
                <a:latin typeface="Montserrat"/>
              </a:rPr>
              <a:t>•  </a:t>
            </a:r>
            <a:r>
              <a:rPr sz="1600" b="0" i="0">
                <a:solidFill>
                  <a:srgbClr val="1B2330"/>
                </a:solidFill>
                <a:latin typeface="Montserrat"/>
              </a:rPr>
              <a:t>Acceso restringido: personal formado</a:t>
            </a:r>
          </a:p>
        </p:txBody>
      </p:sp>
      <p:sp>
        <p:nvSpPr>
          <p:cNvPr id="8" name="imgph" descr="IMGQ:bus fleet depot refueling sta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bus fleet depot refueling station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05 · Estaciones de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 · EXCEPCIÓN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Cuándo NO es una estación</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GNC de uso propio</a:t>
            </a:r>
          </a:p>
          <a:p>
            <a:pPr>
              <a:spcAft>
                <a:spcPts val="1000"/>
              </a:spcAft>
            </a:pPr>
            <a:r>
              <a:rPr sz="1600" b="1" i="0">
                <a:solidFill>
                  <a:srgbClr val="2E3A80"/>
                </a:solidFill>
                <a:latin typeface="Montserrat"/>
              </a:rPr>
              <a:t>•  </a:t>
            </a:r>
            <a:r>
              <a:rPr sz="1600" b="0" i="0">
                <a:solidFill>
                  <a:srgbClr val="1B2330"/>
                </a:solidFill>
                <a:latin typeface="Montserrat"/>
              </a:rPr>
              <a:t>Caudal &lt; 10 m3/h</a:t>
            </a:r>
          </a:p>
          <a:p>
            <a:pPr>
              <a:spcAft>
                <a:spcPts val="1000"/>
              </a:spcAft>
            </a:pPr>
            <a:r>
              <a:rPr sz="1600" b="1" i="0">
                <a:solidFill>
                  <a:srgbClr val="2E3A80"/>
                </a:solidFill>
                <a:latin typeface="Montserrat"/>
              </a:rPr>
              <a:t>•  </a:t>
            </a:r>
            <a:r>
              <a:rPr sz="1600" b="0" i="0">
                <a:solidFill>
                  <a:srgbClr val="1B2330"/>
                </a:solidFill>
                <a:latin typeface="Montserrat"/>
              </a:rPr>
              <a:t>Sin almacenamiento intermedio</a:t>
            </a:r>
          </a:p>
          <a:p>
            <a:pPr>
              <a:spcAft>
                <a:spcPts val="1000"/>
              </a:spcAft>
            </a:pPr>
            <a:r>
              <a:rPr sz="1600" b="1" i="0">
                <a:solidFill>
                  <a:srgbClr val="2E3A80"/>
                </a:solidFill>
                <a:latin typeface="Montserrat"/>
              </a:rPr>
              <a:t>•  </a:t>
            </a:r>
            <a:r>
              <a:rPr sz="1600" b="0" i="0">
                <a:solidFill>
                  <a:srgbClr val="1B2330"/>
                </a:solidFill>
                <a:latin typeface="Montserrat"/>
              </a:rPr>
              <a:t>Se trata como aparato a gas</a:t>
            </a:r>
          </a:p>
        </p:txBody>
      </p:sp>
      <p:sp>
        <p:nvSpPr>
          <p:cNvPr id="8" name="imgph" descr="IMGQ:small compact cng compressor unit garag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small compact cng compressor unit garage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05 · Estaciones de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3 · DISEÑO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norma la elige el gas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GLP → UNE 60630</a:t>
            </a:r>
          </a:p>
          <a:p>
            <a:pPr>
              <a:spcAft>
                <a:spcPts val="1000"/>
              </a:spcAft>
            </a:pPr>
            <a:r>
              <a:rPr sz="1600" b="1" i="0">
                <a:solidFill>
                  <a:srgbClr val="2E3A80"/>
                </a:solidFill>
                <a:latin typeface="Montserrat"/>
              </a:rPr>
              <a:t>•  </a:t>
            </a:r>
            <a:r>
              <a:rPr sz="1600" b="0" i="0">
                <a:solidFill>
                  <a:srgbClr val="1B2330"/>
                </a:solidFill>
                <a:latin typeface="Montserrat"/>
              </a:rPr>
              <a:t>GNC / GNL / H2 → Directiva europea</a:t>
            </a:r>
          </a:p>
          <a:p>
            <a:pPr>
              <a:spcAft>
                <a:spcPts val="1000"/>
              </a:spcAft>
            </a:pPr>
            <a:r>
              <a:rPr sz="1600" b="1" i="0">
                <a:solidFill>
                  <a:srgbClr val="2E3A80"/>
                </a:solidFill>
                <a:latin typeface="Montserrat"/>
              </a:rPr>
              <a:t>•  </a:t>
            </a:r>
            <a:r>
              <a:rPr sz="1600" b="0" i="0">
                <a:solidFill>
                  <a:srgbClr val="1B2330"/>
                </a:solidFill>
                <a:latin typeface="Montserrat"/>
              </a:rPr>
              <a:t>Marco de combustibles alternativos</a:t>
            </a:r>
          </a:p>
        </p:txBody>
      </p:sp>
      <p:sp>
        <p:nvSpPr>
          <p:cNvPr id="8" name="imgph" descr="IMGQ:engineer reading a technical standards bind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engineer reading a technical standards binder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05 · Estaciones de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3 · NORMAS PUENTE</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Mientras Europa no aplica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GNC → UNE-EN ISO 16923</a:t>
            </a:r>
          </a:p>
          <a:p>
            <a:pPr>
              <a:spcAft>
                <a:spcPts val="1000"/>
              </a:spcAft>
            </a:pPr>
            <a:r>
              <a:rPr sz="1600" b="1" i="0">
                <a:solidFill>
                  <a:srgbClr val="2E3A80"/>
                </a:solidFill>
                <a:latin typeface="Montserrat"/>
              </a:rPr>
              <a:t>•  </a:t>
            </a:r>
            <a:r>
              <a:rPr sz="1600" b="0" i="0">
                <a:solidFill>
                  <a:srgbClr val="1B2330"/>
                </a:solidFill>
                <a:latin typeface="Montserrat"/>
              </a:rPr>
              <a:t>GNL → UNE-EN ISO 16924</a:t>
            </a:r>
          </a:p>
          <a:p>
            <a:pPr>
              <a:spcAft>
                <a:spcPts val="1000"/>
              </a:spcAft>
            </a:pPr>
            <a:r>
              <a:rPr sz="1600" b="1" i="0">
                <a:solidFill>
                  <a:srgbClr val="2E3A80"/>
                </a:solidFill>
                <a:latin typeface="Montserrat"/>
              </a:rPr>
              <a:t>•  </a:t>
            </a:r>
            <a:r>
              <a:rPr sz="1600" b="0" i="0">
                <a:solidFill>
                  <a:srgbClr val="1B2330"/>
                </a:solidFill>
                <a:latin typeface="Montserrat"/>
              </a:rPr>
              <a:t>Hidrógeno → ISO 19880-1</a:t>
            </a:r>
          </a:p>
        </p:txBody>
      </p:sp>
      <p:sp>
        <p:nvSpPr>
          <p:cNvPr id="8" name="imgph" descr="IMGQ:lng cryogenic tank at fuel termina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lng cryogenic tank at fuel terminal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05 · Estaciones de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 · DOCUMENTACIÓN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Sin permiso previo, con proyecto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No precisa autorización administrativa</a:t>
            </a:r>
          </a:p>
          <a:p>
            <a:pPr>
              <a:spcAft>
                <a:spcPts val="1000"/>
              </a:spcAft>
            </a:pPr>
            <a:r>
              <a:rPr sz="1600" b="1" i="0">
                <a:solidFill>
                  <a:srgbClr val="2E3A80"/>
                </a:solidFill>
                <a:latin typeface="Montserrat"/>
              </a:rPr>
              <a:t>•  </a:t>
            </a:r>
            <a:r>
              <a:rPr sz="1600" b="0" i="0">
                <a:solidFill>
                  <a:srgbClr val="1B2330"/>
                </a:solidFill>
                <a:latin typeface="Montserrat"/>
              </a:rPr>
              <a:t>SÍ precisa proyecto completo</a:t>
            </a:r>
          </a:p>
          <a:p>
            <a:pPr>
              <a:spcAft>
                <a:spcPts val="1000"/>
              </a:spcAft>
            </a:pPr>
            <a:r>
              <a:rPr sz="1600" b="1" i="0">
                <a:solidFill>
                  <a:srgbClr val="2E3A80"/>
                </a:solidFill>
                <a:latin typeface="Montserrat"/>
              </a:rPr>
              <a:t>•  </a:t>
            </a:r>
            <a:r>
              <a:rPr sz="1600" b="0" i="0">
                <a:solidFill>
                  <a:srgbClr val="1B2330"/>
                </a:solidFill>
                <a:latin typeface="Montserrat"/>
              </a:rPr>
              <a:t>Firma un técnico competente</a:t>
            </a:r>
          </a:p>
        </p:txBody>
      </p:sp>
      <p:sp>
        <p:nvSpPr>
          <p:cNvPr id="8" name="imgph" descr="IMGQ:engineer signing technical drawings at desk"/>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engineer signing technical drawings at desk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05 · Estaciones de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 · EJECUCIÓN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¿Quién monta cada parte?</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Instalación de gas → empresa instaladora</a:t>
            </a:r>
          </a:p>
          <a:p>
            <a:pPr>
              <a:spcAft>
                <a:spcPts val="1000"/>
              </a:spcAft>
            </a:pPr>
            <a:r>
              <a:rPr sz="1600" b="1" i="0">
                <a:solidFill>
                  <a:srgbClr val="2E3A80"/>
                </a:solidFill>
                <a:latin typeface="Montserrat"/>
              </a:rPr>
              <a:t>•  </a:t>
            </a:r>
            <a:r>
              <a:rPr sz="1600" b="0" i="0">
                <a:solidFill>
                  <a:srgbClr val="1B2330"/>
                </a:solidFill>
                <a:latin typeface="Montserrat"/>
              </a:rPr>
              <a:t>Obra civil y demás → titular</a:t>
            </a:r>
          </a:p>
          <a:p>
            <a:pPr>
              <a:spcAft>
                <a:spcPts val="1000"/>
              </a:spcAft>
            </a:pPr>
            <a:r>
              <a:rPr sz="1600" b="1" i="0">
                <a:solidFill>
                  <a:srgbClr val="2E3A80"/>
                </a:solidFill>
                <a:latin typeface="Montserrat"/>
              </a:rPr>
              <a:t>•  </a:t>
            </a:r>
            <a:r>
              <a:rPr sz="1600" b="0" i="0">
                <a:solidFill>
                  <a:srgbClr val="1B2330"/>
                </a:solidFill>
                <a:latin typeface="Montserrat"/>
              </a:rPr>
              <a:t>Habilitada para gas, siempre</a:t>
            </a:r>
          </a:p>
        </p:txBody>
      </p:sp>
      <p:sp>
        <p:nvSpPr>
          <p:cNvPr id="8" name="imgph" descr="IMGQ:technician installing gas pipe fittings outdoo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technician installing gas pipe fittings outdoor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05 · Estaciones de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 · PUESTA EN SERVICIO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Primero pruebas, luego el árbitro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Pruebas: la empresa instaladora</a:t>
            </a:r>
          </a:p>
          <a:p>
            <a:pPr>
              <a:spcAft>
                <a:spcPts val="1000"/>
              </a:spcAft>
            </a:pPr>
            <a:r>
              <a:rPr sz="1600" b="1" i="0">
                <a:solidFill>
                  <a:srgbClr val="2E3A80"/>
                </a:solidFill>
                <a:latin typeface="Montserrat"/>
              </a:rPr>
              <a:t>•  </a:t>
            </a:r>
            <a:r>
              <a:rPr sz="1600" b="0" i="0">
                <a:solidFill>
                  <a:srgbClr val="1B2330"/>
                </a:solidFill>
                <a:latin typeface="Montserrat"/>
              </a:rPr>
              <a:t>Inspección inicial: organismo de control</a:t>
            </a:r>
          </a:p>
          <a:p>
            <a:pPr>
              <a:spcAft>
                <a:spcPts val="1000"/>
              </a:spcAft>
            </a:pPr>
            <a:r>
              <a:rPr sz="1600" b="1" i="0">
                <a:solidFill>
                  <a:srgbClr val="2E3A80"/>
                </a:solidFill>
                <a:latin typeface="Montserrat"/>
              </a:rPr>
              <a:t>•  </a:t>
            </a:r>
            <a:r>
              <a:rPr sz="1600" b="0" i="0">
                <a:solidFill>
                  <a:srgbClr val="1B2330"/>
                </a:solidFill>
                <a:latin typeface="Montserrat"/>
              </a:rPr>
              <a:t>En condiciones seguras (UNE 60250)</a:t>
            </a:r>
          </a:p>
        </p:txBody>
      </p:sp>
      <p:sp>
        <p:nvSpPr>
          <p:cNvPr id="8" name="imgph" descr="IMGQ:inspector checking gas installation valves and gauge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inspector checking gas installation valves and gauges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05 · Estaciones de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 · CERTIFICADOS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Tres papeles, tres firmas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Instalación → empresa instaladora</a:t>
            </a:r>
          </a:p>
          <a:p>
            <a:pPr>
              <a:spcAft>
                <a:spcPts val="1000"/>
              </a:spcAft>
            </a:pPr>
            <a:r>
              <a:rPr sz="1600" b="1" i="0">
                <a:solidFill>
                  <a:srgbClr val="2E3A80"/>
                </a:solidFill>
                <a:latin typeface="Montserrat"/>
              </a:rPr>
              <a:t>•  </a:t>
            </a:r>
            <a:r>
              <a:rPr sz="1600" b="0" i="0">
                <a:solidFill>
                  <a:srgbClr val="1B2330"/>
                </a:solidFill>
                <a:latin typeface="Montserrat"/>
              </a:rPr>
              <a:t>Inspección → organismo de control</a:t>
            </a:r>
          </a:p>
          <a:p>
            <a:pPr>
              <a:spcAft>
                <a:spcPts val="1000"/>
              </a:spcAft>
            </a:pPr>
            <a:r>
              <a:rPr sz="1600" b="1" i="0">
                <a:solidFill>
                  <a:srgbClr val="2E3A80"/>
                </a:solidFill>
                <a:latin typeface="Montserrat"/>
              </a:rPr>
              <a:t>•  </a:t>
            </a:r>
            <a:r>
              <a:rPr sz="1600" b="0" i="0">
                <a:solidFill>
                  <a:srgbClr val="1B2330"/>
                </a:solidFill>
                <a:latin typeface="Montserrat"/>
              </a:rPr>
              <a:t>Dirección de obra → director de obra</a:t>
            </a:r>
          </a:p>
        </p:txBody>
      </p:sp>
      <p:sp>
        <p:nvSpPr>
          <p:cNvPr id="8" name="imgph" descr="IMGQ:stamped official certificate document with signatur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stamped official certificate document with signature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05 · Estaciones de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 · DISPOSICIÓN DE SERVICIO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luz verde del primer suministro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Certificado de inspección = luz verde</a:t>
            </a:r>
          </a:p>
          <a:p>
            <a:pPr>
              <a:spcAft>
                <a:spcPts val="1000"/>
              </a:spcAft>
            </a:pPr>
            <a:r>
              <a:rPr sz="1600" b="1" i="0">
                <a:solidFill>
                  <a:srgbClr val="2E3A80"/>
                </a:solidFill>
                <a:latin typeface="Montserrat"/>
              </a:rPr>
              <a:t>•  </a:t>
            </a:r>
            <a:r>
              <a:rPr sz="1600" b="0" i="0">
                <a:solidFill>
                  <a:srgbClr val="1B2330"/>
                </a:solidFill>
                <a:latin typeface="Montserrat"/>
              </a:rPr>
              <a:t>Ya en disposición de servicio</a:t>
            </a:r>
          </a:p>
          <a:p>
            <a:pPr>
              <a:spcAft>
                <a:spcPts val="1000"/>
              </a:spcAft>
            </a:pPr>
            <a:r>
              <a:rPr sz="1600" b="1" i="0">
                <a:solidFill>
                  <a:srgbClr val="2E3A80"/>
                </a:solidFill>
                <a:latin typeface="Montserrat"/>
              </a:rPr>
              <a:t>•  </a:t>
            </a:r>
            <a:r>
              <a:rPr sz="1600" b="0" i="0">
                <a:solidFill>
                  <a:srgbClr val="1B2330"/>
                </a:solidFill>
                <a:latin typeface="Montserrat"/>
              </a:rPr>
              <a:t>El titular pide el primer suministro</a:t>
            </a:r>
          </a:p>
        </p:txBody>
      </p:sp>
      <p:sp>
        <p:nvSpPr>
          <p:cNvPr id="8" name="imgph" descr="IMGQ:attendant refueling a car at gas sta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attendant refueling a car at gas station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05 · Estaciones de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 · COMUNICACIÓN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El plazo que cuesta un expediente</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15 días hábiles desde el primer llenado</a:t>
            </a:r>
          </a:p>
          <a:p>
            <a:pPr>
              <a:spcAft>
                <a:spcPts val="1000"/>
              </a:spcAft>
            </a:pPr>
            <a:r>
              <a:rPr sz="1600" b="1" i="0">
                <a:solidFill>
                  <a:srgbClr val="2E3A80"/>
                </a:solidFill>
                <a:latin typeface="Montserrat"/>
              </a:rPr>
              <a:t>•  </a:t>
            </a:r>
            <a:r>
              <a:rPr sz="1600" b="0" i="0">
                <a:solidFill>
                  <a:srgbClr val="1B2330"/>
                </a:solidFill>
                <a:latin typeface="Montserrat"/>
              </a:rPr>
              <a:t>Por duplicado a la Comunidad Autónoma</a:t>
            </a:r>
          </a:p>
          <a:p>
            <a:pPr>
              <a:spcAft>
                <a:spcPts val="1000"/>
              </a:spcAft>
            </a:pPr>
            <a:r>
              <a:rPr sz="1600" b="1" i="0">
                <a:solidFill>
                  <a:srgbClr val="2E3A80"/>
                </a:solidFill>
                <a:latin typeface="Montserrat"/>
              </a:rPr>
              <a:t>•  </a:t>
            </a:r>
            <a:r>
              <a:rPr sz="1600" b="0" i="0">
                <a:solidFill>
                  <a:srgbClr val="1B2330"/>
                </a:solidFill>
                <a:latin typeface="Montserrat"/>
              </a:rPr>
              <a:t>No confundir con los 30 días</a:t>
            </a:r>
          </a:p>
        </p:txBody>
      </p:sp>
      <p:sp>
        <p:nvSpPr>
          <p:cNvPr id="8" name="imgph" descr="IMGQ:person handing documents at government office count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person handing documents at government office counter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05 · Estaciones de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5 · MANTENIMIENTO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Cada cinco años, sin falta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Inspección periódica cada 5 años</a:t>
            </a:r>
          </a:p>
          <a:p>
            <a:pPr>
              <a:spcAft>
                <a:spcPts val="1000"/>
              </a:spcAft>
            </a:pPr>
            <a:r>
              <a:rPr sz="1600" b="1" i="0">
                <a:solidFill>
                  <a:srgbClr val="2E3A80"/>
                </a:solidFill>
                <a:latin typeface="Montserrat"/>
              </a:rPr>
              <a:t>•  </a:t>
            </a:r>
            <a:r>
              <a:rPr sz="1600" b="0" i="0">
                <a:solidFill>
                  <a:srgbClr val="1B2330"/>
                </a:solidFill>
                <a:latin typeface="Montserrat"/>
              </a:rPr>
              <a:t>Cambiar mangueras cada 5 años</a:t>
            </a:r>
          </a:p>
          <a:p>
            <a:pPr>
              <a:spcAft>
                <a:spcPts val="1000"/>
              </a:spcAft>
            </a:pPr>
            <a:r>
              <a:rPr sz="1600" b="1" i="0">
                <a:solidFill>
                  <a:srgbClr val="2E3A80"/>
                </a:solidFill>
                <a:latin typeface="Montserrat"/>
              </a:rPr>
              <a:t>•  </a:t>
            </a:r>
            <a:r>
              <a:rPr sz="1600" b="0" i="0">
                <a:solidFill>
                  <a:srgbClr val="1B2330"/>
                </a:solidFill>
                <a:latin typeface="Montserrat"/>
              </a:rPr>
              <a:t>Todo al Libro de Mantenimiento</a:t>
            </a:r>
          </a:p>
        </p:txBody>
      </p:sp>
      <p:sp>
        <p:nvSpPr>
          <p:cNvPr id="8" name="imgph" descr="IMGQ:worker replacing a fuel dispenser hos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worker replacing a fuel dispenser hose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CADCFC"/>
                </a:solidFill>
                <a:latin typeface="Montserrat"/>
              </a:rPr>
              <a:t>LO QUE YA DOMINAS</a:t>
            </a:r>
          </a:p>
        </p:txBody>
      </p:sp>
      <p:sp>
        <p:nvSpPr>
          <p:cNvPr id="4" name="TextBox 3"/>
          <p:cNvSpPr txBox="1"/>
          <p:nvPr/>
        </p:nvSpPr>
        <p:spPr>
          <a:xfrm>
            <a:off x="822960" y="1143000"/>
            <a:ext cx="10515600" cy="1097280"/>
          </a:xfrm>
          <a:prstGeom prst="rect">
            <a:avLst/>
          </a:prstGeom>
          <a:noFill/>
        </p:spPr>
        <p:txBody>
          <a:bodyPr wrap="square">
            <a:spAutoFit/>
          </a:bodyPr>
          <a:lstStyle/>
          <a:p>
            <a:r>
              <a:rPr sz="3400" b="1" i="0">
                <a:solidFill>
                  <a:srgbClr val="FFFFFF"/>
                </a:solidFill>
                <a:latin typeface="Montserrat"/>
              </a:rPr>
              <a:t>Ya sabes levantar una gasolinera de gas</a:t>
            </a:r>
          </a:p>
        </p:txBody>
      </p:sp>
      <p:sp>
        <p:nvSpPr>
          <p:cNvPr id="5" name="TextBox 4"/>
          <p:cNvSpPr txBox="1"/>
          <p:nvPr/>
        </p:nvSpPr>
        <p:spPr>
          <a:xfrm>
            <a:off x="822960" y="2514600"/>
            <a:ext cx="10515600" cy="2834640"/>
          </a:xfrm>
          <a:prstGeom prst="rect">
            <a:avLst/>
          </a:prstGeom>
          <a:noFill/>
        </p:spPr>
        <p:txBody>
          <a:bodyPr wrap="square">
            <a:spAutoFit/>
          </a:bodyPr>
          <a:lstStyle/>
          <a:p>
            <a:pPr>
              <a:spcAft>
                <a:spcPts val="1200"/>
              </a:spcAft>
            </a:pPr>
            <a:r>
              <a:rPr sz="2000" b="1" i="0">
                <a:solidFill>
                  <a:srgbClr val="CADCFC"/>
                </a:solidFill>
                <a:latin typeface="Montserrat"/>
              </a:rPr>
              <a:t>✓  </a:t>
            </a:r>
            <a:r>
              <a:rPr sz="1900" b="0" i="0">
                <a:solidFill>
                  <a:srgbClr val="FFFFFF"/>
                </a:solidFill>
                <a:latin typeface="Montserrat"/>
              </a:rPr>
              <a:t>Cuatro gases, y la norma la manda el gas</a:t>
            </a:r>
          </a:p>
          <a:p>
            <a:pPr>
              <a:spcAft>
                <a:spcPts val="1200"/>
              </a:spcAft>
            </a:pPr>
            <a:r>
              <a:rPr sz="2000" b="1" i="0">
                <a:solidFill>
                  <a:srgbClr val="CADCFC"/>
                </a:solidFill>
                <a:latin typeface="Montserrat"/>
              </a:rPr>
              <a:t>✓  </a:t>
            </a:r>
            <a:r>
              <a:rPr sz="1900" b="0" i="0">
                <a:solidFill>
                  <a:srgbClr val="FFFFFF"/>
                </a:solidFill>
                <a:latin typeface="Montserrat"/>
              </a:rPr>
              <a:t>Sin autorización, pero con proyecto y empresa instaladora</a:t>
            </a:r>
          </a:p>
          <a:p>
            <a:pPr>
              <a:spcAft>
                <a:spcPts val="1200"/>
              </a:spcAft>
            </a:pPr>
            <a:r>
              <a:rPr sz="2000" b="1" i="0">
                <a:solidFill>
                  <a:srgbClr val="CADCFC"/>
                </a:solidFill>
                <a:latin typeface="Montserrat"/>
              </a:rPr>
              <a:t>✓  </a:t>
            </a:r>
            <a:r>
              <a:rPr sz="1900" b="0" i="0">
                <a:solidFill>
                  <a:srgbClr val="FFFFFF"/>
                </a:solidFill>
                <a:latin typeface="Montserrat"/>
              </a:rPr>
              <a:t>El certificado de inspección da la luz verde</a:t>
            </a:r>
          </a:p>
          <a:p>
            <a:pPr>
              <a:spcAft>
                <a:spcPts val="1200"/>
              </a:spcAft>
            </a:pPr>
            <a:r>
              <a:rPr sz="2000" b="1" i="0">
                <a:solidFill>
                  <a:srgbClr val="CADCFC"/>
                </a:solidFill>
                <a:latin typeface="Montserrat"/>
              </a:rPr>
              <a:t>✓  </a:t>
            </a:r>
            <a:r>
              <a:rPr sz="1900" b="0" i="0">
                <a:solidFill>
                  <a:srgbClr val="FFFFFF"/>
                </a:solidFill>
                <a:latin typeface="Montserrat"/>
              </a:rPr>
              <a:t>Quince días hábiles y dos cincos que salvan vidas</a:t>
            </a:r>
          </a:p>
        </p:txBody>
      </p:sp>
      <p:sp>
        <p:nvSpPr>
          <p:cNvPr id="6" name="Rounded Rectangle 5"/>
          <p:cNvSpPr/>
          <p:nvPr/>
        </p:nvSpPr>
        <p:spPr>
          <a:xfrm>
            <a:off x="822960" y="5532120"/>
            <a:ext cx="10515600" cy="777240"/>
          </a:xfrm>
          <a:prstGeom prst="roundRect">
            <a:avLst/>
          </a:prstGeom>
          <a:solidFill>
            <a:srgbClr val="2E3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5605272"/>
            <a:ext cx="10058400" cy="640080"/>
          </a:xfrm>
          <a:prstGeom prst="rect">
            <a:avLst/>
          </a:prstGeom>
          <a:noFill/>
        </p:spPr>
        <p:txBody>
          <a:bodyPr wrap="square">
            <a:spAutoFit/>
          </a:bodyPr>
          <a:lstStyle/>
          <a:p>
            <a:r>
              <a:rPr sz="1500" b="1" i="1">
                <a:solidFill>
                  <a:srgbClr val="CADCFC"/>
                </a:solidFill>
                <a:latin typeface="Montserrat"/>
              </a:rPr>
              <a:t>Hoy ya eres más gasista que ayer. Vamos con los envases de GLP.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
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empezar, ¿esto qué es? ¿Otra lista de cosas que memorizar?</a:t>
            </a:r>
          </a:p>
          <a:p>
            <a:r>
              <a:t>N2: Tranquilo, es justo lo contrario. Piensa en el Reglamento del gas como un libro enorme. Cada capítulo, cada ITC, te va diciendo cúmplase esta norma, cúmplase esta otra. Pero, ¿dónde está el listado completo de todas esas normas, con su número y su nombre? En un solo sitio: la ITC-ICG once. Es el índice del libro. Este vídeo no te pide empollar títulos de memoria; te enseña a manejar el índice para que en obra encuentres en un vistazo qué norma toca en cada trabajo. Cuando termines, sabrás colocar cualquier norma en su cajón.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por qué son los importantes?</a:t>
            </a:r>
          </a:p>
          <a:p>
            <a:r>
              <a:t>N2: Porque resumen a qué le tienes que prestar atención. Uno: la serie seis mil seiscientos setenta viene troceada en trece partes, y esa familia es el corazón de tu categoría, la de las instalaciones de casa y de comercio. Dos: verás cuatro tipos de prefijo, cuatro maneras de empezar el nombre de una norma, y cada prefijo te dice de dónde viene. Tres: hay una norma, la cuatrocientos treinta y siete, que define las tres familias de gas, y la vas a citar una y otra vez. Si te quedas con estos tres números,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ICG once es una norma más de las que hay que cumplir?</a:t>
            </a:r>
          </a:p>
          <a:p>
            <a:r>
              <a:t>N2: No, y esta distinción es clave. La ICG once no te manda hacer nada nuevo. Su único trabajo es guardar, en un solo sitio, la lista de todas las normas UNE que el Reglamento y sus ITC te obligan a cumplir. El artículo doce del Reglamento es el que dice donde vive esa lista, y la lista es la ICG once. Míralo así: cuando cualquier ITC te suelta cúmplase la une tal, tú vas a la ICG once y ahí está esa norma, con su número y su título. Es la lista maestra. Por eso no te enseña a hacer una prueba ni a calcular una ventilación: solo te dice qué normas existen y de qué van.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si necesito saber cómo se hace una prueba de estanquidad, ¿la busco en la ICG once?</a:t>
            </a:r>
          </a:p>
          <a:p>
            <a:r>
              <a:t>N2: Ahí está el error típico. No. En la ICG once no busques cómo se hace una prueba de estanquidad, ni qué ventilación lleva una caldera. Eso está en la norma concreta, por ejemplo la seis mil seiscientos setenta. Estanquidad, por cierto, quiere decir que no se escape ni una burbuja de gas. La ICG once es como el índice telefónico o como la contraportada de un libro con la lista de capítulos: te dice que el capítulo existe y en qué página está, pero para leer el capítulo tienes que abrir la norma. El índice te lleva; el contenido está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montar una ITC entera solo para una lista? Parece un lío.</a:t>
            </a:r>
          </a:p>
          <a:p>
            <a:r>
              <a:t>N2: Es justo al revés, es lo práctico. Las normas cambian a menudo: sale una edición nueva, se retoca otra. Si esa lista estuviera metida dentro del Reglamento, cada vez que cambiara una une habría que reformar el Reglamento entero, y eso es un proceso lento y pesado. Al tener la lista en una ITC aparte, se actualiza con una simple Resolución de la Dirección General de Industria, sin tocar el mueble grande. Piénsalo como un cajón que puedes reordenar cuando quieras sin desmontar el armario. Por eso la lista siempre está al día.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cosa que me chirría: en el curso siempre veo une seis mil seiscientos setenta sin fecha. ¿Es un despiste?</a:t>
            </a:r>
          </a:p>
          <a:p>
            <a:r>
              <a:t>N2: No, es exactamente como manda el Reglamento, y cae en el examen. Fíjate en la lógica: si una ITC citara la norma con su año, en cuanto saliera una edición nueva la ITC quedaría anticuada. Para evitarlo, las ITC citan la norma sin año. El único sitio donde el año figura de forma oficial es la ICG once, junto al número y el título. ¿Y qué haces tú en obra? Usar siempre la edición vigente según el listado actualizado. Por eso en las tablas del curso tampoco ponemos año: reproducimos número y título, tal como se cita en el trabajo real.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sacan una edición nueva, ¿de un día para otro la vieja ya no vale?</a:t>
            </a:r>
          </a:p>
          <a:p>
            <a:r>
              <a:t>N2: No, no es un corte seco, y esto tranquiliza mucho. Cuando sale una edición nueva, hay un tramo en el que valen las dos a la vez: es el periodo de coexistencia. Durante ese tiempo, un trabajo hecho con la edición anterior sigue siendo válido, hasta una fecha en la que la vieja deja de aplicar. Quien fija esas fechas, desde cuándo vale la nueva y hasta cuándo la antigua, es la Resolución de actualización. La regla práctica para ti es sencilla: usa siempre la edición vigente. Así nunca te pillan con una norma caducada.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tanta sigla: une, une-en, une-en iso... ¿qué diferencia hay?</a:t>
            </a:r>
          </a:p>
          <a:p>
            <a:r>
              <a:t>N2: Hay un truco muy fácil: cuantas más siglas, más lejos viene la norma. Une, a secas, es de casa, española, la elabora AENOR. Une-en es europea, una norma europea adoptada como española. Une-en iso es internacional, del mundo entero, iso adoptada como europea y española. Y une-cen barra te erre es un informe técnico europeo, documentación de apoyo, no una especificación de obligado cumplimiento pleno como una norma. Fíjate que todas empiezan por une: al final todas son españolas. Lo que cambia es el origen, y el origen te dice el alcance. Si te preguntan si la seis mil seiscientos setenta es europea, no: la serie sesenta mil es nacional.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Dentro de las nacionales, ¿cómo me oriento entre tantos números?</a:t>
            </a:r>
          </a:p>
          <a:p>
            <a:r>
              <a:t>N2: Agrúpalas por lo que hacen, no las memorices sueltas. La serie sesenta mil es la de las normas nacionales del gas. Dentro, hay tres bloques que te conviene distinguir. Distribución, la red de la calle: seis mil trescientos diez, trescientos once y trescientos doce, según la presión. Instalaciones receptoras, lo que va dentro del edificio: seis mil seiscientos veinte para gas natural por encima de cinco bar, y seis mil seiscientos setenta hasta cinco bar. Y luego el GLP en depósito, la seis mil doscientos cincuenta. La ciento veintitrés mil uno es chimeneas. Con esos bloques ya no te pierdes.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empieza el listado nacional? Léemela, que voy conduciendo y no veo la tabla.</a:t>
            </a:r>
          </a:p>
          <a:p>
            <a:r>
              <a:t>N2: Claro, te la cuento fila a fila, quédate con el número y el tema de cada una. Abre con la seis mil doscientos diez, plantas satélite de gas natural licuado. Sigue la seis mil doscientos cincuenta, la de los depósitos fijos de GLP para consumo en instalaciones receptoras. Luego el bloque de distribución, la red de la calle: la seis mil trescientos diez, canalizaciones de más de cinco bar y hasta dieciséis; la seis mil trescientos once, canalizaciones de hasta cinco bar; y la seis mil trescientos doce, las estaciones de regulación con entrada hasta dieciséis bar. Verás que la trescientos diez y la trescientos once aparecen también con barra uno eme: es la misma norma con un parche, no una nueva. Después, la seis mil seiscientos uno, salas de máquinas y equipos de generación de calor o frío. Y el bloque grande, la serie seiscientos veinte, receptoras de gas natural por encima de cinco bar, troceada en cinco partes: la uno generalidades, la dos acometidas interiores, la tres estaciones de regulación y medida, la cuatro grupos de regulación y la cinco control periódico. Cierra la seis mil seiscientos treinta, estaciones de servicio de GLP para vehículos. Un apunte que igual no ves en pantalla: al pie recuerda que eme o pe es la máxima presión de operación, la presión más alta a la que la instalación trabaja de forma normal. Ejemplo de obra: si vas a una nave con gas natural a presión alta, tu norma de receptora es la seiscientos veinte, no la seiscientos setenta.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segunda mitad del listado nacional, ¿qué trae? Léemela.</a:t>
            </a:r>
          </a:p>
          <a:p>
            <a:r>
              <a:t>N2: Aquí está la familia seis mil seiscientos setenta al completo, la que más vas a manejar: instalaciones receptoras hasta cinco bar, lo doméstico y lo comercial. Está troceada en trece partes y te las ligo a averías para que no se te olviden. Parte uno, generalidades. Parte dos, terminología. Parte tres, tuberías, elementos, accesorios y sus uniones. Parte cuatro, diseño y construcción. Parte cinco, los recintos para los contadores. Parte seis, muy importante, configuración, ventilación y evacuación de los productos de la combustión: la que evita la intoxicación por monóxido. Parte siete, instalación y conexión de los aparatos. Parte ocho, la estrella, pruebas de estanquidad para la entrega: la que evita la fuga. Parte nueve, pruebas previas al suministro y puesta en servicio, para dar gas por primera vez. Parte diez, verificación del mantenimiento de la seguridad de los aparatos. Parte once, operaciones en instalaciones en servicio. Parte doce, control periódico de las instalaciones. Y parte trece, control periódico de los aparatos. Debajo hay dos normas más: la seis mil setecientos cincuenta, del marcado indeleble de aparatos y componentes, y la ciento veintitrés mil uno, cálculo, diseño e instalación de chimeneas modulares. Un ejemplo: te llaman por una caldera que ennegrece la rejilla; tu norma de cabecera es la parte seis, la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pregunta, y ojo que esta cae fijo. Escucha con atención, que te leo la pregunta entera y luego las cuatro opciones. La pregunta es: ¿qué parte de la une seis mil seiscientos setenta trata las pruebas de estanquidad para la entrega de la instalación? Opción A, la une seis mil seiscientos setenta guion seis. Opción B, la une seis mil seiscientos setenta guion siete. Opción C, la une seis mil seiscientos setenta guion ocho. Opción D, la une seis mil seiscientos setenta guion nueve.</a:t>
            </a:r>
          </a:p>
          <a:p>
            <a:r>
              <a:t>N2: Párala un momento y piénsalo. Como pista: la estanquidad es asegurarte de que no se escapa ni una burbuja de gas, y se comprueba justo antes de entregar la instalación. No es la de la ventilación ni la de conectar aparatos. ¿Ya tienes tu opción? Vamos con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la une seis mil seiscientos setenta guion ocho. Es la de las pruebas de estanquidad para la entrega de la instalación receptora, la que evita la fuga. Cuidado con las vecinas, que es justo donde se falla: la parte seis es ventilación y evacuación de humos, la parte siete la conexión de aparatos, y la parte nueve las pruebas previas al suministro. El truco para no confundirlas es ligar cada parte a la avería que previene, y la parte ocho es la que sella contra fugas.</a:t>
            </a:r>
          </a:p>
          <a:p>
            <a:r>
              <a:t>N1: Liga el número a la avería y no fallas.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estas, ¿cuál voy a usar de verdad en el día a día?</a:t>
            </a:r>
          </a:p>
          <a:p>
            <a:r>
              <a:t>N2: La familia seis mil seiscientos setenta, sin duda. Es la norma de las instalaciones receptoras hasta cinco bar, es decir, lo doméstico y lo comercial de siempre, el núcleo de tu categoría B. Y viene troceada en trece partes muy prácticas, cada una previene una avería concreta. La parte ocho son las pruebas de estanquidad: la que evita la fuga que si no aparece luego con olor y riesgo. La parte seis, la ventilación y evacuación de humos del local: la que evita la intoxicación por monóxido y que el aparato se apague por falta de aire. La parte siete, la conexión de aparatos. Y la parte nueve, las pruebas previas para dar gas por primera vez. Memoriza qué hace cada parte y tendrás medio examen ganado.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seis mil seiscientos setenta y seis mil seiscientos veinte y me hago un lío. ¿Cómo las separo?</a:t>
            </a:r>
          </a:p>
          <a:p>
            <a:r>
              <a:t>N2: Por la presión, y aquí entra una sigla que verás mil veces: MOP, la máxima presión de operación, la presión más alta a la que la instalación trabaja de forma normal y continuada. Cuando leas MOP menor o igual a cinco bar, piensa instalación de vivienda y comercio. Ese umbral de cinco bar es la frontera: la seis mil seiscientos setenta es hasta cinco bar, lo tuyo; la seis mil seiscientos veinte es por encima de cinco bar, industrial. Un truco para no fallar: el número más alto, seiscientos setenta, es la presión más baja. Y ojo, la trescientos diez, once y doce ya no son receptoras, son distribución, la red de la calle. Meter una norma de distribución en el boletín de una vivienda es un error que salta a la primera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de examen, que esta también cae. Te leo la pregunta y luego las cuatro opciones, y fíjate bien en la presión. La pregunta es: ¿qué serie de normas une aplica a una instalación receptora doméstica con eme o pe inferior o igual a cinco bar? Opción A, la une seis mil seiscientos veinte. Opción B, la une seis mil seiscientos setenta. Opción C, la une seis mil trescientos once. Opción D, la une seis mil trescientos doce.</a:t>
            </a:r>
          </a:p>
          <a:p>
            <a:r>
              <a:t>N2: Tómate un segundo. Como pista: piensa en la presión de una vivienda normal y en cuál de las series de receptoras cubre ese tramo. Y ojo, que dos de las opciones ni siquiera son receptoras, son de distribución, la red de la calle. ¿Lo tienes? Te doy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la une seis mil seiscientos setenta. Es la serie de las instalaciones receptoras hasta cinco bar, lo doméstico y lo comercial, el núcleo de tu categoría. La opción A, la seis mil seiscientos veinte, es para más de cinco bar, industrial. Y la ce y la de, la trescientos once y la trescientos doce, son de distribución, la red de la calle, no receptoras. El truco para no fallar: el número más alto, seiscientos setenta, es la presión más baja.</a:t>
            </a:r>
          </a:p>
          <a:p>
            <a:r>
              <a:t>N1: Número más alto, presión más baja. Con eso lo clavas.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todas esas une-en, ¿de qué van en general?</a:t>
            </a:r>
          </a:p>
          <a:p>
            <a:r>
              <a:t>N2: Son las de origen europeo e internacional, y también se agrupan por temas. Para la distribución europea tienes la doce mil siete, la mil quinientos noventa y cuatro y la doce mil trescientos veintisiete, esta última de ensayos de presión y puesta en servicio de la red. Para chimeneas y humos, la mil ochocientos cincuenta y seis y la trece mil trescientos ochenta y cuatro, que es la de cálculo. Para comportamiento frente al fuego, la mil trescientos sesenta y tres y la trece mil quinientos uno. Y la iso nueve mil uno es la de gestión de la calidad. No hace falta que te las sepas de carrerilla: basta con que sepas a qué cajón temático pertenece cada una.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Pasamos a las de origen europeo, las une-en. ¿Me las lees por temas?</a:t>
            </a:r>
          </a:p>
          <a:p>
            <a:r>
              <a:t>N2: Te las agrupo, que son un buen puñado. Empieza el bloque de fuego: la une-en tres guion siete, extintores portátiles de incendios; la mil trescientos sesenta y tres guion uno, ensayos de resistencia al fuego, requisitos generales. En medio, la reina: la cuatrocientos treinta y siete, gases de ensayo, presiones de ensayo y categorías de aparatos; esta la vas a citar sin parar. Luego el bloque de distribución europea: la mil quinientos noventa y cuatro, canalizaciones de más de dieciséis bar; la familia doce mil siete, canalizaciones de hasta dieciséis bar, troceada por materiales, y fíjate en la parte dos, que es la del polietileno hasta diez bar; la doce mil ciento ochenta y seis, estaciones de regulación de presión para transporte y distribución; y la doce mil trescientos veintisiete, ensayos de presión y puesta en servicio de la red. Se cuela también la mil novecientos cuarenta y nueve, instalaciones de GLP en vehículos habitables de recreo, las autocaravanas. Al pie te recuerda que las une-en son normas europeas adoptadas como españolas y valen igual en todos los países que las adoptan. Un ejemplo de obra: si tiendes tubería de polietileno enterrada, tu referencia europea es la doce mil siete, parte 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segunda mitad de las europeas, ¿qué me aporta en el día a día? Léemela.</a:t>
            </a:r>
          </a:p>
          <a:p>
            <a:r>
              <a:t>N2: Aquí está lo del GLP que tocas con las manos. Abre la doce mil ochocientos sesenta y cuatro, reguladores de reglaje fijo hasta doscientos milibares y cuatro kilos por hora, para butano y propano; esa pieza que baja la presión de la bombona. La verás repetida con barra a uno, a dos y a tres, pero es la misma norma con parches sucesivos, no cuatro normas. Sigue el bloque de chimeneas: la trece mil trescientos ochenta y cuatro, métodos de cálculo, parte uno para un solo aparato y parte dos para varios generadores. La trece mil quinientos uno guion uno, clasificación frente al fuego de los productos de construcción. La trece mil setecientos ochenta y seis, inversores automáticos hasta cuatro bar y cien kilos por hora, los que cambian solos de una bombona vacía a otra llena. La dieciséis mil cuatrocientos treinta y seis, mangueras y tubos flexibles para butano y propano, con su parte uno de mangueras y su parte dos de conjuntos con accesorios. Y cierran la nueve mil uno, gestión de la calidad; la dieciséis mil novecientos veintitrés, estaciones de gas natural comprimido para repostaje; y muy importante, la cen barra te erre mil setecientos cuarenta y nueve, que clasifica los aparatos por tipos según cómo evacúan los humos. Al pie te avisa: las marcas barra a uno, a dos, a tres y más a uno son la misma norma retocada, en el boletín citas la norma base. Un ejemplo: si cambias la manguera agrietada de una bombona, la norma detrás es la dieciséis mil cuatrocientos treinta y seis.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la cuatrocientos treinta y siete la cito mil veces. ¿Por qué es tan importante?</a:t>
            </a:r>
          </a:p>
          <a:p>
            <a:r>
              <a:t>N2: Porque define las tres familias de gas y las categorías de aparatos. Las tres familias son: primera, gases manufacturados y aire propanado; segunda, gas natural; tercera, los GLP, butano y propano. Cada vez que en el curso oigas tres familias, detrás está la cuatrocientos treinta y siete. Y tiene una compañera inseparable, la cen barra te erre mil setecientos cuarenta y nueve, que clasifica los aparatos por tipos: tipo A, tipo B y tipo C, según cómo evacúan los humos de la combustión. Esto no es teoría de adorno: equivocar el tipo de aparato, poner un tipo A donde hace falta un C estanco, es diseñar una intoxicación por monóxido desde el papel.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Última pregunta, y va sobre la norma que más vas a citar en todo el curso. Te leo la pregunta y luego las cuatro opciones. La pregunta es: ¿qué norma define las tres familias de gas y las categorías de aparatos? Opción A, la une-en cuatrocientos treinta y siete. Opción B, la une-cen barra te erre mil setecientos cuarenta y nueve. Opción C, la une-en iso nueve mil uno. Opción D, la une-en doce mil ochocientos sesenta y cuatro.</a:t>
            </a:r>
          </a:p>
          <a:p>
            <a:r>
              <a:t>N2: Piénsalo un momento. Como pista: buscas la que reparte el gas en tres familias, la primera, la segunda y la tercera. Cuidado con la opción B, que es muy parecida pero clasifica los aparatos por tipos según cómo echan los humos; esa no es. ¿Ya la tienes? Vamos con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la une-en cuatrocientos treinta y siete. Es la que define las tres familias de gas, la primera de gases manufacturados y aire propanado, la segunda de gas natural y la tercera de los GLP, y además fija las categorías de aparatos. No la confundas con su compañera, la opción B, la cen barra te erre mil setecientos cuarenta y nueve, que clasifica los aparatos por tipos a, be y ce según cómo evacúan los humos. La opción C, la nueve mil uno, es de calidad, y la de, la doce mil ochocientos sesenta y cuatro, de reguladores.</a:t>
            </a:r>
          </a:p>
          <a:p>
            <a:r>
              <a:t>N1: Tres familias, siempre la cuatrocientos treinta y siete.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listado, ¿qué normas voy a tener en las manos de verdad con el GLP?</a:t>
            </a:r>
          </a:p>
          <a:p>
            <a:r>
              <a:t>N2: Tres muy concretas. La doce mil ochocientos sesenta y cuatro es la de los reguladores, esa pieza que baja la presión de la bombona a la de trabajo. La trece mil setecientos ochenta y seis, la de los inversores automáticos, que cambian solos de una bombona vacía a otra llena. Y la dieciséis mil cuatrocientos treinta y seis, la de las mangueras y tubos flexibles. Esta última es puro día a día: la manguera caducada o agrietada es de las fugas más típicas en las cocinas de butano, cámbiala en cada revisión. Y un regulador mal tarado da presión incorrecta, y con ella llama amarilla y mala combustión. Ves cómo el listado, que parecía un rollo de papel, se convierte en averías concretas.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la tabla veo la misma norma repetida con barra a uno, barra a dos... ¿son normas distintas?</a:t>
            </a:r>
          </a:p>
          <a:p>
            <a:r>
              <a:t>N2: No, y esto confunde a mucha gente. Esas marcas son la misma norma retocada. La barra uno eme o la barra a uno es un parche que corrige o amplía la norma base; salió después para arreglar o completar algo. Y la marca más a uno significa que la enmienda ya viene incorporada, consolidada, en la versión que se cita. Por eso ves varias entradas de la doce mil ochocientos sesenta y cuatro, con barra a uno, a dos y a tres: es la misma norma de reguladores con tres parches sucesivos. En obra tú citas la norma base; el parche va implícito en la edición vigente. No cuentes cada marca como si fuera una norma nueva.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examen, cuando me den una tarea, ¿cómo encuentro rápido la norma?</a:t>
            </a:r>
          </a:p>
          <a:p>
            <a:r>
              <a:t>N2: Con unos cuantos cajones mentales. Pregúntate primero qué tipo de trabajo es. ¿Es tubería de la calle, distribución? Series trescientos diez, once y doce si son nacionales, o doce mil siete, mil quinientos noventa y cuatro y doce mil trescientos veintisiete si son europeas. ¿Es instalación dentro del edificio hasta cinco bar? La seis mil seiscientos setenta, casi seguro. ¿Chimeneas y humos? Ciento veintitrés mil uno, mil ochocientos cincuenta y seis y trece mil trescientos ochenta y cuatro. ¿Reguladores, inversores o mangueras de GLP? Doce mil ochocientos sesenta y cuatro, trece mil setecientos ochenta y seis y dieciséis mil cuatrocientos treinta y seis. Con esos cajones colocas casi cualquier norma del listado sin habértela aprendido de memoria.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 las normas, al final, ¿en qué papel se nota?</a:t>
            </a:r>
          </a:p>
          <a:p>
            <a:r>
              <a:t>N2: En el certificado de instalación de gas, lo que en obra llamamos el boletín, del tipo I erre ge según tu comunidad autónoma. Lo firma el instalador o la empresa instaladora habilitada de la categoría que corresponda, y se entrega a la empresa distribuidora para el alta y la puesta en servicio, con copia para el usuario y registro ante el órgano de industria de tu comunidad. Aquí es donde todo lo del vídeo cobra sentido: si en ese boletín pones la referencia equivocada, o citas una edición caducada, o metes una norma de distribución en una vivienda, la distribuidora te lo rechaza y te deja la instalación sin dar de alta hasta que lo corrijas. Y las revisiones periódicas, apoyadas en la sesenta y seis setenta parte doce y parte trece, generan su propio certificado. Manejar bien el índice de normas es, literalmente, que no te tumben el trabajo.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Primero, qué es esto: la ICG once es tu lista maestra, el índice al que remite el artículo doce del Reglamento; no manda nada nuevo, solo guarda dónde está cada norma. Segundo, cómo se citan: sin año, porque las normas se revisan; el año vive solo en la ICG once y se actualiza por Resolución, así que tú siempre usas la edición vigente. Tercero, la joya: la serie seis mil seiscientos setenta, tus instalaciones hasta cinco bar, troceada en trece partes que puedes ligar a averías reales. Y cuarto, el método de los cajones para colocar cualquier norma por su tema y su presión.</a:t>
            </a:r>
          </a:p>
          <a:p>
            <a:r>
              <a:t>N1: ¿Y cómo me cae esto en el examen y en la obra?</a:t>
            </a:r>
          </a:p>
          <a:p>
            <a:r>
              <a:t>N2: En el examen te lo cruzan: te preguntan si la seis mil seiscientos setenta es nacional o europea, qué parte trata la ventilación, o qué diferencia hay entre distribución y receptora. Si tienes los cajones claros, respondes sin dudar. Y en la obra aterriza en el boletín: una norma bien citada es un alta sin problemas; una mal citada es la instalación parada. Fíjate en lo que has conseguido: has convertido una lista aparentemente aburrida en una herramienta para no fallar. Hoy ya eres más gasista que ayer, y con este tema cierras el bloque de normativa con el mapa entero en la cabeza. Enhorabuena.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1</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Relación de normas UNE de referencia</a:t>
            </a:r>
          </a:p>
          <a:p>
            <a:r>
              <a:rPr sz="2200" b="0" i="0">
                <a:solidFill>
                  <a:srgbClr val="CADCFC"/>
                </a:solidFill>
                <a:latin typeface="Montserrat"/>
              </a:rPr>
              <a:t>La ITC-ICG 11: tu índice oficial de normas del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08 · Reglamento · ITC-ICG 11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que tiene la serie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tipos de prefijo de norma que verás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familias de gas que fija la UNE-EN 437</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a:t>
            </a:r>
          </a:p>
          <a:p>
            <a:pPr>
              <a:spcAft>
                <a:spcPts val="900"/>
              </a:spcAft>
            </a:pPr>
            <a:r>
              <a:rPr sz="1800" b="1" i="0">
                <a:solidFill>
                  <a:srgbClr val="E8801A"/>
                </a:solidFill>
                <a:latin typeface="Montserrat"/>
              </a:rPr>
              <a:t>02   </a:t>
            </a:r>
            <a:r>
              <a:rPr sz="1700" b="0" i="0">
                <a:solidFill>
                  <a:srgbClr val="1B2330"/>
                </a:solidFill>
                <a:latin typeface="Montserrat"/>
              </a:rPr>
              <a:t>Cómo entenderla</a:t>
            </a:r>
          </a:p>
          <a:p>
            <a:pPr>
              <a:spcAft>
                <a:spcPts val="900"/>
              </a:spcAft>
            </a:pPr>
            <a:r>
              <a:rPr sz="1800" b="1" i="0">
                <a:solidFill>
                  <a:srgbClr val="E8801A"/>
                </a:solidFill>
                <a:latin typeface="Montserrat"/>
              </a:rPr>
              <a:t>03   </a:t>
            </a:r>
            <a:r>
              <a:rPr sz="1700" b="0" i="0">
                <a:solidFill>
                  <a:srgbClr val="1B2330"/>
                </a:solidFill>
                <a:latin typeface="Montserrat"/>
              </a:rPr>
              <a:t>Por qué existe</a:t>
            </a:r>
          </a:p>
          <a:p>
            <a:pPr>
              <a:spcAft>
                <a:spcPts val="900"/>
              </a:spcAft>
            </a:pPr>
            <a:r>
              <a:rPr sz="1800" b="1" i="0">
                <a:solidFill>
                  <a:srgbClr val="E8801A"/>
                </a:solidFill>
                <a:latin typeface="Montserrat"/>
              </a:rPr>
              <a:t>04   </a:t>
            </a:r>
            <a:r>
              <a:rPr sz="1700" b="0" i="0">
                <a:solidFill>
                  <a:srgbClr val="1B2330"/>
                </a:solidFill>
                <a:latin typeface="Montserrat"/>
              </a:rPr>
              <a:t>Artículo 12</a:t>
            </a:r>
          </a:p>
          <a:p>
            <a:pPr>
              <a:spcAft>
                <a:spcPts val="900"/>
              </a:spcAft>
            </a:pPr>
            <a:r>
              <a:rPr sz="1800" b="1" i="0">
                <a:solidFill>
                  <a:srgbClr val="E8801A"/>
                </a:solidFill>
                <a:latin typeface="Montserrat"/>
              </a:rPr>
              <a:t>05   </a:t>
            </a:r>
            <a:r>
              <a:rPr sz="1700" b="0" i="0">
                <a:solidFill>
                  <a:srgbClr val="1B2330"/>
                </a:solidFill>
                <a:latin typeface="Montserrat"/>
              </a:rPr>
              <a:t>Cuando cambia una norma</a:t>
            </a:r>
          </a:p>
          <a:p>
            <a:pPr>
              <a:spcAft>
                <a:spcPts val="900"/>
              </a:spcAft>
            </a:pPr>
            <a:r>
              <a:rPr sz="1800" b="1" i="0">
                <a:solidFill>
                  <a:srgbClr val="E8801A"/>
                </a:solidFill>
                <a:latin typeface="Montserrat"/>
              </a:rPr>
              <a:t>06   </a:t>
            </a:r>
            <a:r>
              <a:rPr sz="1700" b="0" i="0">
                <a:solidFill>
                  <a:srgbClr val="1B2330"/>
                </a:solidFill>
                <a:latin typeface="Montserrat"/>
              </a:rPr>
              <a:t>Los prefijos</a:t>
            </a:r>
          </a:p>
          <a:p>
            <a:pPr>
              <a:spcAft>
                <a:spcPts val="900"/>
              </a:spcAft>
            </a:pPr>
            <a:r>
              <a:rPr sz="1800" b="1" i="0">
                <a:solidFill>
                  <a:srgbClr val="E8801A"/>
                </a:solidFill>
                <a:latin typeface="Montserrat"/>
              </a:rPr>
              <a:t>07   </a:t>
            </a:r>
            <a:r>
              <a:rPr sz="1700" b="0" i="0">
                <a:solidFill>
                  <a:srgbClr val="1B2330"/>
                </a:solidFill>
                <a:latin typeface="Montserrat"/>
              </a:rPr>
              <a:t>Serie 60xxx y 123xxx</a:t>
            </a:r>
          </a:p>
          <a:p>
            <a:pPr>
              <a:spcAft>
                <a:spcPts val="900"/>
              </a:spcAft>
            </a:pPr>
            <a:r>
              <a:rPr sz="1800" b="1" i="0">
                <a:solidFill>
                  <a:srgbClr val="E8801A"/>
                </a:solidFill>
                <a:latin typeface="Montserrat"/>
              </a:rPr>
              <a:t>08   </a:t>
            </a:r>
            <a:r>
              <a:rPr sz="1700" b="0" i="0">
                <a:solidFill>
                  <a:srgbClr val="1B2330"/>
                </a:solidFill>
                <a:latin typeface="Montserrat"/>
              </a:rPr>
              <a:t>Tu categoría B</a:t>
            </a:r>
          </a:p>
          <a:p>
            <a:pPr>
              <a:spcAft>
                <a:spcPts val="900"/>
              </a:spcAft>
            </a:pPr>
            <a:r>
              <a:rPr sz="1800" b="1" i="0">
                <a:solidFill>
                  <a:srgbClr val="E8801A"/>
                </a:solidFill>
                <a:latin typeface="Montserrat"/>
              </a:rPr>
              <a:t>09   </a:t>
            </a:r>
            <a:r>
              <a:rPr sz="1700" b="0" i="0">
                <a:solidFill>
                  <a:srgbClr val="1B2330"/>
                </a:solidFill>
                <a:latin typeface="Montserrat"/>
              </a:rPr>
              <a:t>No las confundas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 ARTÍCULO 12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ITC-ICG 11?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listado oficial de normas UNE</a:t>
            </a:r>
          </a:p>
          <a:p>
            <a:pPr>
              <a:spcAft>
                <a:spcPts val="1100"/>
              </a:spcAft>
            </a:pPr>
            <a:r>
              <a:rPr sz="1600" b="1" i="0">
                <a:solidFill>
                  <a:srgbClr val="E8801A"/>
                </a:solidFill>
                <a:latin typeface="Montserrat"/>
              </a:rPr>
              <a:t>▸  </a:t>
            </a:r>
            <a:r>
              <a:rPr sz="1600" b="0" i="0">
                <a:solidFill>
                  <a:srgbClr val="1B2330"/>
                </a:solidFill>
                <a:latin typeface="Montserrat"/>
              </a:rPr>
              <a:t>Remite el artículo 12 del Reglamento</a:t>
            </a:r>
          </a:p>
          <a:p>
            <a:pPr>
              <a:spcAft>
                <a:spcPts val="1100"/>
              </a:spcAft>
            </a:pPr>
            <a:r>
              <a:rPr sz="1600" b="1" i="0">
                <a:solidFill>
                  <a:srgbClr val="E8801A"/>
                </a:solidFill>
                <a:latin typeface="Montserrat"/>
              </a:rPr>
              <a:t>▸  </a:t>
            </a:r>
            <a:r>
              <a:rPr sz="1600" b="0" i="0">
                <a:solidFill>
                  <a:srgbClr val="1B2330"/>
                </a:solidFill>
                <a:latin typeface="Montserrat"/>
              </a:rPr>
              <a:t>No añade requisitos técnicos nuevos</a:t>
            </a:r>
          </a:p>
        </p:txBody>
      </p:sp>
      <p:sp>
        <p:nvSpPr>
          <p:cNvPr id="9" name="imgph" descr="IMGQ:technical standards documents binder on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standards documents binder on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CÓMO ENTENDERLA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índice, no un manual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Dice qué normas existen</a:t>
            </a:r>
          </a:p>
          <a:p>
            <a:pPr>
              <a:spcAft>
                <a:spcPts val="1100"/>
              </a:spcAft>
            </a:pPr>
            <a:r>
              <a:rPr sz="1600" b="1" i="0">
                <a:solidFill>
                  <a:srgbClr val="E8801A"/>
                </a:solidFill>
                <a:latin typeface="Montserrat"/>
              </a:rPr>
              <a:t>▸  </a:t>
            </a:r>
            <a:r>
              <a:rPr sz="1600" b="0" i="0">
                <a:solidFill>
                  <a:srgbClr val="1B2330"/>
                </a:solidFill>
                <a:latin typeface="Montserrat"/>
              </a:rPr>
              <a:t>No explica cómo se hace cada cosa</a:t>
            </a:r>
          </a:p>
          <a:p>
            <a:pPr>
              <a:spcAft>
                <a:spcPts val="1100"/>
              </a:spcAft>
            </a:pPr>
            <a:r>
              <a:rPr sz="1600" b="1" i="0">
                <a:solidFill>
                  <a:srgbClr val="E8801A"/>
                </a:solidFill>
                <a:latin typeface="Montserrat"/>
              </a:rPr>
              <a:t>▸  </a:t>
            </a:r>
            <a:r>
              <a:rPr sz="1600" b="0" i="0">
                <a:solidFill>
                  <a:srgbClr val="1B2330"/>
                </a:solidFill>
                <a:latin typeface="Montserrat"/>
              </a:rPr>
              <a:t>El contenido está en cada UNE</a:t>
            </a:r>
          </a:p>
        </p:txBody>
      </p:sp>
      <p:sp>
        <p:nvSpPr>
          <p:cNvPr id="9" name="imgph" descr="IMGQ:person reading table of contents in boo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reading table of contents in book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POR QUÉ EXISTE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ITC solo para la lista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Las normas se revisan a menudo</a:t>
            </a:r>
          </a:p>
          <a:p>
            <a:pPr>
              <a:spcAft>
                <a:spcPts val="1100"/>
              </a:spcAft>
            </a:pPr>
            <a:r>
              <a:rPr sz="1600" b="1" i="0">
                <a:solidFill>
                  <a:srgbClr val="E8801A"/>
                </a:solidFill>
                <a:latin typeface="Montserrat"/>
              </a:rPr>
              <a:t>▸  </a:t>
            </a:r>
            <a:r>
              <a:rPr sz="1600" b="0" i="0">
                <a:solidFill>
                  <a:srgbClr val="1B2330"/>
                </a:solidFill>
                <a:latin typeface="Montserrat"/>
              </a:rPr>
              <a:t>Se actualiza por Resolución</a:t>
            </a:r>
          </a:p>
          <a:p>
            <a:pPr>
              <a:spcAft>
                <a:spcPts val="1100"/>
              </a:spcAft>
            </a:pPr>
            <a:r>
              <a:rPr sz="1600" b="1" i="0">
                <a:solidFill>
                  <a:srgbClr val="E8801A"/>
                </a:solidFill>
                <a:latin typeface="Montserrat"/>
              </a:rPr>
              <a:t>▸  </a:t>
            </a:r>
            <a:r>
              <a:rPr sz="1600" b="0" i="0">
                <a:solidFill>
                  <a:srgbClr val="1B2330"/>
                </a:solidFill>
                <a:latin typeface="Montserrat"/>
              </a:rPr>
              <a:t>Sin tocar el Reglamento entero</a:t>
            </a:r>
          </a:p>
        </p:txBody>
      </p:sp>
      <p:sp>
        <p:nvSpPr>
          <p:cNvPr id="9" name="imgph" descr="IMGQ:government official gazette document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government official gazette documents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12 · LA CITA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normas se citan sin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Las ITC citan la UNE sin fecha</a:t>
            </a:r>
          </a:p>
          <a:p>
            <a:pPr>
              <a:spcAft>
                <a:spcPts val="1100"/>
              </a:spcAft>
            </a:pPr>
            <a:r>
              <a:rPr sz="1600" b="1" i="0">
                <a:solidFill>
                  <a:srgbClr val="E8801A"/>
                </a:solidFill>
                <a:latin typeface="Montserrat"/>
              </a:rPr>
              <a:t>▸  </a:t>
            </a:r>
            <a:r>
              <a:rPr sz="1600" b="0" i="0">
                <a:solidFill>
                  <a:srgbClr val="1B2330"/>
                </a:solidFill>
                <a:latin typeface="Montserrat"/>
              </a:rPr>
              <a:t>El año figura solo en la ICG 11</a:t>
            </a:r>
          </a:p>
          <a:p>
            <a:pPr>
              <a:spcAft>
                <a:spcPts val="1100"/>
              </a:spcAft>
            </a:pPr>
            <a:r>
              <a:rPr sz="1600" b="1" i="0">
                <a:solidFill>
                  <a:srgbClr val="E8801A"/>
                </a:solidFill>
                <a:latin typeface="Montserrat"/>
              </a:rPr>
              <a:t>▸  </a:t>
            </a:r>
            <a:r>
              <a:rPr sz="1600" b="0" i="0">
                <a:solidFill>
                  <a:srgbClr val="1B2330"/>
                </a:solidFill>
                <a:latin typeface="Montserrat"/>
              </a:rPr>
              <a:t>Regla: usa la edición vigente</a:t>
            </a:r>
          </a:p>
        </p:txBody>
      </p:sp>
      <p:sp>
        <p:nvSpPr>
          <p:cNvPr id="9" name="imgph" descr="IMGQ:copper gas pipe wall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wall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CUANDO CAMBIA UNA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periodo de coexistencia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nueva edición no mata a la antigua</a:t>
            </a:r>
          </a:p>
          <a:p>
            <a:pPr>
              <a:spcAft>
                <a:spcPts val="1100"/>
              </a:spcAft>
            </a:pPr>
            <a:r>
              <a:rPr sz="1600" b="1" i="0">
                <a:solidFill>
                  <a:srgbClr val="E8801A"/>
                </a:solidFill>
                <a:latin typeface="Montserrat"/>
              </a:rPr>
              <a:t>▸  </a:t>
            </a:r>
            <a:r>
              <a:rPr sz="1600" b="0" i="0">
                <a:solidFill>
                  <a:srgbClr val="1B2330"/>
                </a:solidFill>
                <a:latin typeface="Montserrat"/>
              </a:rPr>
              <a:t>Un tramo valen las dos</a:t>
            </a:r>
          </a:p>
          <a:p>
            <a:pPr>
              <a:spcAft>
                <a:spcPts val="1100"/>
              </a:spcAft>
            </a:pPr>
            <a:r>
              <a:rPr sz="1600" b="1" i="0">
                <a:solidFill>
                  <a:srgbClr val="E8801A"/>
                </a:solidFill>
                <a:latin typeface="Montserrat"/>
              </a:rPr>
              <a:t>▸  </a:t>
            </a:r>
            <a:r>
              <a:rPr sz="1600" b="0" i="0">
                <a:solidFill>
                  <a:srgbClr val="1B2330"/>
                </a:solidFill>
                <a:latin typeface="Montserrat"/>
              </a:rPr>
              <a:t>La Resolución fija las fechas</a:t>
            </a:r>
          </a:p>
        </p:txBody>
      </p:sp>
      <p:sp>
        <p:nvSpPr>
          <p:cNvPr id="9" name="imgph" descr="IMGQ:calendar planning on offic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planning on office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LOS PREFIJOS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dónde viene cada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española (AENOR)</a:t>
            </a:r>
          </a:p>
          <a:p>
            <a:pPr>
              <a:spcAft>
                <a:spcPts val="1100"/>
              </a:spcAft>
            </a:pPr>
            <a:r>
              <a:rPr sz="1600" b="1" i="0">
                <a:solidFill>
                  <a:srgbClr val="E8801A"/>
                </a:solidFill>
                <a:latin typeface="Montserrat"/>
              </a:rPr>
              <a:t>▸  </a:t>
            </a:r>
            <a:r>
              <a:rPr sz="1600" b="0" i="0">
                <a:solidFill>
                  <a:srgbClr val="1B2330"/>
                </a:solidFill>
                <a:latin typeface="Montserrat"/>
              </a:rPr>
              <a:t>UNE-EN: europea adoptada</a:t>
            </a:r>
          </a:p>
          <a:p>
            <a:pPr>
              <a:spcAft>
                <a:spcPts val="1100"/>
              </a:spcAft>
            </a:pPr>
            <a:r>
              <a:rPr sz="1600" b="1" i="0">
                <a:solidFill>
                  <a:srgbClr val="E8801A"/>
                </a:solidFill>
                <a:latin typeface="Montserrat"/>
              </a:rPr>
              <a:t>▸  </a:t>
            </a:r>
            <a:r>
              <a:rPr sz="1600" b="0" i="0">
                <a:solidFill>
                  <a:srgbClr val="1B2330"/>
                </a:solidFill>
                <a:latin typeface="Montserrat"/>
              </a:rPr>
              <a:t>UNE-EN ISO: internacional</a:t>
            </a:r>
          </a:p>
          <a:p>
            <a:pPr>
              <a:spcAft>
                <a:spcPts val="1100"/>
              </a:spcAft>
            </a:pPr>
            <a:r>
              <a:rPr sz="1600" b="1" i="0">
                <a:solidFill>
                  <a:srgbClr val="E8801A"/>
                </a:solidFill>
                <a:latin typeface="Montserrat"/>
              </a:rPr>
              <a:t>▸  </a:t>
            </a:r>
            <a:r>
              <a:rPr sz="1600" b="0" i="0">
                <a:solidFill>
                  <a:srgbClr val="1B2330"/>
                </a:solidFill>
                <a:latin typeface="Montserrat"/>
              </a:rPr>
              <a:t>UNE-CEN/TR: informe técnico</a:t>
            </a:r>
          </a:p>
        </p:txBody>
      </p:sp>
      <p:sp>
        <p:nvSpPr>
          <p:cNvPr id="9" name="imgph" descr="IMGQ:european union flags row"/>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union flags row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SERIE 60XXX Y 123XXX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Normas UNE nacionales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60xxx: núcleo nacional del gas</a:t>
            </a:r>
          </a:p>
          <a:p>
            <a:pPr>
              <a:spcAft>
                <a:spcPts val="1100"/>
              </a:spcAft>
            </a:pPr>
            <a:r>
              <a:rPr sz="1600" b="1" i="0">
                <a:solidFill>
                  <a:srgbClr val="E8801A"/>
                </a:solidFill>
                <a:latin typeface="Montserrat"/>
              </a:rPr>
              <a:t>▸  </a:t>
            </a:r>
            <a:r>
              <a:rPr sz="1600" b="0" i="0">
                <a:solidFill>
                  <a:srgbClr val="1B2330"/>
                </a:solidFill>
                <a:latin typeface="Montserrat"/>
              </a:rPr>
              <a:t>Distribución: 60310 / 60311 / 60312</a:t>
            </a:r>
          </a:p>
          <a:p>
            <a:pPr>
              <a:spcAft>
                <a:spcPts val="1100"/>
              </a:spcAft>
            </a:pPr>
            <a:r>
              <a:rPr sz="1600" b="1" i="0">
                <a:solidFill>
                  <a:srgbClr val="E8801A"/>
                </a:solidFill>
                <a:latin typeface="Montserrat"/>
              </a:rPr>
              <a:t>▸  </a:t>
            </a:r>
            <a:r>
              <a:rPr sz="1600" b="0" i="0">
                <a:solidFill>
                  <a:srgbClr val="1B2330"/>
                </a:solidFill>
                <a:latin typeface="Montserrat"/>
              </a:rPr>
              <a:t>Receptoras y GLP: 60620, 60670, 60250</a:t>
            </a:r>
          </a:p>
          <a:p>
            <a:pPr>
              <a:spcAft>
                <a:spcPts val="1100"/>
              </a:spcAft>
            </a:pPr>
            <a:r>
              <a:rPr sz="1600" b="1" i="0">
                <a:solidFill>
                  <a:srgbClr val="E8801A"/>
                </a:solidFill>
                <a:latin typeface="Montserrat"/>
              </a:rPr>
              <a:t>▸  </a:t>
            </a:r>
            <a:r>
              <a:rPr sz="1600" b="0" i="0">
                <a:solidFill>
                  <a:srgbClr val="1B2330"/>
                </a:solidFill>
                <a:latin typeface="Montserrat"/>
              </a:rPr>
              <a:t>Chimeneas: 123001</a:t>
            </a:r>
          </a:p>
        </p:txBody>
      </p:sp>
      <p:sp>
        <p:nvSpPr>
          <p:cNvPr id="9" name="imgph" descr="IMGQ:gas meter cabinet outdo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outdoor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SERIE 60XXX Y 123XXX</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 nacionales (I): distribución y receptoras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68224">
                <a:tc>
                  <a:txBody>
                    <a:bodyPr/>
                    <a:lstStyle/>
                    <a:p>
                      <a:r>
                        <a:rPr sz="1200" b="1" i="0">
                          <a:solidFill>
                            <a:srgbClr val="FFFFFF"/>
                          </a:solidFill>
                          <a:latin typeface="Montserrat"/>
                        </a:rPr>
                        <a:t>Norma UNE</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68224">
                <a:tc>
                  <a:txBody>
                    <a:bodyPr/>
                    <a:lstStyle/>
                    <a:p>
                      <a:r>
                        <a:rPr sz="1200" b="0" i="0">
                          <a:solidFill>
                            <a:srgbClr val="1B2330"/>
                          </a:solidFill>
                          <a:latin typeface="Montserrat"/>
                        </a:rPr>
                        <a:t>UNE 60210</a:t>
                      </a:r>
                    </a:p>
                  </a:txBody>
                  <a:tcPr>
                    <a:solidFill>
                      <a:srgbClr val="F6F8FC"/>
                    </a:solidFill>
                  </a:tcPr>
                </a:tc>
                <a:tc>
                  <a:txBody>
                    <a:bodyPr/>
                    <a:lstStyle/>
                    <a:p>
                      <a:r>
                        <a:rPr sz="1200" b="0" i="0">
                          <a:solidFill>
                            <a:srgbClr val="1B2330"/>
                          </a:solidFill>
                          <a:latin typeface="Montserrat"/>
                        </a:rPr>
                        <a:t>Plantas satélite de Gas Natural Licuado (GNL).</a:t>
                      </a:r>
                    </a:p>
                  </a:txBody>
                  <a:tcPr>
                    <a:solidFill>
                      <a:srgbClr val="F6F8FC"/>
                    </a:solidFill>
                  </a:tcPr>
                </a:tc>
              </a:tr>
              <a:tr h="268224">
                <a:tc>
                  <a:txBody>
                    <a:bodyPr/>
                    <a:lstStyle/>
                    <a:p>
                      <a:r>
                        <a:rPr sz="1200" b="0" i="0">
                          <a:solidFill>
                            <a:srgbClr val="1B2330"/>
                          </a:solidFill>
                          <a:latin typeface="Montserrat"/>
                        </a:rPr>
                        <a:t>UNE 60250</a:t>
                      </a:r>
                    </a:p>
                  </a:txBody>
                  <a:tcPr>
                    <a:solidFill>
                      <a:srgbClr val="FFFFFF"/>
                    </a:solidFill>
                  </a:tcPr>
                </a:tc>
                <a:tc>
                  <a:txBody>
                    <a:bodyPr/>
                    <a:lstStyle/>
                    <a:p>
                      <a:r>
                        <a:rPr sz="1200" b="0" i="0">
                          <a:solidFill>
                            <a:srgbClr val="1B2330"/>
                          </a:solidFill>
                          <a:latin typeface="Montserrat"/>
                        </a:rPr>
                        <a:t>Instalaciones de suministro de Gases Licuados del Petróleo (GLP) en depósitos fijos para su consumo en instalaciones receptoras.</a:t>
                      </a:r>
                    </a:p>
                  </a:txBody>
                  <a:tcPr>
                    <a:solidFill>
                      <a:srgbClr val="FFFFFF"/>
                    </a:solidFill>
                  </a:tcPr>
                </a:tc>
              </a:tr>
              <a:tr h="268224">
                <a:tc>
                  <a:txBody>
                    <a:bodyPr/>
                    <a:lstStyle/>
                    <a:p>
                      <a:r>
                        <a:rPr sz="1200" b="0" i="0">
                          <a:solidFill>
                            <a:srgbClr val="1B2330"/>
                          </a:solidFill>
                          <a:latin typeface="Montserrat"/>
                        </a:rPr>
                        <a:t>UNE 60310</a:t>
                      </a:r>
                    </a:p>
                  </a:txBody>
                  <a:tcPr>
                    <a:solidFill>
                      <a:srgbClr val="F6F8FC"/>
                    </a:solidFill>
                  </a:tcPr>
                </a:tc>
                <a:tc>
                  <a:txBody>
                    <a:bodyPr/>
                    <a:lstStyle/>
                    <a:p>
                      <a:r>
                        <a:rPr sz="1200" b="0" i="0">
                          <a:solidFill>
                            <a:srgbClr val="1B2330"/>
                          </a:solidFill>
                          <a:latin typeface="Montserrat"/>
                        </a:rPr>
                        <a:t>Canalizaciones de distribución de combustibles gaseosos con presión máxima de operación superior a 5 bar e igual o inferior a 16 bar.</a:t>
                      </a:r>
                    </a:p>
                  </a:txBody>
                  <a:tcPr>
                    <a:solidFill>
                      <a:srgbClr val="F6F8FC"/>
                    </a:solidFill>
                  </a:tcPr>
                </a:tc>
              </a:tr>
              <a:tr h="268224">
                <a:tc>
                  <a:txBody>
                    <a:bodyPr/>
                    <a:lstStyle/>
                    <a:p>
                      <a:r>
                        <a:rPr sz="1200" b="0" i="0">
                          <a:solidFill>
                            <a:srgbClr val="1B2330"/>
                          </a:solidFill>
                          <a:latin typeface="Montserrat"/>
                        </a:rPr>
                        <a:t>UNE 60310/1M</a:t>
                      </a:r>
                    </a:p>
                  </a:txBody>
                  <a:tcPr>
                    <a:solidFill>
                      <a:srgbClr val="FFFFFF"/>
                    </a:solidFill>
                  </a:tcPr>
                </a:tc>
                <a:tc>
                  <a:txBody>
                    <a:bodyPr/>
                    <a:lstStyle/>
                    <a:p>
                      <a:r>
                        <a:rPr sz="1200" b="0" i="0">
                          <a:solidFill>
                            <a:srgbClr val="1B2330"/>
                          </a:solidFill>
                          <a:latin typeface="Montserrat"/>
                        </a:rPr>
                        <a:t>Canalizaciones de combustibles gaseosos con MOP superior a 5 bar e inferior o igual a 16 bar (modificación de la UNE 60310).</a:t>
                      </a:r>
                    </a:p>
                  </a:txBody>
                  <a:tcPr>
                    <a:solidFill>
                      <a:srgbClr val="FFFFFF"/>
                    </a:solidFill>
                  </a:tcPr>
                </a:tc>
              </a:tr>
              <a:tr h="268224">
                <a:tc>
                  <a:txBody>
                    <a:bodyPr/>
                    <a:lstStyle/>
                    <a:p>
                      <a:r>
                        <a:rPr sz="1200" b="0" i="0">
                          <a:solidFill>
                            <a:srgbClr val="1B2330"/>
                          </a:solidFill>
                          <a:latin typeface="Montserrat"/>
                        </a:rPr>
                        <a:t>UNE 60311</a:t>
                      </a:r>
                    </a:p>
                  </a:txBody>
                  <a:tcPr>
                    <a:solidFill>
                      <a:srgbClr val="F6F8FC"/>
                    </a:solidFill>
                  </a:tcPr>
                </a:tc>
                <a:tc>
                  <a:txBody>
                    <a:bodyPr/>
                    <a:lstStyle/>
                    <a:p>
                      <a:r>
                        <a:rPr sz="1200" b="0" i="0">
                          <a:solidFill>
                            <a:srgbClr val="1B2330"/>
                          </a:solidFill>
                          <a:latin typeface="Montserrat"/>
                        </a:rPr>
                        <a:t>Canalizaciones de distribución de combustibles gaseosos con MOP igual o inferior a 5 bar.</a:t>
                      </a:r>
                    </a:p>
                  </a:txBody>
                  <a:tcPr>
                    <a:solidFill>
                      <a:srgbClr val="F6F8FC"/>
                    </a:solidFill>
                  </a:tcPr>
                </a:tc>
              </a:tr>
              <a:tr h="268224">
                <a:tc>
                  <a:txBody>
                    <a:bodyPr/>
                    <a:lstStyle/>
                    <a:p>
                      <a:r>
                        <a:rPr sz="1200" b="0" i="0">
                          <a:solidFill>
                            <a:srgbClr val="1B2330"/>
                          </a:solidFill>
                          <a:latin typeface="Montserrat"/>
                        </a:rPr>
                        <a:t>UNE 60311/1M</a:t>
                      </a:r>
                    </a:p>
                  </a:txBody>
                  <a:tcPr>
                    <a:solidFill>
                      <a:srgbClr val="FFFFFF"/>
                    </a:solidFill>
                  </a:tcPr>
                </a:tc>
                <a:tc>
                  <a:txBody>
                    <a:bodyPr/>
                    <a:lstStyle/>
                    <a:p>
                      <a:r>
                        <a:rPr sz="1200" b="0" i="0">
                          <a:solidFill>
                            <a:srgbClr val="1B2330"/>
                          </a:solidFill>
                          <a:latin typeface="Montserrat"/>
                        </a:rPr>
                        <a:t>Canalizaciones de distribución de combustibles gaseosos con MOP igual o inferior a 5 bar (modificación de la UNE 60311).</a:t>
                      </a:r>
                    </a:p>
                  </a:txBody>
                  <a:tcPr>
                    <a:solidFill>
                      <a:srgbClr val="FFFFFF"/>
                    </a:solidFill>
                  </a:tcPr>
                </a:tc>
              </a:tr>
              <a:tr h="268224">
                <a:tc>
                  <a:txBody>
                    <a:bodyPr/>
                    <a:lstStyle/>
                    <a:p>
                      <a:r>
                        <a:rPr sz="1200" b="0" i="0">
                          <a:solidFill>
                            <a:srgbClr val="1B2330"/>
                          </a:solidFill>
                          <a:latin typeface="Montserrat"/>
                        </a:rPr>
                        <a:t>UNE 60312</a:t>
                      </a:r>
                    </a:p>
                  </a:txBody>
                  <a:tcPr>
                    <a:solidFill>
                      <a:srgbClr val="F6F8FC"/>
                    </a:solidFill>
                  </a:tcPr>
                </a:tc>
                <a:tc>
                  <a:txBody>
                    <a:bodyPr/>
                    <a:lstStyle/>
                    <a:p>
                      <a:r>
                        <a:rPr sz="1200" b="0" i="0">
                          <a:solidFill>
                            <a:srgbClr val="1B2330"/>
                          </a:solidFill>
                          <a:latin typeface="Montserrat"/>
                        </a:rPr>
                        <a:t>Estaciones de regulación para canalizaciones de distribución con presión de entrada no superior a 16 bar.</a:t>
                      </a:r>
                    </a:p>
                  </a:txBody>
                  <a:tcPr>
                    <a:solidFill>
                      <a:srgbClr val="F6F8FC"/>
                    </a:solidFill>
                  </a:tcPr>
                </a:tc>
              </a:tr>
              <a:tr h="268224">
                <a:tc>
                  <a:txBody>
                    <a:bodyPr/>
                    <a:lstStyle/>
                    <a:p>
                      <a:r>
                        <a:rPr sz="1200" b="0" i="0">
                          <a:solidFill>
                            <a:srgbClr val="1B2330"/>
                          </a:solidFill>
                          <a:latin typeface="Montserrat"/>
                        </a:rPr>
                        <a:t>UNE 60601</a:t>
                      </a:r>
                    </a:p>
                  </a:txBody>
                  <a:tcPr>
                    <a:solidFill>
                      <a:srgbClr val="FFFFFF"/>
                    </a:solidFill>
                  </a:tcPr>
                </a:tc>
                <a:tc>
                  <a:txBody>
                    <a:bodyPr/>
                    <a:lstStyle/>
                    <a:p>
                      <a:r>
                        <a:rPr sz="1200" b="0" i="0">
                          <a:solidFill>
                            <a:srgbClr val="1B2330"/>
                          </a:solidFill>
                          <a:latin typeface="Montserrat"/>
                        </a:rPr>
                        <a:t>Salas de máquinas y equipos autónomos de generación de calor o frío o para cogeneración que utilizan combustibles gaseosos.</a:t>
                      </a:r>
                    </a:p>
                  </a:txBody>
                  <a:tcPr>
                    <a:solidFill>
                      <a:srgbClr val="FFFFFF"/>
                    </a:solidFill>
                  </a:tcPr>
                </a:tc>
              </a:tr>
              <a:tr h="268224">
                <a:tc>
                  <a:txBody>
                    <a:bodyPr/>
                    <a:lstStyle/>
                    <a:p>
                      <a:r>
                        <a:rPr sz="1200" b="0" i="0">
                          <a:solidFill>
                            <a:srgbClr val="1B2330"/>
                          </a:solidFill>
                          <a:latin typeface="Montserrat"/>
                        </a:rPr>
                        <a:t>UNE 60620-1</a:t>
                      </a:r>
                    </a:p>
                  </a:txBody>
                  <a:tcPr>
                    <a:solidFill>
                      <a:srgbClr val="F6F8FC"/>
                    </a:solidFill>
                  </a:tcPr>
                </a:tc>
                <a:tc>
                  <a:txBody>
                    <a:bodyPr/>
                    <a:lstStyle/>
                    <a:p>
                      <a:r>
                        <a:rPr sz="1200" b="0" i="0">
                          <a:solidFill>
                            <a:srgbClr val="1B2330"/>
                          </a:solidFill>
                          <a:latin typeface="Montserrat"/>
                        </a:rPr>
                        <a:t>Instalaciones receptoras de gas natural a presiones superiores a 5 bar. Parte 1: Generalidades.</a:t>
                      </a:r>
                    </a:p>
                  </a:txBody>
                  <a:tcPr>
                    <a:solidFill>
                      <a:srgbClr val="F6F8FC"/>
                    </a:solidFill>
                  </a:tcPr>
                </a:tc>
              </a:tr>
              <a:tr h="268224">
                <a:tc>
                  <a:txBody>
                    <a:bodyPr/>
                    <a:lstStyle/>
                    <a:p>
                      <a:r>
                        <a:rPr sz="1200" b="0" i="0">
                          <a:solidFill>
                            <a:srgbClr val="1B2330"/>
                          </a:solidFill>
                          <a:latin typeface="Montserrat"/>
                        </a:rPr>
                        <a:t>UNE 60620-2</a:t>
                      </a:r>
                    </a:p>
                  </a:txBody>
                  <a:tcPr>
                    <a:solidFill>
                      <a:srgbClr val="FFFFFF"/>
                    </a:solidFill>
                  </a:tcPr>
                </a:tc>
                <a:tc>
                  <a:txBody>
                    <a:bodyPr/>
                    <a:lstStyle/>
                    <a:p>
                      <a:r>
                        <a:rPr sz="1200" b="0" i="0">
                          <a:solidFill>
                            <a:srgbClr val="1B2330"/>
                          </a:solidFill>
                          <a:latin typeface="Montserrat"/>
                        </a:rPr>
                        <a:t>Instalaciones receptoras de gas natural a presiones superiores a 5 bar. Parte 2: Acometidas interiores.</a:t>
                      </a:r>
                    </a:p>
                  </a:txBody>
                  <a:tcPr>
                    <a:solidFill>
                      <a:srgbClr val="FFFFFF"/>
                    </a:solidFill>
                  </a:tcPr>
                </a:tc>
              </a:tr>
              <a:tr h="268224">
                <a:tc>
                  <a:txBody>
                    <a:bodyPr/>
                    <a:lstStyle/>
                    <a:p>
                      <a:r>
                        <a:rPr sz="1200" b="0" i="0">
                          <a:solidFill>
                            <a:srgbClr val="1B2330"/>
                          </a:solidFill>
                          <a:latin typeface="Montserrat"/>
                        </a:rPr>
                        <a:t>UNE 60620-3</a:t>
                      </a:r>
                    </a:p>
                  </a:txBody>
                  <a:tcPr>
                    <a:solidFill>
                      <a:srgbClr val="F6F8FC"/>
                    </a:solidFill>
                  </a:tcPr>
                </a:tc>
                <a:tc>
                  <a:txBody>
                    <a:bodyPr/>
                    <a:lstStyle/>
                    <a:p>
                      <a:r>
                        <a:rPr sz="1200" b="0" i="0">
                          <a:solidFill>
                            <a:srgbClr val="1B2330"/>
                          </a:solidFill>
                          <a:latin typeface="Montserrat"/>
                        </a:rPr>
                        <a:t>Instalaciones receptoras de gas natural a presiones superiores a 5 bar. Parte 3: Estaciones de regulación y medida.</a:t>
                      </a:r>
                    </a:p>
                  </a:txBody>
                  <a:tcPr>
                    <a:solidFill>
                      <a:srgbClr val="F6F8FC"/>
                    </a:solidFill>
                  </a:tcPr>
                </a:tc>
              </a:tr>
              <a:tr h="268224">
                <a:tc>
                  <a:txBody>
                    <a:bodyPr/>
                    <a:lstStyle/>
                    <a:p>
                      <a:r>
                        <a:rPr sz="1200" b="0" i="0">
                          <a:solidFill>
                            <a:srgbClr val="1B2330"/>
                          </a:solidFill>
                          <a:latin typeface="Montserrat"/>
                        </a:rPr>
                        <a:t>UNE 60620-4</a:t>
                      </a:r>
                    </a:p>
                  </a:txBody>
                  <a:tcPr>
                    <a:solidFill>
                      <a:srgbClr val="FFFFFF"/>
                    </a:solidFill>
                  </a:tcPr>
                </a:tc>
                <a:tc>
                  <a:txBody>
                    <a:bodyPr/>
                    <a:lstStyle/>
                    <a:p>
                      <a:r>
                        <a:rPr sz="1200" b="0" i="0">
                          <a:solidFill>
                            <a:srgbClr val="1B2330"/>
                          </a:solidFill>
                          <a:latin typeface="Montserrat"/>
                        </a:rPr>
                        <a:t>Instalaciones receptoras de gas natural a presiones superiores a 5 bar. Parte 4: Grupos de regulación.</a:t>
                      </a:r>
                    </a:p>
                  </a:txBody>
                  <a:tcPr>
                    <a:solidFill>
                      <a:srgbClr val="FFFFFF"/>
                    </a:solidFill>
                  </a:tcPr>
                </a:tc>
              </a:tr>
              <a:tr h="268224">
                <a:tc>
                  <a:txBody>
                    <a:bodyPr/>
                    <a:lstStyle/>
                    <a:p>
                      <a:r>
                        <a:rPr sz="1200" b="0" i="0">
                          <a:solidFill>
                            <a:srgbClr val="1B2330"/>
                          </a:solidFill>
                          <a:latin typeface="Montserrat"/>
                        </a:rPr>
                        <a:t>UNE 60620-5</a:t>
                      </a:r>
                    </a:p>
                  </a:txBody>
                  <a:tcPr>
                    <a:solidFill>
                      <a:srgbClr val="F6F8FC"/>
                    </a:solidFill>
                  </a:tcPr>
                </a:tc>
                <a:tc>
                  <a:txBody>
                    <a:bodyPr/>
                    <a:lstStyle/>
                    <a:p>
                      <a:r>
                        <a:rPr sz="1200" b="0" i="0">
                          <a:solidFill>
                            <a:srgbClr val="1B2330"/>
                          </a:solidFill>
                          <a:latin typeface="Montserrat"/>
                        </a:rPr>
                        <a:t>Instalaciones receptoras de gas natural a presiones superiores a 5 bar. Parte 5: Control periódico de las instalaciones en servicio.</a:t>
                      </a:r>
                    </a:p>
                  </a:txBody>
                  <a:tcPr>
                    <a:solidFill>
                      <a:srgbClr val="F6F8FC"/>
                    </a:solidFill>
                  </a:tcPr>
                </a:tc>
              </a:tr>
              <a:tr h="268224">
                <a:tc>
                  <a:txBody>
                    <a:bodyPr/>
                    <a:lstStyle/>
                    <a:p>
                      <a:r>
                        <a:rPr sz="1200" b="0" i="0">
                          <a:solidFill>
                            <a:srgbClr val="1B2330"/>
                          </a:solidFill>
                          <a:latin typeface="Montserrat"/>
                        </a:rPr>
                        <a:t>UNE 60630</a:t>
                      </a:r>
                    </a:p>
                  </a:txBody>
                  <a:tcPr>
                    <a:solidFill>
                      <a:srgbClr val="FFFFFF"/>
                    </a:solidFill>
                  </a:tcPr>
                </a:tc>
                <a:tc>
                  <a:txBody>
                    <a:bodyPr/>
                    <a:lstStyle/>
                    <a:p>
                      <a:r>
                        <a:rPr sz="1200" b="0" i="0">
                          <a:solidFill>
                            <a:srgbClr val="1B2330"/>
                          </a:solidFill>
                          <a:latin typeface="Montserrat"/>
                        </a:rPr>
                        <a:t>Diseño, construcción, montaje y explotación de estaciones de servicio de GLP para vehículos a motor.</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MOP es la máxima presión de operación: la presión más alta a la que la instalación trabaja de forma normal.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SERIE 60XXX Y 123XXX</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 nacionales (II): la serie 60670</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51460">
                <a:tc>
                  <a:txBody>
                    <a:bodyPr/>
                    <a:lstStyle/>
                    <a:p>
                      <a:r>
                        <a:rPr sz="1200" b="1" i="0">
                          <a:solidFill>
                            <a:srgbClr val="FFFFFF"/>
                          </a:solidFill>
                          <a:latin typeface="Montserrat"/>
                        </a:rPr>
                        <a:t>Norma UNE</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51460">
                <a:tc>
                  <a:txBody>
                    <a:bodyPr/>
                    <a:lstStyle/>
                    <a:p>
                      <a:r>
                        <a:rPr sz="1200" b="0" i="0">
                          <a:solidFill>
                            <a:srgbClr val="1B2330"/>
                          </a:solidFill>
                          <a:latin typeface="Montserrat"/>
                        </a:rPr>
                        <a:t>UNE 60670-1</a:t>
                      </a:r>
                    </a:p>
                  </a:txBody>
                  <a:tcPr>
                    <a:solidFill>
                      <a:srgbClr val="F6F8FC"/>
                    </a:solidFill>
                  </a:tcPr>
                </a:tc>
                <a:tc>
                  <a:txBody>
                    <a:bodyPr/>
                    <a:lstStyle/>
                    <a:p>
                      <a:r>
                        <a:rPr sz="1200" b="0" i="0">
                          <a:solidFill>
                            <a:srgbClr val="1B2330"/>
                          </a:solidFill>
                          <a:latin typeface="Montserrat"/>
                        </a:rPr>
                        <a:t>Instalaciones receptoras de gas con MOP inferior o igual a 5 bar. Parte 1: Generalidades.</a:t>
                      </a:r>
                    </a:p>
                  </a:txBody>
                  <a:tcPr>
                    <a:solidFill>
                      <a:srgbClr val="F6F8FC"/>
                    </a:solidFill>
                  </a:tcPr>
                </a:tc>
              </a:tr>
              <a:tr h="251460">
                <a:tc>
                  <a:txBody>
                    <a:bodyPr/>
                    <a:lstStyle/>
                    <a:p>
                      <a:r>
                        <a:rPr sz="1200" b="0" i="0">
                          <a:solidFill>
                            <a:srgbClr val="1B2330"/>
                          </a:solidFill>
                          <a:latin typeface="Montserrat"/>
                        </a:rPr>
                        <a:t>UNE 60670-2</a:t>
                      </a:r>
                    </a:p>
                  </a:txBody>
                  <a:tcPr>
                    <a:solidFill>
                      <a:srgbClr val="FFFFFF"/>
                    </a:solidFill>
                  </a:tcPr>
                </a:tc>
                <a:tc>
                  <a:txBody>
                    <a:bodyPr/>
                    <a:lstStyle/>
                    <a:p>
                      <a:r>
                        <a:rPr sz="1200" b="0" i="0">
                          <a:solidFill>
                            <a:srgbClr val="1B2330"/>
                          </a:solidFill>
                          <a:latin typeface="Montserrat"/>
                        </a:rPr>
                        <a:t>Instalaciones receptoras de gas con MOP inferior o igual a 5 bar. Parte 2: Terminología.</a:t>
                      </a:r>
                    </a:p>
                  </a:txBody>
                  <a:tcPr>
                    <a:solidFill>
                      <a:srgbClr val="FFFFFF"/>
                    </a:solidFill>
                  </a:tcPr>
                </a:tc>
              </a:tr>
              <a:tr h="251460">
                <a:tc>
                  <a:txBody>
                    <a:bodyPr/>
                    <a:lstStyle/>
                    <a:p>
                      <a:r>
                        <a:rPr sz="1200" b="0" i="0">
                          <a:solidFill>
                            <a:srgbClr val="1B2330"/>
                          </a:solidFill>
                          <a:latin typeface="Montserrat"/>
                        </a:rPr>
                        <a:t>UNE 60670-3</a:t>
                      </a:r>
                    </a:p>
                  </a:txBody>
                  <a:tcPr>
                    <a:solidFill>
                      <a:srgbClr val="F6F8FC"/>
                    </a:solidFill>
                  </a:tcPr>
                </a:tc>
                <a:tc>
                  <a:txBody>
                    <a:bodyPr/>
                    <a:lstStyle/>
                    <a:p>
                      <a:r>
                        <a:rPr sz="1200" b="0" i="0">
                          <a:solidFill>
                            <a:srgbClr val="1B2330"/>
                          </a:solidFill>
                          <a:latin typeface="Montserrat"/>
                        </a:rPr>
                        <a:t>Instalaciones receptoras de gas con MOP inferior o igual a 5 bar. Parte 3: Tuberías, elementos, accesorios y sus uniones.</a:t>
                      </a:r>
                    </a:p>
                  </a:txBody>
                  <a:tcPr>
                    <a:solidFill>
                      <a:srgbClr val="F6F8FC"/>
                    </a:solidFill>
                  </a:tcPr>
                </a:tc>
              </a:tr>
              <a:tr h="251460">
                <a:tc>
                  <a:txBody>
                    <a:bodyPr/>
                    <a:lstStyle/>
                    <a:p>
                      <a:r>
                        <a:rPr sz="1200" b="0" i="0">
                          <a:solidFill>
                            <a:srgbClr val="1B2330"/>
                          </a:solidFill>
                          <a:latin typeface="Montserrat"/>
                        </a:rPr>
                        <a:t>UNE 60670-4</a:t>
                      </a:r>
                    </a:p>
                  </a:txBody>
                  <a:tcPr>
                    <a:solidFill>
                      <a:srgbClr val="FFFFFF"/>
                    </a:solidFill>
                  </a:tcPr>
                </a:tc>
                <a:tc>
                  <a:txBody>
                    <a:bodyPr/>
                    <a:lstStyle/>
                    <a:p>
                      <a:r>
                        <a:rPr sz="1200" b="0" i="0">
                          <a:solidFill>
                            <a:srgbClr val="1B2330"/>
                          </a:solidFill>
                          <a:latin typeface="Montserrat"/>
                        </a:rPr>
                        <a:t>Instalaciones receptoras de gas con MOP inferior o igual a 5 bar. Parte 4: Diseño y construcción.</a:t>
                      </a:r>
                    </a:p>
                  </a:txBody>
                  <a:tcPr>
                    <a:solidFill>
                      <a:srgbClr val="FFFFFF"/>
                    </a:solidFill>
                  </a:tcPr>
                </a:tc>
              </a:tr>
              <a:tr h="251460">
                <a:tc>
                  <a:txBody>
                    <a:bodyPr/>
                    <a:lstStyle/>
                    <a:p>
                      <a:r>
                        <a:rPr sz="1200" b="0" i="0">
                          <a:solidFill>
                            <a:srgbClr val="1B2330"/>
                          </a:solidFill>
                          <a:latin typeface="Montserrat"/>
                        </a:rPr>
                        <a:t>UNE 60670-5</a:t>
                      </a:r>
                    </a:p>
                  </a:txBody>
                  <a:tcPr>
                    <a:solidFill>
                      <a:srgbClr val="F6F8FC"/>
                    </a:solidFill>
                  </a:tcPr>
                </a:tc>
                <a:tc>
                  <a:txBody>
                    <a:bodyPr/>
                    <a:lstStyle/>
                    <a:p>
                      <a:r>
                        <a:rPr sz="1200" b="0" i="0">
                          <a:solidFill>
                            <a:srgbClr val="1B2330"/>
                          </a:solidFill>
                          <a:latin typeface="Montserrat"/>
                        </a:rPr>
                        <a:t>Instalaciones receptoras de gas con MOP inferior o igual a 5 bar. Parte 5: Recintos para la instalación de contadores de gas.</a:t>
                      </a:r>
                    </a:p>
                  </a:txBody>
                  <a:tcPr>
                    <a:solidFill>
                      <a:srgbClr val="F6F8FC"/>
                    </a:solidFill>
                  </a:tcPr>
                </a:tc>
              </a:tr>
              <a:tr h="251460">
                <a:tc>
                  <a:txBody>
                    <a:bodyPr/>
                    <a:lstStyle/>
                    <a:p>
                      <a:r>
                        <a:rPr sz="1200" b="0" i="0">
                          <a:solidFill>
                            <a:srgbClr val="1B2330"/>
                          </a:solidFill>
                          <a:latin typeface="Montserrat"/>
                        </a:rPr>
                        <a:t>UNE 60670-6</a:t>
                      </a:r>
                    </a:p>
                  </a:txBody>
                  <a:tcPr>
                    <a:solidFill>
                      <a:srgbClr val="FFFFFF"/>
                    </a:solidFill>
                  </a:tcPr>
                </a:tc>
                <a:tc>
                  <a:txBody>
                    <a:bodyPr/>
                    <a:lstStyle/>
                    <a:p>
                      <a:r>
                        <a:rPr sz="1200" b="0" i="0">
                          <a:solidFill>
                            <a:srgbClr val="1B2330"/>
                          </a:solidFill>
                          <a:latin typeface="Montserrat"/>
                        </a:rPr>
                        <a:t>Instalaciones receptoras de gas con MOP inferior o igual a 5 bar. Parte 6: Configuración, ventilación y evacuación de los productos de la combustión en los locales.</a:t>
                      </a:r>
                    </a:p>
                  </a:txBody>
                  <a:tcPr>
                    <a:solidFill>
                      <a:srgbClr val="FFFFFF"/>
                    </a:solidFill>
                  </a:tcPr>
                </a:tc>
              </a:tr>
              <a:tr h="251460">
                <a:tc>
                  <a:txBody>
                    <a:bodyPr/>
                    <a:lstStyle/>
                    <a:p>
                      <a:r>
                        <a:rPr sz="1200" b="0" i="0">
                          <a:solidFill>
                            <a:srgbClr val="1B2330"/>
                          </a:solidFill>
                          <a:latin typeface="Montserrat"/>
                        </a:rPr>
                        <a:t>UNE 60670-7</a:t>
                      </a:r>
                    </a:p>
                  </a:txBody>
                  <a:tcPr>
                    <a:solidFill>
                      <a:srgbClr val="F6F8FC"/>
                    </a:solidFill>
                  </a:tcPr>
                </a:tc>
                <a:tc>
                  <a:txBody>
                    <a:bodyPr/>
                    <a:lstStyle/>
                    <a:p>
                      <a:r>
                        <a:rPr sz="1200" b="0" i="0">
                          <a:solidFill>
                            <a:srgbClr val="1B2330"/>
                          </a:solidFill>
                          <a:latin typeface="Montserrat"/>
                        </a:rPr>
                        <a:t>Instalaciones receptoras de gas con MOP inferior o igual a 5 bar. Parte 7: Instalación y conexión de los aparatos a gas.</a:t>
                      </a:r>
                    </a:p>
                  </a:txBody>
                  <a:tcPr>
                    <a:solidFill>
                      <a:srgbClr val="F6F8FC"/>
                    </a:solidFill>
                  </a:tcPr>
                </a:tc>
              </a:tr>
              <a:tr h="251460">
                <a:tc>
                  <a:txBody>
                    <a:bodyPr/>
                    <a:lstStyle/>
                    <a:p>
                      <a:r>
                        <a:rPr sz="1200" b="0" i="0">
                          <a:solidFill>
                            <a:srgbClr val="1B2330"/>
                          </a:solidFill>
                          <a:latin typeface="Montserrat"/>
                        </a:rPr>
                        <a:t>UNE 60670-8</a:t>
                      </a:r>
                    </a:p>
                  </a:txBody>
                  <a:tcPr>
                    <a:solidFill>
                      <a:srgbClr val="FFFFFF"/>
                    </a:solidFill>
                  </a:tcPr>
                </a:tc>
                <a:tc>
                  <a:txBody>
                    <a:bodyPr/>
                    <a:lstStyle/>
                    <a:p>
                      <a:r>
                        <a:rPr sz="1200" b="0" i="0">
                          <a:solidFill>
                            <a:srgbClr val="1B2330"/>
                          </a:solidFill>
                          <a:latin typeface="Montserrat"/>
                        </a:rPr>
                        <a:t>Instalaciones receptoras de gas con MOP inferior o igual a 5 bar. Parte 8: Pruebas de estanquidad para la entrega de la instalación.</a:t>
                      </a:r>
                    </a:p>
                  </a:txBody>
                  <a:tcPr>
                    <a:solidFill>
                      <a:srgbClr val="FFFFFF"/>
                    </a:solidFill>
                  </a:tcPr>
                </a:tc>
              </a:tr>
              <a:tr h="251460">
                <a:tc>
                  <a:txBody>
                    <a:bodyPr/>
                    <a:lstStyle/>
                    <a:p>
                      <a:r>
                        <a:rPr sz="1200" b="0" i="0">
                          <a:solidFill>
                            <a:srgbClr val="1B2330"/>
                          </a:solidFill>
                          <a:latin typeface="Montserrat"/>
                        </a:rPr>
                        <a:t>UNE 60670-9</a:t>
                      </a:r>
                    </a:p>
                  </a:txBody>
                  <a:tcPr>
                    <a:solidFill>
                      <a:srgbClr val="F6F8FC"/>
                    </a:solidFill>
                  </a:tcPr>
                </a:tc>
                <a:tc>
                  <a:txBody>
                    <a:bodyPr/>
                    <a:lstStyle/>
                    <a:p>
                      <a:r>
                        <a:rPr sz="1200" b="0" i="0">
                          <a:solidFill>
                            <a:srgbClr val="1B2330"/>
                          </a:solidFill>
                          <a:latin typeface="Montserrat"/>
                        </a:rPr>
                        <a:t>Instalaciones receptoras de gas con MOP inferior o igual a 5 bar. Parte 9: Pruebas previas al suministro y puesta en servicio.</a:t>
                      </a:r>
                    </a:p>
                  </a:txBody>
                  <a:tcPr>
                    <a:solidFill>
                      <a:srgbClr val="F6F8FC"/>
                    </a:solidFill>
                  </a:tcPr>
                </a:tc>
              </a:tr>
              <a:tr h="251460">
                <a:tc>
                  <a:txBody>
                    <a:bodyPr/>
                    <a:lstStyle/>
                    <a:p>
                      <a:r>
                        <a:rPr sz="1200" b="0" i="0">
                          <a:solidFill>
                            <a:srgbClr val="1B2330"/>
                          </a:solidFill>
                          <a:latin typeface="Montserrat"/>
                        </a:rPr>
                        <a:t>UNE 60670-10</a:t>
                      </a:r>
                    </a:p>
                  </a:txBody>
                  <a:tcPr>
                    <a:solidFill>
                      <a:srgbClr val="FFFFFF"/>
                    </a:solidFill>
                  </a:tcPr>
                </a:tc>
                <a:tc>
                  <a:txBody>
                    <a:bodyPr/>
                    <a:lstStyle/>
                    <a:p>
                      <a:r>
                        <a:rPr sz="1200" b="0" i="0">
                          <a:solidFill>
                            <a:srgbClr val="1B2330"/>
                          </a:solidFill>
                          <a:latin typeface="Montserrat"/>
                        </a:rPr>
                        <a:t>Instalaciones receptoras de gas con MOP inferior o igual a 5 bar. Parte 10: Verificación del mantenimiento de las condiciones de seguridad de los aparatos.</a:t>
                      </a:r>
                    </a:p>
                  </a:txBody>
                  <a:tcPr>
                    <a:solidFill>
                      <a:srgbClr val="FFFFFF"/>
                    </a:solidFill>
                  </a:tcPr>
                </a:tc>
              </a:tr>
              <a:tr h="251460">
                <a:tc>
                  <a:txBody>
                    <a:bodyPr/>
                    <a:lstStyle/>
                    <a:p>
                      <a:r>
                        <a:rPr sz="1200" b="0" i="0">
                          <a:solidFill>
                            <a:srgbClr val="1B2330"/>
                          </a:solidFill>
                          <a:latin typeface="Montserrat"/>
                        </a:rPr>
                        <a:t>UNE 60670-11</a:t>
                      </a:r>
                    </a:p>
                  </a:txBody>
                  <a:tcPr>
                    <a:solidFill>
                      <a:srgbClr val="F6F8FC"/>
                    </a:solidFill>
                  </a:tcPr>
                </a:tc>
                <a:tc>
                  <a:txBody>
                    <a:bodyPr/>
                    <a:lstStyle/>
                    <a:p>
                      <a:r>
                        <a:rPr sz="1200" b="0" i="0">
                          <a:solidFill>
                            <a:srgbClr val="1B2330"/>
                          </a:solidFill>
                          <a:latin typeface="Montserrat"/>
                        </a:rPr>
                        <a:t>Instalaciones receptoras de gas con MOP inferior o igual a 5 bar. Parte 11: Operaciones en instalaciones receptoras en servicio.</a:t>
                      </a:r>
                    </a:p>
                  </a:txBody>
                  <a:tcPr>
                    <a:solidFill>
                      <a:srgbClr val="F6F8FC"/>
                    </a:solidFill>
                  </a:tcPr>
                </a:tc>
              </a:tr>
              <a:tr h="251460">
                <a:tc>
                  <a:txBody>
                    <a:bodyPr/>
                    <a:lstStyle/>
                    <a:p>
                      <a:r>
                        <a:rPr sz="1200" b="0" i="0">
                          <a:solidFill>
                            <a:srgbClr val="1B2330"/>
                          </a:solidFill>
                          <a:latin typeface="Montserrat"/>
                        </a:rPr>
                        <a:t>UNE 60670-12</a:t>
                      </a:r>
                    </a:p>
                  </a:txBody>
                  <a:tcPr>
                    <a:solidFill>
                      <a:srgbClr val="FFFFFF"/>
                    </a:solidFill>
                  </a:tcPr>
                </a:tc>
                <a:tc>
                  <a:txBody>
                    <a:bodyPr/>
                    <a:lstStyle/>
                    <a:p>
                      <a:r>
                        <a:rPr sz="1200" b="0" i="0">
                          <a:solidFill>
                            <a:srgbClr val="1B2330"/>
                          </a:solidFill>
                          <a:latin typeface="Montserrat"/>
                        </a:rPr>
                        <a:t>Instalaciones receptoras de gas con MOP inferior o igual a 5 bar. Parte 12: Control periódico de las instalaciones receptoras en servicio.</a:t>
                      </a:r>
                    </a:p>
                  </a:txBody>
                  <a:tcPr>
                    <a:solidFill>
                      <a:srgbClr val="FFFFFF"/>
                    </a:solidFill>
                  </a:tcPr>
                </a:tc>
              </a:tr>
              <a:tr h="251460">
                <a:tc>
                  <a:txBody>
                    <a:bodyPr/>
                    <a:lstStyle/>
                    <a:p>
                      <a:r>
                        <a:rPr sz="1200" b="0" i="0">
                          <a:solidFill>
                            <a:srgbClr val="1B2330"/>
                          </a:solidFill>
                          <a:latin typeface="Montserrat"/>
                        </a:rPr>
                        <a:t>UNE 60670-13</a:t>
                      </a:r>
                    </a:p>
                  </a:txBody>
                  <a:tcPr>
                    <a:solidFill>
                      <a:srgbClr val="F6F8FC"/>
                    </a:solidFill>
                  </a:tcPr>
                </a:tc>
                <a:tc>
                  <a:txBody>
                    <a:bodyPr/>
                    <a:lstStyle/>
                    <a:p>
                      <a:r>
                        <a:rPr sz="1200" b="0" i="0">
                          <a:solidFill>
                            <a:srgbClr val="1B2330"/>
                          </a:solidFill>
                          <a:latin typeface="Montserrat"/>
                        </a:rPr>
                        <a:t>Instalaciones receptoras de gas con MOP inferior o igual a 5 bar. Parte 13: Control periódico de los aparatos a gas de las instalaciones en servicio.</a:t>
                      </a:r>
                    </a:p>
                  </a:txBody>
                  <a:tcPr>
                    <a:solidFill>
                      <a:srgbClr val="F6F8FC"/>
                    </a:solidFill>
                  </a:tcPr>
                </a:tc>
              </a:tr>
              <a:tr h="251460">
                <a:tc>
                  <a:txBody>
                    <a:bodyPr/>
                    <a:lstStyle/>
                    <a:p>
                      <a:r>
                        <a:rPr sz="1200" b="0" i="0">
                          <a:solidFill>
                            <a:srgbClr val="1B2330"/>
                          </a:solidFill>
                          <a:latin typeface="Montserrat"/>
                        </a:rPr>
                        <a:t>UNE 60750</a:t>
                      </a:r>
                    </a:p>
                  </a:txBody>
                  <a:tcPr>
                    <a:solidFill>
                      <a:srgbClr val="FFFFFF"/>
                    </a:solidFill>
                  </a:tcPr>
                </a:tc>
                <a:tc>
                  <a:txBody>
                    <a:bodyPr/>
                    <a:lstStyle/>
                    <a:p>
                      <a:r>
                        <a:rPr sz="1200" b="0" i="0">
                          <a:solidFill>
                            <a:srgbClr val="1B2330"/>
                          </a:solidFill>
                          <a:latin typeface="Montserrat"/>
                        </a:rPr>
                        <a:t>Indelebilidad y durabilidad del marcado de aparatos a gas, depósitos de gas y componentes y accesorios de instalaciones de gas.</a:t>
                      </a:r>
                    </a:p>
                  </a:txBody>
                  <a:tcPr>
                    <a:solidFill>
                      <a:srgbClr val="FFFFFF"/>
                    </a:solidFill>
                  </a:tcPr>
                </a:tc>
              </a:tr>
              <a:tr h="251460">
                <a:tc>
                  <a:txBody>
                    <a:bodyPr/>
                    <a:lstStyle/>
                    <a:p>
                      <a:r>
                        <a:rPr sz="1200" b="0" i="0">
                          <a:solidFill>
                            <a:srgbClr val="1B2330"/>
                          </a:solidFill>
                          <a:latin typeface="Montserrat"/>
                        </a:rPr>
                        <a:t>UNE 123001</a:t>
                      </a:r>
                    </a:p>
                  </a:txBody>
                  <a:tcPr>
                    <a:solidFill>
                      <a:srgbClr val="F6F8FC"/>
                    </a:solidFill>
                  </a:tcPr>
                </a:tc>
                <a:tc>
                  <a:txBody>
                    <a:bodyPr/>
                    <a:lstStyle/>
                    <a:p>
                      <a:r>
                        <a:rPr sz="1200" b="0" i="0">
                          <a:solidFill>
                            <a:srgbClr val="1B2330"/>
                          </a:solidFill>
                          <a:latin typeface="Montserrat"/>
                        </a:rPr>
                        <a:t>Cálculo, diseño e instalación de chimeneas modulares.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serie 60670 (partes 1 a 13) son las instalaciones receptoras hasta 5 bar: el corazón de la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parte de la UNE 60670 trata las pruebas de estanquidad para la entrega de la instalación?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60670-6</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60670-7</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 60670-8</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 60670-9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parte de la UNE 60670 trata las pruebas de estanquidad para la entrega de la instalación?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UNE 60670-8</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UNE 60670-8 son las pruebas de estanquidad para la entrega. La -6 es ventilación y evacuación de humos, la -7 conexión de aparatos y la -9 pruebas previas al suministro.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TU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serie 60670, tu pan de cada día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Lo doméstico y comercial</a:t>
            </a:r>
          </a:p>
          <a:p>
            <a:pPr>
              <a:spcAft>
                <a:spcPts val="1100"/>
              </a:spcAft>
            </a:pPr>
            <a:r>
              <a:rPr sz="1600" b="1" i="0">
                <a:solidFill>
                  <a:srgbClr val="E8801A"/>
                </a:solidFill>
                <a:latin typeface="Montserrat"/>
              </a:rPr>
              <a:t>▸  </a:t>
            </a:r>
            <a:r>
              <a:rPr sz="1600" b="0" i="0">
                <a:solidFill>
                  <a:srgbClr val="1B2330"/>
                </a:solidFill>
                <a:latin typeface="Montserrat"/>
              </a:rPr>
              <a:t>Troceada en 13 partes</a:t>
            </a:r>
          </a:p>
          <a:p>
            <a:pPr>
              <a:spcAft>
                <a:spcPts val="1100"/>
              </a:spcAft>
            </a:pPr>
            <a:r>
              <a:rPr sz="1600" b="1" i="0">
                <a:solidFill>
                  <a:srgbClr val="E8801A"/>
                </a:solidFill>
                <a:latin typeface="Montserrat"/>
              </a:rPr>
              <a:t>▸  </a:t>
            </a:r>
            <a:r>
              <a:rPr sz="1600" b="0" i="0">
                <a:solidFill>
                  <a:srgbClr val="1B2330"/>
                </a:solidFill>
                <a:latin typeface="Montserrat"/>
              </a:rPr>
              <a:t>60670-8: estanquidad · 60670-6: ventilación</a:t>
            </a:r>
          </a:p>
        </p:txBody>
      </p:sp>
      <p:sp>
        <p:nvSpPr>
          <p:cNvPr id="9" name="imgph" descr="IMGQ:technician checking gas boiler in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boiler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MOP: la presión lo decide todo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 máxima presión de operación</a:t>
            </a:r>
          </a:p>
          <a:p>
            <a:pPr>
              <a:spcAft>
                <a:spcPts val="1100"/>
              </a:spcAft>
            </a:pPr>
            <a:r>
              <a:rPr sz="1600" b="1" i="0">
                <a:solidFill>
                  <a:srgbClr val="E8801A"/>
                </a:solidFill>
                <a:latin typeface="Montserrat"/>
              </a:rPr>
              <a:t>▸  </a:t>
            </a:r>
            <a:r>
              <a:rPr sz="1600" b="0" i="0">
                <a:solidFill>
                  <a:srgbClr val="1B2330"/>
                </a:solidFill>
                <a:latin typeface="Montserrat"/>
              </a:rPr>
              <a:t>60670: hasta 5 bar (lo tuyo)</a:t>
            </a:r>
          </a:p>
          <a:p>
            <a:pPr>
              <a:spcAft>
                <a:spcPts val="1100"/>
              </a:spcAft>
            </a:pPr>
            <a:r>
              <a:rPr sz="1600" b="1" i="0">
                <a:solidFill>
                  <a:srgbClr val="E8801A"/>
                </a:solidFill>
                <a:latin typeface="Montserrat"/>
              </a:rPr>
              <a:t>▸  </a:t>
            </a:r>
            <a:r>
              <a:rPr sz="1600" b="0" i="0">
                <a:solidFill>
                  <a:srgbClr val="1B2330"/>
                </a:solidFill>
                <a:latin typeface="Montserrat"/>
              </a:rPr>
              <a:t>60620: más de 5 bar (industrial)</a:t>
            </a:r>
          </a:p>
          <a:p>
            <a:pPr>
              <a:spcAft>
                <a:spcPts val="1100"/>
              </a:spcAft>
            </a:pPr>
            <a:r>
              <a:rPr sz="1600" b="1" i="0">
                <a:solidFill>
                  <a:srgbClr val="E8801A"/>
                </a:solidFill>
                <a:latin typeface="Montserrat"/>
              </a:rPr>
              <a:t>▸  </a:t>
            </a:r>
            <a:r>
              <a:rPr sz="1600" b="0" i="0">
                <a:solidFill>
                  <a:srgbClr val="1B2330"/>
                </a:solidFill>
                <a:latin typeface="Montserrat"/>
              </a:rPr>
              <a:t>310/311/312: distribución, no receptora</a:t>
            </a:r>
          </a:p>
        </p:txBody>
      </p:sp>
      <p:sp>
        <p:nvSpPr>
          <p:cNvPr id="9" name="imgph" descr="IMGQ:industrial gas pressure regulator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pressure regulator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serie de normas UNE aplica a una instalación receptora doméstica con MOP inferior o igual a 5 bar?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60620</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60670</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 60311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 60312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serie de normas UNE aplica a una instalación receptora doméstica con MOP inferior o igual a 5 bar?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UNE 60670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serie 60670 regula las instalaciones receptoras hasta 5 bar, lo doméstico y comercial. La 60620 es para más de 5 bar y las 60311/60312 son de distribución.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EUROPEAS E INTERNACIONALES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Normas UNE-EN, ISO y CEN/TR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Distribución europea: 12007, 1594, 12327</a:t>
            </a:r>
          </a:p>
          <a:p>
            <a:pPr>
              <a:spcAft>
                <a:spcPts val="1100"/>
              </a:spcAft>
            </a:pPr>
            <a:r>
              <a:rPr sz="1600" b="1" i="0">
                <a:solidFill>
                  <a:srgbClr val="E8801A"/>
                </a:solidFill>
                <a:latin typeface="Montserrat"/>
              </a:rPr>
              <a:t>▸  </a:t>
            </a:r>
            <a:r>
              <a:rPr sz="1600" b="0" i="0">
                <a:solidFill>
                  <a:srgbClr val="1B2330"/>
                </a:solidFill>
                <a:latin typeface="Montserrat"/>
              </a:rPr>
              <a:t>Chimeneas: 1856-1, 13384</a:t>
            </a:r>
          </a:p>
          <a:p>
            <a:pPr>
              <a:spcAft>
                <a:spcPts val="1100"/>
              </a:spcAft>
            </a:pPr>
            <a:r>
              <a:rPr sz="1600" b="1" i="0">
                <a:solidFill>
                  <a:srgbClr val="E8801A"/>
                </a:solidFill>
                <a:latin typeface="Montserrat"/>
              </a:rPr>
              <a:t>▸  </a:t>
            </a:r>
            <a:r>
              <a:rPr sz="1600" b="0" i="0">
                <a:solidFill>
                  <a:srgbClr val="1B2330"/>
                </a:solidFill>
                <a:latin typeface="Montserrat"/>
              </a:rPr>
              <a:t>Fuego: 1363-1, 13501-1</a:t>
            </a:r>
          </a:p>
          <a:p>
            <a:pPr>
              <a:spcAft>
                <a:spcPts val="1100"/>
              </a:spcAft>
            </a:pPr>
            <a:r>
              <a:rPr sz="1600" b="1" i="0">
                <a:solidFill>
                  <a:srgbClr val="E8801A"/>
                </a:solidFill>
                <a:latin typeface="Montserrat"/>
              </a:rPr>
              <a:t>▸  </a:t>
            </a:r>
            <a:r>
              <a:rPr sz="1600" b="0" i="0">
                <a:solidFill>
                  <a:srgbClr val="1B2330"/>
                </a:solidFill>
                <a:latin typeface="Montserrat"/>
              </a:rPr>
              <a:t>Calidad: EN ISO 9001</a:t>
            </a:r>
          </a:p>
        </p:txBody>
      </p:sp>
      <p:sp>
        <p:nvSpPr>
          <p:cNvPr id="9" name="imgph" descr="IMGQ:gas distribution pipeline construction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pipeline construction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EUROPEAS E INTERNACIONALES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UNE-EN (I): fuego, chimeneas y distribución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Norma</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87382">
                <a:tc>
                  <a:txBody>
                    <a:bodyPr/>
                    <a:lstStyle/>
                    <a:p>
                      <a:r>
                        <a:rPr sz="1200" b="0" i="0">
                          <a:solidFill>
                            <a:srgbClr val="1B2330"/>
                          </a:solidFill>
                          <a:latin typeface="Montserrat"/>
                        </a:rPr>
                        <a:t>UNE-EN 3-7+A1</a:t>
                      </a:r>
                    </a:p>
                  </a:txBody>
                  <a:tcPr>
                    <a:solidFill>
                      <a:srgbClr val="F6F8FC"/>
                    </a:solidFill>
                  </a:tcPr>
                </a:tc>
                <a:tc>
                  <a:txBody>
                    <a:bodyPr/>
                    <a:lstStyle/>
                    <a:p>
                      <a:r>
                        <a:rPr sz="1200" b="0" i="0">
                          <a:solidFill>
                            <a:srgbClr val="1B2330"/>
                          </a:solidFill>
                          <a:latin typeface="Montserrat"/>
                        </a:rPr>
                        <a:t>Extintores portátiles de incendios. Parte 7: Características, requisitos de funcionamiento y métodos de ensayo.</a:t>
                      </a:r>
                    </a:p>
                  </a:txBody>
                  <a:tcPr>
                    <a:solidFill>
                      <a:srgbClr val="F6F8FC"/>
                    </a:solidFill>
                  </a:tcPr>
                </a:tc>
              </a:tr>
              <a:tr h="287382">
                <a:tc>
                  <a:txBody>
                    <a:bodyPr/>
                    <a:lstStyle/>
                    <a:p>
                      <a:r>
                        <a:rPr sz="1200" b="0" i="0">
                          <a:solidFill>
                            <a:srgbClr val="1B2330"/>
                          </a:solidFill>
                          <a:latin typeface="Montserrat"/>
                        </a:rPr>
                        <a:t>UNE-EN 437</a:t>
                      </a:r>
                    </a:p>
                  </a:txBody>
                  <a:tcPr>
                    <a:solidFill>
                      <a:srgbClr val="FFFFFF"/>
                    </a:solidFill>
                  </a:tcPr>
                </a:tc>
                <a:tc>
                  <a:txBody>
                    <a:bodyPr/>
                    <a:lstStyle/>
                    <a:p>
                      <a:r>
                        <a:rPr sz="1200" b="0" i="0">
                          <a:solidFill>
                            <a:srgbClr val="1B2330"/>
                          </a:solidFill>
                          <a:latin typeface="Montserrat"/>
                        </a:rPr>
                        <a:t>Gases de ensayo. Presiones de ensayo. Categorías de aparatos.</a:t>
                      </a:r>
                    </a:p>
                  </a:txBody>
                  <a:tcPr>
                    <a:solidFill>
                      <a:srgbClr val="FFFFFF"/>
                    </a:solidFill>
                  </a:tcPr>
                </a:tc>
              </a:tr>
              <a:tr h="287382">
                <a:tc>
                  <a:txBody>
                    <a:bodyPr/>
                    <a:lstStyle/>
                    <a:p>
                      <a:r>
                        <a:rPr sz="1200" b="0" i="0">
                          <a:solidFill>
                            <a:srgbClr val="1B2330"/>
                          </a:solidFill>
                          <a:latin typeface="Montserrat"/>
                        </a:rPr>
                        <a:t>UNE-EN 1363-1</a:t>
                      </a:r>
                    </a:p>
                  </a:txBody>
                  <a:tcPr>
                    <a:solidFill>
                      <a:srgbClr val="F6F8FC"/>
                    </a:solidFill>
                  </a:tcPr>
                </a:tc>
                <a:tc>
                  <a:txBody>
                    <a:bodyPr/>
                    <a:lstStyle/>
                    <a:p>
                      <a:r>
                        <a:rPr sz="1200" b="0" i="0">
                          <a:solidFill>
                            <a:srgbClr val="1B2330"/>
                          </a:solidFill>
                          <a:latin typeface="Montserrat"/>
                        </a:rPr>
                        <a:t>Ensayos de resistencia al fuego. Parte 1: Requisitos generales.</a:t>
                      </a:r>
                    </a:p>
                  </a:txBody>
                  <a:tcPr>
                    <a:solidFill>
                      <a:srgbClr val="F6F8FC"/>
                    </a:solidFill>
                  </a:tcPr>
                </a:tc>
              </a:tr>
              <a:tr h="287382">
                <a:tc>
                  <a:txBody>
                    <a:bodyPr/>
                    <a:lstStyle/>
                    <a:p>
                      <a:r>
                        <a:rPr sz="1200" b="0" i="0">
                          <a:solidFill>
                            <a:srgbClr val="1B2330"/>
                          </a:solidFill>
                          <a:latin typeface="Montserrat"/>
                        </a:rPr>
                        <a:t>UNE-EN 1594</a:t>
                      </a:r>
                    </a:p>
                  </a:txBody>
                  <a:tcPr>
                    <a:solidFill>
                      <a:srgbClr val="FFFFFF"/>
                    </a:solidFill>
                  </a:tcPr>
                </a:tc>
                <a:tc>
                  <a:txBody>
                    <a:bodyPr/>
                    <a:lstStyle/>
                    <a:p>
                      <a:r>
                        <a:rPr sz="1200" b="0" i="0">
                          <a:solidFill>
                            <a:srgbClr val="1B2330"/>
                          </a:solidFill>
                          <a:latin typeface="Montserrat"/>
                        </a:rPr>
                        <a:t>Sistemas de suministro de gas. Canalizaciones con MOP superior a 16 bar. Requisitos funcionales.</a:t>
                      </a:r>
                    </a:p>
                  </a:txBody>
                  <a:tcPr>
                    <a:solidFill>
                      <a:srgbClr val="FFFFFF"/>
                    </a:solidFill>
                  </a:tcPr>
                </a:tc>
              </a:tr>
              <a:tr h="287382">
                <a:tc>
                  <a:txBody>
                    <a:bodyPr/>
                    <a:lstStyle/>
                    <a:p>
                      <a:r>
                        <a:rPr sz="1200" b="0" i="0">
                          <a:solidFill>
                            <a:srgbClr val="1B2330"/>
                          </a:solidFill>
                          <a:latin typeface="Montserrat"/>
                        </a:rPr>
                        <a:t>UNE-EN 1856-1</a:t>
                      </a:r>
                    </a:p>
                  </a:txBody>
                  <a:tcPr>
                    <a:solidFill>
                      <a:srgbClr val="F6F8FC"/>
                    </a:solidFill>
                  </a:tcPr>
                </a:tc>
                <a:tc>
                  <a:txBody>
                    <a:bodyPr/>
                    <a:lstStyle/>
                    <a:p>
                      <a:r>
                        <a:rPr sz="1200" b="0" i="0">
                          <a:solidFill>
                            <a:srgbClr val="1B2330"/>
                          </a:solidFill>
                          <a:latin typeface="Montserrat"/>
                        </a:rPr>
                        <a:t>Chimeneas. Requisitos para chimeneas metálicas. Parte 1: Chimeneas modulares.</a:t>
                      </a:r>
                    </a:p>
                  </a:txBody>
                  <a:tcPr>
                    <a:solidFill>
                      <a:srgbClr val="F6F8FC"/>
                    </a:solidFill>
                  </a:tcPr>
                </a:tc>
              </a:tr>
              <a:tr h="287382">
                <a:tc>
                  <a:txBody>
                    <a:bodyPr/>
                    <a:lstStyle/>
                    <a:p>
                      <a:r>
                        <a:rPr sz="1200" b="0" i="0">
                          <a:solidFill>
                            <a:srgbClr val="1B2330"/>
                          </a:solidFill>
                          <a:latin typeface="Montserrat"/>
                        </a:rPr>
                        <a:t>UNE-EN 1949</a:t>
                      </a:r>
                    </a:p>
                  </a:txBody>
                  <a:tcPr>
                    <a:solidFill>
                      <a:srgbClr val="FFFFFF"/>
                    </a:solidFill>
                  </a:tcPr>
                </a:tc>
                <a:tc>
                  <a:txBody>
                    <a:bodyPr/>
                    <a:lstStyle/>
                    <a:p>
                      <a:r>
                        <a:rPr sz="1200" b="0" i="0">
                          <a:solidFill>
                            <a:srgbClr val="1B2330"/>
                          </a:solidFill>
                          <a:latin typeface="Montserrat"/>
                        </a:rPr>
                        <a:t>Instalaciones de sistemas de GLP para usos domésticos en vehículos habitables de recreo y para alojamiento en otros vehículos.</a:t>
                      </a:r>
                    </a:p>
                  </a:txBody>
                  <a:tcPr>
                    <a:solidFill>
                      <a:srgbClr val="FFFFFF"/>
                    </a:solidFill>
                  </a:tcPr>
                </a:tc>
              </a:tr>
              <a:tr h="287382">
                <a:tc>
                  <a:txBody>
                    <a:bodyPr/>
                    <a:lstStyle/>
                    <a:p>
                      <a:r>
                        <a:rPr sz="1200" b="0" i="0">
                          <a:solidFill>
                            <a:srgbClr val="1B2330"/>
                          </a:solidFill>
                          <a:latin typeface="Montserrat"/>
                        </a:rPr>
                        <a:t>UNE-EN 12007-1</a:t>
                      </a:r>
                    </a:p>
                  </a:txBody>
                  <a:tcPr>
                    <a:solidFill>
                      <a:srgbClr val="F6F8FC"/>
                    </a:solidFill>
                  </a:tcPr>
                </a:tc>
                <a:tc>
                  <a:txBody>
                    <a:bodyPr/>
                    <a:lstStyle/>
                    <a:p>
                      <a:r>
                        <a:rPr sz="1200" b="0" i="0">
                          <a:solidFill>
                            <a:srgbClr val="1B2330"/>
                          </a:solidFill>
                          <a:latin typeface="Montserrat"/>
                        </a:rPr>
                        <a:t>Sistemas de suministro de gas. Canalizaciones con MOP inferior o igual a 16 bar. Parte 1: Requisitos funcionales generales.</a:t>
                      </a:r>
                    </a:p>
                  </a:txBody>
                  <a:tcPr>
                    <a:solidFill>
                      <a:srgbClr val="F6F8FC"/>
                    </a:solidFill>
                  </a:tcPr>
                </a:tc>
              </a:tr>
              <a:tr h="287382">
                <a:tc>
                  <a:txBody>
                    <a:bodyPr/>
                    <a:lstStyle/>
                    <a:p>
                      <a:r>
                        <a:rPr sz="1200" b="0" i="0">
                          <a:solidFill>
                            <a:srgbClr val="1B2330"/>
                          </a:solidFill>
                          <a:latin typeface="Montserrat"/>
                        </a:rPr>
                        <a:t>UNE-EN 12007-2</a:t>
                      </a:r>
                    </a:p>
                  </a:txBody>
                  <a:tcPr>
                    <a:solidFill>
                      <a:srgbClr val="FFFFFF"/>
                    </a:solidFill>
                  </a:tcPr>
                </a:tc>
                <a:tc>
                  <a:txBody>
                    <a:bodyPr/>
                    <a:lstStyle/>
                    <a:p>
                      <a:r>
                        <a:rPr sz="1200" b="0" i="0">
                          <a:solidFill>
                            <a:srgbClr val="1B2330"/>
                          </a:solidFill>
                          <a:latin typeface="Montserrat"/>
                        </a:rPr>
                        <a:t>Canalizaciones con MOP inferior o igual a 16 bar. Parte 2: Requisitos específicos para el polietileno (MOP inferior o igual a 10 bar).</a:t>
                      </a:r>
                    </a:p>
                  </a:txBody>
                  <a:tcPr>
                    <a:solidFill>
                      <a:srgbClr val="FFFFFF"/>
                    </a:solidFill>
                  </a:tcPr>
                </a:tc>
              </a:tr>
              <a:tr h="287382">
                <a:tc>
                  <a:txBody>
                    <a:bodyPr/>
                    <a:lstStyle/>
                    <a:p>
                      <a:r>
                        <a:rPr sz="1200" b="0" i="0">
                          <a:solidFill>
                            <a:srgbClr val="1B2330"/>
                          </a:solidFill>
                          <a:latin typeface="Montserrat"/>
                        </a:rPr>
                        <a:t>UNE-EN 12007-3</a:t>
                      </a:r>
                    </a:p>
                  </a:txBody>
                  <a:tcPr>
                    <a:solidFill>
                      <a:srgbClr val="F6F8FC"/>
                    </a:solidFill>
                  </a:tcPr>
                </a:tc>
                <a:tc>
                  <a:txBody>
                    <a:bodyPr/>
                    <a:lstStyle/>
                    <a:p>
                      <a:r>
                        <a:rPr sz="1200" b="0" i="0">
                          <a:solidFill>
                            <a:srgbClr val="1B2330"/>
                          </a:solidFill>
                          <a:latin typeface="Montserrat"/>
                        </a:rPr>
                        <a:t>Canalizaciones con MOP inferior o igual a 16 bar. Parte 3: Recomendaciones funcionales específicas para el acero.</a:t>
                      </a:r>
                    </a:p>
                  </a:txBody>
                  <a:tcPr>
                    <a:solidFill>
                      <a:srgbClr val="F6F8FC"/>
                    </a:solidFill>
                  </a:tcPr>
                </a:tc>
              </a:tr>
              <a:tr h="287382">
                <a:tc>
                  <a:txBody>
                    <a:bodyPr/>
                    <a:lstStyle/>
                    <a:p>
                      <a:r>
                        <a:rPr sz="1200" b="0" i="0">
                          <a:solidFill>
                            <a:srgbClr val="1B2330"/>
                          </a:solidFill>
                          <a:latin typeface="Montserrat"/>
                        </a:rPr>
                        <a:t>UNE-EN 12007-4</a:t>
                      </a:r>
                    </a:p>
                  </a:txBody>
                  <a:tcPr>
                    <a:solidFill>
                      <a:srgbClr val="FFFFFF"/>
                    </a:solidFill>
                  </a:tcPr>
                </a:tc>
                <a:tc>
                  <a:txBody>
                    <a:bodyPr/>
                    <a:lstStyle/>
                    <a:p>
                      <a:r>
                        <a:rPr sz="1200" b="0" i="0">
                          <a:solidFill>
                            <a:srgbClr val="1B2330"/>
                          </a:solidFill>
                          <a:latin typeface="Montserrat"/>
                        </a:rPr>
                        <a:t>Canalizaciones con MOP inferior o igual a 16 bar. Parte 4: Recomendaciones funcionales específicas para la renovación.</a:t>
                      </a:r>
                    </a:p>
                  </a:txBody>
                  <a:tcPr>
                    <a:solidFill>
                      <a:srgbClr val="FFFFFF"/>
                    </a:solidFill>
                  </a:tcPr>
                </a:tc>
              </a:tr>
              <a:tr h="287382">
                <a:tc>
                  <a:txBody>
                    <a:bodyPr/>
                    <a:lstStyle/>
                    <a:p>
                      <a:r>
                        <a:rPr sz="1200" b="0" i="0">
                          <a:solidFill>
                            <a:srgbClr val="1B2330"/>
                          </a:solidFill>
                          <a:latin typeface="Montserrat"/>
                        </a:rPr>
                        <a:t>UNE-EN 12007-5</a:t>
                      </a:r>
                    </a:p>
                  </a:txBody>
                  <a:tcPr>
                    <a:solidFill>
                      <a:srgbClr val="F6F8FC"/>
                    </a:solidFill>
                  </a:tcPr>
                </a:tc>
                <a:tc>
                  <a:txBody>
                    <a:bodyPr/>
                    <a:lstStyle/>
                    <a:p>
                      <a:r>
                        <a:rPr sz="1200" b="0" i="0">
                          <a:solidFill>
                            <a:srgbClr val="1B2330"/>
                          </a:solidFill>
                          <a:latin typeface="Montserrat"/>
                        </a:rPr>
                        <a:t>Canalizaciones con MOP inferior o igual a 16 bar. Parte 5: Acometidas. Requisitos funcionales específicos.</a:t>
                      </a:r>
                    </a:p>
                  </a:txBody>
                  <a:tcPr>
                    <a:solidFill>
                      <a:srgbClr val="F6F8FC"/>
                    </a:solidFill>
                  </a:tcPr>
                </a:tc>
              </a:tr>
              <a:tr h="287382">
                <a:tc>
                  <a:txBody>
                    <a:bodyPr/>
                    <a:lstStyle/>
                    <a:p>
                      <a:r>
                        <a:rPr sz="1200" b="0" i="0">
                          <a:solidFill>
                            <a:srgbClr val="1B2330"/>
                          </a:solidFill>
                          <a:latin typeface="Montserrat"/>
                        </a:rPr>
                        <a:t>UNE-EN 12186</a:t>
                      </a:r>
                    </a:p>
                  </a:txBody>
                  <a:tcPr>
                    <a:solidFill>
                      <a:srgbClr val="FFFFFF"/>
                    </a:solidFill>
                  </a:tcPr>
                </a:tc>
                <a:tc>
                  <a:txBody>
                    <a:bodyPr/>
                    <a:lstStyle/>
                    <a:p>
                      <a:r>
                        <a:rPr sz="1200" b="0" i="0">
                          <a:solidFill>
                            <a:srgbClr val="1B2330"/>
                          </a:solidFill>
                          <a:latin typeface="Montserrat"/>
                        </a:rPr>
                        <a:t>Infraestructura gasista. Estaciones de regulación de presión de gas para el transporte y la distribución. Requisitos de funcionamiento.</a:t>
                      </a:r>
                    </a:p>
                  </a:txBody>
                  <a:tcPr>
                    <a:solidFill>
                      <a:srgbClr val="FFFFFF"/>
                    </a:solidFill>
                  </a:tcPr>
                </a:tc>
              </a:tr>
              <a:tr h="287394">
                <a:tc>
                  <a:txBody>
                    <a:bodyPr/>
                    <a:lstStyle/>
                    <a:p>
                      <a:r>
                        <a:rPr sz="1200" b="0" i="0">
                          <a:solidFill>
                            <a:srgbClr val="1B2330"/>
                          </a:solidFill>
                          <a:latin typeface="Montserrat"/>
                        </a:rPr>
                        <a:t>UNE-EN 12327</a:t>
                      </a:r>
                    </a:p>
                  </a:txBody>
                  <a:tcPr>
                    <a:solidFill>
                      <a:srgbClr val="F6F8FC"/>
                    </a:solidFill>
                  </a:tcPr>
                </a:tc>
                <a:tc>
                  <a:txBody>
                    <a:bodyPr/>
                    <a:lstStyle/>
                    <a:p>
                      <a:r>
                        <a:rPr sz="1200" b="0" i="0">
                          <a:solidFill>
                            <a:srgbClr val="1B2330"/>
                          </a:solidFill>
                          <a:latin typeface="Montserrat"/>
                        </a:rPr>
                        <a:t>Sistemas de suministro de gas. Ensayos de presión, puesta en servicio y fuera de servicio. Requisitos funcionales.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Las UNE-EN son normas europeas adoptadas como españolas; valen por igual en todos los países que las adoptan.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EUROPEAS E INTERNACIONALES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UNE-EN (II): GLP, calidad y tipos de aparato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Norma</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87382">
                <a:tc>
                  <a:txBody>
                    <a:bodyPr/>
                    <a:lstStyle/>
                    <a:p>
                      <a:r>
                        <a:rPr sz="1200" b="0" i="0">
                          <a:solidFill>
                            <a:srgbClr val="1B2330"/>
                          </a:solidFill>
                          <a:latin typeface="Montserrat"/>
                        </a:rPr>
                        <a:t>UNE-EN 12864</a:t>
                      </a:r>
                    </a:p>
                  </a:txBody>
                  <a:tcPr>
                    <a:solidFill>
                      <a:srgbClr val="F6F8FC"/>
                    </a:solidFill>
                  </a:tcPr>
                </a:tc>
                <a:tc>
                  <a:txBody>
                    <a:bodyPr/>
                    <a:lstStyle/>
                    <a:p>
                      <a:r>
                        <a:rPr sz="1200" b="0" i="0">
                          <a:solidFill>
                            <a:srgbClr val="1B2330"/>
                          </a:solidFill>
                          <a:latin typeface="Montserrat"/>
                        </a:rPr>
                        <a:t>Reguladores de reglaje fijo para presiones de salida inferiores o iguales a 200 mbar y caudal inferior o igual a 4 kg/h, con dispositivos de seguridad, para butano, propano o sus mezclas.</a:t>
                      </a:r>
                    </a:p>
                  </a:txBody>
                  <a:tcPr>
                    <a:solidFill>
                      <a:srgbClr val="F6F8FC"/>
                    </a:solidFill>
                  </a:tcPr>
                </a:tc>
              </a:tr>
              <a:tr h="287382">
                <a:tc>
                  <a:txBody>
                    <a:bodyPr/>
                    <a:lstStyle/>
                    <a:p>
                      <a:r>
                        <a:rPr sz="1200" b="0" i="0">
                          <a:solidFill>
                            <a:srgbClr val="1B2330"/>
                          </a:solidFill>
                          <a:latin typeface="Montserrat"/>
                        </a:rPr>
                        <a:t>UNE-EN 12864/A1</a:t>
                      </a:r>
                    </a:p>
                  </a:txBody>
                  <a:tcPr>
                    <a:solidFill>
                      <a:srgbClr val="FFFFFF"/>
                    </a:solidFill>
                  </a:tcPr>
                </a:tc>
                <a:tc>
                  <a:txBody>
                    <a:bodyPr/>
                    <a:lstStyle/>
                    <a:p>
                      <a:r>
                        <a:rPr sz="1200" b="0" i="0">
                          <a:solidFill>
                            <a:srgbClr val="1B2330"/>
                          </a:solidFill>
                          <a:latin typeface="Montserrat"/>
                        </a:rPr>
                        <a:t>Reguladores de reglaje fijo (200 mbar, 4 kg/h) para butano, propano o sus mezclas (modificación A1 de la UNE-EN 12864).</a:t>
                      </a:r>
                    </a:p>
                  </a:txBody>
                  <a:tcPr>
                    <a:solidFill>
                      <a:srgbClr val="FFFFFF"/>
                    </a:solidFill>
                  </a:tcPr>
                </a:tc>
              </a:tr>
              <a:tr h="287382">
                <a:tc>
                  <a:txBody>
                    <a:bodyPr/>
                    <a:lstStyle/>
                    <a:p>
                      <a:r>
                        <a:rPr sz="1200" b="0" i="0">
                          <a:solidFill>
                            <a:srgbClr val="1B2330"/>
                          </a:solidFill>
                          <a:latin typeface="Montserrat"/>
                        </a:rPr>
                        <a:t>UNE-EN 12864/A2</a:t>
                      </a:r>
                    </a:p>
                  </a:txBody>
                  <a:tcPr>
                    <a:solidFill>
                      <a:srgbClr val="F6F8FC"/>
                    </a:solidFill>
                  </a:tcPr>
                </a:tc>
                <a:tc>
                  <a:txBody>
                    <a:bodyPr/>
                    <a:lstStyle/>
                    <a:p>
                      <a:r>
                        <a:rPr sz="1200" b="0" i="0">
                          <a:solidFill>
                            <a:srgbClr val="1B2330"/>
                          </a:solidFill>
                          <a:latin typeface="Montserrat"/>
                        </a:rPr>
                        <a:t>Reguladores de reglaje fijo (200 mbar, 4 kg/h) para butano, propano o sus mezclas (modificación A2 de la UNE-EN 12864).</a:t>
                      </a:r>
                    </a:p>
                  </a:txBody>
                  <a:tcPr>
                    <a:solidFill>
                      <a:srgbClr val="F6F8FC"/>
                    </a:solidFill>
                  </a:tcPr>
                </a:tc>
              </a:tr>
              <a:tr h="287382">
                <a:tc>
                  <a:txBody>
                    <a:bodyPr/>
                    <a:lstStyle/>
                    <a:p>
                      <a:r>
                        <a:rPr sz="1200" b="0" i="0">
                          <a:solidFill>
                            <a:srgbClr val="1B2330"/>
                          </a:solidFill>
                          <a:latin typeface="Montserrat"/>
                        </a:rPr>
                        <a:t>UNE-EN 12864/A3</a:t>
                      </a:r>
                    </a:p>
                  </a:txBody>
                  <a:tcPr>
                    <a:solidFill>
                      <a:srgbClr val="FFFFFF"/>
                    </a:solidFill>
                  </a:tcPr>
                </a:tc>
                <a:tc>
                  <a:txBody>
                    <a:bodyPr/>
                    <a:lstStyle/>
                    <a:p>
                      <a:r>
                        <a:rPr sz="1200" b="0" i="0">
                          <a:solidFill>
                            <a:srgbClr val="1B2330"/>
                          </a:solidFill>
                          <a:latin typeface="Montserrat"/>
                        </a:rPr>
                        <a:t>Reguladores de reglaje fijo (200 mbar, 4 kg/h) para butano, propano o sus mezclas (modificación A3 de la UNE-EN 12864).</a:t>
                      </a:r>
                    </a:p>
                  </a:txBody>
                  <a:tcPr>
                    <a:solidFill>
                      <a:srgbClr val="FFFFFF"/>
                    </a:solidFill>
                  </a:tcPr>
                </a:tc>
              </a:tr>
              <a:tr h="287382">
                <a:tc>
                  <a:txBody>
                    <a:bodyPr/>
                    <a:lstStyle/>
                    <a:p>
                      <a:r>
                        <a:rPr sz="1200" b="0" i="0">
                          <a:solidFill>
                            <a:srgbClr val="1B2330"/>
                          </a:solidFill>
                          <a:latin typeface="Montserrat"/>
                        </a:rPr>
                        <a:t>UNE-EN 13384-1+A1</a:t>
                      </a:r>
                    </a:p>
                  </a:txBody>
                  <a:tcPr>
                    <a:solidFill>
                      <a:srgbClr val="F6F8FC"/>
                    </a:solidFill>
                  </a:tcPr>
                </a:tc>
                <a:tc>
                  <a:txBody>
                    <a:bodyPr/>
                    <a:lstStyle/>
                    <a:p>
                      <a:r>
                        <a:rPr sz="1200" b="0" i="0">
                          <a:solidFill>
                            <a:srgbClr val="1B2330"/>
                          </a:solidFill>
                          <a:latin typeface="Montserrat"/>
                        </a:rPr>
                        <a:t>Chimeneas. Métodos de cálculo térmicos y fluidodinámicos. Parte 1: Chimeneas que dan servicio a un único aparato de calefacción.</a:t>
                      </a:r>
                    </a:p>
                  </a:txBody>
                  <a:tcPr>
                    <a:solidFill>
                      <a:srgbClr val="F6F8FC"/>
                    </a:solidFill>
                  </a:tcPr>
                </a:tc>
              </a:tr>
              <a:tr h="287382">
                <a:tc>
                  <a:txBody>
                    <a:bodyPr/>
                    <a:lstStyle/>
                    <a:p>
                      <a:r>
                        <a:rPr sz="1200" b="0" i="0">
                          <a:solidFill>
                            <a:srgbClr val="1B2330"/>
                          </a:solidFill>
                          <a:latin typeface="Montserrat"/>
                        </a:rPr>
                        <a:t>UNE-EN 13384-2+A1</a:t>
                      </a:r>
                    </a:p>
                  </a:txBody>
                  <a:tcPr>
                    <a:solidFill>
                      <a:srgbClr val="FFFFFF"/>
                    </a:solidFill>
                  </a:tcPr>
                </a:tc>
                <a:tc>
                  <a:txBody>
                    <a:bodyPr/>
                    <a:lstStyle/>
                    <a:p>
                      <a:r>
                        <a:rPr sz="1200" b="0" i="0">
                          <a:solidFill>
                            <a:srgbClr val="1B2330"/>
                          </a:solidFill>
                          <a:latin typeface="Montserrat"/>
                        </a:rPr>
                        <a:t>Chimeneas. Métodos de cálculo térmicos y de fluidos dinámicos. Parte 2: Chimeneas que dan servicio a más de un generador de calor.</a:t>
                      </a:r>
                    </a:p>
                  </a:txBody>
                  <a:tcPr>
                    <a:solidFill>
                      <a:srgbClr val="FFFFFF"/>
                    </a:solidFill>
                  </a:tcPr>
                </a:tc>
              </a:tr>
              <a:tr h="287382">
                <a:tc>
                  <a:txBody>
                    <a:bodyPr/>
                    <a:lstStyle/>
                    <a:p>
                      <a:r>
                        <a:rPr sz="1200" b="0" i="0">
                          <a:solidFill>
                            <a:srgbClr val="1B2330"/>
                          </a:solidFill>
                          <a:latin typeface="Montserrat"/>
                        </a:rPr>
                        <a:t>UNE-EN 13501-1</a:t>
                      </a:r>
                    </a:p>
                  </a:txBody>
                  <a:tcPr>
                    <a:solidFill>
                      <a:srgbClr val="F6F8FC"/>
                    </a:solidFill>
                  </a:tcPr>
                </a:tc>
                <a:tc>
                  <a:txBody>
                    <a:bodyPr/>
                    <a:lstStyle/>
                    <a:p>
                      <a:r>
                        <a:rPr sz="1200" b="0" i="0">
                          <a:solidFill>
                            <a:srgbClr val="1B2330"/>
                          </a:solidFill>
                          <a:latin typeface="Montserrat"/>
                        </a:rPr>
                        <a:t>Clasificación frente al fuego de los productos de construcción. Parte 1: A partir de datos de ensayos de reacción al fuego.</a:t>
                      </a:r>
                    </a:p>
                  </a:txBody>
                  <a:tcPr>
                    <a:solidFill>
                      <a:srgbClr val="F6F8FC"/>
                    </a:solidFill>
                  </a:tcPr>
                </a:tc>
              </a:tr>
              <a:tr h="287382">
                <a:tc>
                  <a:txBody>
                    <a:bodyPr/>
                    <a:lstStyle/>
                    <a:p>
                      <a:r>
                        <a:rPr sz="1200" b="0" i="0">
                          <a:solidFill>
                            <a:srgbClr val="1B2330"/>
                          </a:solidFill>
                          <a:latin typeface="Montserrat"/>
                        </a:rPr>
                        <a:t>UNE-EN 13786+A1</a:t>
                      </a:r>
                    </a:p>
                  </a:txBody>
                  <a:tcPr>
                    <a:solidFill>
                      <a:srgbClr val="FFFFFF"/>
                    </a:solidFill>
                  </a:tcPr>
                </a:tc>
                <a:tc>
                  <a:txBody>
                    <a:bodyPr/>
                    <a:lstStyle/>
                    <a:p>
                      <a:r>
                        <a:rPr sz="1200" b="0" i="0">
                          <a:solidFill>
                            <a:srgbClr val="1B2330"/>
                          </a:solidFill>
                          <a:latin typeface="Montserrat"/>
                        </a:rPr>
                        <a:t>Inversores automáticos con presión máxima de salida inferior o igual a 4 bar y caudal inferior o igual a 100 kg/h, con dispositivos de seguridad, para butano, propano y sus mezclas.</a:t>
                      </a:r>
                    </a:p>
                  </a:txBody>
                  <a:tcPr>
                    <a:solidFill>
                      <a:srgbClr val="FFFFFF"/>
                    </a:solidFill>
                  </a:tcPr>
                </a:tc>
              </a:tr>
              <a:tr h="287382">
                <a:tc>
                  <a:txBody>
                    <a:bodyPr/>
                    <a:lstStyle/>
                    <a:p>
                      <a:r>
                        <a:rPr sz="1200" b="0" i="0">
                          <a:solidFill>
                            <a:srgbClr val="1B2330"/>
                          </a:solidFill>
                          <a:latin typeface="Montserrat"/>
                        </a:rPr>
                        <a:t>UNE-EN 16436-1+A2</a:t>
                      </a:r>
                    </a:p>
                  </a:txBody>
                  <a:tcPr>
                    <a:solidFill>
                      <a:srgbClr val="F6F8FC"/>
                    </a:solidFill>
                  </a:tcPr>
                </a:tc>
                <a:tc>
                  <a:txBody>
                    <a:bodyPr/>
                    <a:lstStyle/>
                    <a:p>
                      <a:r>
                        <a:rPr sz="1200" b="0" i="0">
                          <a:solidFill>
                            <a:srgbClr val="1B2330"/>
                          </a:solidFill>
                          <a:latin typeface="Montserrat"/>
                        </a:rPr>
                        <a:t>Mangueras y tubos de elastómero y plástico para propano, butano y sus mezclas en fase vapor. Parte 1: Mangueras y tubos.</a:t>
                      </a:r>
                    </a:p>
                  </a:txBody>
                  <a:tcPr>
                    <a:solidFill>
                      <a:srgbClr val="F6F8FC"/>
                    </a:solidFill>
                  </a:tcPr>
                </a:tc>
              </a:tr>
              <a:tr h="287382">
                <a:tc>
                  <a:txBody>
                    <a:bodyPr/>
                    <a:lstStyle/>
                    <a:p>
                      <a:r>
                        <a:rPr sz="1200" b="0" i="0">
                          <a:solidFill>
                            <a:srgbClr val="1B2330"/>
                          </a:solidFill>
                          <a:latin typeface="Montserrat"/>
                        </a:rPr>
                        <a:t>UNE-EN 16436-2+A2</a:t>
                      </a:r>
                    </a:p>
                  </a:txBody>
                  <a:tcPr>
                    <a:solidFill>
                      <a:srgbClr val="FFFFFF"/>
                    </a:solidFill>
                  </a:tcPr>
                </a:tc>
                <a:tc>
                  <a:txBody>
                    <a:bodyPr/>
                    <a:lstStyle/>
                    <a:p>
                      <a:r>
                        <a:rPr sz="1200" b="0" i="0">
                          <a:solidFill>
                            <a:srgbClr val="1B2330"/>
                          </a:solidFill>
                          <a:latin typeface="Montserrat"/>
                        </a:rPr>
                        <a:t>Mangueras y tubos de elastómero y plástico para propano, butano y sus mezclas en fase vapor. Parte 2: Conjuntos con accesorios de unión.</a:t>
                      </a:r>
                    </a:p>
                  </a:txBody>
                  <a:tcPr>
                    <a:solidFill>
                      <a:srgbClr val="FFFFFF"/>
                    </a:solidFill>
                  </a:tcPr>
                </a:tc>
              </a:tr>
              <a:tr h="287382">
                <a:tc>
                  <a:txBody>
                    <a:bodyPr/>
                    <a:lstStyle/>
                    <a:p>
                      <a:r>
                        <a:rPr sz="1200" b="0" i="0">
                          <a:solidFill>
                            <a:srgbClr val="1B2330"/>
                          </a:solidFill>
                          <a:latin typeface="Montserrat"/>
                        </a:rPr>
                        <a:t>UNE-EN ISO 9001</a:t>
                      </a:r>
                    </a:p>
                  </a:txBody>
                  <a:tcPr>
                    <a:solidFill>
                      <a:srgbClr val="F6F8FC"/>
                    </a:solidFill>
                  </a:tcPr>
                </a:tc>
                <a:tc>
                  <a:txBody>
                    <a:bodyPr/>
                    <a:lstStyle/>
                    <a:p>
                      <a:r>
                        <a:rPr sz="1200" b="0" i="0">
                          <a:solidFill>
                            <a:srgbClr val="1B2330"/>
                          </a:solidFill>
                          <a:latin typeface="Montserrat"/>
                        </a:rPr>
                        <a:t>Sistemas de gestión de la calidad. Requisitos.</a:t>
                      </a:r>
                    </a:p>
                  </a:txBody>
                  <a:tcPr>
                    <a:solidFill>
                      <a:srgbClr val="F6F8FC"/>
                    </a:solidFill>
                  </a:tcPr>
                </a:tc>
              </a:tr>
              <a:tr h="287382">
                <a:tc>
                  <a:txBody>
                    <a:bodyPr/>
                    <a:lstStyle/>
                    <a:p>
                      <a:r>
                        <a:rPr sz="1200" b="0" i="0">
                          <a:solidFill>
                            <a:srgbClr val="1B2330"/>
                          </a:solidFill>
                          <a:latin typeface="Montserrat"/>
                        </a:rPr>
                        <a:t>UNE-EN ISO 16923</a:t>
                      </a:r>
                    </a:p>
                  </a:txBody>
                  <a:tcPr>
                    <a:solidFill>
                      <a:srgbClr val="FFFFFF"/>
                    </a:solidFill>
                  </a:tcPr>
                </a:tc>
                <a:tc>
                  <a:txBody>
                    <a:bodyPr/>
                    <a:lstStyle/>
                    <a:p>
                      <a:r>
                        <a:rPr sz="1200" b="0" i="0">
                          <a:solidFill>
                            <a:srgbClr val="1B2330"/>
                          </a:solidFill>
                          <a:latin typeface="Montserrat"/>
                        </a:rPr>
                        <a:t>Estaciones de servicio para gas natural. Estaciones de GNC para repostaje de vehículos.</a:t>
                      </a:r>
                    </a:p>
                  </a:txBody>
                  <a:tcPr>
                    <a:solidFill>
                      <a:srgbClr val="FFFFFF"/>
                    </a:solidFill>
                  </a:tcPr>
                </a:tc>
              </a:tr>
              <a:tr h="287394">
                <a:tc>
                  <a:txBody>
                    <a:bodyPr/>
                    <a:lstStyle/>
                    <a:p>
                      <a:r>
                        <a:rPr sz="1200" b="0" i="0">
                          <a:solidFill>
                            <a:srgbClr val="1B2330"/>
                          </a:solidFill>
                          <a:latin typeface="Montserrat"/>
                        </a:rPr>
                        <a:t>UNE-CEN/TR 1749</a:t>
                      </a:r>
                    </a:p>
                  </a:txBody>
                  <a:tcPr>
                    <a:solidFill>
                      <a:srgbClr val="F6F8FC"/>
                    </a:solidFill>
                  </a:tcPr>
                </a:tc>
                <a:tc>
                  <a:txBody>
                    <a:bodyPr/>
                    <a:lstStyle/>
                    <a:p>
                      <a:r>
                        <a:rPr sz="1200" b="0" i="0">
                          <a:solidFill>
                            <a:srgbClr val="1B2330"/>
                          </a:solidFill>
                          <a:latin typeface="Montserrat"/>
                        </a:rPr>
                        <a:t>Esquema europeo para la clasificación de los aparatos a gas según la forma de evacuación de los productos de la combustión (tipos). Ratificada por AENOR.</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Las marcas /A1, /A2, /A3 y +A1 son la misma norma retocada, no normas nuevas: en el boletín citas la norma base.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REINA DE LAS CITAS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UNE-EN 437 y CEN/TR 1749</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437: las 3 familias de gas</a:t>
            </a:r>
          </a:p>
          <a:p>
            <a:pPr>
              <a:spcAft>
                <a:spcPts val="1100"/>
              </a:spcAft>
            </a:pPr>
            <a:r>
              <a:rPr sz="1600" b="1" i="0">
                <a:solidFill>
                  <a:srgbClr val="E8801A"/>
                </a:solidFill>
                <a:latin typeface="Montserrat"/>
              </a:rPr>
              <a:t>▸  </a:t>
            </a:r>
            <a:r>
              <a:rPr sz="1600" b="0" i="0">
                <a:solidFill>
                  <a:srgbClr val="1B2330"/>
                </a:solidFill>
                <a:latin typeface="Montserrat"/>
              </a:rPr>
              <a:t>1.ª manufacturado · 2.ª natural · 3.ª GLP</a:t>
            </a:r>
          </a:p>
          <a:p>
            <a:pPr>
              <a:spcAft>
                <a:spcPts val="1100"/>
              </a:spcAft>
            </a:pPr>
            <a:r>
              <a:rPr sz="1600" b="1" i="0">
                <a:solidFill>
                  <a:srgbClr val="E8801A"/>
                </a:solidFill>
                <a:latin typeface="Montserrat"/>
              </a:rPr>
              <a:t>▸  </a:t>
            </a:r>
            <a:r>
              <a:rPr sz="1600" b="0" i="0">
                <a:solidFill>
                  <a:srgbClr val="1B2330"/>
                </a:solidFill>
                <a:latin typeface="Montserrat"/>
              </a:rPr>
              <a:t>1749: tipos de aparato A, B, C</a:t>
            </a:r>
          </a:p>
          <a:p>
            <a:pPr>
              <a:spcAft>
                <a:spcPts val="1100"/>
              </a:spcAft>
            </a:pPr>
            <a:r>
              <a:rPr sz="1600" b="1" i="0">
                <a:solidFill>
                  <a:srgbClr val="E8801A"/>
                </a:solidFill>
                <a:latin typeface="Montserrat"/>
              </a:rPr>
              <a:t>▸  </a:t>
            </a:r>
            <a:r>
              <a:rPr sz="1600" b="0" i="0">
                <a:solidFill>
                  <a:srgbClr val="1B2330"/>
                </a:solidFill>
                <a:latin typeface="Montserrat"/>
              </a:rPr>
              <a:t>Según cómo evacúan los humos</a:t>
            </a:r>
          </a:p>
        </p:txBody>
      </p:sp>
      <p:sp>
        <p:nvSpPr>
          <p:cNvPr id="9" name="imgph" descr="IMGQ:blue gas flame on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on burner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norma define las tres familias de gas y las categorías de aparatos?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UNE-EN 437</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UNE-CEN/TR 1749</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UNE-EN ISO 9001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UNE-EN 12864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norma define las tres familias de gas y las categorías de aparatos?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UNE-EN 437</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UNE-EN 437 fija las tres familias de gas (1.ª manufacturados, 2.ª natural, 3.ª GLP) y las categorías de aparatos. La CEN/TR 1749 clasifica los aparatos por tipos A, B y C.</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GLP · LO QUE TOCAS CON LAS MANOS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Reguladores, inversores y mangueras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12864: reguladores</a:t>
            </a:r>
          </a:p>
          <a:p>
            <a:pPr>
              <a:spcAft>
                <a:spcPts val="1100"/>
              </a:spcAft>
            </a:pPr>
            <a:r>
              <a:rPr sz="1600" b="1" i="0">
                <a:solidFill>
                  <a:srgbClr val="E8801A"/>
                </a:solidFill>
                <a:latin typeface="Montserrat"/>
              </a:rPr>
              <a:t>▸  </a:t>
            </a:r>
            <a:r>
              <a:rPr sz="1600" b="0" i="0">
                <a:solidFill>
                  <a:srgbClr val="1B2330"/>
                </a:solidFill>
                <a:latin typeface="Montserrat"/>
              </a:rPr>
              <a:t>13786: inversores automáticos</a:t>
            </a:r>
          </a:p>
          <a:p>
            <a:pPr>
              <a:spcAft>
                <a:spcPts val="1100"/>
              </a:spcAft>
            </a:pPr>
            <a:r>
              <a:rPr sz="1600" b="1" i="0">
                <a:solidFill>
                  <a:srgbClr val="E8801A"/>
                </a:solidFill>
                <a:latin typeface="Montserrat"/>
              </a:rPr>
              <a:t>▸  </a:t>
            </a:r>
            <a:r>
              <a:rPr sz="1600" b="0" i="0">
                <a:solidFill>
                  <a:srgbClr val="1B2330"/>
                </a:solidFill>
                <a:latin typeface="Montserrat"/>
              </a:rPr>
              <a:t>16436: mangueras y tubos flexibles</a:t>
            </a:r>
          </a:p>
          <a:p>
            <a:pPr>
              <a:spcAft>
                <a:spcPts val="1100"/>
              </a:spcAft>
            </a:pPr>
            <a:r>
              <a:rPr sz="1600" b="1" i="0">
                <a:solidFill>
                  <a:srgbClr val="E8801A"/>
                </a:solidFill>
                <a:latin typeface="Montserrat"/>
              </a:rPr>
              <a:t>▸  </a:t>
            </a:r>
            <a:r>
              <a:rPr sz="1600" b="0" i="0">
                <a:solidFill>
                  <a:srgbClr val="1B2330"/>
                </a:solidFill>
                <a:latin typeface="Montserrat"/>
              </a:rPr>
              <a:t>Manguera agrietada = fuga típica</a:t>
            </a:r>
          </a:p>
        </p:txBody>
      </p:sp>
      <p:sp>
        <p:nvSpPr>
          <p:cNvPr id="9" name="imgph" descr="IMGQ:gas cylinder with regulator and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with regulator and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QUE NO TE LÍEN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Modificaciones y enmiendas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/1M y /A1: parche a la norma base</a:t>
            </a:r>
          </a:p>
          <a:p>
            <a:pPr>
              <a:spcAft>
                <a:spcPts val="1100"/>
              </a:spcAft>
            </a:pPr>
            <a:r>
              <a:rPr sz="1600" b="1" i="0">
                <a:solidFill>
                  <a:srgbClr val="E8801A"/>
                </a:solidFill>
                <a:latin typeface="Montserrat"/>
              </a:rPr>
              <a:t>▸  </a:t>
            </a:r>
            <a:r>
              <a:rPr sz="1600" b="0" i="0">
                <a:solidFill>
                  <a:srgbClr val="1B2330"/>
                </a:solidFill>
                <a:latin typeface="Montserrat"/>
              </a:rPr>
              <a:t>+A1 y +A2: ya vienen incorporadas</a:t>
            </a:r>
          </a:p>
          <a:p>
            <a:pPr>
              <a:spcAft>
                <a:spcPts val="1100"/>
              </a:spcAft>
            </a:pPr>
            <a:r>
              <a:rPr sz="1600" b="1" i="0">
                <a:solidFill>
                  <a:srgbClr val="E8801A"/>
                </a:solidFill>
                <a:latin typeface="Montserrat"/>
              </a:rPr>
              <a:t>▸  </a:t>
            </a:r>
            <a:r>
              <a:rPr sz="1600" b="0" i="0">
                <a:solidFill>
                  <a:srgbClr val="1B2330"/>
                </a:solidFill>
                <a:latin typeface="Montserrat"/>
              </a:rPr>
              <a:t>No son normas nuevas</a:t>
            </a:r>
          </a:p>
          <a:p>
            <a:pPr>
              <a:spcAft>
                <a:spcPts val="1100"/>
              </a:spcAft>
            </a:pPr>
            <a:r>
              <a:rPr sz="1600" b="1" i="0">
                <a:solidFill>
                  <a:srgbClr val="E8801A"/>
                </a:solidFill>
                <a:latin typeface="Montserrat"/>
              </a:rPr>
              <a:t>▸  </a:t>
            </a:r>
            <a:r>
              <a:rPr sz="1600" b="0" i="0">
                <a:solidFill>
                  <a:srgbClr val="1B2330"/>
                </a:solidFill>
                <a:latin typeface="Montserrat"/>
              </a:rPr>
              <a:t>En el boletín citas la norma base</a:t>
            </a:r>
          </a:p>
        </p:txBody>
      </p:sp>
      <p:sp>
        <p:nvSpPr>
          <p:cNvPr id="9" name="imgph" descr="IMGQ:hand writing corrections on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writing corrections on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MÉTODO RÁPIDO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localizar la norma en un vistazo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Calle (distribución): 310/311/312, 12007</a:t>
            </a:r>
          </a:p>
          <a:p>
            <a:pPr>
              <a:spcAft>
                <a:spcPts val="1100"/>
              </a:spcAft>
            </a:pPr>
            <a:r>
              <a:rPr sz="1600" b="1" i="0">
                <a:solidFill>
                  <a:srgbClr val="E8801A"/>
                </a:solidFill>
                <a:latin typeface="Montserrat"/>
              </a:rPr>
              <a:t>▸  </a:t>
            </a:r>
            <a:r>
              <a:rPr sz="1600" b="0" i="0">
                <a:solidFill>
                  <a:srgbClr val="1B2330"/>
                </a:solidFill>
                <a:latin typeface="Montserrat"/>
              </a:rPr>
              <a:t>Dentro hasta 5 bar: 60670</a:t>
            </a:r>
          </a:p>
          <a:p>
            <a:pPr>
              <a:spcAft>
                <a:spcPts val="1100"/>
              </a:spcAft>
            </a:pPr>
            <a:r>
              <a:rPr sz="1600" b="1" i="0">
                <a:solidFill>
                  <a:srgbClr val="E8801A"/>
                </a:solidFill>
                <a:latin typeface="Montserrat"/>
              </a:rPr>
              <a:t>▸  </a:t>
            </a:r>
            <a:r>
              <a:rPr sz="1600" b="0" i="0">
                <a:solidFill>
                  <a:srgbClr val="1B2330"/>
                </a:solidFill>
                <a:latin typeface="Montserrat"/>
              </a:rPr>
              <a:t>Chimeneas y humos: 123001, 13384</a:t>
            </a:r>
          </a:p>
          <a:p>
            <a:pPr>
              <a:spcAft>
                <a:spcPts val="1100"/>
              </a:spcAft>
            </a:pPr>
            <a:r>
              <a:rPr sz="1600" b="1" i="0">
                <a:solidFill>
                  <a:srgbClr val="E8801A"/>
                </a:solidFill>
                <a:latin typeface="Montserrat"/>
              </a:rPr>
              <a:t>▸  </a:t>
            </a:r>
            <a:r>
              <a:rPr sz="1600" b="0" i="0">
                <a:solidFill>
                  <a:srgbClr val="1B2330"/>
                </a:solidFill>
                <a:latin typeface="Montserrat"/>
              </a:rPr>
              <a:t>GLP: 12864, 13786, 16436</a:t>
            </a:r>
          </a:p>
        </p:txBody>
      </p:sp>
      <p:sp>
        <p:nvSpPr>
          <p:cNvPr id="9" name="imgph" descr="IMGQ:installer sorting technical folders on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sorting technical folders 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DONDE ATERRIZA TODO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boletín: aquí se juega la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(el boletín)</a:t>
            </a:r>
          </a:p>
          <a:p>
            <a:pPr>
              <a:spcAft>
                <a:spcPts val="1100"/>
              </a:spcAft>
            </a:pPr>
            <a:r>
              <a:rPr sz="1600" b="1" i="0">
                <a:solidFill>
                  <a:srgbClr val="E8801A"/>
                </a:solidFill>
                <a:latin typeface="Montserrat"/>
              </a:rPr>
              <a:t>▸  </a:t>
            </a:r>
            <a:r>
              <a:rPr sz="1600" b="0" i="0">
                <a:solidFill>
                  <a:srgbClr val="1B2330"/>
                </a:solidFill>
                <a:latin typeface="Montserrat"/>
              </a:rPr>
              <a:t>Lo firma el instalador habilitado</a:t>
            </a:r>
          </a:p>
          <a:p>
            <a:pPr>
              <a:spcAft>
                <a:spcPts val="1100"/>
              </a:spcAft>
            </a:pPr>
            <a:r>
              <a:rPr sz="1600" b="1" i="0">
                <a:solidFill>
                  <a:srgbClr val="E8801A"/>
                </a:solidFill>
                <a:latin typeface="Montserrat"/>
              </a:rPr>
              <a:t>▸  </a:t>
            </a:r>
            <a:r>
              <a:rPr sz="1600" b="0" i="0">
                <a:solidFill>
                  <a:srgbClr val="1B2330"/>
                </a:solidFill>
                <a:latin typeface="Montserrat"/>
              </a:rPr>
              <a:t>Va a la distribuidora para el alta</a:t>
            </a:r>
          </a:p>
          <a:p>
            <a:pPr>
              <a:spcAft>
                <a:spcPts val="1100"/>
              </a:spcAft>
            </a:pPr>
            <a:r>
              <a:rPr sz="1600" b="1" i="0">
                <a:solidFill>
                  <a:srgbClr val="E8801A"/>
                </a:solidFill>
                <a:latin typeface="Montserrat"/>
              </a:rPr>
              <a:t>▸  </a:t>
            </a:r>
            <a:r>
              <a:rPr sz="1600" b="0" i="0">
                <a:solidFill>
                  <a:srgbClr val="1B2330"/>
                </a:solidFill>
                <a:latin typeface="Montserrat"/>
              </a:rPr>
              <a:t>Norma mal citada = alta rechazada</a:t>
            </a:r>
          </a:p>
        </p:txBody>
      </p:sp>
      <p:sp>
        <p:nvSpPr>
          <p:cNvPr id="9" name="imgph" descr="IMGQ:technician filling installation certificate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installation certificate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moverte por el índice de normas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ICG 11 es la lista maestra (artículo 12)</a:t>
            </a:r>
          </a:p>
          <a:p>
            <a:pPr>
              <a:spcAft>
                <a:spcPts val="1200"/>
              </a:spcAft>
            </a:pPr>
            <a:r>
              <a:rPr sz="2000" b="1" i="0">
                <a:solidFill>
                  <a:srgbClr val="F4A24C"/>
                </a:solidFill>
                <a:latin typeface="Montserrat"/>
              </a:rPr>
              <a:t>✓  </a:t>
            </a:r>
            <a:r>
              <a:rPr sz="1900" b="0" i="0">
                <a:solidFill>
                  <a:srgbClr val="FFFFFF"/>
                </a:solidFill>
                <a:latin typeface="Montserrat"/>
              </a:rPr>
              <a:t>Se cita sin año: usa la edición vigente</a:t>
            </a:r>
          </a:p>
          <a:p>
            <a:pPr>
              <a:spcAft>
                <a:spcPts val="1200"/>
              </a:spcAft>
            </a:pPr>
            <a:r>
              <a:rPr sz="2000" b="1" i="0">
                <a:solidFill>
                  <a:srgbClr val="F4A24C"/>
                </a:solidFill>
                <a:latin typeface="Montserrat"/>
              </a:rPr>
              <a:t>✓  </a:t>
            </a:r>
            <a:r>
              <a:rPr sz="1900" b="0" i="0">
                <a:solidFill>
                  <a:srgbClr val="FFFFFF"/>
                </a:solidFill>
                <a:latin typeface="Montserrat"/>
              </a:rPr>
              <a:t>La serie 60670 es el corazón de tu categoría</a:t>
            </a:r>
          </a:p>
          <a:p>
            <a:pPr>
              <a:spcAft>
                <a:spcPts val="1200"/>
              </a:spcAft>
            </a:pPr>
            <a:r>
              <a:rPr sz="2000" b="1" i="0">
                <a:solidFill>
                  <a:srgbClr val="F4A24C"/>
                </a:solidFill>
                <a:latin typeface="Montserrat"/>
              </a:rPr>
              <a:t>✓  </a:t>
            </a:r>
            <a:r>
              <a:rPr sz="1900" b="0" i="0">
                <a:solidFill>
                  <a:srgbClr val="FFFFFF"/>
                </a:solidFill>
                <a:latin typeface="Montserrat"/>
              </a:rPr>
              <a:t>Colocas cualquier norma en su cajón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no memorizas normas: las localizas. Cierras el tema con el mapa completo en la cabeza.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
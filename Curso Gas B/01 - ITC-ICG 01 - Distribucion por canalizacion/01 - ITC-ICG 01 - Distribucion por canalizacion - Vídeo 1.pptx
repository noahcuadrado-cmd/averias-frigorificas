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entra el gas antes de llegar a una vivienda? Por la red de la calle, la de la compañía distribuidora.</a:t>
            </a:r>
          </a:p>
          <a:p>
            <a:r>
              <a:t>N2: En este primer vídeo recorremos la vida entera de esa red, desde que está dibujada en el papel hasta que se le mete el gas. Son los cinco primeros apartados de la ITC-ICG cero uno: para qué sirve, cuándo hace falta permiso, cómo se diseña, cómo se ejecuta y qué pruebas hay que superar. Aunque tú, como instalador de gas be, no montes esta red, es justo donde empalma tu acometida, así que saber dónde acaba la responsabilidad del distribuidor y dónde empieza la tuya te ahorra más de una discusión en obra.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entrar en materia, tres números para orientarte.</a:t>
            </a:r>
          </a:p>
          <a:p>
            <a:r>
              <a:t>N2: Este vídeo cubre los cinco primeros apartados de la instrucción. Toda red pasa por tres fases que se repiten como un mantra durante toda su vida: proyectar, que es dibujarla en el papel; construir, que es montar la tubería; y explotar, que es operarla y mantenerla mientras da servicio. Y para diseñarla hay siete normas de referencia que veremos enseguida. Si retienes estos tres bloques, todo lo demás encaja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red habla exactamente esta instrucción?</a:t>
            </a:r>
          </a:p>
          <a:p>
            <a:r>
              <a:t>N2: La ITC-ICG cero uno fija los requisitos técnicos esenciales y las medidas de seguridad mínimas para proyectar, construir y explotar la red de distribución por canalización. Ojo al matiz: manda sobre la red de la calle, la del distribuidor, no sobre la instalación de la vivienda, que va por otra instrucción. Y no se acaba cuando la tubería queda enterrada: rige durante toda su vida útil. Recuerda del tema anterior que la distribución por canalización es la letra a del artículo dos del Reglamento, con presión máxima de diseño de hasta dieciséis bar. En obra, cuando alguien suelta eso de que no es cosa suya, el límite está justo en la acometida: aguas arriba manda el distribuidor bajo esta ITC.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¿Hace falta pedir permiso para construir esta red?</a:t>
            </a:r>
          </a:p>
          <a:p>
            <a:r>
              <a:t>N2: Sí, la red necesita autorización administrativa previa, salvo los casos que marca la Ley del sector de hidrocarburos en su artículo cincuenta y cinco punto dos. Ahora bien, para las extensiones de una red que ya existe no se pide permiso palmo a palmo: la compañía presenta una memoria general con lo que prevé construir en el año y luego, en el primer trimestre del año siguiente, entrega a la Comunidad Autónoma el proyecto de lo que de verdad ejecutó, con la fecha de puesta en servicio de cada obra. El truco es fácil: primero digo lo que pienso hacer, después justifico lo que hice. Esto lo mueve la distribuidora, no tú, pero en el examen cae quién autoriza, que es la Comunidad Autónoma, y cuándo se entrega, que es el primer trimestre.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persigue un buen diseño de red?</a:t>
            </a:r>
          </a:p>
          <a:p>
            <a:r>
              <a:t>N2: Dos cosas a la vez: suministro seguro, que no haya fugas, y continuo, que no se corte el gas. Por eso la red se dimensiona con capacidad suficiente pensando en cuánta gente hay, en el nivel socioeconómico de la zona y en la climatología, porque donde hace más frío se consume más gas para calefacción. ¿Y por qué te importa a ti, que trabajas aguas abajo? Porque una red mal dimensionada se queda corta el día de más frío, cae la presión y en los aparatos eso se nota en llama amarilla, mala combustión, hollín y riesgo de monóxido de carbono. El diseño es, en el fondo, la primera avería que se evita.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datos deciden los materiales de la red?</a:t>
            </a:r>
          </a:p>
          <a:p>
            <a:r>
              <a:t>N2: Cuatro criterios. Las características físico-químicas del gas, porque no es lo mismo gas natural que un gas licuado del petróleo; la presión de diseño, que marca el grosor y el material del tubo; la pérdida de carga admisible, es decir cuánta presión te puedes permitir perder por el camino; y las condiciones de operación y mantenimiento. Si el material no encaja con el gas o con la presión, tarde o temprano aparece el problema. Piénsalo como cuando eliges un tubo en obra: lo eliges en función de lo que va a circular por dentro y a qué presión.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normas de diseño hay que saber reconocer?</a:t>
            </a:r>
          </a:p>
          <a:p>
            <a:r>
              <a:t>N2: Siete. No hace falta memorizar qué dice cada una, pero sí reconocerlas cuando aparecen en una lista. Van en dos bloques. Las une e ene, que vienen de Europa y regulan las redes según la presión: la doce mil siete, la mil quinientos noventa y cuatro, la doce mil ciento ochenta y seis y la doce mil trescientos veintisiete. Y las tres hermanas españolas, la sesenta mil trescientos diez, la sesenta mil trescientos once y la sesenta mil trescientos doce, que vas a ver una y otra vez en toda esta instrucción para diseño, pruebas, operación y mantenimiento. Si en el examen ves una lista de normas de canalización, esas tres seiscientas casi seguro que están dentro.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responde de la obra y qué cuidado manda?</a:t>
            </a:r>
          </a:p>
          <a:p>
            <a:r>
              <a:t>N2: La obra se hace bajo la responsabilidad del titular, con personal propio o ajeno, garantizando siempre la seguridad de los trabajadores. La clave de campo es no dañar otras instalaciones enterradas: la luz, el agua, el saneamiento, el teléfono, que ya corren bajo la calle. Al abrir zanja hay que saber qué pasa por debajo. Y cuando conectas tubo nuevo a la red que ya funciona, la norma es no dejar sin gas a los que ya lo tienen: se hace en carga siempre que se pueda. Es el mismo reflejo del fontanero que cambia un tramo sin cortarle el agua a todo el edificio.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la tubería tiene que cruzar una carretera o un río?</a:t>
            </a:r>
          </a:p>
          <a:p>
            <a:r>
              <a:t>N2: Eso son obras especiales. Si tu tubería cruza una carretera, un curso de agua, una vía de tren o un puente, hace falta autorización del organismo que manda en ese sitio: la administración de carreteras, la confederación del río, la de ferrocarriles. Y en vez de abrir zanja a lo bruto se prefieren técnicas alternativas, por ejemplo perforar por debajo sin levantar la calzada, para molestar lo menos posible al servicio que cruzas. La idea es sencilla: cruzo algo importante, pido permiso a su dueño y uso la técnica que menos moleste.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meter el gas, ¿qué hay que comprobar?</a:t>
            </a:r>
          </a:p>
          <a:p>
            <a:r>
              <a:t>N2: Dos pruebas que no son lo mismo. La de resistencia comprueba que la tubería aguanta la presión sin reventar ni deformarse, es decir que sea fuerte. La de estanquidad comprueba que no se escapa el gas por ninguna unión, es decir que no fugue. Una tubería puede ser resistente y aun así fugar por una junta mal hecha, por eso se hacen las dos. Se realizan según las normas sesenta mil trescientos diez, trescientos once y trescientos doce, según el tipo de instalación. Y por seguridad, mientras se prueba no puede haber personas ajenas en la zona: estás metiendo presión y, si algo cede, salta con fuerza.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queda constancia de que la red pasó las pruebas?</a:t>
            </a:r>
          </a:p>
          <a:p>
            <a:r>
              <a:t>N2: En el certificado de dirección de obra. Cuando las pruebas terminan con resultado positivo, su descripción y sus resultados se incorporan a ese certificado, que confecciona y firma el director de la obra. Ese papel es la prueba documental de que la red superó los ensayos. Es el mismo reflejo que tienes tú cada vez que emites un boletín o un certificado de instalación: lo que no está firmado y documentado, para la Administración no existe.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 puede dar gas nada más terminar el montaje?</a:t>
            </a:r>
          </a:p>
          <a:p>
            <a:r>
              <a:t>N2: No. Solo se ponen en servicio las instalaciones que han superado las pruebas previas: sin pruebas, no hay gas. Al llenar de gas hay que evitar que se forme mezcla aire-gas dentro de los límites de inflamabilidad, que es la mezcla peligrosa. Para eso, o se introduce el gas despacio, a una velocidad que reduzca el riesgo en la zona de contacto, o se separan aire y gas con un tapón de gas inerte, por ejemplo nitrógeno, o con un pistón de purga. Y el purgado se hace siempre de forma controlada. Grábate la física: el peligro no es el gas solo ni el aire solo, es la mezcla de los dos más una chispa.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da el paso final de meter el gas?</a:t>
            </a:r>
          </a:p>
          <a:p>
            <a:r>
              <a:t>N2: No lo hace cualquiera. La puesta en servicio la lleva a cabo personal cualificado autorizado por el distribuidor o por el titular de la instalación, y siempre con conocimiento del director de obra. Es la última barrera antes de que la red quede viva. Enlaza con lo anterior en orden: primero pruebas superadas, después llenado controlado y, por último, gente autorizada dando el servicio con el director al tanto.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Cuatro golpes rápidos antes de cerrar. ¿Los tienes?</a:t>
            </a:r>
          </a:p>
          <a:p>
            <a:r>
              <a:t>N2: Uno, esta instrucción manda en la red de la calle a lo largo de sus tres fases, proyectar, construir y explotar. Dos, la red necesita autorización administrativa previa, la da la Comunidad Autónoma, y las obras del año anterior se entregan en el primer trimestre. Tres, sin pruebas de resistencia y estanquidad superadas no hay gas, y queda en el certificado de dirección de obra. Y cuatro, el peligro nunca es el gas solo: es la mezcla aire-gas dentro de los límites de inflamabilidad. Si respondes esos cuatro sin dudar, llevas el vídeo dominado.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te quedas con cuatro conquistas, que sean estas.</a:t>
            </a:r>
          </a:p>
          <a:p>
            <a:r>
              <a:t>N2: Una, ya separas la red de la calle, la del distribuidor, de tu instalación receptora, y sabes que el límite está en la acometida. Dos, sabes quién autoriza, la Comunidad Autónoma, y cuándo se entrega lo del año anterior, en el primer trimestre. Tres, tienes grabada la regla de oro: sin pruebas de resistencia y estanquidad superadas no hay gas, y hay un papel que lo certifica, el certificado de dirección de obra que firma el director. Y cuatro, la física que te acompañará toda la vida profesional: el peligro no es el gas solo, es la mezcla aire-gas dentro de los límites de inflamabilidad.</a:t>
            </a:r>
          </a:p>
          <a:p>
            <a:r>
              <a:t>N1: ¿Y esto por qué pesa tanto?</a:t>
            </a:r>
          </a:p>
          <a:p>
            <a:r>
              <a:t>N2: Porque en el examen te lo preguntan cruzado, con esa lista de siete normas y ese quién autoriza y cuándo; y en la obra es lo que decide si el día de más frío la red se queda corta y aparecen la llama amarilla y el monóxido aguas abajo, en la caldera de tu cliente. Hoy ya eres más gasista que ayer: entiendes por dónde entra el gas al barrio antes de llegar a ninguna vivienda. En el siguiente vídeo damos el salto a la red viva, cómo se opera, se mantiene y se protege las veinticuatro horas, y ahí aparecen las fugas, los plazos y los trucos de campo que usarás cada semana.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2</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Del proyecto a la puesta en servicio</a:t>
            </a:r>
          </a:p>
          <a:p>
            <a:r>
              <a:rPr sz="2200" b="0" i="0">
                <a:solidFill>
                  <a:srgbClr val="CADCFC"/>
                </a:solidFill>
                <a:latin typeface="Montserrat"/>
              </a:rPr>
              <a:t>La red de la calle: diseño, ejecución y pruebas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01 · Reglamento · ITC-ICG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apartados de la ITC (del 1 al 5)</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fases: proyectar, construir, explotar</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7</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normas de diseño de referencia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qué manda esta ITC?</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Requisitos técnicos y seguridad mínima</a:t>
            </a:r>
          </a:p>
          <a:p>
            <a:pPr>
              <a:spcAft>
                <a:spcPts val="1000"/>
              </a:spcAft>
            </a:pPr>
            <a:r>
              <a:rPr sz="1600" b="1" i="0">
                <a:solidFill>
                  <a:srgbClr val="2E3A80"/>
                </a:solidFill>
                <a:latin typeface="Montserrat"/>
              </a:rPr>
              <a:t>•  </a:t>
            </a:r>
            <a:r>
              <a:rPr sz="1600" b="0" i="0">
                <a:solidFill>
                  <a:srgbClr val="1B2330"/>
                </a:solidFill>
                <a:latin typeface="Montserrat"/>
              </a:rPr>
              <a:t>Proyectar · construir · explotar</a:t>
            </a:r>
          </a:p>
          <a:p>
            <a:pPr>
              <a:spcAft>
                <a:spcPts val="1000"/>
              </a:spcAft>
            </a:pPr>
            <a:r>
              <a:rPr sz="1600" b="1" i="0">
                <a:solidFill>
                  <a:srgbClr val="2E3A80"/>
                </a:solidFill>
                <a:latin typeface="Montserrat"/>
              </a:rPr>
              <a:t>•  </a:t>
            </a:r>
            <a:r>
              <a:rPr sz="1600" b="0" i="0">
                <a:solidFill>
                  <a:srgbClr val="1B2330"/>
                </a:solidFill>
                <a:latin typeface="Montserrat"/>
              </a:rPr>
              <a:t>La red de la calle, no la receptora</a:t>
            </a:r>
          </a:p>
          <a:p>
            <a:pPr>
              <a:spcAft>
                <a:spcPts val="1000"/>
              </a:spcAft>
            </a:pPr>
            <a:r>
              <a:rPr sz="1600" b="1" i="0">
                <a:solidFill>
                  <a:srgbClr val="2E3A80"/>
                </a:solidFill>
                <a:latin typeface="Montserrat"/>
              </a:rPr>
              <a:t>•  </a:t>
            </a:r>
            <a:r>
              <a:rPr sz="1600" b="0" i="0">
                <a:solidFill>
                  <a:srgbClr val="1B2330"/>
                </a:solidFill>
                <a:latin typeface="Montserrat"/>
              </a:rPr>
              <a:t>Canalización: hasta 16 bar</a:t>
            </a:r>
          </a:p>
        </p:txBody>
      </p:sp>
      <p:sp>
        <p:nvSpPr>
          <p:cNvPr id="8" name="imgph" descr="IMGQ:gas pipeline construction stre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pipeline construction street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Permiso antes de construir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Autorización administrativa previa</a:t>
            </a:r>
          </a:p>
          <a:p>
            <a:pPr>
              <a:spcAft>
                <a:spcPts val="1000"/>
              </a:spcAft>
            </a:pPr>
            <a:r>
              <a:rPr sz="1600" b="1" i="0">
                <a:solidFill>
                  <a:srgbClr val="2E3A80"/>
                </a:solidFill>
                <a:latin typeface="Montserrat"/>
              </a:rPr>
              <a:t>•  </a:t>
            </a:r>
            <a:r>
              <a:rPr sz="1600" b="0" i="0">
                <a:solidFill>
                  <a:srgbClr val="1B2330"/>
                </a:solidFill>
                <a:latin typeface="Montserrat"/>
              </a:rPr>
              <a:t>Extensiones: memoria general de previsiones</a:t>
            </a:r>
          </a:p>
          <a:p>
            <a:pPr>
              <a:spcAft>
                <a:spcPts val="1000"/>
              </a:spcAft>
            </a:pPr>
            <a:r>
              <a:rPr sz="1600" b="1" i="0">
                <a:solidFill>
                  <a:srgbClr val="2E3A80"/>
                </a:solidFill>
                <a:latin typeface="Montserrat"/>
              </a:rPr>
              <a:t>•  </a:t>
            </a:r>
            <a:r>
              <a:rPr sz="1600" b="0" i="0">
                <a:solidFill>
                  <a:srgbClr val="1B2330"/>
                </a:solidFill>
                <a:latin typeface="Montserrat"/>
              </a:rPr>
              <a:t>Primer trimestre: obras del año anterior</a:t>
            </a:r>
          </a:p>
          <a:p>
            <a:pPr>
              <a:spcAft>
                <a:spcPts val="1000"/>
              </a:spcAft>
            </a:pPr>
            <a:r>
              <a:rPr sz="1600" b="1" i="0">
                <a:solidFill>
                  <a:srgbClr val="2E3A80"/>
                </a:solidFill>
                <a:latin typeface="Montserrat"/>
              </a:rPr>
              <a:t>•  </a:t>
            </a:r>
            <a:r>
              <a:rPr sz="1600" b="0" i="0">
                <a:solidFill>
                  <a:srgbClr val="1B2330"/>
                </a:solidFill>
                <a:latin typeface="Montserrat"/>
              </a:rPr>
              <a:t>Autoriza la Comunidad Autónoma</a:t>
            </a:r>
          </a:p>
        </p:txBody>
      </p:sp>
      <p:sp>
        <p:nvSpPr>
          <p:cNvPr id="8" name="imgph" descr="IMGQ:official documents stamp approv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official documents stamp approval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Suministro seguro y continuo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Seguro (sin fugas) y continuo (sin cortes)</a:t>
            </a:r>
          </a:p>
          <a:p>
            <a:pPr>
              <a:spcAft>
                <a:spcPts val="1000"/>
              </a:spcAft>
            </a:pPr>
            <a:r>
              <a:rPr sz="1600" b="1" i="0">
                <a:solidFill>
                  <a:srgbClr val="2E3A80"/>
                </a:solidFill>
                <a:latin typeface="Montserrat"/>
              </a:rPr>
              <a:t>•  </a:t>
            </a:r>
            <a:r>
              <a:rPr sz="1600" b="0" i="0">
                <a:solidFill>
                  <a:srgbClr val="1B2330"/>
                </a:solidFill>
                <a:latin typeface="Montserrat"/>
              </a:rPr>
              <a:t>Dimensionar según la demanda</a:t>
            </a:r>
          </a:p>
          <a:p>
            <a:pPr>
              <a:spcAft>
                <a:spcPts val="1000"/>
              </a:spcAft>
            </a:pPr>
            <a:r>
              <a:rPr sz="1600" b="1" i="0">
                <a:solidFill>
                  <a:srgbClr val="2E3A80"/>
                </a:solidFill>
                <a:latin typeface="Montserrat"/>
              </a:rPr>
              <a:t>•  </a:t>
            </a:r>
            <a:r>
              <a:rPr sz="1600" b="0" i="0">
                <a:solidFill>
                  <a:srgbClr val="1B2330"/>
                </a:solidFill>
                <a:latin typeface="Montserrat"/>
              </a:rPr>
              <a:t>Nivel socioeconómico y climatología</a:t>
            </a:r>
          </a:p>
        </p:txBody>
      </p:sp>
      <p:sp>
        <p:nvSpPr>
          <p:cNvPr id="8" name="imgph" descr="IMGQ:gas distribution network ma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distribution network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se pone sobre la mesa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Características físico-químicas del gas</a:t>
            </a:r>
          </a:p>
          <a:p>
            <a:pPr>
              <a:spcAft>
                <a:spcPts val="1000"/>
              </a:spcAft>
            </a:pPr>
            <a:r>
              <a:rPr sz="1600" b="1" i="0">
                <a:solidFill>
                  <a:srgbClr val="2E3A80"/>
                </a:solidFill>
                <a:latin typeface="Montserrat"/>
              </a:rPr>
              <a:t>•  </a:t>
            </a:r>
            <a:r>
              <a:rPr sz="1600" b="0" i="0">
                <a:solidFill>
                  <a:srgbClr val="1B2330"/>
                </a:solidFill>
                <a:latin typeface="Montserrat"/>
              </a:rPr>
              <a:t>Presión de diseño</a:t>
            </a:r>
          </a:p>
          <a:p>
            <a:pPr>
              <a:spcAft>
                <a:spcPts val="1000"/>
              </a:spcAft>
            </a:pPr>
            <a:r>
              <a:rPr sz="1600" b="1" i="0">
                <a:solidFill>
                  <a:srgbClr val="2E3A80"/>
                </a:solidFill>
                <a:latin typeface="Montserrat"/>
              </a:rPr>
              <a:t>•  </a:t>
            </a:r>
            <a:r>
              <a:rPr sz="1600" b="0" i="0">
                <a:solidFill>
                  <a:srgbClr val="1B2330"/>
                </a:solidFill>
                <a:latin typeface="Montserrat"/>
              </a:rPr>
              <a:t>Pérdida de carga admisible</a:t>
            </a:r>
          </a:p>
          <a:p>
            <a:pPr>
              <a:spcAft>
                <a:spcPts val="1000"/>
              </a:spcAft>
            </a:pPr>
            <a:r>
              <a:rPr sz="1600" b="1" i="0">
                <a:solidFill>
                  <a:srgbClr val="2E3A80"/>
                </a:solidFill>
                <a:latin typeface="Montserrat"/>
              </a:rPr>
              <a:t>•  </a:t>
            </a:r>
            <a:r>
              <a:rPr sz="1600" b="0" i="0">
                <a:solidFill>
                  <a:srgbClr val="1B2330"/>
                </a:solidFill>
                <a:latin typeface="Montserrat"/>
              </a:rPr>
              <a:t>Operación y mantenimiento</a:t>
            </a:r>
          </a:p>
        </p:txBody>
      </p:sp>
      <p:sp>
        <p:nvSpPr>
          <p:cNvPr id="8" name="imgph" descr="IMGQ:engineer technical drawing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technical drawing pipes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NORMAS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normas de diseño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UNE-EN 12007 · 1594 · 12186 · 12327</a:t>
            </a:r>
          </a:p>
          <a:p>
            <a:pPr>
              <a:spcAft>
                <a:spcPts val="1000"/>
              </a:spcAft>
            </a:pPr>
            <a:r>
              <a:rPr sz="1600" b="1" i="0">
                <a:solidFill>
                  <a:srgbClr val="2E3A80"/>
                </a:solidFill>
                <a:latin typeface="Montserrat"/>
              </a:rPr>
              <a:t>•  </a:t>
            </a:r>
            <a:r>
              <a:rPr sz="1600" b="0" i="0">
                <a:solidFill>
                  <a:srgbClr val="1B2330"/>
                </a:solidFill>
                <a:latin typeface="Montserrat"/>
              </a:rPr>
              <a:t>UNE 60310 · 60311 · 60312</a:t>
            </a:r>
          </a:p>
          <a:p>
            <a:pPr>
              <a:spcAft>
                <a:spcPts val="1000"/>
              </a:spcAft>
            </a:pPr>
            <a:r>
              <a:rPr sz="1600" b="1" i="0">
                <a:solidFill>
                  <a:srgbClr val="2E3A80"/>
                </a:solidFill>
                <a:latin typeface="Montserrat"/>
              </a:rPr>
              <a:t>•  </a:t>
            </a:r>
            <a:r>
              <a:rPr sz="1600" b="0" i="0">
                <a:solidFill>
                  <a:srgbClr val="1B2330"/>
                </a:solidFill>
                <a:latin typeface="Montserrat"/>
              </a:rPr>
              <a:t>Se aplican según la presión de diseño</a:t>
            </a:r>
          </a:p>
        </p:txBody>
      </p:sp>
      <p:sp>
        <p:nvSpPr>
          <p:cNvPr id="8" name="imgph" descr="IMGQ:technical standards binder shel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standards binder shelf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Montar sin dañar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Bajo responsabilidad del titular</a:t>
            </a:r>
          </a:p>
          <a:p>
            <a:pPr>
              <a:spcAft>
                <a:spcPts val="1000"/>
              </a:spcAft>
            </a:pPr>
            <a:r>
              <a:rPr sz="1600" b="1" i="0">
                <a:solidFill>
                  <a:srgbClr val="2E3A80"/>
                </a:solidFill>
                <a:latin typeface="Montserrat"/>
              </a:rPr>
              <a:t>•  </a:t>
            </a:r>
            <a:r>
              <a:rPr sz="1600" b="0" i="0">
                <a:solidFill>
                  <a:srgbClr val="1B2330"/>
                </a:solidFill>
                <a:latin typeface="Montserrat"/>
              </a:rPr>
              <a:t>No dañar otras redes enterradas</a:t>
            </a:r>
          </a:p>
          <a:p>
            <a:pPr>
              <a:spcAft>
                <a:spcPts val="1000"/>
              </a:spcAft>
            </a:pPr>
            <a:r>
              <a:rPr sz="1600" b="1" i="0">
                <a:solidFill>
                  <a:srgbClr val="2E3A80"/>
                </a:solidFill>
                <a:latin typeface="Montserrat"/>
              </a:rPr>
              <a:t>•  </a:t>
            </a:r>
            <a:r>
              <a:rPr sz="1600" b="0" i="0">
                <a:solidFill>
                  <a:srgbClr val="1B2330"/>
                </a:solidFill>
                <a:latin typeface="Montserrat"/>
              </a:rPr>
              <a:t>Conectar sin cortar el suministro</a:t>
            </a:r>
          </a:p>
        </p:txBody>
      </p:sp>
      <p:sp>
        <p:nvSpPr>
          <p:cNvPr id="8" name="imgph" descr="IMGQ:excavator digging trench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excavator digging trench pipes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OBRAS ESPECIALES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Cruces y obstáculos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Carretera, río, ferrocarril, puente</a:t>
            </a:r>
          </a:p>
          <a:p>
            <a:pPr>
              <a:spcAft>
                <a:spcPts val="1000"/>
              </a:spcAft>
            </a:pPr>
            <a:r>
              <a:rPr sz="1600" b="1" i="0">
                <a:solidFill>
                  <a:srgbClr val="2E3A80"/>
                </a:solidFill>
                <a:latin typeface="Montserrat"/>
              </a:rPr>
              <a:t>•  </a:t>
            </a:r>
            <a:r>
              <a:rPr sz="1600" b="0" i="0">
                <a:solidFill>
                  <a:srgbClr val="1B2330"/>
                </a:solidFill>
                <a:latin typeface="Montserrat"/>
              </a:rPr>
              <a:t>Permiso del organismo afectado</a:t>
            </a:r>
          </a:p>
          <a:p>
            <a:pPr>
              <a:spcAft>
                <a:spcPts val="1000"/>
              </a:spcAft>
            </a:pPr>
            <a:r>
              <a:rPr sz="1600" b="1" i="0">
                <a:solidFill>
                  <a:srgbClr val="2E3A80"/>
                </a:solidFill>
                <a:latin typeface="Montserrat"/>
              </a:rPr>
              <a:t>•  </a:t>
            </a:r>
            <a:r>
              <a:rPr sz="1600" b="0" i="0">
                <a:solidFill>
                  <a:srgbClr val="1B2330"/>
                </a:solidFill>
                <a:latin typeface="Montserrat"/>
              </a:rPr>
              <a:t>Técnicas alternativas, sin abrir zanja</a:t>
            </a:r>
          </a:p>
        </p:txBody>
      </p:sp>
      <p:sp>
        <p:nvSpPr>
          <p:cNvPr id="8" name="imgph" descr="IMGQ:horizontal directional drilling pipeline roa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horizontal directional drilling pipeline road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5.1 · 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Resistencia y estanquidad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Resistencia: que no reviente</a:t>
            </a:r>
          </a:p>
          <a:p>
            <a:pPr>
              <a:spcAft>
                <a:spcPts val="1000"/>
              </a:spcAft>
            </a:pPr>
            <a:r>
              <a:rPr sz="1600" b="1" i="0">
                <a:solidFill>
                  <a:srgbClr val="2E3A80"/>
                </a:solidFill>
                <a:latin typeface="Montserrat"/>
              </a:rPr>
              <a:t>•  </a:t>
            </a:r>
            <a:r>
              <a:rPr sz="1600" b="0" i="0">
                <a:solidFill>
                  <a:srgbClr val="1B2330"/>
                </a:solidFill>
                <a:latin typeface="Montserrat"/>
              </a:rPr>
              <a:t>Estanquidad: que no fugue</a:t>
            </a:r>
          </a:p>
          <a:p>
            <a:pPr>
              <a:spcAft>
                <a:spcPts val="1000"/>
              </a:spcAft>
            </a:pPr>
            <a:r>
              <a:rPr sz="1600" b="1" i="0">
                <a:solidFill>
                  <a:srgbClr val="2E3A80"/>
                </a:solidFill>
                <a:latin typeface="Montserrat"/>
              </a:rPr>
              <a:t>•  </a:t>
            </a:r>
            <a:r>
              <a:rPr sz="1600" b="0" i="0">
                <a:solidFill>
                  <a:srgbClr val="1B2330"/>
                </a:solidFill>
                <a:latin typeface="Montserrat"/>
              </a:rPr>
              <a:t>UNE 60310 · 60311 · 60312</a:t>
            </a:r>
          </a:p>
          <a:p>
            <a:pPr>
              <a:spcAft>
                <a:spcPts val="1000"/>
              </a:spcAft>
            </a:pPr>
            <a:r>
              <a:rPr sz="1600" b="1" i="0">
                <a:solidFill>
                  <a:srgbClr val="2E3A80"/>
                </a:solidFill>
                <a:latin typeface="Montserrat"/>
              </a:rPr>
              <a:t>•  </a:t>
            </a:r>
            <a:r>
              <a:rPr sz="1600" b="0" i="0">
                <a:solidFill>
                  <a:srgbClr val="1B2330"/>
                </a:solidFill>
                <a:latin typeface="Montserrat"/>
              </a:rPr>
              <a:t>Zona despejada durante la prueba</a:t>
            </a:r>
          </a:p>
        </p:txBody>
      </p:sp>
      <p:sp>
        <p:nvSpPr>
          <p:cNvPr id="8" name="imgph" descr="IMGQ:gas pipe pressure test gau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pressure test gauge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5.1 ·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Queda por escrito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vale con resultado positivo</a:t>
            </a:r>
          </a:p>
          <a:p>
            <a:pPr>
              <a:spcAft>
                <a:spcPts val="1000"/>
              </a:spcAft>
            </a:pPr>
            <a:r>
              <a:rPr sz="1600" b="1" i="0">
                <a:solidFill>
                  <a:srgbClr val="2E3A80"/>
                </a:solidFill>
                <a:latin typeface="Montserrat"/>
              </a:rPr>
              <a:t>•  </a:t>
            </a:r>
            <a:r>
              <a:rPr sz="1600" b="0" i="0">
                <a:solidFill>
                  <a:srgbClr val="1B2330"/>
                </a:solidFill>
                <a:latin typeface="Montserrat"/>
              </a:rPr>
              <a:t>Certificado de dirección de obra</a:t>
            </a:r>
          </a:p>
          <a:p>
            <a:pPr>
              <a:spcAft>
                <a:spcPts val="1000"/>
              </a:spcAft>
            </a:pPr>
            <a:r>
              <a:rPr sz="1600" b="1" i="0">
                <a:solidFill>
                  <a:srgbClr val="2E3A80"/>
                </a:solidFill>
                <a:latin typeface="Montserrat"/>
              </a:rPr>
              <a:t>•  </a:t>
            </a:r>
            <a:r>
              <a:rPr sz="1600" b="0" i="0">
                <a:solidFill>
                  <a:srgbClr val="1B2330"/>
                </a:solidFill>
                <a:latin typeface="Montserrat"/>
              </a:rPr>
              <a:t>Lo firma el director de obra</a:t>
            </a:r>
          </a:p>
        </p:txBody>
      </p:sp>
      <p:sp>
        <p:nvSpPr>
          <p:cNvPr id="8" name="imgph" descr="IMGQ:signing construction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signing construction certificate document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5.2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Sin pruebas no hay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si superó las pruebas previas</a:t>
            </a:r>
          </a:p>
          <a:p>
            <a:pPr>
              <a:spcAft>
                <a:spcPts val="1000"/>
              </a:spcAft>
            </a:pPr>
            <a:r>
              <a:rPr sz="1600" b="1" i="0">
                <a:solidFill>
                  <a:srgbClr val="2E3A80"/>
                </a:solidFill>
                <a:latin typeface="Montserrat"/>
              </a:rPr>
              <a:t>•  </a:t>
            </a:r>
            <a:r>
              <a:rPr sz="1600" b="0" i="0">
                <a:solidFill>
                  <a:srgbClr val="1B2330"/>
                </a:solidFill>
                <a:latin typeface="Montserrat"/>
              </a:rPr>
              <a:t>Evitar la mezcla aire-gas inflamable</a:t>
            </a:r>
          </a:p>
          <a:p>
            <a:pPr>
              <a:spcAft>
                <a:spcPts val="1000"/>
              </a:spcAft>
            </a:pPr>
            <a:r>
              <a:rPr sz="1600" b="1" i="0">
                <a:solidFill>
                  <a:srgbClr val="2E3A80"/>
                </a:solidFill>
                <a:latin typeface="Montserrat"/>
              </a:rPr>
              <a:t>•  </a:t>
            </a:r>
            <a:r>
              <a:rPr sz="1600" b="0" i="0">
                <a:solidFill>
                  <a:srgbClr val="1B2330"/>
                </a:solidFill>
                <a:latin typeface="Montserrat"/>
              </a:rPr>
              <a:t>Llenado lento o tapón de gas inerte</a:t>
            </a:r>
          </a:p>
          <a:p>
            <a:pPr>
              <a:spcAft>
                <a:spcPts val="1000"/>
              </a:spcAft>
            </a:pPr>
            <a:r>
              <a:rPr sz="1600" b="1" i="0">
                <a:solidFill>
                  <a:srgbClr val="2E3A80"/>
                </a:solidFill>
                <a:latin typeface="Montserrat"/>
              </a:rPr>
              <a:t>•  </a:t>
            </a:r>
            <a:r>
              <a:rPr sz="1600" b="0" i="0">
                <a:solidFill>
                  <a:srgbClr val="1B2330"/>
                </a:solidFill>
                <a:latin typeface="Montserrat"/>
              </a:rPr>
              <a:t>Purgado controlado, nunca a lo loco</a:t>
            </a:r>
          </a:p>
        </p:txBody>
      </p:sp>
      <p:sp>
        <p:nvSpPr>
          <p:cNvPr id="8" name="imgph" descr="IMGQ:gas valve technician glov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technician gloves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5.2 · QUIÉN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última barrera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Personal cualificado autorizado</a:t>
            </a:r>
          </a:p>
          <a:p>
            <a:pPr>
              <a:spcAft>
                <a:spcPts val="1000"/>
              </a:spcAft>
            </a:pPr>
            <a:r>
              <a:rPr sz="1600" b="1" i="0">
                <a:solidFill>
                  <a:srgbClr val="2E3A80"/>
                </a:solidFill>
                <a:latin typeface="Montserrat"/>
              </a:rPr>
              <a:t>•  </a:t>
            </a:r>
            <a:r>
              <a:rPr sz="1600" b="0" i="0">
                <a:solidFill>
                  <a:srgbClr val="1B2330"/>
                </a:solidFill>
                <a:latin typeface="Montserrat"/>
              </a:rPr>
              <a:t>Por el distribuidor o el titular</a:t>
            </a:r>
          </a:p>
          <a:p>
            <a:pPr>
              <a:spcAft>
                <a:spcPts val="1000"/>
              </a:spcAft>
            </a:pPr>
            <a:r>
              <a:rPr sz="1600" b="1" i="0">
                <a:solidFill>
                  <a:srgbClr val="2E3A80"/>
                </a:solidFill>
                <a:latin typeface="Montserrat"/>
              </a:rPr>
              <a:t>•  </a:t>
            </a:r>
            <a:r>
              <a:rPr sz="1600" b="0" i="0">
                <a:solidFill>
                  <a:srgbClr val="1B2330"/>
                </a:solidFill>
                <a:latin typeface="Montserrat"/>
              </a:rPr>
              <a:t>Con conocimiento del director de obra</a:t>
            </a:r>
          </a:p>
        </p:txBody>
      </p:sp>
      <p:sp>
        <p:nvSpPr>
          <p:cNvPr id="8" name="imgph" descr="IMGQ:gas technician commissioning pipelin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commissioning pipeline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que no se te puede olvidar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Manda en la red de la calle, no la tuya</a:t>
            </a:r>
          </a:p>
          <a:p>
            <a:pPr>
              <a:spcAft>
                <a:spcPts val="1000"/>
              </a:spcAft>
            </a:pPr>
            <a:r>
              <a:rPr sz="1600" b="1" i="0">
                <a:solidFill>
                  <a:srgbClr val="2E3A80"/>
                </a:solidFill>
                <a:latin typeface="Montserrat"/>
              </a:rPr>
              <a:t>•  </a:t>
            </a:r>
            <a:r>
              <a:rPr sz="1600" b="0" i="0">
                <a:solidFill>
                  <a:srgbClr val="1B2330"/>
                </a:solidFill>
                <a:latin typeface="Montserrat"/>
              </a:rPr>
              <a:t>Autoriza la CA · entrega primer trimestre</a:t>
            </a:r>
          </a:p>
          <a:p>
            <a:pPr>
              <a:spcAft>
                <a:spcPts val="1000"/>
              </a:spcAft>
            </a:pPr>
            <a:r>
              <a:rPr sz="1600" b="1" i="0">
                <a:solidFill>
                  <a:srgbClr val="2E3A80"/>
                </a:solidFill>
                <a:latin typeface="Montserrat"/>
              </a:rPr>
              <a:t>•  </a:t>
            </a:r>
            <a:r>
              <a:rPr sz="1600" b="0" i="0">
                <a:solidFill>
                  <a:srgbClr val="1B2330"/>
                </a:solidFill>
                <a:latin typeface="Montserrat"/>
              </a:rPr>
              <a:t>Sin pruebas superadas, no hay gas</a:t>
            </a:r>
          </a:p>
          <a:p>
            <a:pPr>
              <a:spcAft>
                <a:spcPts val="1000"/>
              </a:spcAft>
            </a:pPr>
            <a:r>
              <a:rPr sz="1600" b="1" i="0">
                <a:solidFill>
                  <a:srgbClr val="2E3A80"/>
                </a:solidFill>
                <a:latin typeface="Montserrat"/>
              </a:rPr>
              <a:t>•  </a:t>
            </a:r>
            <a:r>
              <a:rPr sz="1600" b="0" i="0">
                <a:solidFill>
                  <a:srgbClr val="1B2330"/>
                </a:solidFill>
                <a:latin typeface="Montserrat"/>
              </a:rPr>
              <a:t>El peligro es la mezcla aire-gas</a:t>
            </a:r>
          </a:p>
        </p:txBody>
      </p:sp>
      <p:sp>
        <p:nvSpPr>
          <p:cNvPr id="8" name="imgph" descr="IMGQ:gas meter cabinet street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street wall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Controlas la red desde el papel hasta el gas</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Separas la red de la calle de tu receptora</a:t>
            </a:r>
          </a:p>
          <a:p>
            <a:pPr>
              <a:spcAft>
                <a:spcPts val="1200"/>
              </a:spcAft>
            </a:pPr>
            <a:r>
              <a:rPr sz="2000" b="1" i="0">
                <a:solidFill>
                  <a:srgbClr val="CADCFC"/>
                </a:solidFill>
                <a:latin typeface="Montserrat"/>
              </a:rPr>
              <a:t>✓  </a:t>
            </a:r>
            <a:r>
              <a:rPr sz="1900" b="0" i="0">
                <a:solidFill>
                  <a:srgbClr val="FFFFFF"/>
                </a:solidFill>
                <a:latin typeface="Montserrat"/>
              </a:rPr>
              <a:t>Sabes quién autoriza y cuándo: la CA, primer trimestre</a:t>
            </a:r>
          </a:p>
          <a:p>
            <a:pPr>
              <a:spcAft>
                <a:spcPts val="1200"/>
              </a:spcAft>
            </a:pPr>
            <a:r>
              <a:rPr sz="2000" b="1" i="0">
                <a:solidFill>
                  <a:srgbClr val="CADCFC"/>
                </a:solidFill>
                <a:latin typeface="Montserrat"/>
              </a:rPr>
              <a:t>✓  </a:t>
            </a:r>
            <a:r>
              <a:rPr sz="1900" b="0" i="0">
                <a:solidFill>
                  <a:srgbClr val="FFFFFF"/>
                </a:solidFill>
                <a:latin typeface="Montserrat"/>
              </a:rPr>
              <a:t>Tienes grabado: sin pruebas superadas, no hay gas</a:t>
            </a:r>
          </a:p>
          <a:p>
            <a:pPr>
              <a:spcAft>
                <a:spcPts val="1200"/>
              </a:spcAft>
            </a:pPr>
            <a:r>
              <a:rPr sz="2000" b="1" i="0">
                <a:solidFill>
                  <a:srgbClr val="CADCFC"/>
                </a:solidFill>
                <a:latin typeface="Montserrat"/>
              </a:rPr>
              <a:t>✓  </a:t>
            </a:r>
            <a:r>
              <a:rPr sz="1900" b="0" i="0">
                <a:solidFill>
                  <a:srgbClr val="FFFFFF"/>
                </a:solidFill>
                <a:latin typeface="Montserrat"/>
              </a:rPr>
              <a:t>El peligro no es el gas solo, es la mezcla aire-gas</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Hoy ya sabes por dónde entra el gas al barrio. En el siguiente vídeo la mantenemos viva.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
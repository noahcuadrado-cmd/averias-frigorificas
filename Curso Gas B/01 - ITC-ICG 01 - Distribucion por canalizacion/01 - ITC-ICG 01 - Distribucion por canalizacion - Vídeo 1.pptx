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abres la llave de la cocina y sale gas, ¿de dónde viene ese gas antes de llegar al edificio?</a:t>
            </a:r>
          </a:p>
          <a:p>
            <a:r>
              <a:t>N2: Viene de una tubería que corre por debajo de la calle, la red de la compañía distribuidora. Piensa en ella como en las tuberías del agua o los cables de la luz: un servicio enterrado que da a todo el barrio. Pues bien, esa red tiene su propia norma, y es la que abrimos hoy: la ITC-ICG cero uno. En este primer vídeo la seguimos desde que está dibujada en un papel hasta que se le mete el gas por primera vez. Son sus cinco primeros apartados: para qué sirve, cuándo hace falta permiso, cómo se diseña, cómo se construye y qué pruebas tiene que pasar. Y aunque tú, como instalador de gas be, no montes esta red, es justo donde empalma tu acometida. Saber dónde termina lo del distribuidor y dónde empieza lo tuyo te evita más de una discusión en obra, de esas de aquí no llego yo.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dónde empiezo a ordenar todo esto en la cabeza?</a:t>
            </a:r>
          </a:p>
          <a:p>
            <a:r>
              <a:t>N2: Con tres números que te sirven de percha. El primero, cinco: son los cinco primeros apartados de la instrucción, y es todo lo que cubre este vídeo. El segundo, tres: toda red de gas pasa por tres fases que se repiten como un estribillo durante toda su vida. Proyectar, que es dibujarla en el papel; construir, que es montar la tubería en la zanja; y explotar, que es operarla y mantenerla mientras da servicio. Grábate esas tres palabras porque van a volver una y otra vez. Y el tercero, siete: son las normas técnicas de referencia para el diseño; no hay que sabérselas de memoria por dentro, solo reconocerlas. Si retienes estos tres bloques, cinco apartados, tres fases y siete normas, el resto del vídeo se te coloca solo.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pero ¿de qué tubería habla exactamente? ¿De la de mi casa?</a:t>
            </a:r>
          </a:p>
          <a:p>
            <a:r>
              <a:t>N2: No, y este matiz es el primero que hay que fijar. Compara dos tuberías: la que pasa por debajo de la calle y la que llega a tu cocina. Esta ITC manda sobre la primera, la de la calle, la del distribuidor. La de tu vivienda, la instalación receptora, va por otra instrucción distinta. Aclarado eso, ¿qué fija esta norma? Dos cosas: los requisitos técnicos esenciales, que en cristiano es lo mínimo que la red tiene que cumplir sí o sí, y las medidas de seguridad mínimas. Y lo fija para las tres fases que ya conoces: proyectar, construir y explotar. Ese detalle importa: la ITC no se calla el día que entierran el tubo, sigue mandando durante toda la vida útil de la red. Recuerda del tema anterior que la distribución por canalización es la letra a del artículo dos del Reglamento, con presión máxima de diseño de hasta dieciséis bar. En la obra, cuando alguien suelte eso de que la avería no es cosa suya, el límite exacto está en la acometida: aguas arriba manda el distribuidor bajo esta ITC, aguas abajo empieza tu responsabilidad.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montar esta red, ¿hace falta pedir permiso, como una licencia de obra?</a:t>
            </a:r>
          </a:p>
          <a:p>
            <a:r>
              <a:t>N2: Sí, en general sí: la red necesita autorización administrativa previa, es decir, el visto bueno de la Administración antes de empezar, salvo unos casos concretos que marca la Ley del sector de hidrocarburos en su artículo cincuenta y cinco punto dos. Ahora bien, aquí hay dos ritmos y conviene no mezclarlos. Para una red nueva de verdad, permiso previo. Pero para las extensiones, que es alargar una red que ya existe, no se pide permiso metro a metro: sería inviable. Lo que hace la compañía es presentar una memoria general, un documento con lo que prevé construir a lo largo del año. Y luego, en el primer trimestre del año siguiente, entrega a la Comunidad Autónoma el proyecto de lo que de verdad ejecutó, con la fecha de puesta en servicio de cada obra. El truco para no liarte: primero digo lo que pienso hacer, la previsión; después justifico lo que hice, las obras del año anterior. Todo esto lo mueve la distribuidora, tú como instalador no tramitas nada de esto, pero en el examen caen dos datos clavados: quién autoriza, que es la Comunidad Autónoma, y cuándo se entrega lo del año anterior, que es en el primer trimestre.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Vamos con una pregunta, y esta cae casi siempre. Escucha con atención la pregunta y sus cuatro opciones. ¿Quién autoriza la red y cuándo se entrega el proyecto de lo ejecutado? Opción A: la Comunidad Autónoma; en el primer trimestre del año siguiente. Opción B: el Ayuntamiento; en el último trimestre del mismo año. Opción C: el Ministerio; dentro de los treinta días tras la obra. Opción D: el distribuidor; cuando finalice cada tramo de tubería.</a:t>
            </a:r>
          </a:p>
          <a:p>
            <a:r>
              <a:t>N2: Piénsalo un momento, que aquí hay dos datos que van juntos: quién da el permiso y en qué trimestre se rinden cuentas de lo construido. Cuando lo tengas, seguimos.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la Comunidad Autónoma; en el primer trimestre del año siguiente. ¿Por qué? Porque quien autoriza es el órgano competente de la Comunidad Autónoma, no el Ayuntamiento ni el Ministerio, y el proyecto de las obras realizadas se entrega dentro del primer trimestre del año siguiente. Las otras tres opciones bailan el organismo o el plazo. El truco para no fallar: primero digo lo que pienso hacer y luego justifico lo que hice, y quien manda es la comunidad autónoma.</a:t>
            </a:r>
          </a:p>
          <a:p>
            <a:r>
              <a:t>N1: Eso es: comunidad autónoma y primer trimestre, siempre de la mano.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lo que persigue un buen diseño de red? ¿Que sea barata?</a:t>
            </a:r>
          </a:p>
          <a:p>
            <a:r>
              <a:t>N2: No, persigue dos cosas a la vez, y son la brújula de todo el apartado. Suministro seguro, que quiere decir que no haya fugas; y suministro continuo, que quiere decir que no se corte el gas. Fíjate que son dos objetivos distintos: una red puede ser segura pero cortarse cada dos por tres, o dar servicio siempre pero fugar. Se buscan las dos. ¿Y cómo se consigue el continuo? Dimensionando la red con capacidad suficiente, es decir, poniendo tubos del calibre adecuado para la gente que va a colgar de ellos. Para eso se mira cuánta gente hay, el nivel socioeconómico de la zona, que es el poder adquisitivo y por tanto cuánto consumo se espera, y la climatología, porque donde hace más frío se gasta más gas en calefacción. ¿Y por qué te importa a ti, que trabajas aguas abajo, en las casas? Porque una red mal dimensionada se queda corta el día de más frío, cuando todo el barrio enciende la calefacción a la vez: cae la presión, y esa caída en los aparatos se traduce en llama amarilla, mala combustión, hollín y riesgo de monóxido de carbono. Dicho fino: el diseño es, en realidad, la primera avería que se evita, antes de que exista la instalación.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a la hora de elegir los tubos y los materiales, ¿de qué depende esa elección?</a:t>
            </a:r>
          </a:p>
          <a:p>
            <a:r>
              <a:t>N2: De cuatro criterios, y te los explico con la lógica de cuando eliges un tubo en obra. Primero, las características físico-químicas del gas, porque no es lo mismo transportar gas natural que un gas licuado del petróleo: cambian densidad, poder calorífico y hasta cómo ataca al material. Segundo, la presión de diseño, que es la presión máxima para la que se calcula la red; ella marca el grosor de la pared del tubo y el material, igual que una manguera de alta presión es más gruesa que una de riego. Tercero, la pérdida de carga admisible; carga aquí significa presión, así que esto es cuánta presión te puedes permitir perder por el rozamiento a lo largo del recorrido sin que al final de la línea llegue floja. Y cuarto, las condiciones de operación y mantenimiento, es decir, cómo se va a manejar y reparar durante su vida. Si el material no encaja con el gas o con la presión, tarde o temprano aparece el problema. Es exactamente tu reflejo cuando coges un tubo: lo eliges por lo que va a circular por dentro y a qué presión, no por lo que tengas más a mano en la furgoneta.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Son siete normas de diseño. ¿De verdad tengo que aprendérmelas todas?</a:t>
            </a:r>
          </a:p>
          <a:p>
            <a:r>
              <a:t>N2: Tranquilo, no hay que saberse qué dice cada una por dentro; hay que reconocerlas cuando aparecen en una lista, que es como te lo van a preguntar. Y para reconocerlas, un truco de bloques. Por un lado, las que empiezan por une e ene: la doce mil siete, la mil quinientos noventa y cuatro, la doce mil ciento ochenta y seis y la doce mil trescientos veintisiete. Son de origen europeo y regulan las redes según la presión. Por otro lado, y estas son las importantes, tres normas españolas que van a ser tus viejas conocidas: la sesenta mil trescientos diez, la sesenta mil trescientos once y la sesenta mil trescientos doce. Llámalas las tres hermanas seiscientas. Y presta atención, porque no aparecen solo aquí: vas a ver estas tres una y otra vez en toda la ITC, para el diseño, para las pruebas, para la operación y para el mantenimiento. Regla de examen: si te ponen una lista de normas de canalización y tienes que elegir, esas tres seiscientas casi seguro que están dentro. Además, cuál se aplica no es al azar: depende de la presión de diseño de la 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por fin se abre la zanja y se monta el tubo, ¿quién responde y qué es lo que más se cuida?</a:t>
            </a:r>
          </a:p>
          <a:p>
            <a:r>
              <a:t>N2: La obra se ejecuta bajo la responsabilidad del titular de la instalación, con personal propio o ajeno, es decir, con su gente o con una contrata, pero garantizando siempre la seguridad de quien trabaja. Y hay un cuidado que es puro sentido de obra: no dañar otras instalaciones enterradas. Piensa en lo que ya corre por debajo de una calle antes de que llegues tú con la máquina: la luz, el agua, el saneamiento, el teléfono, la fibra. Al abrir zanja hay que saber qué pasa por debajo para no reventarlo. Y hay un segundo reflejo: cuando conectas el tubo nuevo a la red que ya está funcionando y dando servicio, la norma es no dejar sin gas a quienes ya lo tienen; la conexión se hace en carga, con la red viva, siempre que se pueda. Es el mismo gesto que el del fontanero que cambia un tramo de tubería sin cortarle el agua a todo el edificio: molestar lo mínimo a quien ya tiene el servicio.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pasa cuando la tubería tiene que cruzar una carretera o un río? Ahí no puedes abrir zanja y ya está, ¿no?</a:t>
            </a:r>
          </a:p>
          <a:p>
            <a:r>
              <a:t>N2: Exacto, eso son obras especiales y tienen reglas propias. La lista de obstáculos que la ITC llama especiales es cerrada, memorízala: carretera, curso de agua, ferrocarril y puente. En todos esos casos hace falta autorización del organismo afectado, es decir, del que manda en ese sitio: la administración de carreteras si cruzas una vía, la confederación hidrográfica si cruzas un río, la autoridad de ferrocarriles si cruzas las vías. Y la forma de cruzar tampoco es a lo bruto: se prefieren técnicas de construcción alternativas. La típica es la perforación horizontal, que consiste en pasar el tubo por debajo del obstáculo taladrando sin levantar la calzada, para no cortar el tráfico ni destrozar el firme. La idea resumida en una frase: cruzo algo importante, pido permiso a su dueño y uso la técnica que menos moleste al servicio que hay encima.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soltar el gas, ¿qué hay que comprobar? Supongo que que no haya fugas.</a:t>
            </a:r>
          </a:p>
          <a:p>
            <a:r>
              <a:t>N2: Eso, y una cosa más, porque son dos pruebas distintas y mucha gente las confunde. La prueba de resistencia comprueba que la tubería aguanta la presión sin reventar ni deformarse; en llano, que sea fuerte. La prueba de estanquidad comprueba que no se escapa ni una molécula de gas por ninguna unión; estanquidad significa justamente eso, que no fuga nada, ni una burbuja. Y son distintas de verdad: un tubo puede ser resistentísimo, aguantar una presión enorme, y aun así fugar por una junta mal apretada. Por eso se hacen las dos, no vale con una. Se realizan según las normas seiscientas, la trescientos diez, la trescientos once y la trescientos doce, según el tipo de instalación, esas tres hermanas que te dije que iban a volver. Y una regla de seguridad de puro sentido común: mientras se prueba, nadie ajeno en la zona. Estás metiendo mucha presión a un tubo, y si algo cede, salta con fuerza. Truco para no confundirlas nunca: resistencia, que no rompa; estanquidad, que no fugue.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Atención a esta, porque estas dos pruebas se confunden a la primera de cambio. Escucha la pregunta y las cuatro opciones. En las pruebas previas, ¿qué comprueba exactamente la prueba de estanquidad? Opción A: que la tubería no deja escapar el gas por ninguna unión. Opción B: que la tubería aguanta la presión sin reventar. Opción C: que el material resiste la corrosión del terreno. Opción D: que la red tiene el diámetro adecuado a la demanda.</a:t>
            </a:r>
          </a:p>
          <a:p>
            <a:r>
              <a:t>N2: Tómate un segundo. Una prueba mira si el tubo es fuerte; la otra, si el tubo es hermético. La pregunta va por la hermeticidad. ¿Lo tienes?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que la tubería no deja escapar el gas por ninguna unión. ¿Por qué? Porque estanquidad significa justo eso, que no se escape ni una burbuja por las uniones. La opción B, aguantar la presión sin reventar, es la prueba de resistencia, que es otra cosa distinta. Y la corrosión del terreno o el diámetro no tienen nada que ver con esta prueba. El truco para no confundirlas nunca: resistencia, que no rompa; estanquidad, que no fugue.</a:t>
            </a:r>
          </a:p>
          <a:p>
            <a:r>
              <a:t>N1: Clavado: estanquidad, ni una burbuja.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se hacen las pruebas. Pero ¿dónde queda constancia de que salieron bien?</a:t>
            </a:r>
          </a:p>
          <a:p>
            <a:r>
              <a:t>N2: En un documento con nombre y apellidos: el certificado de dirección de obra. Vamos por pasos. Primero, las pruebas tienen que terminar con resultado positivo; si algo falla, no hay nada que certificar, se corrige y se repite. Cuando salen bien, su descripción y sus resultados se incorporan a ese certificado de dirección de obra, que confecciona y firma el director de la obra, no cualquiera. ¿Y por qué tanto papel? Porque para la Administración lo que no está firmado y documentado, sencillamente no ha pasado. Ese certificado es la prueba de que la red superó los ensayos, el respaldo por si algún día hay que mirar atrás. Es el mismo reflejo que vas a tener tú cada vez que emitas un boletín o un certificado de instalación: haces el trabajo bien, sí, pero también lo dejas firmado. Trabajo hecho y papel firmado van siempre juntos.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Terminado el montaje y las pruebas, ¿ya se puede meter el gas sin más?</a:t>
            </a:r>
          </a:p>
          <a:p>
            <a:r>
              <a:t>N2: Solo si se ha superado un requisito de oro: la instalación tiene que haber pasado las pruebas previas. Sin pruebas superadas, no hay gas; grábatelo como un mandamiento. Y ahora viene la parte física, que es la clave de seguridad de todo tu oficio. Cuando metes gas en un tubo que está lleno de aire, durante un rato aire y gas conviven, y ahí está el peligro: no en el gas solo, que sin oxígeno no arde, sino en la mezcla aire-gas cuando cae dentro de los llamados límites de inflamabilidad, esa proporción justa en la que una simple chispa provoca una deflagración. ¿Cómo se evita? De dos maneras. O se introduce el gas despacio, a una velocidad que reduzca la zona de mezcla peligrosa en el punto de contacto; o se separan aire y gas metiendo en medio un tapón de gas inerte, por ejemplo nitrógeno, que no arde, o un pistón de purga que hace de tabique. Y el purgado, que es echar fuera el aire o el gas, siempre de forma controlada, nunca a lo loco. Métetelo en la cabeza porque lo vas a aplicar toda la vida cada vez que purgues una instalación: aire, más gas, más una chispa, igual a explosión.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 pregunta salva vidas, no solo exámenes. Escúchala entera con sus cuatro opciones. Al llenar la red de gas, ¿dónde está realmente el peligro? Opción A: en la mezcla aire-gas dentro de los límites de inflamabilidad. Opción B: en el gas puro, que arde en cuanto sale del tubo. Opción C: en el aire de la tubería, que se inflama solo. Opción D: en la presión alta del gas al entrar en la red.</a:t>
            </a:r>
          </a:p>
          <a:p>
            <a:r>
              <a:t>N2: Piénsalo un momento. El gas solo no arde y el aire solo tampoco. ¿Qué aparece cuando se juntan los dos en la proporción justa?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en la mezcla aire-gas dentro de los límites de inflamabilidad. ¿Por qué? Porque ni el gas solo ni el aire solo arden; el peligro es la mezcla de ambos en la proporción justa, esa en la que basta una chispa para provocar una deflagración. Por eso se llena la red despacio o metiendo en medio un tapón de gas inerte que separe el aire del gas. Las opciones B, C y D te despistan con el gas puro, con el aire o con la presión, pero el riesgo real es la mezcla.</a:t>
            </a:r>
          </a:p>
          <a:p>
            <a:r>
              <a:t>N1: Grábatelo: aire, más gas, más una chispa, igual a explosión.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ese paso final, el de meter el gas de verdad, ¿lo puede dar cualquiera?</a:t>
            </a:r>
          </a:p>
          <a:p>
            <a:r>
              <a:t>N2: No, y es lógico si piensas lo que está en juego. La puesta en servicio la lleva a cabo personal cualificado autorizado, y ojo a quién lo autoriza: el distribuidor o el titular de la instalación de distribución. Además, se hace con conocimiento del director de obra, es decir, el director tiene que estar al tanto de que se está dando ese paso. Piénsalo como la última barrera antes de que la red quede viva y cargada de gas: no es momento de improvisar ni de que lo haga alguien de paso. Y fíjate cómo encaja todo en orden, como una cadena de seguridad: primero, pruebas superadas; después, llenado controlado para evitar la mezcla peligrosa; y por último, gente cualificada y autorizada dando el servicio, con el director de obra enterado. Cada eslabón protege al siguiente.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cerrar, ¿me haces un repaso rápido para ver si me quedo con lo esencial?</a:t>
            </a:r>
          </a:p>
          <a:p>
            <a:r>
              <a:t>N2: Cuatro golpes, y si respondes a los cuatro sin dudar, llevas el vídeo dominado. Uno: esta instrucción manda en la red de la calle, la del distribuidor, no en tu instalación receptora, y lo hace a lo largo de las tres fases, proyectar, construir y explotar. Dos: esa red necesita autorización administrativa previa; quién la da, la Comunidad Autónoma; y las obras del año anterior se entregan en el primer trimestre. Tres: sin pruebas de resistencia y estanquidad superadas no hay gas, y el resultado positivo queda en el certificado de dirección de obra que firma el director. Y cuatro, el que más te va a acompañar en la vida real: el peligro nunca es el gas solo, es la mezcla aire-gas dentro de los límites de inflamabilidad. Repasa mentalmente esos cuatro; si los tienes, seguimos.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fuerte. Si me llevo cuatro conquistas de este vídeo, ¿cuáles deberían ser?</a:t>
            </a:r>
          </a:p>
          <a:p>
            <a:r>
              <a:t>N2: Estas cuatro, y déjame reconstruir el hilo para que veas que no son cuatro cosas sueltas, sino una historia. Una: ya separas la red de la calle, la del distribuidor, de tu instalación receptora, y sabes que la frontera entre las dos está en la acometida. Esa frontera es la que te ahorra discusiones en obra. Dos: sabes quién autoriza esa red, la Comunidad Autónoma, y cuándo se entrega lo del año anterior, en el primer trimestre; son dos datos de examen que van casi siempre juntos. Tres: tienes grabada la regla de oro, sin pruebas de resistencia y estanquidad superadas no hay gas, y sabes que hay un papel que lo certifica, el certificado de dirección de obra que firma el director. Y cuatro: la física que te va a acompañar toda la vida profesional, el peligro no es el gas solo, es la mezcla aire-gas dentro de los límites de inflamabilidad.</a:t>
            </a:r>
          </a:p>
          <a:p>
            <a:r>
              <a:t>N1: ¿Y por qué pesan tanto estas cuatro cosas?</a:t>
            </a:r>
          </a:p>
          <a:p>
            <a:r>
              <a:t>N2: Por dos motivos que van de la mano. En el examen te las preguntan cruzadas: te sueltan la lista de siete normas, te preguntan quién autoriza y cuándo, o te ponen a elegir entre resistencia y estanquidad. Y en la obra deciden de verdad: un mal diseño aguas arriba es lo que hace que el día de más frío la red se quede corta y aparezcan la llama amarilla y el monóxido en la caldera de tu cliente, aguas abajo. Hoy ya eres más gasista que ayer, porque entiendes por dónde entra el gas al barrio antes de llegar a ninguna vivienda. En el siguiente vídeo damos el salto a la red ya viva: cómo se opera, se mantiene y se protege las veinticuatro horas, y ahí aparecen las fugas, los plazos y los trucos de campo que usarás cada semana.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2</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Del proyecto a la puesta en servicio</a:t>
            </a:r>
          </a:p>
          <a:p>
            <a:r>
              <a:rPr sz="2200" b="0" i="0">
                <a:solidFill>
                  <a:srgbClr val="CADCFC"/>
                </a:solidFill>
                <a:latin typeface="Montserrat"/>
              </a:rPr>
              <a:t>La red de la calle: diseño, ejecución y pruebas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01 · Reglamento · ITC-ICG 01</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5</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apartados de la ITC que vemos hoy</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fases: proyectar, construir, explotar</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7</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normas de diseño que hay que reconocer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1</a:t>
            </a:r>
          </a:p>
          <a:p>
            <a:pPr>
              <a:spcAft>
                <a:spcPts val="900"/>
              </a:spcAft>
            </a:pPr>
            <a:r>
              <a:rPr sz="1800" b="1" i="0">
                <a:solidFill>
                  <a:srgbClr val="E8801A"/>
                </a:solidFill>
                <a:latin typeface="Montserrat"/>
              </a:rPr>
              <a:t>02   </a:t>
            </a:r>
            <a:r>
              <a:rPr sz="1700" b="0" i="0">
                <a:solidFill>
                  <a:srgbClr val="1B2330"/>
                </a:solidFill>
                <a:latin typeface="Montserrat"/>
              </a:rPr>
              <a:t>Apartado 2</a:t>
            </a:r>
          </a:p>
          <a:p>
            <a:pPr>
              <a:spcAft>
                <a:spcPts val="900"/>
              </a:spcAft>
            </a:pPr>
            <a:r>
              <a:rPr sz="1800" b="1" i="0">
                <a:solidFill>
                  <a:srgbClr val="E8801A"/>
                </a:solidFill>
                <a:latin typeface="Montserrat"/>
              </a:rPr>
              <a:t>03   </a:t>
            </a:r>
            <a:r>
              <a:rPr sz="1700" b="0" i="0">
                <a:solidFill>
                  <a:srgbClr val="1B2330"/>
                </a:solidFill>
                <a:latin typeface="Montserrat"/>
              </a:rPr>
              <a:t>Apartado 3</a:t>
            </a:r>
          </a:p>
          <a:p>
            <a:pPr>
              <a:spcAft>
                <a:spcPts val="900"/>
              </a:spcAft>
            </a:pPr>
            <a:r>
              <a:rPr sz="1800" b="1" i="0">
                <a:solidFill>
                  <a:srgbClr val="E8801A"/>
                </a:solidFill>
                <a:latin typeface="Montserrat"/>
              </a:rPr>
              <a:t>04   </a:t>
            </a:r>
            <a:r>
              <a:rPr sz="1700" b="0" i="0">
                <a:solidFill>
                  <a:srgbClr val="1B2330"/>
                </a:solidFill>
                <a:latin typeface="Montserrat"/>
              </a:rPr>
              <a:t>Apartado 4</a:t>
            </a:r>
          </a:p>
          <a:p>
            <a:pPr>
              <a:spcAft>
                <a:spcPts val="900"/>
              </a:spcAft>
            </a:pPr>
            <a:r>
              <a:rPr sz="1800" b="1" i="0">
                <a:solidFill>
                  <a:srgbClr val="E8801A"/>
                </a:solidFill>
                <a:latin typeface="Montserrat"/>
              </a:rPr>
              <a:t>05   </a:t>
            </a:r>
            <a:r>
              <a:rPr sz="1700" b="0" i="0">
                <a:solidFill>
                  <a:srgbClr val="1B2330"/>
                </a:solidFill>
                <a:latin typeface="Montserrat"/>
              </a:rPr>
              <a:t>Apartado 5.1</a:t>
            </a:r>
          </a:p>
          <a:p>
            <a:pPr>
              <a:spcAft>
                <a:spcPts val="900"/>
              </a:spcAft>
            </a:pPr>
            <a:r>
              <a:rPr sz="1800" b="1" i="0">
                <a:solidFill>
                  <a:srgbClr val="E8801A"/>
                </a:solidFill>
                <a:latin typeface="Montserrat"/>
              </a:rPr>
              <a:t>06   </a:t>
            </a:r>
            <a:r>
              <a:rPr sz="1700" b="0" i="0">
                <a:solidFill>
                  <a:srgbClr val="1B2330"/>
                </a:solidFill>
                <a:latin typeface="Montserrat"/>
              </a:rPr>
              <a:t>Apartado 5.2</a:t>
            </a:r>
          </a:p>
          <a:p>
            <a:pPr>
              <a:spcAft>
                <a:spcPts val="900"/>
              </a:spcAft>
            </a:pPr>
            <a:r>
              <a:rPr sz="1800" b="1" i="0">
                <a:solidFill>
                  <a:srgbClr val="E8801A"/>
                </a:solidFill>
                <a:latin typeface="Montserrat"/>
              </a:rPr>
              <a:t>07   </a:t>
            </a:r>
            <a:r>
              <a:rPr sz="1700" b="0" i="0">
                <a:solidFill>
                  <a:srgbClr val="1B2330"/>
                </a:solidFill>
                <a:latin typeface="Montserrat"/>
              </a:rPr>
              <a:t>Repaso relámpago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 qué manda esta ITC?</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Requisitos técnicos y seguridad mínima</a:t>
            </a:r>
          </a:p>
          <a:p>
            <a:pPr>
              <a:spcAft>
                <a:spcPts val="1100"/>
              </a:spcAft>
            </a:pPr>
            <a:r>
              <a:rPr sz="1600" b="1" i="0">
                <a:solidFill>
                  <a:srgbClr val="E8801A"/>
                </a:solidFill>
                <a:latin typeface="Montserrat"/>
              </a:rPr>
              <a:t>▸  </a:t>
            </a:r>
            <a:r>
              <a:rPr sz="1600" b="0" i="0">
                <a:solidFill>
                  <a:srgbClr val="1B2330"/>
                </a:solidFill>
                <a:latin typeface="Montserrat"/>
              </a:rPr>
              <a:t>Proyectar · construir · explotar</a:t>
            </a:r>
          </a:p>
          <a:p>
            <a:pPr>
              <a:spcAft>
                <a:spcPts val="1100"/>
              </a:spcAft>
            </a:pPr>
            <a:r>
              <a:rPr sz="1600" b="1" i="0">
                <a:solidFill>
                  <a:srgbClr val="E8801A"/>
                </a:solidFill>
                <a:latin typeface="Montserrat"/>
              </a:rPr>
              <a:t>▸  </a:t>
            </a:r>
            <a:r>
              <a:rPr sz="1600" b="0" i="0">
                <a:solidFill>
                  <a:srgbClr val="1B2330"/>
                </a:solidFill>
                <a:latin typeface="Montserrat"/>
              </a:rPr>
              <a:t>La red de la calle, no la receptora</a:t>
            </a:r>
          </a:p>
          <a:p>
            <a:pPr>
              <a:spcAft>
                <a:spcPts val="1100"/>
              </a:spcAft>
            </a:pPr>
            <a:r>
              <a:rPr sz="1600" b="1" i="0">
                <a:solidFill>
                  <a:srgbClr val="E8801A"/>
                </a:solidFill>
                <a:latin typeface="Montserrat"/>
              </a:rPr>
              <a:t>▸  </a:t>
            </a:r>
            <a:r>
              <a:rPr sz="1600" b="0" i="0">
                <a:solidFill>
                  <a:srgbClr val="1B2330"/>
                </a:solidFill>
                <a:latin typeface="Montserrat"/>
              </a:rPr>
              <a:t>Canalización: hasta 16 bar</a:t>
            </a:r>
          </a:p>
        </p:txBody>
      </p:sp>
      <p:sp>
        <p:nvSpPr>
          <p:cNvPr id="9" name="imgph" descr="IMGQ:gas pipeline construction street trench"/>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pipeline construction street trench</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AUTORIZACIÓN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Permiso antes de construir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Autorización administrativa previa</a:t>
            </a:r>
          </a:p>
          <a:p>
            <a:pPr>
              <a:spcAft>
                <a:spcPts val="1100"/>
              </a:spcAft>
            </a:pPr>
            <a:r>
              <a:rPr sz="1600" b="1" i="0">
                <a:solidFill>
                  <a:srgbClr val="E8801A"/>
                </a:solidFill>
                <a:latin typeface="Montserrat"/>
              </a:rPr>
              <a:t>▸  </a:t>
            </a:r>
            <a:r>
              <a:rPr sz="1600" b="0" i="0">
                <a:solidFill>
                  <a:srgbClr val="1B2330"/>
                </a:solidFill>
                <a:latin typeface="Montserrat"/>
              </a:rPr>
              <a:t>Extensiones: memoria general de previsiones</a:t>
            </a:r>
          </a:p>
          <a:p>
            <a:pPr>
              <a:spcAft>
                <a:spcPts val="1100"/>
              </a:spcAft>
            </a:pPr>
            <a:r>
              <a:rPr sz="1600" b="1" i="0">
                <a:solidFill>
                  <a:srgbClr val="E8801A"/>
                </a:solidFill>
                <a:latin typeface="Montserrat"/>
              </a:rPr>
              <a:t>▸  </a:t>
            </a:r>
            <a:r>
              <a:rPr sz="1600" b="0" i="0">
                <a:solidFill>
                  <a:srgbClr val="1B2330"/>
                </a:solidFill>
                <a:latin typeface="Montserrat"/>
              </a:rPr>
              <a:t>Primer trimestre: obras del año anterior</a:t>
            </a:r>
          </a:p>
          <a:p>
            <a:pPr>
              <a:spcAft>
                <a:spcPts val="1100"/>
              </a:spcAft>
            </a:pPr>
            <a:r>
              <a:rPr sz="1600" b="1" i="0">
                <a:solidFill>
                  <a:srgbClr val="E8801A"/>
                </a:solidFill>
                <a:latin typeface="Montserrat"/>
              </a:rPr>
              <a:t>▸  </a:t>
            </a:r>
            <a:r>
              <a:rPr sz="1600" b="0" i="0">
                <a:solidFill>
                  <a:srgbClr val="1B2330"/>
                </a:solidFill>
                <a:latin typeface="Montserrat"/>
              </a:rPr>
              <a:t>Autoriza la Comunidad Autónoma</a:t>
            </a:r>
          </a:p>
        </p:txBody>
      </p:sp>
      <p:sp>
        <p:nvSpPr>
          <p:cNvPr id="9" name="imgph" descr="IMGQ:official documents stamp approval desk"/>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official documents stamp approval desk</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¿Quién autoriza la red y cuándo se entrega el proyecto de lo ejecutado?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La Comunidad Autónoma; en el primer trimestre del año siguiente</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El Ayuntamiento; en el último trimestre del mismo año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El Ministerio; dentro de los treinta días tras la obra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El distribuidor; cuando finalice cada tramo de tubería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¿Quién autoriza la red y cuándo se entrega el proyecto de lo ejecutado?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La Comunidad Autónoma; en el primer trimestre del año siguiente</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autoriza el órgano competente de la Comunidad Autónoma y las obras del año anterior se entregan dentro del primer trimestre.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 · DISEÑO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Suministro seguro y continuo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Seguro: sin fugas</a:t>
            </a:r>
          </a:p>
          <a:p>
            <a:pPr>
              <a:spcAft>
                <a:spcPts val="1100"/>
              </a:spcAft>
            </a:pPr>
            <a:r>
              <a:rPr sz="1600" b="1" i="0">
                <a:solidFill>
                  <a:srgbClr val="E8801A"/>
                </a:solidFill>
                <a:latin typeface="Montserrat"/>
              </a:rPr>
              <a:t>▸  </a:t>
            </a:r>
            <a:r>
              <a:rPr sz="1600" b="0" i="0">
                <a:solidFill>
                  <a:srgbClr val="1B2330"/>
                </a:solidFill>
                <a:latin typeface="Montserrat"/>
              </a:rPr>
              <a:t>Continuo: sin cortes</a:t>
            </a:r>
          </a:p>
          <a:p>
            <a:pPr>
              <a:spcAft>
                <a:spcPts val="1100"/>
              </a:spcAft>
            </a:pPr>
            <a:r>
              <a:rPr sz="1600" b="1" i="0">
                <a:solidFill>
                  <a:srgbClr val="E8801A"/>
                </a:solidFill>
                <a:latin typeface="Montserrat"/>
              </a:rPr>
              <a:t>▸  </a:t>
            </a:r>
            <a:r>
              <a:rPr sz="1600" b="0" i="0">
                <a:solidFill>
                  <a:srgbClr val="1B2330"/>
                </a:solidFill>
                <a:latin typeface="Montserrat"/>
              </a:rPr>
              <a:t>Dimensionar según la demanda</a:t>
            </a:r>
          </a:p>
          <a:p>
            <a:pPr>
              <a:spcAft>
                <a:spcPts val="1100"/>
              </a:spcAft>
            </a:pPr>
            <a:r>
              <a:rPr sz="1600" b="1" i="0">
                <a:solidFill>
                  <a:srgbClr val="E8801A"/>
                </a:solidFill>
                <a:latin typeface="Montserrat"/>
              </a:rPr>
              <a:t>▸  </a:t>
            </a:r>
            <a:r>
              <a:rPr sz="1600" b="0" i="0">
                <a:solidFill>
                  <a:srgbClr val="1B2330"/>
                </a:solidFill>
                <a:latin typeface="Montserrat"/>
              </a:rPr>
              <a:t>Nivel socioeconómico y climatología</a:t>
            </a:r>
          </a:p>
        </p:txBody>
      </p:sp>
      <p:sp>
        <p:nvSpPr>
          <p:cNvPr id="9" name="imgph" descr="IMGQ:engineer studying gas network plan offic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engineer studying gas network plan office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 · DISEÑO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se pone sobre la mesa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Características físico-químicas del gas</a:t>
            </a:r>
          </a:p>
          <a:p>
            <a:pPr>
              <a:spcAft>
                <a:spcPts val="1100"/>
              </a:spcAft>
            </a:pPr>
            <a:r>
              <a:rPr sz="1600" b="1" i="0">
                <a:solidFill>
                  <a:srgbClr val="E8801A"/>
                </a:solidFill>
                <a:latin typeface="Montserrat"/>
              </a:rPr>
              <a:t>▸  </a:t>
            </a:r>
            <a:r>
              <a:rPr sz="1600" b="0" i="0">
                <a:solidFill>
                  <a:srgbClr val="1B2330"/>
                </a:solidFill>
                <a:latin typeface="Montserrat"/>
              </a:rPr>
              <a:t>Presión de diseño</a:t>
            </a:r>
          </a:p>
          <a:p>
            <a:pPr>
              <a:spcAft>
                <a:spcPts val="1100"/>
              </a:spcAft>
            </a:pPr>
            <a:r>
              <a:rPr sz="1600" b="1" i="0">
                <a:solidFill>
                  <a:srgbClr val="E8801A"/>
                </a:solidFill>
                <a:latin typeface="Montserrat"/>
              </a:rPr>
              <a:t>▸  </a:t>
            </a:r>
            <a:r>
              <a:rPr sz="1600" b="0" i="0">
                <a:solidFill>
                  <a:srgbClr val="1B2330"/>
                </a:solidFill>
                <a:latin typeface="Montserrat"/>
              </a:rPr>
              <a:t>Pérdida de carga admisible</a:t>
            </a:r>
          </a:p>
          <a:p>
            <a:pPr>
              <a:spcAft>
                <a:spcPts val="1100"/>
              </a:spcAft>
            </a:pPr>
            <a:r>
              <a:rPr sz="1600" b="1" i="0">
                <a:solidFill>
                  <a:srgbClr val="E8801A"/>
                </a:solidFill>
                <a:latin typeface="Montserrat"/>
              </a:rPr>
              <a:t>▸  </a:t>
            </a:r>
            <a:r>
              <a:rPr sz="1600" b="0" i="0">
                <a:solidFill>
                  <a:srgbClr val="1B2330"/>
                </a:solidFill>
                <a:latin typeface="Montserrat"/>
              </a:rPr>
              <a:t>Operación y mantenimiento</a:t>
            </a:r>
          </a:p>
        </p:txBody>
      </p:sp>
      <p:sp>
        <p:nvSpPr>
          <p:cNvPr id="9" name="imgph" descr="IMGQ:engineer technical drawing pipes rul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engineer technical drawing pipes ruler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 · NORMAS DE DISEÑO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siete normas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UNE-EN 12007 · 1594 · 12186 · 12327</a:t>
            </a:r>
          </a:p>
          <a:p>
            <a:pPr>
              <a:spcAft>
                <a:spcPts val="1100"/>
              </a:spcAft>
            </a:pPr>
            <a:r>
              <a:rPr sz="1600" b="1" i="0">
                <a:solidFill>
                  <a:srgbClr val="E8801A"/>
                </a:solidFill>
                <a:latin typeface="Montserrat"/>
              </a:rPr>
              <a:t>▸  </a:t>
            </a:r>
            <a:r>
              <a:rPr sz="1600" b="0" i="0">
                <a:solidFill>
                  <a:srgbClr val="1B2330"/>
                </a:solidFill>
                <a:latin typeface="Montserrat"/>
              </a:rPr>
              <a:t>UNE 60310 · 60311 · 60312</a:t>
            </a:r>
          </a:p>
          <a:p>
            <a:pPr>
              <a:spcAft>
                <a:spcPts val="1100"/>
              </a:spcAft>
            </a:pPr>
            <a:r>
              <a:rPr sz="1600" b="1" i="0">
                <a:solidFill>
                  <a:srgbClr val="E8801A"/>
                </a:solidFill>
                <a:latin typeface="Montserrat"/>
              </a:rPr>
              <a:t>▸  </a:t>
            </a:r>
            <a:r>
              <a:rPr sz="1600" b="0" i="0">
                <a:solidFill>
                  <a:srgbClr val="1B2330"/>
                </a:solidFill>
                <a:latin typeface="Montserrat"/>
              </a:rPr>
              <a:t>Se aplican según la presión de diseño</a:t>
            </a:r>
          </a:p>
        </p:txBody>
      </p:sp>
      <p:sp>
        <p:nvSpPr>
          <p:cNvPr id="9" name="imgph" descr="IMGQ:technical standards binders shelf offic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technical standards binders shelf office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 · EJECUCIÓN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Montar sin dañar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Bajo responsabilidad del titular</a:t>
            </a:r>
          </a:p>
          <a:p>
            <a:pPr>
              <a:spcAft>
                <a:spcPts val="1100"/>
              </a:spcAft>
            </a:pPr>
            <a:r>
              <a:rPr sz="1600" b="1" i="0">
                <a:solidFill>
                  <a:srgbClr val="E8801A"/>
                </a:solidFill>
                <a:latin typeface="Montserrat"/>
              </a:rPr>
              <a:t>▸  </a:t>
            </a:r>
            <a:r>
              <a:rPr sz="1600" b="0" i="0">
                <a:solidFill>
                  <a:srgbClr val="1B2330"/>
                </a:solidFill>
                <a:latin typeface="Montserrat"/>
              </a:rPr>
              <a:t>No dañar otras redes enterradas</a:t>
            </a:r>
          </a:p>
          <a:p>
            <a:pPr>
              <a:spcAft>
                <a:spcPts val="1100"/>
              </a:spcAft>
            </a:pPr>
            <a:r>
              <a:rPr sz="1600" b="1" i="0">
                <a:solidFill>
                  <a:srgbClr val="E8801A"/>
                </a:solidFill>
                <a:latin typeface="Montserrat"/>
              </a:rPr>
              <a:t>▸  </a:t>
            </a:r>
            <a:r>
              <a:rPr sz="1600" b="0" i="0">
                <a:solidFill>
                  <a:srgbClr val="1B2330"/>
                </a:solidFill>
                <a:latin typeface="Montserrat"/>
              </a:rPr>
              <a:t>Conectar sin cortar el suministro</a:t>
            </a:r>
          </a:p>
        </p:txBody>
      </p:sp>
      <p:sp>
        <p:nvSpPr>
          <p:cNvPr id="9" name="imgph" descr="IMGQ:excavator digging trench underground pipe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excavator digging trench underground pipes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 · OBRAS ESPECIALES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Cruces y obstáculos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Carretera, río, ferrocarril, puente</a:t>
            </a:r>
          </a:p>
          <a:p>
            <a:pPr>
              <a:spcAft>
                <a:spcPts val="1100"/>
              </a:spcAft>
            </a:pPr>
            <a:r>
              <a:rPr sz="1600" b="1" i="0">
                <a:solidFill>
                  <a:srgbClr val="E8801A"/>
                </a:solidFill>
                <a:latin typeface="Montserrat"/>
              </a:rPr>
              <a:t>▸  </a:t>
            </a:r>
            <a:r>
              <a:rPr sz="1600" b="0" i="0">
                <a:solidFill>
                  <a:srgbClr val="1B2330"/>
                </a:solidFill>
                <a:latin typeface="Montserrat"/>
              </a:rPr>
              <a:t>Permiso del organismo afectado</a:t>
            </a:r>
          </a:p>
          <a:p>
            <a:pPr>
              <a:spcAft>
                <a:spcPts val="1100"/>
              </a:spcAft>
            </a:pPr>
            <a:r>
              <a:rPr sz="1600" b="1" i="0">
                <a:solidFill>
                  <a:srgbClr val="E8801A"/>
                </a:solidFill>
                <a:latin typeface="Montserrat"/>
              </a:rPr>
              <a:t>▸  </a:t>
            </a:r>
            <a:r>
              <a:rPr sz="1600" b="0" i="0">
                <a:solidFill>
                  <a:srgbClr val="1B2330"/>
                </a:solidFill>
                <a:latin typeface="Montserrat"/>
              </a:rPr>
              <a:t>Técnicas alternativas, sin abrir zanja</a:t>
            </a:r>
          </a:p>
        </p:txBody>
      </p:sp>
      <p:sp>
        <p:nvSpPr>
          <p:cNvPr id="9" name="imgph" descr="IMGQ:horizontal directional drilling pipeline roa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horizontal directional drilling pipeline road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5.1 · PRUEBAS PREVIAS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Resistencia y estanquidad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Resistencia: que no reviente</a:t>
            </a:r>
          </a:p>
          <a:p>
            <a:pPr>
              <a:spcAft>
                <a:spcPts val="1100"/>
              </a:spcAft>
            </a:pPr>
            <a:r>
              <a:rPr sz="1600" b="1" i="0">
                <a:solidFill>
                  <a:srgbClr val="E8801A"/>
                </a:solidFill>
                <a:latin typeface="Montserrat"/>
              </a:rPr>
              <a:t>▸  </a:t>
            </a:r>
            <a:r>
              <a:rPr sz="1600" b="0" i="0">
                <a:solidFill>
                  <a:srgbClr val="1B2330"/>
                </a:solidFill>
                <a:latin typeface="Montserrat"/>
              </a:rPr>
              <a:t>Estanquidad: que no fugue</a:t>
            </a:r>
          </a:p>
          <a:p>
            <a:pPr>
              <a:spcAft>
                <a:spcPts val="1100"/>
              </a:spcAft>
            </a:pPr>
            <a:r>
              <a:rPr sz="1600" b="1" i="0">
                <a:solidFill>
                  <a:srgbClr val="E8801A"/>
                </a:solidFill>
                <a:latin typeface="Montserrat"/>
              </a:rPr>
              <a:t>▸  </a:t>
            </a:r>
            <a:r>
              <a:rPr sz="1600" b="0" i="0">
                <a:solidFill>
                  <a:srgbClr val="1B2330"/>
                </a:solidFill>
                <a:latin typeface="Montserrat"/>
              </a:rPr>
              <a:t>UNE 60310 · 60311 · 60312</a:t>
            </a:r>
          </a:p>
          <a:p>
            <a:pPr>
              <a:spcAft>
                <a:spcPts val="1100"/>
              </a:spcAft>
            </a:pPr>
            <a:r>
              <a:rPr sz="1600" b="1" i="0">
                <a:solidFill>
                  <a:srgbClr val="E8801A"/>
                </a:solidFill>
                <a:latin typeface="Montserrat"/>
              </a:rPr>
              <a:t>▸  </a:t>
            </a:r>
            <a:r>
              <a:rPr sz="1600" b="0" i="0">
                <a:solidFill>
                  <a:srgbClr val="1B2330"/>
                </a:solidFill>
                <a:latin typeface="Montserrat"/>
              </a:rPr>
              <a:t>Zona despejada durante la prueba</a:t>
            </a:r>
          </a:p>
        </p:txBody>
      </p:sp>
      <p:sp>
        <p:nvSpPr>
          <p:cNvPr id="9" name="imgph" descr="IMGQ:gas pipe pressure test gauge manomet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pipe pressure test gauge manometer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las pruebas previas, ¿qué comprueba exactamente la prueba de estanquidad?</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Que la tubería no deja escapar el gas por ninguna unión</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Que la tubería aguanta la presión sin reventar</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Que el material resiste la corrosión del terreno</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Que la red tiene el diámetro adecuado a la demanda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las pruebas previas, ¿qué comprueba exactamente la prueba de estanquidad?</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Que la tubería no deja escapar el gas por ninguna unión</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estanquidad verifica que no hay fugas; que aguante la presión sin romper es la prueba de resistencia.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5.1 · PAPELEO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Queda por escrito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Solo vale con resultado positivo</a:t>
            </a:r>
          </a:p>
          <a:p>
            <a:pPr>
              <a:spcAft>
                <a:spcPts val="1100"/>
              </a:spcAft>
            </a:pPr>
            <a:r>
              <a:rPr sz="1600" b="1" i="0">
                <a:solidFill>
                  <a:srgbClr val="E8801A"/>
                </a:solidFill>
                <a:latin typeface="Montserrat"/>
              </a:rPr>
              <a:t>▸  </a:t>
            </a:r>
            <a:r>
              <a:rPr sz="1600" b="0" i="0">
                <a:solidFill>
                  <a:srgbClr val="1B2330"/>
                </a:solidFill>
                <a:latin typeface="Montserrat"/>
              </a:rPr>
              <a:t>Certificado de dirección de obra</a:t>
            </a:r>
          </a:p>
          <a:p>
            <a:pPr>
              <a:spcAft>
                <a:spcPts val="1100"/>
              </a:spcAft>
            </a:pPr>
            <a:r>
              <a:rPr sz="1600" b="1" i="0">
                <a:solidFill>
                  <a:srgbClr val="E8801A"/>
                </a:solidFill>
                <a:latin typeface="Montserrat"/>
              </a:rPr>
              <a:t>▸  </a:t>
            </a:r>
            <a:r>
              <a:rPr sz="1600" b="0" i="0">
                <a:solidFill>
                  <a:srgbClr val="1B2330"/>
                </a:solidFill>
                <a:latin typeface="Montserrat"/>
              </a:rPr>
              <a:t>Lo firma el director de obra</a:t>
            </a:r>
          </a:p>
        </p:txBody>
      </p:sp>
      <p:sp>
        <p:nvSpPr>
          <p:cNvPr id="9" name="imgph" descr="IMGQ:signing construction certificate document p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signing construction certificate document pen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5.2 · 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Sin pruebas no hay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Solo si superó las pruebas previas</a:t>
            </a:r>
          </a:p>
          <a:p>
            <a:pPr>
              <a:spcAft>
                <a:spcPts val="1100"/>
              </a:spcAft>
            </a:pPr>
            <a:r>
              <a:rPr sz="1600" b="1" i="0">
                <a:solidFill>
                  <a:srgbClr val="E8801A"/>
                </a:solidFill>
                <a:latin typeface="Montserrat"/>
              </a:rPr>
              <a:t>▸  </a:t>
            </a:r>
            <a:r>
              <a:rPr sz="1600" b="0" i="0">
                <a:solidFill>
                  <a:srgbClr val="1B2330"/>
                </a:solidFill>
                <a:latin typeface="Montserrat"/>
              </a:rPr>
              <a:t>Evitar la mezcla aire-gas inflamable</a:t>
            </a:r>
          </a:p>
          <a:p>
            <a:pPr>
              <a:spcAft>
                <a:spcPts val="1100"/>
              </a:spcAft>
            </a:pPr>
            <a:r>
              <a:rPr sz="1600" b="1" i="0">
                <a:solidFill>
                  <a:srgbClr val="E8801A"/>
                </a:solidFill>
                <a:latin typeface="Montserrat"/>
              </a:rPr>
              <a:t>▸  </a:t>
            </a:r>
            <a:r>
              <a:rPr sz="1600" b="0" i="0">
                <a:solidFill>
                  <a:srgbClr val="1B2330"/>
                </a:solidFill>
                <a:latin typeface="Montserrat"/>
              </a:rPr>
              <a:t>Llenado lento o tapón de gas inerte</a:t>
            </a:r>
          </a:p>
          <a:p>
            <a:pPr>
              <a:spcAft>
                <a:spcPts val="1100"/>
              </a:spcAft>
            </a:pPr>
            <a:r>
              <a:rPr sz="1600" b="1" i="0">
                <a:solidFill>
                  <a:srgbClr val="E8801A"/>
                </a:solidFill>
                <a:latin typeface="Montserrat"/>
              </a:rPr>
              <a:t>▸  </a:t>
            </a:r>
            <a:r>
              <a:rPr sz="1600" b="0" i="0">
                <a:solidFill>
                  <a:srgbClr val="1B2330"/>
                </a:solidFill>
                <a:latin typeface="Montserrat"/>
              </a:rPr>
              <a:t>Purgado siempre controlado</a:t>
            </a:r>
          </a:p>
        </p:txBody>
      </p:sp>
      <p:sp>
        <p:nvSpPr>
          <p:cNvPr id="9" name="imgph" descr="IMGQ:technician opening gas valve gloves pipelin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opening gas valve gloves pipeline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Al llenar la red de gas, ¿dónde está realmente el peligro?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En la mezcla aire-gas dentro de los límites de inflamabilidad</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En el gas puro, que arde en cuanto sale del tubo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En el aire de la tubería, que se inflama solo</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En la presión alta del gas al entrar en la red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Al llenar la red de gas, ¿dónde está realmente el peligro?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En la mezcla aire-gas dentro de los límites de inflamabilidad</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Ni el gas solo ni el aire solo arden; el riesgo es la mezcla en proporción inflamable, por eso se llena despacio o con tapón inerte.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5.2 · QUIÉN LO HACE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última barrera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Personal cualificado autorizado</a:t>
            </a:r>
          </a:p>
          <a:p>
            <a:pPr>
              <a:spcAft>
                <a:spcPts val="1100"/>
              </a:spcAft>
            </a:pPr>
            <a:r>
              <a:rPr sz="1600" b="1" i="0">
                <a:solidFill>
                  <a:srgbClr val="E8801A"/>
                </a:solidFill>
                <a:latin typeface="Montserrat"/>
              </a:rPr>
              <a:t>▸  </a:t>
            </a:r>
            <a:r>
              <a:rPr sz="1600" b="0" i="0">
                <a:solidFill>
                  <a:srgbClr val="1B2330"/>
                </a:solidFill>
                <a:latin typeface="Montserrat"/>
              </a:rPr>
              <a:t>Por el distribuidor o el titular</a:t>
            </a:r>
          </a:p>
          <a:p>
            <a:pPr>
              <a:spcAft>
                <a:spcPts val="1100"/>
              </a:spcAft>
            </a:pPr>
            <a:r>
              <a:rPr sz="1600" b="1" i="0">
                <a:solidFill>
                  <a:srgbClr val="E8801A"/>
                </a:solidFill>
                <a:latin typeface="Montserrat"/>
              </a:rPr>
              <a:t>▸  </a:t>
            </a:r>
            <a:r>
              <a:rPr sz="1600" b="0" i="0">
                <a:solidFill>
                  <a:srgbClr val="1B2330"/>
                </a:solidFill>
                <a:latin typeface="Montserrat"/>
              </a:rPr>
              <a:t>Con conocimiento del director de obra</a:t>
            </a:r>
          </a:p>
        </p:txBody>
      </p:sp>
      <p:sp>
        <p:nvSpPr>
          <p:cNvPr id="9" name="imgph" descr="IMGQ:gas technician commissioning pipeline outdoo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technician commissioning pipeline outdoor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REPASO RELÁMPAGO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 que no se te puede olvidar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Manda en la red de la calle, no la tuya</a:t>
            </a:r>
          </a:p>
          <a:p>
            <a:pPr>
              <a:spcAft>
                <a:spcPts val="1100"/>
              </a:spcAft>
            </a:pPr>
            <a:r>
              <a:rPr sz="1600" b="1" i="0">
                <a:solidFill>
                  <a:srgbClr val="E8801A"/>
                </a:solidFill>
                <a:latin typeface="Montserrat"/>
              </a:rPr>
              <a:t>▸  </a:t>
            </a:r>
            <a:r>
              <a:rPr sz="1600" b="0" i="0">
                <a:solidFill>
                  <a:srgbClr val="1B2330"/>
                </a:solidFill>
                <a:latin typeface="Montserrat"/>
              </a:rPr>
              <a:t>Autoriza la CA · entrega primer trimestre</a:t>
            </a:r>
          </a:p>
          <a:p>
            <a:pPr>
              <a:spcAft>
                <a:spcPts val="1100"/>
              </a:spcAft>
            </a:pPr>
            <a:r>
              <a:rPr sz="1600" b="1" i="0">
                <a:solidFill>
                  <a:srgbClr val="E8801A"/>
                </a:solidFill>
                <a:latin typeface="Montserrat"/>
              </a:rPr>
              <a:t>▸  </a:t>
            </a:r>
            <a:r>
              <a:rPr sz="1600" b="0" i="0">
                <a:solidFill>
                  <a:srgbClr val="1B2330"/>
                </a:solidFill>
                <a:latin typeface="Montserrat"/>
              </a:rPr>
              <a:t>Sin pruebas superadas, no hay gas</a:t>
            </a:r>
          </a:p>
          <a:p>
            <a:pPr>
              <a:spcAft>
                <a:spcPts val="1100"/>
              </a:spcAft>
            </a:pPr>
            <a:r>
              <a:rPr sz="1600" b="1" i="0">
                <a:solidFill>
                  <a:srgbClr val="E8801A"/>
                </a:solidFill>
                <a:latin typeface="Montserrat"/>
              </a:rPr>
              <a:t>▸  </a:t>
            </a:r>
            <a:r>
              <a:rPr sz="1600" b="0" i="0">
                <a:solidFill>
                  <a:srgbClr val="1B2330"/>
                </a:solidFill>
                <a:latin typeface="Montserrat"/>
              </a:rPr>
              <a:t>El peligro es la mezcla aire-gas</a:t>
            </a:r>
          </a:p>
        </p:txBody>
      </p:sp>
      <p:sp>
        <p:nvSpPr>
          <p:cNvPr id="9" name="imgph" descr="IMGQ:gas meter cabinet street wall build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street wall building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Controlas la red desde el papel hasta el gas</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Separas la red de la calle de tu receptora</a:t>
            </a:r>
          </a:p>
          <a:p>
            <a:pPr>
              <a:spcAft>
                <a:spcPts val="1200"/>
              </a:spcAft>
            </a:pPr>
            <a:r>
              <a:rPr sz="2000" b="1" i="0">
                <a:solidFill>
                  <a:srgbClr val="F4A24C"/>
                </a:solidFill>
                <a:latin typeface="Montserrat"/>
              </a:rPr>
              <a:t>✓  </a:t>
            </a:r>
            <a:r>
              <a:rPr sz="1900" b="0" i="0">
                <a:solidFill>
                  <a:srgbClr val="FFFFFF"/>
                </a:solidFill>
                <a:latin typeface="Montserrat"/>
              </a:rPr>
              <a:t>Sabes quién autoriza y cuándo: la CA y el primer trimestre</a:t>
            </a:r>
          </a:p>
          <a:p>
            <a:pPr>
              <a:spcAft>
                <a:spcPts val="1200"/>
              </a:spcAft>
            </a:pPr>
            <a:r>
              <a:rPr sz="2000" b="1" i="0">
                <a:solidFill>
                  <a:srgbClr val="F4A24C"/>
                </a:solidFill>
                <a:latin typeface="Montserrat"/>
              </a:rPr>
              <a:t>✓  </a:t>
            </a:r>
            <a:r>
              <a:rPr sz="1900" b="0" i="0">
                <a:solidFill>
                  <a:srgbClr val="FFFFFF"/>
                </a:solidFill>
                <a:latin typeface="Montserrat"/>
              </a:rPr>
              <a:t>Tienes grabado: sin pruebas superadas, no hay gas</a:t>
            </a:r>
          </a:p>
          <a:p>
            <a:pPr>
              <a:spcAft>
                <a:spcPts val="1200"/>
              </a:spcAft>
            </a:pPr>
            <a:r>
              <a:rPr sz="2000" b="1" i="0">
                <a:solidFill>
                  <a:srgbClr val="F4A24C"/>
                </a:solidFill>
                <a:latin typeface="Montserrat"/>
              </a:rPr>
              <a:t>✓  </a:t>
            </a:r>
            <a:r>
              <a:rPr sz="1900" b="0" i="0">
                <a:solidFill>
                  <a:srgbClr val="FFFFFF"/>
                </a:solidFill>
                <a:latin typeface="Montserrat"/>
              </a:rPr>
              <a:t>El peligro no es el gas solo, es la mezcla aire-gas</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Hoy ya sabes por dónde entra el gas al barrio. En el siguiente vídeo la mantenemos viva.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
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el vídeo anterior dejamos la red recién puesta en marcha, con gas por dentro. Y una vez está viva, ¿quién la cuida?</a:t>
            </a:r>
          </a:p>
          <a:p>
            <a:r>
              <a:t>N2: Esa es justo la historia de hoy. Una red de gas viva no se puede dejar sola: hay que vigilarla, mantenerla y protegerla las veinticuatro horas del día, igual que un hospital no cierra por la noche. En este segundo vídeo cubrimos los apartados seis, siete y ocho de la ITC-ICG cero uno. Tres cosas: cómo se opera y se mantiene la red en su día a día, qué papeles hay que registrar y archivar, y cómo se protege la tubería de las obras que hacen otros en la calle. Y te aviso de una cosa: este vídeo está lleno de plazos concretos y de listas cerradas. Eso, que parece un rollo, en realidad es una buena noticia para el examen, porque los plazos y las listas son de lo que más se pregunta y de lo más fácil de puntuar si te los sabes. Vamos apartado por apartado.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me llevo de percha para ordenar el vídeo?</a:t>
            </a:r>
          </a:p>
          <a:p>
            <a:r>
              <a:t>N2: El primero, tres: las fugas se clasifican en tres clases según lo graves que sean, y esa clasificación cae muchísimo. El segundo, ocho: son los ocho puntos que tiene que contener el plan de emergencia, y te conviene memorizarlos como una lista de la compra. Y el tercero, cinco: son los años que hay que guardar el archivo de las intervenciones por seguridad y de las emergencias, uno de esos datos numéricos que en el examen es un regalo si te lo sabes. Tres clases de fuga, ocho puntos del plan, cinco años de archivo. Con esas tres perchas colgamos todo lo demás.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Primero de todo, ¿qué diferencia hay entre operar y mantener, y de quién es la responsabilidad?</a:t>
            </a:r>
          </a:p>
          <a:p>
            <a:r>
              <a:t>N2: Vamos con las dos palabras, porque suenan parecidas pero no son lo mismo. Operar es conducir la red día a día: vigilar que la presión esté bien, controlar la odorización, atender el funcionamiento normal. Mantener es cuidarla y repararla: revisar, sustituir lo gastado, arreglar lo que falla. Las dos cosas, operación y mantenimiento, recaen en el titular de la instalación, aunque el trabajo lo haga gente contratada, lo que la norma llama personal propio o ajeno. Y todo con un criterio de fondo que lo tiñe todo: la seguridad pública, más las normas seiscientas de siempre. Hay además un detalle de papeleo que cae en el examen: el distribuidor tiene que poner copia de los procedimientos de sus centros de operación y de urgencias a disposición de dos destinatarios. Uno, el Ministerio, en su parte de seguridad industrial; y dos, la Comunidad Autónoma que autorizó la red. Que sean dos, y cuáles son, es justo lo que suelen preguntar.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es exactamente un centro de operación? ¿Un sitio con gente mirando pantallas?</a:t>
            </a:r>
          </a:p>
          <a:p>
            <a:r>
              <a:t>N2: Justo eso: piénsalo como la torre de control de un aeropuerto, pero de la red de gas. Desde ahí se vigila que todo vaya bien, con los medios materiales y humanos necesarios. ¿Qué es lo que vigila sobre todo? Dos parámetros de calidad que tienes que grabarte. El primero, la presión, que el gas llegue con la fuerza justa a todos. El segundo, el odorizante, y este merece una explicación: el gas natural no huele a nada, así que se le añade a propósito una sustancia que huele fatal, a huevo podrido, para que cualquiera note un escape con la nariz. Por eso el odorante es de vida o muerte: si falta, hay una fuga y nadie la huele hasta que ya es tarde. Presión y odorizante, esos dos siempre a raya. Y ahora, atención a una excepción que se pregunta: las redes que se alimentan desde depósitos de gas licuado del petróleo, típicas de una urbanización con su depósito de propano, no están obligadas a tener centro de operación; para ellas se dictan requisitos aparte según su tamaño. Es un salvo que, y esos siempre caen.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Vamos con una pregunta. Escucha la pregunta y las cuatro opciones. ¿Cuáles son los dos parámetros de calidad que vigila el centro de operación? Opción A: la presión y la concentración de odorizante. Opción B: la temperatura y el caudal del gas. Opción C: la humedad y el poder calorífico. Opción D: el diámetro del tubo y la profundidad de la zanja.</a:t>
            </a:r>
          </a:p>
          <a:p>
            <a:r>
              <a:t>N2: Tómate un momento. Uno de los dos hace que el gas llegue con fuerza; el otro hace que puedas olerlo si se escapa. Con eso lo tienes.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la presión y la concentración de odorizante. ¿Por qué? Porque los dos parámetros de calidad que se vigilan siempre son la presión, para que el gas llegue con la fuerza justa, y el odorizante, esa sustancia que huele a huevo podrido y que se le añade al gas a propósito. Si falta el odorante, hay una fuga y nadie la nota hasta que es tarde. La temperatura, el caudal, la humedad o el diámetro son distractores. El truco: fuerza y olfato, presión y odorante.</a:t>
            </a:r>
          </a:p>
          <a:p>
            <a:r>
              <a:t>N1: Esos dos, siempre a raya.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centro de operación tiene cuatro funciones. ¿Cómo las ordeno para no liarme?</a:t>
            </a:r>
          </a:p>
          <a:p>
            <a:r>
              <a:t>N2: Con una secuencia lógica en el tiempo, así no se te caen. Primera función, controlar: vigilar lo que pasa ahora mismo, presión y odorante, recopilar los registros de presión y los datos que llegan teleinformados desde las estaciones. Segunda, planificar: mirar al futuro con un plan de operación que garantice la continuidad del suministro para la próxima campaña, contando con el crecimiento previsto de la demanda. Tercera, informar: cada mes elabora un informe de calidad del gas donde resume los niveles de odorización y el valor medio del poder calorífico superior, que es la energía que lleva el gas, cuánto calienta. Y cuarta, programar: organiza los trabajos sobre las redes principales. Controlar, planificar, informar, programar. Y ojo a un detalle de examen que se cruza mucho: el dato del poder calorífico no se lo inventa el centro, se lo facilita el Gestor Técnico del Sistema, y con frecuencia horaria, cada hora, aunque el informe de calidad se elabore una sola vez al mes. No confundas el ritmo del dato, horario, con el ritmo del informe, mensual.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Aquí hay dos cosas que suenan casi igual y me lío: plan de emergencia y servicio de urgencias. ¿En qué se diferencian?</a:t>
            </a:r>
          </a:p>
          <a:p>
            <a:r>
              <a:t>N2: Muy buena, porque es una trampa clásica. Una es un papel y la otra es un teléfono, quédate con eso. El plan de emergencia es el documento escrito que dice, con antelación y por escrito, qué hay que hacer y quién hace cada cosa cuando pasa algo gordo. Tiene ocho puntos que te conviene memorizar como una checklist: objeto y ámbito de aplicación, grados de emergencia, desarrollo de la emergencia, determinación de los responsables, etapas, notificación a los servicios públicos como policía, bomberos y sanitarios, análisis de emergencias y difusión del plan. La otra cosa es el servicio de atención de urgencias, que es el teléfono real que coge la llamada del vecino que dice huele a gas. Ese servicio tiene que estar permanente, las veinticuatro horas, con gente capaz de ir en campo y, si hace falta, activar el plan de emergencia y hacerlo en el menor tiempo posible. Resumen para no confundirlos: el plan es el papel que dice qué hacer; el servicio de urgencias es el teléfono y la furgoneta que lo hacen.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me preguntan qué incidencias de seguridad atiende el distribuidor en casa del usuario, ¿qué contesto?</a:t>
            </a:r>
          </a:p>
          <a:p>
            <a:r>
              <a:t>N2: Tres, y es una lista cerrada, así que apréndetela tal cual: olor a gas, incendio o explosión. Ni más ni menos que esas tres. Los centros de atención de urgencias trabajan con procedimientos escritos que clasifican los avisos por prioridades, porque no todo lo que entra por teléfono es igual de grave. ¿Y cuál es el aviso de máxima prioridad, el que se atiende antes que nada? La fuga de gas. Cualquier condición que pueda generar riesgo va a lo más alto de la cola, y la resolución de esos casos de máxima prioridad tiene su sistemática marcada. Un detalle económico que a veces cae y sorprende: tener ese servicio de urgencias siempre disponible cuesta dinero, y ese coste se repercute a los usuarios, es decir, se lo cobran a la gente según diga el reglamento. Y guardan los registros de lo que hacen a disposición de la Administración, para poder demostrar cómo actuaron ante cada incidencia.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titular comprueba la estanquidad de la red. Cuando aparece una fuga, ¿cómo se clasifica?</a:t>
            </a:r>
          </a:p>
          <a:p>
            <a:r>
              <a:t>N2: En tres clases, ordenadas de más a menos grave, y esta clasificación cae mucho. La primera, fuga de intervención urgente: hay peligro inmediato, hay que ir ya. La segunda, de intervención programada: hay que arreglarla sí o sí, pero se puede planificar la intervención con calma, para dentro de unos días. Y la tercera, de vigilancia de progresión: es tan pequeña o tan poco peligrosa que, de momento, solo se vigila por si va a más. Truco para el orden: urgente ahora, programada pronto, progresión la miro. Y aquí viene lo bueno, la pregunta con miga: ¿por qué la misma fuga puede ser urgente o solo de vigilancia? Porque depende sobre todo de dónde esté. Una fuga pequeña en pleno campo no es lo mismo que esa misma fuga pegada a un edificio habitado, donde el gas se puede acumular y hacer daño a la gente. Por eso, entre los factores que deciden la clase están las características del gas, la presión de operación y lo que diga el detector, pero el que más pesa es la proximidad a propiedades y edificios y el uso que se les da. La documentación de estos controles queda en poder del titular, a disposición de la Comunidad Autónoma.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Pregunta con miga. Escúchala con sus cuatro opciones. ¿Qué factor pesa más para clasificar una fuga como urgente? Opción A: la proximidad de la fuga a edificios habitados. Opción B: el color de la llama en los aparatos cercanos. Opción C: la antigüedad de la tubería afectada. Opción D: el día de la semana en que se detecta.</a:t>
            </a:r>
          </a:p>
          <a:p>
            <a:r>
              <a:t>N2: Piénsalo un momento. Una misma fuga puede ser urgente o de simple vigilancia, y no es solo el tamaño. ¿Dónde está la fuga y quién vive al lado?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la proximidad de la fuga a edificios habitados. ¿Por qué? Porque lo que dispara la urgencia es la cercanía a propiedades y edificios y el uso que se les da: pegada a una vivienda, el gas se acumula y hace daño a la gente, mientras que esa misma fuga en pleno campo solo se vigila. También cuentan el tipo de gas, la presión de operación y lo que diga el detector, pero la cercanía es la que más pesa. El color de la llama, la antigüedad del tubo o el día de la semana no pintan nada aquí.</a:t>
            </a:r>
          </a:p>
          <a:p>
            <a:r>
              <a:t>N1: La clave: no es el tamaño, es a quién tiene al lado.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Aparece una fuga o un daño y en ese momento no se puede arreglar bien del todo. ¿Qué se hace, se deja para mañana?</a:t>
            </a:r>
          </a:p>
          <a:p>
            <a:r>
              <a:t>N2: Nunca se deja a medias. Lo que manda la norma es tomar una medida temporal, un parche seguro que quite el peligro de inmediato, y en cuanto sea posible hacer la reparación definitiva, la de verdad. El parche no es la solución, es solo un puente hasta la reparación buena, pero mientras tanto la instalación no queda peligrosa. Ahora, la regla sobre las pruebas, que tiene una excepción muy práctica. Regla general: después de tocar la red hay que repetir las pruebas en obra, resistencia y estanquidad, según las normas seiscientas. Excepción: si es una reparación puntual o un tramo de corta extensión, no hace falta montar todo el operativo de pruebas; basta con verificar que las uniones nuevas no fugan, y eso se hace con disolución jabonosa, que es echar agua con jabón sobre la junta: si burbujea, hay fuga. Ese es el truco de gasista que vas a usar toda la vida. Fíjate bien en la condición de la excepción, porque es lo que preguntan: solo vale para reparación puntual o tramo corto; en una intervención grande, pruebas completas.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se reabre el gas y se trabaja con posible salida de gas, ¿qué reflejos de seguridad no pueden faltar?</a:t>
            </a:r>
          </a:p>
          <a:p>
            <a:r>
              <a:t>N2: Empecemos por el momento de reabrir. Si durante la intervención pudo entrar aire en la tubería, antes de volver a dar servicio hay que purgar la red por sus extremos, es decir, echar ese aire fuera por las puntas antes de que se mezcle con el gas. ¿Por qué? Porque, como aprendiste en el vídeo anterior, el peligro es justamente la mezcla aire-gas. Y mientras se trabaja con posible salida de gas, cuatro reflejos que conviene memorizar juntos, como un solo bloque. Uno, detectar la presencia de gas, con el detector, para saber si hay gas en el aire. Dos, señalizar y controlar la zona de trabajo, para que nadie entre por descuido. Tres, retirar las fuentes de ignición que no sean imprescindibles, es decir, todo lo que pueda dar una chispa o una llama. Y cuatro, tener a mano el equipo de extinción específico, el extintor adecuado por si acaso. Detectar, señalizar, retirar chispas y extintor. Esos cuatro gestos te cubren en cualquier intervención con gas, y son exactamente los mismos que vas a repetir tú en obra.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está obligado a archivar el distribuidor, y sobre todo con qué números?</a:t>
            </a:r>
          </a:p>
          <a:p>
            <a:r>
              <a:t>N2: Vamos con lo que se guarda y, muy atento, con las cifras, que es lo que cae. Primero, el distribuidor tiene que contar con cartografía detallada de la red, o sea, el mapa de por dónde van todos los tubos, y permanentemente actualizada, siempre al día; un plano viejo puede provocar que alguien pique donde no debe. Segundo, guarda mientras la red esté en explotación la documentación de autorización y los proyectos, incluidos los resultados de las pruebas en obra, resistencia y estanquidad. Y ahora las dos cifras clave. Una: de las vigilancias y controles de estanquidad se guardan las dos últimas, no todo el histórico, las dos últimas. Otra: las intervenciones por motivos de seguridad y las actuaciones en emergencias se archivan un mínimo de cinco años. Truco para memorizarlo: mapa siempre, estanquidad las dos últimas, seguridad cinco años. Y un detalle que a veces intentan colar: el soporte da igual, vale papel o vale informático, con tal de que sea fiable. Si en un examen ves obligatoriamente en papel, es falso: lo que importa es que la información esté y sea de fiar.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Imagina una empresa que va a abrir zanja en la calle para poner fibra y no sabe que justo debajo pasa el gas. ¿Qué manda la ITC?</a:t>
            </a:r>
          </a:p>
          <a:p>
            <a:r>
              <a:t>N2: Aquí está una de las preguntas más golosas del tema, porque son tres plazos seguidos y hay que decirlos en orden. La idea de fondo es de puro sentido común: antes de tocar la vía pública donde hay red de gas, hay que preguntar a la compañía dónde están sus tubos. Ahora los tres números. Primero, esa empresa avisa y solicita información al distribuidor con una antelación mínima de treinta días antes de empezar; y lo hace por escrito, por carta, fax o correo, indicando la localización concreta. Segundo, el distribuidor tiene un plazo máximo de veinte días para contestar con la mejor información disponible de dónde están sus instalaciones, qué normas hay que respetar cerca y cómo contactar con el servicio de urgencias. Y tercero, cuando la empresa ya va a arrancar de verdad, comunica el inicio de los trabajos con al menos veinticuatro horas de antelación. El truco temporal para clavarlo: pido con treinta, me contestan en veinte, aviso con veinticuatro horas. Y ojo, el solicitante no puede empezar a picar hasta haber recibido y aceptado formalmente esa información.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Tres números seguidos, y el orden importa. Escucha la pregunta y las cuatro opciones. Obras de terceros: ¿cuáles son los tres plazos, en orden? Opción A: aviso treinta días antes; el distribuidor contesta en veinte; inicio con veinticuatro horas. Opción B: aviso veinte días antes; el distribuidor contesta en treinta; inicio con cuarenta y ocho horas. Opción C: aviso quince días antes; el distribuidor contesta en diez; inicio con veinticuatro horas. Opción D: aviso treinta días antes; el distribuidor contesta en veinticuatro; inicio con veinte horas.</a:t>
            </a:r>
          </a:p>
          <a:p>
            <a:r>
              <a:t>N2: Tómate un momento. Pido con antelación larga, me contestan algo más rápido y el arranque lo aviso con un día justo. ¿Cuántos días y cuántas horas exactos?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aviso treinta días antes; el distribuidor contesta en veinte; inicio con veinticuatro horas. ¿Por qué? Porque el truco temporal es pido con treinta, me contestan en veinte y aviso con veinticuatro horas. Las demás opciones bailan los números: cambian el orden o meten cuarenta y ocho o veinte horas donde no toca. Y ojo a un detalle: no se puede empezar a picar hasta haber recibido y aceptado formalmente esa información.</a:t>
            </a:r>
          </a:p>
          <a:p>
            <a:r>
              <a:t>N1: Treinta, veinte y veinticuatro. En ese orden.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la obra que quiere hacer ese tercero choca de frente con la tubería de gas? ¿Quién decide entonces?</a:t>
            </a:r>
          </a:p>
          <a:p>
            <a:r>
              <a:t>N2: Vamos por pasos, porque hay tres piezas. Primera: si la obra prevista afecta directamente al trazado o a la localización de la red de gas, el distribuidor puede negarse a que se haga. Segunda, y muy importante, no se puede negar por capricho ni porque le moleste: solo por razones técnicas o de seguridad. Tercera: si el que quiere hacer la obra no está de acuerdo con esa negativa, no decide ninguno de los dos por su cuenta; resuelve el órgano competente de la Comunidad Autónoma, que hace de árbitro. Y hay un matiz que cae en el examen y que mucha gente falla: la carga de probar que de verdad hay que hacer esa obra tocando el gas es del solicitante, del que quiere hacer la obra, no del distribuidor. Es decir, el que quiere picar es quien tiene que demostrar que no le queda otra. Todo este apartado, en el fondo, va de lo mismo: meter la excavadora a ciegas es reventar el tubo y provocar la fuga, así que la ley obliga a preguntar antes.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del gran cierre, ¿me das los golpes rápidos para comprobar que lo tengo todo?</a:t>
            </a:r>
          </a:p>
          <a:p>
            <a:r>
              <a:t>N2: Cinco, y si los sueltas de carrerilla tienes el vídeo ganado. Uno: el centro de operación vigila dos parámetros de calidad, presión y odorizante, y sin odorante nadie huele la fuga. Dos: las urgencias de seguridad en casa del usuario son tres y forman lista cerrada, olor a gas, incendio o explosión, y la fuga de gas es de máxima prioridad. Tres: las fugas se clasifican en tres clases, urgente, programada y de vigilancia de progresión, y lo que más pesa para decidir es la proximidad a edificios. Cuatro: los plazos de las obras de terceros, treinta días para avisar, veinte para que el distribuidor conteste y veinticuatro horas antes de empezar. Y cinco, del archivo, las dos últimas estanquidades y cinco años para las intervenciones de seguridad y emergencias. Presión y odorante; olor, incendio y explosión; urgente, programada y vigilancia; treinta, veinte y veinticuatro; dos últimas y cinco años. Con esos cinco bloques vas sobrado.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con esto cerramos no solo el vídeo, sino el tema entero. Si me llevo cuatro conquistas, ¿cuáles?</a:t>
            </a:r>
          </a:p>
          <a:p>
            <a:r>
              <a:t>N2: Estas cuatro, y deja que te reconstruya el hilo, porque cada una tiene su porqué. Una: reconoces los tres plazos de las obras de terceros, treinta días para avisar, veinte para que el distribuidor conteste y veinticuatro horas antes de arrancar; y entiendes que existen para lo mismo, que nadie pique a ciegas sobre el gas. Dos: clasificas una fuga por su gravedad, urgente, programada o de vigilancia, y sabes que lo que la vuelve urgente no es tanto su tamaño como su cercanía a un edificio habitado, porque ahí el gas se acumula y hace daño. Tres: ante un daño aplicas primero el parche seguro y dejas la reparación definitiva para cuanto antes, sin dejar nada a medias, porque una instalación de gas a medias es un peligro. Y cuatro: cierras cualquier reparación puntual con el truco que usarás toda la vida, la disolución jabonosa, agua con jabón sobre la junta, y si burbujea, fuga.</a:t>
            </a:r>
          </a:p>
          <a:p>
            <a:r>
              <a:t>N1: ¿Y por qué es tan potente terminar aquí?</a:t>
            </a:r>
          </a:p>
          <a:p>
            <a:r>
              <a:t>N2: Por dos motivos que se dan la mano. En el examen, estos plazos y estas listas cerradas son de las preguntas que más caen, casi un regalo si te las sabes. Y en la obra son tu día a día de verdad: desde el vecino que llama porque huele a gas hasta la excavadora que hay que parar antes de que reviente un tubo. Piensa en el camino que has recorrido: en el primer vídeo vimos nacer la red, del papel a la puesta en servicio; en este la hemos mantenido viva, operándola, archivándola y protegiéndola las veinticuatro horas. Has cruzado entera la ITC-ICG cero uno, de principio a fin, justo la red de la calle que empalma con las instalaciones que vas a firmar tú. Hoy eres mucho más gasista que ayer, y no es un decir: dominas de arriba abajo la tubería que da de comer a todo un barrio. Enhorabuena, cierras el tema con nota. Nos vemos en la siguiente ITC.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2</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Operación, mantenimiento y protección</a:t>
            </a:r>
          </a:p>
          <a:p>
            <a:r>
              <a:rPr sz="2200" b="0" i="0">
                <a:solidFill>
                  <a:srgbClr val="CADCFC"/>
                </a:solidFill>
                <a:latin typeface="Montserrat"/>
              </a:rPr>
              <a:t>La vida diaria de una red de gas viva</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01 · Reglamento · ITC-ICG 01</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clases de fuga según su gravedad</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8</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puntos del plan de emergencia</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5</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años de archivo de seguridad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6</a:t>
            </a:r>
          </a:p>
          <a:p>
            <a:pPr>
              <a:spcAft>
                <a:spcPts val="900"/>
              </a:spcAft>
            </a:pPr>
            <a:r>
              <a:rPr sz="1800" b="1" i="0">
                <a:solidFill>
                  <a:srgbClr val="E8801A"/>
                </a:solidFill>
                <a:latin typeface="Montserrat"/>
              </a:rPr>
              <a:t>02   </a:t>
            </a:r>
            <a:r>
              <a:rPr sz="1700" b="0" i="0">
                <a:solidFill>
                  <a:srgbClr val="1B2330"/>
                </a:solidFill>
                <a:latin typeface="Montserrat"/>
              </a:rPr>
              <a:t>Apartado 6.1</a:t>
            </a:r>
          </a:p>
          <a:p>
            <a:pPr>
              <a:spcAft>
                <a:spcPts val="900"/>
              </a:spcAft>
            </a:pPr>
            <a:r>
              <a:rPr sz="1800" b="1" i="0">
                <a:solidFill>
                  <a:srgbClr val="E8801A"/>
                </a:solidFill>
                <a:latin typeface="Montserrat"/>
              </a:rPr>
              <a:t>03   </a:t>
            </a:r>
            <a:r>
              <a:rPr sz="1700" b="0" i="0">
                <a:solidFill>
                  <a:srgbClr val="1B2330"/>
                </a:solidFill>
                <a:latin typeface="Montserrat"/>
              </a:rPr>
              <a:t>Apartado 6.2</a:t>
            </a:r>
          </a:p>
          <a:p>
            <a:pPr>
              <a:spcAft>
                <a:spcPts val="900"/>
              </a:spcAft>
            </a:pPr>
            <a:r>
              <a:rPr sz="1800" b="1" i="0">
                <a:solidFill>
                  <a:srgbClr val="E8801A"/>
                </a:solidFill>
                <a:latin typeface="Montserrat"/>
              </a:rPr>
              <a:t>04   </a:t>
            </a:r>
            <a:r>
              <a:rPr sz="1700" b="0" i="0">
                <a:solidFill>
                  <a:srgbClr val="1B2330"/>
                </a:solidFill>
                <a:latin typeface="Montserrat"/>
              </a:rPr>
              <a:t>Apartado 6.3</a:t>
            </a:r>
          </a:p>
          <a:p>
            <a:pPr>
              <a:spcAft>
                <a:spcPts val="900"/>
              </a:spcAft>
            </a:pPr>
            <a:r>
              <a:rPr sz="1800" b="1" i="0">
                <a:solidFill>
                  <a:srgbClr val="E8801A"/>
                </a:solidFill>
                <a:latin typeface="Montserrat"/>
              </a:rPr>
              <a:t>05   </a:t>
            </a:r>
            <a:r>
              <a:rPr sz="1700" b="0" i="0">
                <a:solidFill>
                  <a:srgbClr val="1B2330"/>
                </a:solidFill>
                <a:latin typeface="Montserrat"/>
              </a:rPr>
              <a:t>Apartado 6.4</a:t>
            </a:r>
          </a:p>
          <a:p>
            <a:pPr>
              <a:spcAft>
                <a:spcPts val="900"/>
              </a:spcAft>
            </a:pPr>
            <a:r>
              <a:rPr sz="1800" b="1" i="0">
                <a:solidFill>
                  <a:srgbClr val="E8801A"/>
                </a:solidFill>
                <a:latin typeface="Montserrat"/>
              </a:rPr>
              <a:t>06   </a:t>
            </a:r>
            <a:r>
              <a:rPr sz="1700" b="0" i="0">
                <a:solidFill>
                  <a:srgbClr val="1B2330"/>
                </a:solidFill>
                <a:latin typeface="Montserrat"/>
              </a:rPr>
              <a:t>Apartado 7</a:t>
            </a:r>
          </a:p>
          <a:p>
            <a:pPr>
              <a:spcAft>
                <a:spcPts val="900"/>
              </a:spcAft>
            </a:pPr>
            <a:r>
              <a:rPr sz="1800" b="1" i="0">
                <a:solidFill>
                  <a:srgbClr val="E8801A"/>
                </a:solidFill>
                <a:latin typeface="Montserrat"/>
              </a:rPr>
              <a:t>07   </a:t>
            </a:r>
            <a:r>
              <a:rPr sz="1700" b="0" i="0">
                <a:solidFill>
                  <a:srgbClr val="1B2330"/>
                </a:solidFill>
                <a:latin typeface="Montserrat"/>
              </a:rPr>
              <a:t>Apartado 8</a:t>
            </a:r>
          </a:p>
          <a:p>
            <a:pPr>
              <a:spcAft>
                <a:spcPts val="900"/>
              </a:spcAft>
            </a:pPr>
            <a:r>
              <a:rPr sz="1800" b="1" i="0">
                <a:solidFill>
                  <a:srgbClr val="E8801A"/>
                </a:solidFill>
                <a:latin typeface="Montserrat"/>
              </a:rPr>
              <a:t>08   </a:t>
            </a:r>
            <a:r>
              <a:rPr sz="1700" b="0" i="0">
                <a:solidFill>
                  <a:srgbClr val="1B2330"/>
                </a:solidFill>
                <a:latin typeface="Montserrat"/>
              </a:rPr>
              <a:t>Repaso relámpago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 · OPERACIÓN Y MANTENIMIENTO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Operar y mantener la red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Criterio de fondo: seguridad pública</a:t>
            </a:r>
          </a:p>
          <a:p>
            <a:pPr>
              <a:spcAft>
                <a:spcPts val="1100"/>
              </a:spcAft>
            </a:pPr>
            <a:r>
              <a:rPr sz="1600" b="1" i="0">
                <a:solidFill>
                  <a:srgbClr val="E8801A"/>
                </a:solidFill>
                <a:latin typeface="Montserrat"/>
              </a:rPr>
              <a:t>▸  </a:t>
            </a:r>
            <a:r>
              <a:rPr sz="1600" b="0" i="0">
                <a:solidFill>
                  <a:srgbClr val="1B2330"/>
                </a:solidFill>
                <a:latin typeface="Montserrat"/>
              </a:rPr>
              <a:t>Responsabilidad del titular</a:t>
            </a:r>
          </a:p>
          <a:p>
            <a:pPr>
              <a:spcAft>
                <a:spcPts val="1100"/>
              </a:spcAft>
            </a:pPr>
            <a:r>
              <a:rPr sz="1600" b="1" i="0">
                <a:solidFill>
                  <a:srgbClr val="E8801A"/>
                </a:solidFill>
                <a:latin typeface="Montserrat"/>
              </a:rPr>
              <a:t>▸  </a:t>
            </a:r>
            <a:r>
              <a:rPr sz="1600" b="0" i="0">
                <a:solidFill>
                  <a:srgbClr val="1B2330"/>
                </a:solidFill>
                <a:latin typeface="Montserrat"/>
              </a:rPr>
              <a:t>Personal cualificado, propio o ajeno</a:t>
            </a:r>
          </a:p>
          <a:p>
            <a:pPr>
              <a:spcAft>
                <a:spcPts val="1100"/>
              </a:spcAft>
            </a:pPr>
            <a:r>
              <a:rPr sz="1600" b="1" i="0">
                <a:solidFill>
                  <a:srgbClr val="E8801A"/>
                </a:solidFill>
                <a:latin typeface="Montserrat"/>
              </a:rPr>
              <a:t>▸  </a:t>
            </a:r>
            <a:r>
              <a:rPr sz="1600" b="0" i="0">
                <a:solidFill>
                  <a:srgbClr val="1B2330"/>
                </a:solidFill>
                <a:latin typeface="Montserrat"/>
              </a:rPr>
              <a:t>Procedimientos: al Ministerio y a la CA</a:t>
            </a:r>
          </a:p>
        </p:txBody>
      </p:sp>
      <p:sp>
        <p:nvSpPr>
          <p:cNvPr id="9" name="imgph" descr="IMGQ:gas control room operators monitors screen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control room operators monitors screens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6.1 · CENTROS DE OPERACIÓN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torre de control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Vigila dos parámetros: presión y odorizante</a:t>
            </a:r>
          </a:p>
          <a:p>
            <a:pPr>
              <a:spcAft>
                <a:spcPts val="1100"/>
              </a:spcAft>
            </a:pPr>
            <a:r>
              <a:rPr sz="1600" b="1" i="0">
                <a:solidFill>
                  <a:srgbClr val="E8801A"/>
                </a:solidFill>
                <a:latin typeface="Montserrat"/>
              </a:rPr>
              <a:t>▸  </a:t>
            </a:r>
            <a:r>
              <a:rPr sz="1600" b="0" i="0">
                <a:solidFill>
                  <a:srgbClr val="1B2330"/>
                </a:solidFill>
                <a:latin typeface="Montserrat"/>
              </a:rPr>
              <a:t>Sin odorante, nadie huele la fuga</a:t>
            </a:r>
          </a:p>
          <a:p>
            <a:pPr>
              <a:spcAft>
                <a:spcPts val="1100"/>
              </a:spcAft>
            </a:pPr>
            <a:r>
              <a:rPr sz="1600" b="1" i="0">
                <a:solidFill>
                  <a:srgbClr val="E8801A"/>
                </a:solidFill>
                <a:latin typeface="Montserrat"/>
              </a:rPr>
              <a:t>▸  </a:t>
            </a:r>
            <a:r>
              <a:rPr sz="1600" b="0" i="0">
                <a:solidFill>
                  <a:srgbClr val="1B2330"/>
                </a:solidFill>
                <a:latin typeface="Montserrat"/>
              </a:rPr>
              <a:t>Excepción: redes desde depósitos de GLP</a:t>
            </a:r>
          </a:p>
        </p:txBody>
      </p:sp>
      <p:sp>
        <p:nvSpPr>
          <p:cNvPr id="9" name="imgph" descr="IMGQ:gas pressure regulation station gauges valve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pressure regulation station gauges valves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¿Cuáles son los dos parámetros de calidad que vigila el centro de operación?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La presión y la concentración de odorizante</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La temperatura y el caudal del gas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La humedad y el poder calorífico</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El diámetro del tubo y la profundidad de la zanja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¿Cuáles son los dos parámetros de calidad que vigila el centro de operación?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La presión y la concentración de odorizante</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Los parámetros de calidad son, al menos, la presión y el odorizante; sin odorante nadie huele la fuga.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6.1 · CUATRO FUNCIONES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 que hace el centro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Controlar: presión y odorante ahora</a:t>
            </a:r>
          </a:p>
          <a:p>
            <a:pPr>
              <a:spcAft>
                <a:spcPts val="1100"/>
              </a:spcAft>
            </a:pPr>
            <a:r>
              <a:rPr sz="1600" b="1" i="0">
                <a:solidFill>
                  <a:srgbClr val="E8801A"/>
                </a:solidFill>
                <a:latin typeface="Montserrat"/>
              </a:rPr>
              <a:t>▸  </a:t>
            </a:r>
            <a:r>
              <a:rPr sz="1600" b="0" i="0">
                <a:solidFill>
                  <a:srgbClr val="1B2330"/>
                </a:solidFill>
                <a:latin typeface="Montserrat"/>
              </a:rPr>
              <a:t>Planificar: plan de operación</a:t>
            </a:r>
          </a:p>
          <a:p>
            <a:pPr>
              <a:spcAft>
                <a:spcPts val="1100"/>
              </a:spcAft>
            </a:pPr>
            <a:r>
              <a:rPr sz="1600" b="1" i="0">
                <a:solidFill>
                  <a:srgbClr val="E8801A"/>
                </a:solidFill>
                <a:latin typeface="Montserrat"/>
              </a:rPr>
              <a:t>▸  </a:t>
            </a:r>
            <a:r>
              <a:rPr sz="1600" b="0" i="0">
                <a:solidFill>
                  <a:srgbClr val="1B2330"/>
                </a:solidFill>
                <a:latin typeface="Montserrat"/>
              </a:rPr>
              <a:t>Informar: informe mensual de calidad</a:t>
            </a:r>
          </a:p>
          <a:p>
            <a:pPr>
              <a:spcAft>
                <a:spcPts val="1100"/>
              </a:spcAft>
            </a:pPr>
            <a:r>
              <a:rPr sz="1600" b="1" i="0">
                <a:solidFill>
                  <a:srgbClr val="E8801A"/>
                </a:solidFill>
                <a:latin typeface="Montserrat"/>
              </a:rPr>
              <a:t>▸  </a:t>
            </a:r>
            <a:r>
              <a:rPr sz="1600" b="0" i="0">
                <a:solidFill>
                  <a:srgbClr val="1B2330"/>
                </a:solidFill>
                <a:latin typeface="Montserrat"/>
              </a:rPr>
              <a:t>Programar: actuaciones en redes principales</a:t>
            </a:r>
          </a:p>
        </p:txBody>
      </p:sp>
      <p:sp>
        <p:nvSpPr>
          <p:cNvPr id="9" name="imgph" descr="IMGQ:engineer analyzing data screens control cent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engineer analyzing data screens control center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6.2 · EMERGENCIAS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Plan escrito y teléfono 24 h</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Plan de emergencia: documento de 8 puntos</a:t>
            </a:r>
          </a:p>
          <a:p>
            <a:pPr>
              <a:spcAft>
                <a:spcPts val="1100"/>
              </a:spcAft>
            </a:pPr>
            <a:r>
              <a:rPr sz="1600" b="1" i="0">
                <a:solidFill>
                  <a:srgbClr val="E8801A"/>
                </a:solidFill>
                <a:latin typeface="Montserrat"/>
              </a:rPr>
              <a:t>▸  </a:t>
            </a:r>
            <a:r>
              <a:rPr sz="1600" b="0" i="0">
                <a:solidFill>
                  <a:srgbClr val="1B2330"/>
                </a:solidFill>
                <a:latin typeface="Montserrat"/>
              </a:rPr>
              <a:t>Servicio de urgencias: teléfono y campo</a:t>
            </a:r>
          </a:p>
          <a:p>
            <a:pPr>
              <a:spcAft>
                <a:spcPts val="1100"/>
              </a:spcAft>
            </a:pPr>
            <a:r>
              <a:rPr sz="1600" b="1" i="0">
                <a:solidFill>
                  <a:srgbClr val="E8801A"/>
                </a:solidFill>
                <a:latin typeface="Montserrat"/>
              </a:rPr>
              <a:t>▸  </a:t>
            </a:r>
            <a:r>
              <a:rPr sz="1600" b="0" i="0">
                <a:solidFill>
                  <a:srgbClr val="1B2330"/>
                </a:solidFill>
                <a:latin typeface="Montserrat"/>
              </a:rPr>
              <a:t>Permanente y capaz de activar el plan</a:t>
            </a:r>
          </a:p>
          <a:p>
            <a:pPr>
              <a:spcAft>
                <a:spcPts val="1100"/>
              </a:spcAft>
            </a:pPr>
            <a:r>
              <a:rPr sz="1600" b="1" i="0">
                <a:solidFill>
                  <a:srgbClr val="E8801A"/>
                </a:solidFill>
                <a:latin typeface="Montserrat"/>
              </a:rPr>
              <a:t>▸  </a:t>
            </a:r>
            <a:r>
              <a:rPr sz="1600" b="0" i="0">
                <a:solidFill>
                  <a:srgbClr val="1B2330"/>
                </a:solidFill>
                <a:latin typeface="Montserrat"/>
              </a:rPr>
              <a:t>Avisa a policía, bomberos y sanitarios</a:t>
            </a:r>
          </a:p>
        </p:txBody>
      </p:sp>
      <p:sp>
        <p:nvSpPr>
          <p:cNvPr id="9" name="imgph" descr="IMGQ:emergency call center operator headse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emergency call center operator headset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6.2 · URGENCIAS DE SEGURIDAD</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Olor, incendio o explosión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Lista cerrada: olor, incendio, explosión</a:t>
            </a:r>
          </a:p>
          <a:p>
            <a:pPr>
              <a:spcAft>
                <a:spcPts val="1100"/>
              </a:spcAft>
            </a:pPr>
            <a:r>
              <a:rPr sz="1600" b="1" i="0">
                <a:solidFill>
                  <a:srgbClr val="E8801A"/>
                </a:solidFill>
                <a:latin typeface="Montserrat"/>
              </a:rPr>
              <a:t>▸  </a:t>
            </a:r>
            <a:r>
              <a:rPr sz="1600" b="0" i="0">
                <a:solidFill>
                  <a:srgbClr val="1B2330"/>
                </a:solidFill>
                <a:latin typeface="Montserrat"/>
              </a:rPr>
              <a:t>Fuga de gas: máxima prioridad</a:t>
            </a:r>
          </a:p>
          <a:p>
            <a:pPr>
              <a:spcAft>
                <a:spcPts val="1100"/>
              </a:spcAft>
            </a:pPr>
            <a:r>
              <a:rPr sz="1600" b="1" i="0">
                <a:solidFill>
                  <a:srgbClr val="E8801A"/>
                </a:solidFill>
                <a:latin typeface="Montserrat"/>
              </a:rPr>
              <a:t>▸  </a:t>
            </a:r>
            <a:r>
              <a:rPr sz="1600" b="0" i="0">
                <a:solidFill>
                  <a:srgbClr val="1B2330"/>
                </a:solidFill>
                <a:latin typeface="Montserrat"/>
              </a:rPr>
              <a:t>Avisos clasificados por prioridades</a:t>
            </a:r>
          </a:p>
          <a:p>
            <a:pPr>
              <a:spcAft>
                <a:spcPts val="1100"/>
              </a:spcAft>
            </a:pPr>
            <a:r>
              <a:rPr sz="1600" b="1" i="0">
                <a:solidFill>
                  <a:srgbClr val="E8801A"/>
                </a:solidFill>
                <a:latin typeface="Montserrat"/>
              </a:rPr>
              <a:t>▸  </a:t>
            </a:r>
            <a:r>
              <a:rPr sz="1600" b="0" i="0">
                <a:solidFill>
                  <a:srgbClr val="1B2330"/>
                </a:solidFill>
                <a:latin typeface="Montserrat"/>
              </a:rPr>
              <a:t>El coste se repercute al usuario</a:t>
            </a:r>
          </a:p>
        </p:txBody>
      </p:sp>
      <p:sp>
        <p:nvSpPr>
          <p:cNvPr id="9" name="imgph" descr="IMGQ:person smelling gas leak kitchen worrie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person smelling gas leak kitchen worried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6.3 · CONTROL DE ESTANQUIDAD</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Cazar y clasificar fugas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Urgente: voy ya</a:t>
            </a:r>
          </a:p>
          <a:p>
            <a:pPr>
              <a:spcAft>
                <a:spcPts val="1100"/>
              </a:spcAft>
            </a:pPr>
            <a:r>
              <a:rPr sz="1600" b="1" i="0">
                <a:solidFill>
                  <a:srgbClr val="E8801A"/>
                </a:solidFill>
                <a:latin typeface="Montserrat"/>
              </a:rPr>
              <a:t>▸  </a:t>
            </a:r>
            <a:r>
              <a:rPr sz="1600" b="0" i="0">
                <a:solidFill>
                  <a:srgbClr val="1B2330"/>
                </a:solidFill>
                <a:latin typeface="Montserrat"/>
              </a:rPr>
              <a:t>Programada: la planifico</a:t>
            </a:r>
          </a:p>
          <a:p>
            <a:pPr>
              <a:spcAft>
                <a:spcPts val="1100"/>
              </a:spcAft>
            </a:pPr>
            <a:r>
              <a:rPr sz="1600" b="1" i="0">
                <a:solidFill>
                  <a:srgbClr val="E8801A"/>
                </a:solidFill>
                <a:latin typeface="Montserrat"/>
              </a:rPr>
              <a:t>▸  </a:t>
            </a:r>
            <a:r>
              <a:rPr sz="1600" b="0" i="0">
                <a:solidFill>
                  <a:srgbClr val="1B2330"/>
                </a:solidFill>
                <a:latin typeface="Montserrat"/>
              </a:rPr>
              <a:t>Vigilancia de progresión: la vigilo</a:t>
            </a:r>
          </a:p>
          <a:p>
            <a:pPr>
              <a:spcAft>
                <a:spcPts val="1100"/>
              </a:spcAft>
            </a:pPr>
            <a:r>
              <a:rPr sz="1600" b="1" i="0">
                <a:solidFill>
                  <a:srgbClr val="E8801A"/>
                </a:solidFill>
                <a:latin typeface="Montserrat"/>
              </a:rPr>
              <a:t>▸  </a:t>
            </a:r>
            <a:r>
              <a:rPr sz="1600" b="0" i="0">
                <a:solidFill>
                  <a:srgbClr val="1B2330"/>
                </a:solidFill>
                <a:latin typeface="Montserrat"/>
              </a:rPr>
              <a:t>Lo que decide: la proximidad a edificios</a:t>
            </a:r>
          </a:p>
        </p:txBody>
      </p:sp>
      <p:sp>
        <p:nvSpPr>
          <p:cNvPr id="9" name="imgph" descr="IMGQ:technician gas leak detector survey pip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gas leak detector survey pipe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¿Qué factor pesa más para clasificar una fuga como urgente?</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La proximidad de la fuga a edificios habitados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El color de la llama en los aparatos cercanos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La antigüedad de la tubería afectada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El día de la semana en que se detecta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¿Qué factor pesa más para clasificar una fuga como urgente?</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La proximidad de la fuga a edificios habitados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misma fuga es urgente pegada a una vivienda y solo de vigilancia en campo abierto; decide la cercanía a propiedades y su uso.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6.4 · MANTENIMIENTO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Parche primero, reparación después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Medida temporal si no hay reparación ya</a:t>
            </a:r>
          </a:p>
          <a:p>
            <a:pPr>
              <a:spcAft>
                <a:spcPts val="1100"/>
              </a:spcAft>
            </a:pPr>
            <a:r>
              <a:rPr sz="1600" b="1" i="0">
                <a:solidFill>
                  <a:srgbClr val="E8801A"/>
                </a:solidFill>
                <a:latin typeface="Montserrat"/>
              </a:rPr>
              <a:t>▸  </a:t>
            </a:r>
            <a:r>
              <a:rPr sz="1600" b="0" i="0">
                <a:solidFill>
                  <a:srgbClr val="1B2330"/>
                </a:solidFill>
                <a:latin typeface="Montserrat"/>
              </a:rPr>
              <a:t>Reparación definitiva en cuanto se pueda</a:t>
            </a:r>
          </a:p>
          <a:p>
            <a:pPr>
              <a:spcAft>
                <a:spcPts val="1100"/>
              </a:spcAft>
            </a:pPr>
            <a:r>
              <a:rPr sz="1600" b="1" i="0">
                <a:solidFill>
                  <a:srgbClr val="E8801A"/>
                </a:solidFill>
                <a:latin typeface="Montserrat"/>
              </a:rPr>
              <a:t>▸  </a:t>
            </a:r>
            <a:r>
              <a:rPr sz="1600" b="0" i="0">
                <a:solidFill>
                  <a:srgbClr val="1B2330"/>
                </a:solidFill>
                <a:latin typeface="Montserrat"/>
              </a:rPr>
              <a:t>Tras intervenir: pruebas en obra</a:t>
            </a:r>
          </a:p>
          <a:p>
            <a:pPr>
              <a:spcAft>
                <a:spcPts val="1100"/>
              </a:spcAft>
            </a:pPr>
            <a:r>
              <a:rPr sz="1600" b="1" i="0">
                <a:solidFill>
                  <a:srgbClr val="E8801A"/>
                </a:solidFill>
                <a:latin typeface="Montserrat"/>
              </a:rPr>
              <a:t>▸  </a:t>
            </a:r>
            <a:r>
              <a:rPr sz="1600" b="0" i="0">
                <a:solidFill>
                  <a:srgbClr val="1B2330"/>
                </a:solidFill>
                <a:latin typeface="Montserrat"/>
              </a:rPr>
              <a:t>Puntual o tramo corto: disolución jabonosa</a:t>
            </a:r>
          </a:p>
        </p:txBody>
      </p:sp>
      <p:sp>
        <p:nvSpPr>
          <p:cNvPr id="9" name="imgph" descr="IMGQ:plumber applying soapy water pipe joint hand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plumber applying soapy water pipe joint hands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6.4 · SEGURIDAD AL INTERVENIR</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Reflejos con gas fuera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Al reabrir: purga por los extremos</a:t>
            </a:r>
          </a:p>
          <a:p>
            <a:pPr>
              <a:spcAft>
                <a:spcPts val="1100"/>
              </a:spcAft>
            </a:pPr>
            <a:r>
              <a:rPr sz="1600" b="1" i="0">
                <a:solidFill>
                  <a:srgbClr val="E8801A"/>
                </a:solidFill>
                <a:latin typeface="Montserrat"/>
              </a:rPr>
              <a:t>▸  </a:t>
            </a:r>
            <a:r>
              <a:rPr sz="1600" b="0" i="0">
                <a:solidFill>
                  <a:srgbClr val="1B2330"/>
                </a:solidFill>
                <a:latin typeface="Montserrat"/>
              </a:rPr>
              <a:t>Detectar presencia de gas</a:t>
            </a:r>
          </a:p>
          <a:p>
            <a:pPr>
              <a:spcAft>
                <a:spcPts val="1100"/>
              </a:spcAft>
            </a:pPr>
            <a:r>
              <a:rPr sz="1600" b="1" i="0">
                <a:solidFill>
                  <a:srgbClr val="E8801A"/>
                </a:solidFill>
                <a:latin typeface="Montserrat"/>
              </a:rPr>
              <a:t>▸  </a:t>
            </a:r>
            <a:r>
              <a:rPr sz="1600" b="0" i="0">
                <a:solidFill>
                  <a:srgbClr val="1B2330"/>
                </a:solidFill>
                <a:latin typeface="Montserrat"/>
              </a:rPr>
              <a:t>Señalizar y controlar la zona</a:t>
            </a:r>
          </a:p>
          <a:p>
            <a:pPr>
              <a:spcAft>
                <a:spcPts val="1100"/>
              </a:spcAft>
            </a:pPr>
            <a:r>
              <a:rPr sz="1600" b="1" i="0">
                <a:solidFill>
                  <a:srgbClr val="E8801A"/>
                </a:solidFill>
                <a:latin typeface="Montserrat"/>
              </a:rPr>
              <a:t>▸  </a:t>
            </a:r>
            <a:r>
              <a:rPr sz="1600" b="0" i="0">
                <a:solidFill>
                  <a:srgbClr val="1B2330"/>
                </a:solidFill>
                <a:latin typeface="Montserrat"/>
              </a:rPr>
              <a:t>Retirar chispas · extintor a mano</a:t>
            </a:r>
          </a:p>
        </p:txBody>
      </p:sp>
      <p:sp>
        <p:nvSpPr>
          <p:cNvPr id="9" name="imgph" descr="IMGQ:gas works site safety signage cordon stree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works site safety signage cordon street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7 · REGISTRO Y ARCHIVO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papeles que se guardan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Cartografía siempre actualizada</a:t>
            </a:r>
          </a:p>
          <a:p>
            <a:pPr>
              <a:spcAft>
                <a:spcPts val="1100"/>
              </a:spcAft>
            </a:pPr>
            <a:r>
              <a:rPr sz="1600" b="1" i="0">
                <a:solidFill>
                  <a:srgbClr val="E8801A"/>
                </a:solidFill>
                <a:latin typeface="Montserrat"/>
              </a:rPr>
              <a:t>▸  </a:t>
            </a:r>
            <a:r>
              <a:rPr sz="1600" b="0" i="0">
                <a:solidFill>
                  <a:srgbClr val="1B2330"/>
                </a:solidFill>
                <a:latin typeface="Montserrat"/>
              </a:rPr>
              <a:t>Autorizaciones y proyectos con sus pruebas</a:t>
            </a:r>
          </a:p>
          <a:p>
            <a:pPr>
              <a:spcAft>
                <a:spcPts val="1100"/>
              </a:spcAft>
            </a:pPr>
            <a:r>
              <a:rPr sz="1600" b="1" i="0">
                <a:solidFill>
                  <a:srgbClr val="E8801A"/>
                </a:solidFill>
                <a:latin typeface="Montserrat"/>
              </a:rPr>
              <a:t>▸  </a:t>
            </a:r>
            <a:r>
              <a:rPr sz="1600" b="0" i="0">
                <a:solidFill>
                  <a:srgbClr val="1B2330"/>
                </a:solidFill>
                <a:latin typeface="Montserrat"/>
              </a:rPr>
              <a:t>Estanquidad: las dos últimas</a:t>
            </a:r>
          </a:p>
          <a:p>
            <a:pPr>
              <a:spcAft>
                <a:spcPts val="1100"/>
              </a:spcAft>
            </a:pPr>
            <a:r>
              <a:rPr sz="1600" b="1" i="0">
                <a:solidFill>
                  <a:srgbClr val="E8801A"/>
                </a:solidFill>
                <a:latin typeface="Montserrat"/>
              </a:rPr>
              <a:t>▸  </a:t>
            </a:r>
            <a:r>
              <a:rPr sz="1600" b="0" i="0">
                <a:solidFill>
                  <a:srgbClr val="1B2330"/>
                </a:solidFill>
                <a:latin typeface="Montserrat"/>
              </a:rPr>
              <a:t>Seguridad y emergencias: mínimo 5 años</a:t>
            </a:r>
          </a:p>
        </p:txBody>
      </p:sp>
      <p:sp>
        <p:nvSpPr>
          <p:cNvPr id="9" name="imgph" descr="IMGQ:archive folders shelves documents offic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archive folders shelves documents office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8 · AFECCIONES POR TERCEROS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Antes de picar, pregunta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Aviso al distribuidor: 30 días antes</a:t>
            </a:r>
          </a:p>
          <a:p>
            <a:pPr>
              <a:spcAft>
                <a:spcPts val="1100"/>
              </a:spcAft>
            </a:pPr>
            <a:r>
              <a:rPr sz="1600" b="1" i="0">
                <a:solidFill>
                  <a:srgbClr val="E8801A"/>
                </a:solidFill>
                <a:latin typeface="Montserrat"/>
              </a:rPr>
              <a:t>▸  </a:t>
            </a:r>
            <a:r>
              <a:rPr sz="1600" b="0" i="0">
                <a:solidFill>
                  <a:srgbClr val="1B2330"/>
                </a:solidFill>
                <a:latin typeface="Montserrat"/>
              </a:rPr>
              <a:t>El distribuidor contesta en 20 días</a:t>
            </a:r>
          </a:p>
          <a:p>
            <a:pPr>
              <a:spcAft>
                <a:spcPts val="1100"/>
              </a:spcAft>
            </a:pPr>
            <a:r>
              <a:rPr sz="1600" b="1" i="0">
                <a:solidFill>
                  <a:srgbClr val="E8801A"/>
                </a:solidFill>
                <a:latin typeface="Montserrat"/>
              </a:rPr>
              <a:t>▸  </a:t>
            </a:r>
            <a:r>
              <a:rPr sz="1600" b="0" i="0">
                <a:solidFill>
                  <a:srgbClr val="1B2330"/>
                </a:solidFill>
                <a:latin typeface="Montserrat"/>
              </a:rPr>
              <a:t>Inicio de obra: aviso 24 horas antes</a:t>
            </a:r>
          </a:p>
          <a:p>
            <a:pPr>
              <a:spcAft>
                <a:spcPts val="1100"/>
              </a:spcAft>
            </a:pPr>
            <a:r>
              <a:rPr sz="1600" b="1" i="0">
                <a:solidFill>
                  <a:srgbClr val="E8801A"/>
                </a:solidFill>
                <a:latin typeface="Montserrat"/>
              </a:rPr>
              <a:t>▸  </a:t>
            </a:r>
            <a:r>
              <a:rPr sz="1600" b="0" i="0">
                <a:solidFill>
                  <a:srgbClr val="1B2330"/>
                </a:solidFill>
                <a:latin typeface="Montserrat"/>
              </a:rPr>
              <a:t>Todo por escrito, con la localización</a:t>
            </a:r>
          </a:p>
        </p:txBody>
      </p:sp>
      <p:sp>
        <p:nvSpPr>
          <p:cNvPr id="9" name="imgph" descr="IMGQ:road excavation works underground utility pipe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road excavation works underground utility pipes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Obras de terceros: ¿cuáles son los tres plazos, en orden?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Aviso 30 días antes; el distribuidor contesta en 20; inicio con 24 horas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Aviso 20 días antes; el distribuidor contesta en 30; inicio con 48 horas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Aviso 15 días antes; el distribuidor contesta en 10; inicio con 24 horas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Aviso 30 días antes; el distribuidor contesta en 24; inicio con 20 horas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Obras de terceros: ¿cuáles son los tres plazos, en orden?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Aviso 30 días antes; el distribuidor contesta en 20; inicio con 24 horas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Se solicita información con treinta días, el distribuidor responde en veinte y el inicio de la obra se avisa con veinticuatro horas.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8 · QUIÉN DECIDE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Si hay pelea, manda la 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Afecta al trazado: distribuidor puede negarse</a:t>
            </a:r>
          </a:p>
          <a:p>
            <a:pPr>
              <a:spcAft>
                <a:spcPts val="1100"/>
              </a:spcAft>
            </a:pPr>
            <a:r>
              <a:rPr sz="1600" b="1" i="0">
                <a:solidFill>
                  <a:srgbClr val="E8801A"/>
                </a:solidFill>
                <a:latin typeface="Montserrat"/>
              </a:rPr>
              <a:t>▸  </a:t>
            </a:r>
            <a:r>
              <a:rPr sz="1600" b="0" i="0">
                <a:solidFill>
                  <a:srgbClr val="1B2330"/>
                </a:solidFill>
                <a:latin typeface="Montserrat"/>
              </a:rPr>
              <a:t>Solo por razones técnicas o de seguridad</a:t>
            </a:r>
          </a:p>
          <a:p>
            <a:pPr>
              <a:spcAft>
                <a:spcPts val="1100"/>
              </a:spcAft>
            </a:pPr>
            <a:r>
              <a:rPr sz="1600" b="1" i="0">
                <a:solidFill>
                  <a:srgbClr val="E8801A"/>
                </a:solidFill>
                <a:latin typeface="Montserrat"/>
              </a:rPr>
              <a:t>▸  </a:t>
            </a:r>
            <a:r>
              <a:rPr sz="1600" b="0" i="0">
                <a:solidFill>
                  <a:srgbClr val="1B2330"/>
                </a:solidFill>
                <a:latin typeface="Montserrat"/>
              </a:rPr>
              <a:t>Desacuerdo: resuelve la Comunidad Autónoma</a:t>
            </a:r>
          </a:p>
          <a:p>
            <a:pPr>
              <a:spcAft>
                <a:spcPts val="1100"/>
              </a:spcAft>
            </a:pPr>
            <a:r>
              <a:rPr sz="1600" b="1" i="0">
                <a:solidFill>
                  <a:srgbClr val="E8801A"/>
                </a:solidFill>
                <a:latin typeface="Montserrat"/>
              </a:rPr>
              <a:t>▸  </a:t>
            </a:r>
            <a:r>
              <a:rPr sz="1600" b="0" i="0">
                <a:solidFill>
                  <a:srgbClr val="1B2330"/>
                </a:solidFill>
                <a:latin typeface="Montserrat"/>
              </a:rPr>
              <a:t>La carga de probar es del solicitante</a:t>
            </a:r>
          </a:p>
        </p:txBody>
      </p:sp>
      <p:sp>
        <p:nvSpPr>
          <p:cNvPr id="9" name="imgph" descr="IMGQ:two engineers discussing plans construction sit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two engineers discussing plans construction site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01 · Distribución por canalización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REPASO RELÁMPAGO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 que no se te puede olvidar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Dos parámetros: presión y odorizante</a:t>
            </a:r>
          </a:p>
          <a:p>
            <a:pPr>
              <a:spcAft>
                <a:spcPts val="1100"/>
              </a:spcAft>
            </a:pPr>
            <a:r>
              <a:rPr sz="1600" b="1" i="0">
                <a:solidFill>
                  <a:srgbClr val="E8801A"/>
                </a:solidFill>
                <a:latin typeface="Montserrat"/>
              </a:rPr>
              <a:t>▸  </a:t>
            </a:r>
            <a:r>
              <a:rPr sz="1600" b="0" i="0">
                <a:solidFill>
                  <a:srgbClr val="1B2330"/>
                </a:solidFill>
                <a:latin typeface="Montserrat"/>
              </a:rPr>
              <a:t>Urgencias: olor, incendio, explosión</a:t>
            </a:r>
          </a:p>
          <a:p>
            <a:pPr>
              <a:spcAft>
                <a:spcPts val="1100"/>
              </a:spcAft>
            </a:pPr>
            <a:r>
              <a:rPr sz="1600" b="1" i="0">
                <a:solidFill>
                  <a:srgbClr val="E8801A"/>
                </a:solidFill>
                <a:latin typeface="Montserrat"/>
              </a:rPr>
              <a:t>▸  </a:t>
            </a:r>
            <a:r>
              <a:rPr sz="1600" b="0" i="0">
                <a:solidFill>
                  <a:srgbClr val="1B2330"/>
                </a:solidFill>
                <a:latin typeface="Montserrat"/>
              </a:rPr>
              <a:t>Fugas: urgente, programada, vigilancia</a:t>
            </a:r>
          </a:p>
          <a:p>
            <a:pPr>
              <a:spcAft>
                <a:spcPts val="1100"/>
              </a:spcAft>
            </a:pPr>
            <a:r>
              <a:rPr sz="1600" b="1" i="0">
                <a:solidFill>
                  <a:srgbClr val="E8801A"/>
                </a:solidFill>
                <a:latin typeface="Montserrat"/>
              </a:rPr>
              <a:t>▸  </a:t>
            </a:r>
            <a:r>
              <a:rPr sz="1600" b="0" i="0">
                <a:solidFill>
                  <a:srgbClr val="1B2330"/>
                </a:solidFill>
                <a:latin typeface="Montserrat"/>
              </a:rPr>
              <a:t>Plazos de terceros: 30 · 20 · 24</a:t>
            </a:r>
          </a:p>
          <a:p>
            <a:pPr>
              <a:spcAft>
                <a:spcPts val="1100"/>
              </a:spcAft>
            </a:pPr>
            <a:r>
              <a:rPr sz="1600" b="1" i="0">
                <a:solidFill>
                  <a:srgbClr val="E8801A"/>
                </a:solidFill>
                <a:latin typeface="Montserrat"/>
              </a:rPr>
              <a:t>▸  </a:t>
            </a:r>
            <a:r>
              <a:rPr sz="1600" b="0" i="0">
                <a:solidFill>
                  <a:srgbClr val="1B2330"/>
                </a:solidFill>
                <a:latin typeface="Montserrat"/>
              </a:rPr>
              <a:t>Archivo: dos últimas y cinco años</a:t>
            </a:r>
          </a:p>
        </p:txBody>
      </p:sp>
      <p:sp>
        <p:nvSpPr>
          <p:cNvPr id="9" name="imgph" descr="IMGQ:gas cylinder cabinet outdoor building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cylinder cabinet outdoor building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mantener viva una red de gas</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Reconoces los tres plazos de terceros: 30, 20 y 24</a:t>
            </a:r>
          </a:p>
          <a:p>
            <a:pPr>
              <a:spcAft>
                <a:spcPts val="1200"/>
              </a:spcAft>
            </a:pPr>
            <a:r>
              <a:rPr sz="2000" b="1" i="0">
                <a:solidFill>
                  <a:srgbClr val="F4A24C"/>
                </a:solidFill>
                <a:latin typeface="Montserrat"/>
              </a:rPr>
              <a:t>✓  </a:t>
            </a:r>
            <a:r>
              <a:rPr sz="1900" b="0" i="0">
                <a:solidFill>
                  <a:srgbClr val="FFFFFF"/>
                </a:solidFill>
                <a:latin typeface="Montserrat"/>
              </a:rPr>
              <a:t>Clasificas una fuga por su gravedad y por su cercanía</a:t>
            </a:r>
          </a:p>
          <a:p>
            <a:pPr>
              <a:spcAft>
                <a:spcPts val="1200"/>
              </a:spcAft>
            </a:pPr>
            <a:r>
              <a:rPr sz="2000" b="1" i="0">
                <a:solidFill>
                  <a:srgbClr val="F4A24C"/>
                </a:solidFill>
                <a:latin typeface="Montserrat"/>
              </a:rPr>
              <a:t>✓  </a:t>
            </a:r>
            <a:r>
              <a:rPr sz="1900" b="0" i="0">
                <a:solidFill>
                  <a:srgbClr val="FFFFFF"/>
                </a:solidFill>
                <a:latin typeface="Montserrat"/>
              </a:rPr>
              <a:t>Aplicas el parche seguro antes de la reparación buena</a:t>
            </a:r>
          </a:p>
          <a:p>
            <a:pPr>
              <a:spcAft>
                <a:spcPts val="1200"/>
              </a:spcAft>
            </a:pPr>
            <a:r>
              <a:rPr sz="2000" b="1" i="0">
                <a:solidFill>
                  <a:srgbClr val="F4A24C"/>
                </a:solidFill>
                <a:latin typeface="Montserrat"/>
              </a:rPr>
              <a:t>✓  </a:t>
            </a:r>
            <a:r>
              <a:rPr sz="1900" b="0" i="0">
                <a:solidFill>
                  <a:srgbClr val="FFFFFF"/>
                </a:solidFill>
                <a:latin typeface="Montserrat"/>
              </a:rPr>
              <a:t>Cierras con el truco de campo: si burbujea, fuga</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Cierras la ITC-ICG 01 entera: del papel a la calle viva. Ya eres mucho más gasista que ayer.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
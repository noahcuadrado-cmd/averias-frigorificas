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vimos cómo se proyecta, se construye y se pone en servicio una red. Pero, una vez tiene gas, ¿quién la cuida?</a:t>
            </a:r>
          </a:p>
          <a:p>
            <a:r>
              <a:t>N2: Una red viva hay que vigilarla, mantenerla y protegerla las veinticuatro horas. En este segundo vídeo cubrimos los apartados seis a ocho de la ITC-ICG cero uno: cómo se opera y se mantiene la distribución, qué documentación hay que registrar y archivar, y cómo se protege la red frente a las obras que hacen terceros en la vía pública. Aviso: aquí hay muchos plazos y muchas listas cerradas, así que es una auténtica mina de preguntas de examen. Vamos apartado por apartado.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Tres números para situarte antes de empezar.</a:t>
            </a:r>
          </a:p>
          <a:p>
            <a:r>
              <a:t>N2: Este vídeo cubre tres apartados: operar y mantener la red, registrar y archivar los papeles, y proteger la red de las obras de terceros. Verás que las fugas se clasifican en tres clases según su gravedad, algo que cae mucho. Y el plan de emergencia tiene ocho puntos que conviene memorizar como una checklist. Retén estos tres bloques y el resto del vídeo se ordena solo.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operar y mantener, y de quién es la responsabilidad?</a:t>
            </a:r>
          </a:p>
          <a:p>
            <a:r>
              <a:t>N2: Operar es conducir la red día a día, vigilar presiones, la odorización y demás; mantener es cuidarla y repararla. Las dos cosas recaen en el titular de la instalación, aunque las haga gente contratada, personal propio o ajeno, y siempre con criterio de seguridad pública y según las normas seiscientas de siempre. Además, la Administración quiere ver los papeles: el distribuidor entrega copia de los procedimientos de sus centros de operación y de urgencias a dos sitios, al Ministerio, en la parte de seguridad industrial, y a la Comunidad Autónoma que autorizó la red. Ese dato de los dos destinatarios cae en el examen.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sirve un centro de operación?</a:t>
            </a:r>
          </a:p>
          <a:p>
            <a:r>
              <a:t>N2: Es la torre de control de la red: desde ahí se vigila que todo vaya bien. Los dos parámetros de calidad que hay que tener siempre a raya son la presión, que el gas llegue con la fuerza justa, y el odorizante, ese olor a huevo podrido que se le añade a propósito para que huelas las fugas. Grábate los dos, presión y odorizante, porque si falta odorante nadie detecta un escape hasta que es demasiado tarde. Y atento a la excepción, que se pregunta: las redes alimentadas desde depósitos de gas licuado del petróleo, típicas de una urbanización con su depósito, no están obligadas a tener centro de operación; para ellas se dictan requisitos aparte según el tamaño.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¿Cuáles son las funciones del centro de operación y cómo no liarlas?</a:t>
            </a:r>
          </a:p>
          <a:p>
            <a:r>
              <a:t>N2: Son cuatro, y hay un orden lógico para recordarlas. Primera, controla lo que pasa ahora mismo, la presión y el odorante. Segunda, planifica el futuro con un plan de operación para la próxima campaña. Tercera, informa cada mes con un informe de calidad del gas donde resume la odorización y el valor medio del poder calorífico superior. Y cuarta, programa los trabajos sobre las redes principales. Ojo a un detalle de examen: el dato del poder calorífico lo facilita el Gestor Técnico del Sistema, con frecuencia horaria, aunque el informe de calidad se elabore solo una vez al mes.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No mezcles dos cosas que suenan parecidas. ¿Cuáles son?</a:t>
            </a:r>
          </a:p>
          <a:p>
            <a:r>
              <a:t>N2: Una es el plan de emergencia, que es el documento escrito que dice qué hacer y quién hace qué ante un problema gordo; tiene ocho puntos, memorízalos como checklist: objeto y ámbito, grados de emergencia, desarrollo, responsables, etapas, avisar a servicios públicos como policía, bomberos y sanitarios, análisis y difusión. La otra es el servicio de atención de urgencias, que es el teléfono que coge la llamada del vecino que huele a gas; tiene que estar permanente, las veinticuatro horas, con gente que pueda ir en campo y, si hace falta, activar el plan de emergencia. Uno es el papel, el otro es el teléfono: no los confundas.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te pregunten qué incidencias de seguridad atiende el distribuidor en casa del usuario, ¿qué respondes?</a:t>
            </a:r>
          </a:p>
          <a:p>
            <a:r>
              <a:t>N2: Son tres, lista cerrada: olor a gas, incendio o explosión. Grábalas tal cual. Los centros de atención de urgencias tienen procedimientos escritos que clasifican los avisos por prioridades, y el aviso de máxima prioridad por excelencia es la fuga de gas: eso se atiende antes que nada, tomando medidas en el menor tiempo posible. Y un detalle económico que a veces cae: el coste de tener ese servicio de urgencias siempre disponible se lo repercuten a los usuarios, según lo que diga el reglamento. Guardan además los registros a disposición de la Administración.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titular comprueba la estanquidad. ¿Cómo se clasifican las fugas que aparecen?</a:t>
            </a:r>
          </a:p>
          <a:p>
            <a:r>
              <a:t>N2: En tres clases, de más a menos grave. Urgente, hay que ir ya porque hay peligro inmediato. Programada, hay que arreglarla pero se puede planificar la intervención. Y de vigilancia de progresión, es tan pequeña o tan poco peligrosa que de momento solo se vigila por si va a más. El truco: urgente ahora, programada pronto, progresión la miro. ¿Y por qué una misma fuga puede ser urgente o solo de vigilancia? Depende de dónde esté: una fuga pequeña en pleno campo no es lo mismo que la misma fuga pegada a un edificio habitado. Por eso uno de los factores es la proximidad a propiedades y su uso, junto con qué gas es, a qué presión va y qué dice el detector. La documentación queda en poder del titular, a disposición de la Comunidad Autónoma.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Aparece una fuga o un daño y no se puede arreglar bien en el momento. ¿Qué se hace?</a:t>
            </a:r>
          </a:p>
          <a:p>
            <a:r>
              <a:t>N2: Se pone una medida temporal, un parche seguro, para que no haya peligro, y en cuanto se pueda se hace la reparación definitiva. Nunca se deja a medias y ya veremos: el parche es solo un puente hasta la reparación buena. Regla general: después de tocar la red hay que repetir las pruebas en obra, resistencia y estanquidad de las normas seiscientas. Pero hay una excepción muy práctica: si es una reparación puntual o un tramo de corta extensión, no hace falta el paripé completo, basta con comprobar que las uniones nuevas no fugan echándoles agua con jabón; si burbujea, hay fuga. Es el clásico truco del gasista de la disolución jabonosa que vas a usar toda la vida.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Al reanudar el servicio y trabajar con posible salida de gas, ¿qué reflejos no pueden faltar?</a:t>
            </a:r>
          </a:p>
          <a:p>
            <a:r>
              <a:t>N2: Primero, al reabrir el gas, si pudo entrar aire en la tubería hay que purgar por los extremos para echarlo fuera antes de que se mezcle; recuerda del vídeo anterior el peligro de la mezcla aire-gas. Y mientras trabajas con posible salida de gas, cuatro reflejos que conviene memorizar juntos: detectas la presencia de gas, señalizas y controlas la zona de trabajo, retiras todas las fuentes de ignición que no sean imprescindibles, y tienes al lado el equipo de extinción específico. Detectar, señalizar, retirar chispas y extintor: esos cuatro te salvan en cualquier intervención.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hay que archivar y con qué números?</a:t>
            </a:r>
          </a:p>
          <a:p>
            <a:r>
              <a:t>N2: El distribuidor guarda cartografía detallada de por dónde van los tubos, y siempre al día. Guarda también la documentación de autorización y los proyectos, con los resultados de las pruebas en obra, mientras la red esté en explotación. Y ojo a las dos cifras que caen seguro: se guardan las dos últimas vigilancias y controles de estanquidad, y las intervenciones por motivos de seguridad y las actuaciones de emergencia se archivan un mínimo de cinco años. El truco: mapa siempre, estanquidad las dos últimas, seguridad cinco años. Da igual el soporte, papel o informático, mientras la información esté y sea fiable; si en el examen ves obligatoriamente en papel, es falso.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empresa va a abrir zanja en la calle para poner fibra y no sabe que justo debajo pasa el gas. ¿Qué manda la ITC?</a:t>
            </a:r>
          </a:p>
          <a:p>
            <a:r>
              <a:t>N2: Antes de tocar la vía pública tiene que preguntar a la compañía de gas dónde están sus tubos, y aquí vienen los tres plazos, una de las preguntas más golosas del tema porque son tres números seguidos. Avisa y pide información con treinta días de antelación, por escrito y con la localización concreta. El distribuidor tiene veinte días para contestar con la mejor información de dónde están sus instalaciones y las normas a respetar. Y luego, justo antes de empezar a picar, avisa del arranque con veinticuatro horas. El truco temporal: pido con treinta, me contestan en veinte, aviso con veinticuatro horas. El solicitante no puede empezar hasta recibir y aceptar formalmente esa información.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la obra choca de frente con la tubería de gas? ¿Quién decide?</a:t>
            </a:r>
          </a:p>
          <a:p>
            <a:r>
              <a:t>N2: Si la obra prevista afecta directamente al trazado o a la localización de la red, el distribuidor puede negarse a que se haga, pero solo por razones técnicas o de seguridad, no por capricho. Si el que quiere hacer la obra no está de acuerdo, no decide él ni la compañía: resuelve el órgano competente de la Comunidad Autónoma. Y un matiz importante: la carga de probar que de verdad hay que hacer esa obra tocando el gas es del solicitante, no del distribuidor. Meter la excavadora a ciegas es reventar el tubo y provocar la fuga; por eso todo este apartado va de preguntar antes.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Cinco golpes rápidos antes del gran cierre. ¿Los tienes todos?</a:t>
            </a:r>
          </a:p>
          <a:p>
            <a:r>
              <a:t>N2: Uno, el centro de operación vigila dos parámetros, presión y odorizante. Dos, las urgencias de seguridad en casa del usuario son tres, olor a gas, incendio o explosión, y la fuga es máxima prioridad. Tres, las fugas se clasifican en urgente, programada y de vigilancia de progresión, y pesa la proximidad a edificios. Cuatro, los plazos de las obras de terceros, treinta para avisar, veinte para contestar, veinticuatro horas antes de empezar. Y cinco, del archivo, las dos últimas estanquidades y cinco años para seguridad y emergencias. Si sueltas esos cinco de carrerilla, tienes el vídeo ganado.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con esto cerramos no solo el vídeo, sino el tema entero. Si te quedas con cuatro conquistas, que sean estas.</a:t>
            </a:r>
          </a:p>
          <a:p>
            <a:r>
              <a:t>N2: Una, reconoces los tres plazos de las obras de terceros, treinta días para avisar, veinte para que el distribuidor conteste y veinticuatro horas antes de arrancar. Dos, clasificas una fuga por su gravedad y sabes que la cercanía a un edificio habitado es lo que la vuelve urgente. Tres, ante un daño aplicas el parche seguro y dejas la reparación definitiva para cuanto antes, sin dejar nada a medias. Y cuatro, cierras cualquier reparación puntual con el truco que usarás toda la vida, la disolución jabonosa: si burbujea, fuga.</a:t>
            </a:r>
          </a:p>
          <a:p>
            <a:r>
              <a:t>N1: ¿Y por qué es tan potente terminar aquí?</a:t>
            </a:r>
          </a:p>
          <a:p>
            <a:r>
              <a:t>N2: Porque en el examen estos plazos y estas listas cerradas son de las preguntas que más caen, casi regalo si te las sabes; y en la obra son tu día a día, desde el vecino que llama porque huele a gas hasta la excavadora que hay que parar antes de reventar un tubo. Has recorrido la ITC-ICG cero uno completa: en el vídeo anterior la vimos nacer, del papel a la puesta en servicio, y en este la hemos mantenido viva, operándola, archivándola y protegiéndola las veinticuatro horas. Hoy ya eres mucho más gasista que ayer: dominas la red de la calle de principio a fin, justo la que empalma con las instalaciones que vas a firmar tú. Enhorabuena, cierras el tema con nota. Nos vemos en la siguiente ITC.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2 DE 2</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Operación, mantenimiento y protección</a:t>
            </a:r>
          </a:p>
          <a:p>
            <a:r>
              <a:rPr sz="2200" b="0" i="0">
                <a:solidFill>
                  <a:srgbClr val="CADCFC"/>
                </a:solidFill>
                <a:latin typeface="Montserrat"/>
              </a:rPr>
              <a:t>La vida diaria de una red de gas viva</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01 · Reglamento · ITC-ICG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apartados: operar, archivar, proteger</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clases de fuga por gravedad</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8</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puntos del plan de emergencia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 · OPERACIÓN Y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Operar y mantener la red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Criterio: seguridad pública</a:t>
            </a:r>
          </a:p>
          <a:p>
            <a:pPr>
              <a:spcAft>
                <a:spcPts val="1000"/>
              </a:spcAft>
            </a:pPr>
            <a:r>
              <a:rPr sz="1600" b="1" i="0">
                <a:solidFill>
                  <a:srgbClr val="2E3A80"/>
                </a:solidFill>
                <a:latin typeface="Montserrat"/>
              </a:rPr>
              <a:t>•  </a:t>
            </a:r>
            <a:r>
              <a:rPr sz="1600" b="0" i="0">
                <a:solidFill>
                  <a:srgbClr val="1B2330"/>
                </a:solidFill>
                <a:latin typeface="Montserrat"/>
              </a:rPr>
              <a:t>Responsabilidad del titular</a:t>
            </a:r>
          </a:p>
          <a:p>
            <a:pPr>
              <a:spcAft>
                <a:spcPts val="1000"/>
              </a:spcAft>
            </a:pPr>
            <a:r>
              <a:rPr sz="1600" b="1" i="0">
                <a:solidFill>
                  <a:srgbClr val="2E3A80"/>
                </a:solidFill>
                <a:latin typeface="Montserrat"/>
              </a:rPr>
              <a:t>•  </a:t>
            </a:r>
            <a:r>
              <a:rPr sz="1600" b="0" i="0">
                <a:solidFill>
                  <a:srgbClr val="1B2330"/>
                </a:solidFill>
                <a:latin typeface="Montserrat"/>
              </a:rPr>
              <a:t>Personal cualificado, propio o ajeno</a:t>
            </a:r>
          </a:p>
          <a:p>
            <a:pPr>
              <a:spcAft>
                <a:spcPts val="1000"/>
              </a:spcAft>
            </a:pPr>
            <a:r>
              <a:rPr sz="1600" b="1" i="0">
                <a:solidFill>
                  <a:srgbClr val="2E3A80"/>
                </a:solidFill>
                <a:latin typeface="Montserrat"/>
              </a:rPr>
              <a:t>•  </a:t>
            </a:r>
            <a:r>
              <a:rPr sz="1600" b="0" i="0">
                <a:solidFill>
                  <a:srgbClr val="1B2330"/>
                </a:solidFill>
                <a:latin typeface="Montserrat"/>
              </a:rPr>
              <a:t>Procedimientos: al Ministerio y a la CA</a:t>
            </a:r>
          </a:p>
        </p:txBody>
      </p:sp>
      <p:sp>
        <p:nvSpPr>
          <p:cNvPr id="8" name="imgph" descr="IMGQ:gas control room operators monitor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control room operators monitors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6.1 · CENTROS DE OPERACIÓN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torre de control</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Vigila dos parámetros: presión y odorizante</a:t>
            </a:r>
          </a:p>
          <a:p>
            <a:pPr>
              <a:spcAft>
                <a:spcPts val="1000"/>
              </a:spcAft>
            </a:pPr>
            <a:r>
              <a:rPr sz="1600" b="1" i="0">
                <a:solidFill>
                  <a:srgbClr val="2E3A80"/>
                </a:solidFill>
                <a:latin typeface="Montserrat"/>
              </a:rPr>
              <a:t>•  </a:t>
            </a:r>
            <a:r>
              <a:rPr sz="1600" b="0" i="0">
                <a:solidFill>
                  <a:srgbClr val="1B2330"/>
                </a:solidFill>
                <a:latin typeface="Montserrat"/>
              </a:rPr>
              <a:t>Si falta odorante, nadie huele la fuga</a:t>
            </a:r>
          </a:p>
          <a:p>
            <a:pPr>
              <a:spcAft>
                <a:spcPts val="1000"/>
              </a:spcAft>
            </a:pPr>
            <a:r>
              <a:rPr sz="1600" b="1" i="0">
                <a:solidFill>
                  <a:srgbClr val="2E3A80"/>
                </a:solidFill>
                <a:latin typeface="Montserrat"/>
              </a:rPr>
              <a:t>•  </a:t>
            </a:r>
            <a:r>
              <a:rPr sz="1600" b="0" i="0">
                <a:solidFill>
                  <a:srgbClr val="1B2330"/>
                </a:solidFill>
                <a:latin typeface="Montserrat"/>
              </a:rPr>
              <a:t>Excepción: redes desde depósitos de GLP</a:t>
            </a:r>
          </a:p>
        </p:txBody>
      </p:sp>
      <p:sp>
        <p:nvSpPr>
          <p:cNvPr id="8" name="imgph" descr="IMGQ:gas pressure regulation station gaug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regulation station gauges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6.1 · CUATRO FUNCIONES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 que hace el centro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Controlar: presión y odorante ahora</a:t>
            </a:r>
          </a:p>
          <a:p>
            <a:pPr>
              <a:spcAft>
                <a:spcPts val="1000"/>
              </a:spcAft>
            </a:pPr>
            <a:r>
              <a:rPr sz="1600" b="1" i="0">
                <a:solidFill>
                  <a:srgbClr val="2E3A80"/>
                </a:solidFill>
                <a:latin typeface="Montserrat"/>
              </a:rPr>
              <a:t>•  </a:t>
            </a:r>
            <a:r>
              <a:rPr sz="1600" b="0" i="0">
                <a:solidFill>
                  <a:srgbClr val="1B2330"/>
                </a:solidFill>
                <a:latin typeface="Montserrat"/>
              </a:rPr>
              <a:t>Planificar: plan de operación</a:t>
            </a:r>
          </a:p>
          <a:p>
            <a:pPr>
              <a:spcAft>
                <a:spcPts val="1000"/>
              </a:spcAft>
            </a:pPr>
            <a:r>
              <a:rPr sz="1600" b="1" i="0">
                <a:solidFill>
                  <a:srgbClr val="2E3A80"/>
                </a:solidFill>
                <a:latin typeface="Montserrat"/>
              </a:rPr>
              <a:t>•  </a:t>
            </a:r>
            <a:r>
              <a:rPr sz="1600" b="0" i="0">
                <a:solidFill>
                  <a:srgbClr val="1B2330"/>
                </a:solidFill>
                <a:latin typeface="Montserrat"/>
              </a:rPr>
              <a:t>Informar: informe mensual de calidad</a:t>
            </a:r>
          </a:p>
          <a:p>
            <a:pPr>
              <a:spcAft>
                <a:spcPts val="1000"/>
              </a:spcAft>
            </a:pPr>
            <a:r>
              <a:rPr sz="1600" b="1" i="0">
                <a:solidFill>
                  <a:srgbClr val="2E3A80"/>
                </a:solidFill>
                <a:latin typeface="Montserrat"/>
              </a:rPr>
              <a:t>•  </a:t>
            </a:r>
            <a:r>
              <a:rPr sz="1600" b="0" i="0">
                <a:solidFill>
                  <a:srgbClr val="1B2330"/>
                </a:solidFill>
                <a:latin typeface="Montserrat"/>
              </a:rPr>
              <a:t>Programar: actuaciones en redes principales</a:t>
            </a:r>
          </a:p>
        </p:txBody>
      </p:sp>
      <p:sp>
        <p:nvSpPr>
          <p:cNvPr id="8" name="imgph" descr="IMGQ:engineer analyzing data screen control cen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analyzing data screen control center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6.2 · EMERGENCIAS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Plan escrito vs teléfono 24 h</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Plan de emergencia: documento, 8 puntos</a:t>
            </a:r>
          </a:p>
          <a:p>
            <a:pPr>
              <a:spcAft>
                <a:spcPts val="1000"/>
              </a:spcAft>
            </a:pPr>
            <a:r>
              <a:rPr sz="1600" b="1" i="0">
                <a:solidFill>
                  <a:srgbClr val="2E3A80"/>
                </a:solidFill>
                <a:latin typeface="Montserrat"/>
              </a:rPr>
              <a:t>•  </a:t>
            </a:r>
            <a:r>
              <a:rPr sz="1600" b="0" i="0">
                <a:solidFill>
                  <a:srgbClr val="1B2330"/>
                </a:solidFill>
                <a:latin typeface="Montserrat"/>
              </a:rPr>
              <a:t>Servicio de urgencias: teléfono y campo</a:t>
            </a:r>
          </a:p>
          <a:p>
            <a:pPr>
              <a:spcAft>
                <a:spcPts val="1000"/>
              </a:spcAft>
            </a:pPr>
            <a:r>
              <a:rPr sz="1600" b="1" i="0">
                <a:solidFill>
                  <a:srgbClr val="2E3A80"/>
                </a:solidFill>
                <a:latin typeface="Montserrat"/>
              </a:rPr>
              <a:t>•  </a:t>
            </a:r>
            <a:r>
              <a:rPr sz="1600" b="0" i="0">
                <a:solidFill>
                  <a:srgbClr val="1B2330"/>
                </a:solidFill>
                <a:latin typeface="Montserrat"/>
              </a:rPr>
              <a:t>Permanente y capaz de activar el plan</a:t>
            </a:r>
          </a:p>
          <a:p>
            <a:pPr>
              <a:spcAft>
                <a:spcPts val="1000"/>
              </a:spcAft>
            </a:pPr>
            <a:r>
              <a:rPr sz="1600" b="1" i="0">
                <a:solidFill>
                  <a:srgbClr val="2E3A80"/>
                </a:solidFill>
                <a:latin typeface="Montserrat"/>
              </a:rPr>
              <a:t>•  </a:t>
            </a:r>
            <a:r>
              <a:rPr sz="1600" b="0" i="0">
                <a:solidFill>
                  <a:srgbClr val="1B2330"/>
                </a:solidFill>
                <a:latin typeface="Montserrat"/>
              </a:rPr>
              <a:t>Avisa a policía, bomberos y sanitarios</a:t>
            </a:r>
          </a:p>
        </p:txBody>
      </p:sp>
      <p:sp>
        <p:nvSpPr>
          <p:cNvPr id="8" name="imgph" descr="IMGQ:emergency call center operator heads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emergency call center operator headset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6.2 · URGENCIAS DE SEGURIDAD</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Olor, incendio o explosión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Lista cerrada: olor a gas, incendio, explosión</a:t>
            </a:r>
          </a:p>
          <a:p>
            <a:pPr>
              <a:spcAft>
                <a:spcPts val="1000"/>
              </a:spcAft>
            </a:pPr>
            <a:r>
              <a:rPr sz="1600" b="1" i="0">
                <a:solidFill>
                  <a:srgbClr val="2E3A80"/>
                </a:solidFill>
                <a:latin typeface="Montserrat"/>
              </a:rPr>
              <a:t>•  </a:t>
            </a:r>
            <a:r>
              <a:rPr sz="1600" b="0" i="0">
                <a:solidFill>
                  <a:srgbClr val="1B2330"/>
                </a:solidFill>
                <a:latin typeface="Montserrat"/>
              </a:rPr>
              <a:t>Fuga de gas: máxima prioridad</a:t>
            </a:r>
          </a:p>
          <a:p>
            <a:pPr>
              <a:spcAft>
                <a:spcPts val="1000"/>
              </a:spcAft>
            </a:pPr>
            <a:r>
              <a:rPr sz="1600" b="1" i="0">
                <a:solidFill>
                  <a:srgbClr val="2E3A80"/>
                </a:solidFill>
                <a:latin typeface="Montserrat"/>
              </a:rPr>
              <a:t>•  </a:t>
            </a:r>
            <a:r>
              <a:rPr sz="1600" b="0" i="0">
                <a:solidFill>
                  <a:srgbClr val="1B2330"/>
                </a:solidFill>
                <a:latin typeface="Montserrat"/>
              </a:rPr>
              <a:t>Avisos clasificados por prioridades</a:t>
            </a:r>
          </a:p>
          <a:p>
            <a:pPr>
              <a:spcAft>
                <a:spcPts val="1000"/>
              </a:spcAft>
            </a:pPr>
            <a:r>
              <a:rPr sz="1600" b="1" i="0">
                <a:solidFill>
                  <a:srgbClr val="2E3A80"/>
                </a:solidFill>
                <a:latin typeface="Montserrat"/>
              </a:rPr>
              <a:t>•  </a:t>
            </a:r>
            <a:r>
              <a:rPr sz="1600" b="0" i="0">
                <a:solidFill>
                  <a:srgbClr val="1B2330"/>
                </a:solidFill>
                <a:latin typeface="Montserrat"/>
              </a:rPr>
              <a:t>El coste se repercute al usuario</a:t>
            </a:r>
          </a:p>
        </p:txBody>
      </p:sp>
      <p:sp>
        <p:nvSpPr>
          <p:cNvPr id="8" name="imgph" descr="IMGQ:gas leak smell warning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leak smell warning kitchen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6.3 · CONTROL DE ESTANQUIDAD</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Cazar y clasificar fugas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Urgente: voy ya</a:t>
            </a:r>
          </a:p>
          <a:p>
            <a:pPr>
              <a:spcAft>
                <a:spcPts val="1000"/>
              </a:spcAft>
            </a:pPr>
            <a:r>
              <a:rPr sz="1600" b="1" i="0">
                <a:solidFill>
                  <a:srgbClr val="2E3A80"/>
                </a:solidFill>
                <a:latin typeface="Montserrat"/>
              </a:rPr>
              <a:t>•  </a:t>
            </a:r>
            <a:r>
              <a:rPr sz="1600" b="0" i="0">
                <a:solidFill>
                  <a:srgbClr val="1B2330"/>
                </a:solidFill>
                <a:latin typeface="Montserrat"/>
              </a:rPr>
              <a:t>Programada: la planifico</a:t>
            </a:r>
          </a:p>
          <a:p>
            <a:pPr>
              <a:spcAft>
                <a:spcPts val="1000"/>
              </a:spcAft>
            </a:pPr>
            <a:r>
              <a:rPr sz="1600" b="1" i="0">
                <a:solidFill>
                  <a:srgbClr val="2E3A80"/>
                </a:solidFill>
                <a:latin typeface="Montserrat"/>
              </a:rPr>
              <a:t>•  </a:t>
            </a:r>
            <a:r>
              <a:rPr sz="1600" b="0" i="0">
                <a:solidFill>
                  <a:srgbClr val="1B2330"/>
                </a:solidFill>
                <a:latin typeface="Montserrat"/>
              </a:rPr>
              <a:t>Vigilancia de progresión: la vigilo</a:t>
            </a:r>
          </a:p>
          <a:p>
            <a:pPr>
              <a:spcAft>
                <a:spcPts val="1000"/>
              </a:spcAft>
            </a:pPr>
            <a:r>
              <a:rPr sz="1600" b="1" i="0">
                <a:solidFill>
                  <a:srgbClr val="2E3A80"/>
                </a:solidFill>
                <a:latin typeface="Montserrat"/>
              </a:rPr>
              <a:t>•  </a:t>
            </a:r>
            <a:r>
              <a:rPr sz="1600" b="0" i="0">
                <a:solidFill>
                  <a:srgbClr val="1B2330"/>
                </a:solidFill>
                <a:latin typeface="Montserrat"/>
              </a:rPr>
              <a:t>Pesa la proximidad a edificios</a:t>
            </a:r>
          </a:p>
          <a:p>
            <a:pPr>
              <a:spcAft>
                <a:spcPts val="1000"/>
              </a:spcAft>
            </a:pPr>
            <a:r>
              <a:rPr sz="1600" b="1" i="0">
                <a:solidFill>
                  <a:srgbClr val="2E3A80"/>
                </a:solidFill>
                <a:latin typeface="Montserrat"/>
              </a:rPr>
              <a:t>•  </a:t>
            </a:r>
            <a:r>
              <a:rPr sz="1600" b="0" i="0">
                <a:solidFill>
                  <a:srgbClr val="1B2330"/>
                </a:solidFill>
                <a:latin typeface="Montserrat"/>
              </a:rPr>
              <a:t>Documentación a disposición de la CA</a:t>
            </a:r>
          </a:p>
        </p:txBody>
      </p:sp>
      <p:sp>
        <p:nvSpPr>
          <p:cNvPr id="8" name="imgph" descr="IMGQ:technician gas leak detector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gas leak detector pipe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6.4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Parche primero, reparación después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Medida temporal si no hay reparación ya</a:t>
            </a:r>
          </a:p>
          <a:p>
            <a:pPr>
              <a:spcAft>
                <a:spcPts val="1000"/>
              </a:spcAft>
            </a:pPr>
            <a:r>
              <a:rPr sz="1600" b="1" i="0">
                <a:solidFill>
                  <a:srgbClr val="2E3A80"/>
                </a:solidFill>
                <a:latin typeface="Montserrat"/>
              </a:rPr>
              <a:t>•  </a:t>
            </a:r>
            <a:r>
              <a:rPr sz="1600" b="0" i="0">
                <a:solidFill>
                  <a:srgbClr val="1B2330"/>
                </a:solidFill>
                <a:latin typeface="Montserrat"/>
              </a:rPr>
              <a:t>Reparación definitiva en cuanto se pueda</a:t>
            </a:r>
          </a:p>
          <a:p>
            <a:pPr>
              <a:spcAft>
                <a:spcPts val="1000"/>
              </a:spcAft>
            </a:pPr>
            <a:r>
              <a:rPr sz="1600" b="1" i="0">
                <a:solidFill>
                  <a:srgbClr val="2E3A80"/>
                </a:solidFill>
                <a:latin typeface="Montserrat"/>
              </a:rPr>
              <a:t>•  </a:t>
            </a:r>
            <a:r>
              <a:rPr sz="1600" b="0" i="0">
                <a:solidFill>
                  <a:srgbClr val="1B2330"/>
                </a:solidFill>
                <a:latin typeface="Montserrat"/>
              </a:rPr>
              <a:t>Tras intervenir: pruebas en obra</a:t>
            </a:r>
          </a:p>
          <a:p>
            <a:pPr>
              <a:spcAft>
                <a:spcPts val="1000"/>
              </a:spcAft>
            </a:pPr>
            <a:r>
              <a:rPr sz="1600" b="1" i="0">
                <a:solidFill>
                  <a:srgbClr val="2E3A80"/>
                </a:solidFill>
                <a:latin typeface="Montserrat"/>
              </a:rPr>
              <a:t>•  </a:t>
            </a:r>
            <a:r>
              <a:rPr sz="1600" b="0" i="0">
                <a:solidFill>
                  <a:srgbClr val="1B2330"/>
                </a:solidFill>
                <a:latin typeface="Montserrat"/>
              </a:rPr>
              <a:t>Puntual o tramo corto: disolución jabonosa</a:t>
            </a:r>
          </a:p>
        </p:txBody>
      </p:sp>
      <p:sp>
        <p:nvSpPr>
          <p:cNvPr id="8" name="imgph" descr="IMGQ:plumber applying soapy water pipe joi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plumber applying soapy water pipe joint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6.4 · SEGURIDAD EN LA INTERVENCIÓN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Cuatro reflejos con gas fuera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Al reabrir: purga por los extremos</a:t>
            </a:r>
          </a:p>
          <a:p>
            <a:pPr>
              <a:spcAft>
                <a:spcPts val="1000"/>
              </a:spcAft>
            </a:pPr>
            <a:r>
              <a:rPr sz="1600" b="1" i="0">
                <a:solidFill>
                  <a:srgbClr val="2E3A80"/>
                </a:solidFill>
                <a:latin typeface="Montserrat"/>
              </a:rPr>
              <a:t>•  </a:t>
            </a:r>
            <a:r>
              <a:rPr sz="1600" b="0" i="0">
                <a:solidFill>
                  <a:srgbClr val="1B2330"/>
                </a:solidFill>
                <a:latin typeface="Montserrat"/>
              </a:rPr>
              <a:t>Detectar presencia de gas</a:t>
            </a:r>
          </a:p>
          <a:p>
            <a:pPr>
              <a:spcAft>
                <a:spcPts val="1000"/>
              </a:spcAft>
            </a:pPr>
            <a:r>
              <a:rPr sz="1600" b="1" i="0">
                <a:solidFill>
                  <a:srgbClr val="2E3A80"/>
                </a:solidFill>
                <a:latin typeface="Montserrat"/>
              </a:rPr>
              <a:t>•  </a:t>
            </a:r>
            <a:r>
              <a:rPr sz="1600" b="0" i="0">
                <a:solidFill>
                  <a:srgbClr val="1B2330"/>
                </a:solidFill>
                <a:latin typeface="Montserrat"/>
              </a:rPr>
              <a:t>Señalizar y controlar la zona</a:t>
            </a:r>
          </a:p>
          <a:p>
            <a:pPr>
              <a:spcAft>
                <a:spcPts val="1000"/>
              </a:spcAft>
            </a:pPr>
            <a:r>
              <a:rPr sz="1600" b="1" i="0">
                <a:solidFill>
                  <a:srgbClr val="2E3A80"/>
                </a:solidFill>
                <a:latin typeface="Montserrat"/>
              </a:rPr>
              <a:t>•  </a:t>
            </a:r>
            <a:r>
              <a:rPr sz="1600" b="0" i="0">
                <a:solidFill>
                  <a:srgbClr val="1B2330"/>
                </a:solidFill>
                <a:latin typeface="Montserrat"/>
              </a:rPr>
              <a:t>Retirar fuentes de ignición</a:t>
            </a:r>
          </a:p>
          <a:p>
            <a:pPr>
              <a:spcAft>
                <a:spcPts val="1000"/>
              </a:spcAft>
            </a:pPr>
            <a:r>
              <a:rPr sz="1600" b="1" i="0">
                <a:solidFill>
                  <a:srgbClr val="2E3A80"/>
                </a:solidFill>
                <a:latin typeface="Montserrat"/>
              </a:rPr>
              <a:t>•  </a:t>
            </a:r>
            <a:r>
              <a:rPr sz="1600" b="0" i="0">
                <a:solidFill>
                  <a:srgbClr val="1B2330"/>
                </a:solidFill>
                <a:latin typeface="Montserrat"/>
              </a:rPr>
              <a:t>Extintor específico a mano</a:t>
            </a:r>
          </a:p>
        </p:txBody>
      </p:sp>
      <p:sp>
        <p:nvSpPr>
          <p:cNvPr id="8" name="imgph" descr="IMGQ:gas works site safety signage cord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works site safety signage cordon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7 · REGISTRO Y ARCHIVO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Los papeles que se guardan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Cartografía siempre actualizada</a:t>
            </a:r>
          </a:p>
          <a:p>
            <a:pPr>
              <a:spcAft>
                <a:spcPts val="1000"/>
              </a:spcAft>
            </a:pPr>
            <a:r>
              <a:rPr sz="1600" b="1" i="0">
                <a:solidFill>
                  <a:srgbClr val="2E3A80"/>
                </a:solidFill>
                <a:latin typeface="Montserrat"/>
              </a:rPr>
              <a:t>•  </a:t>
            </a:r>
            <a:r>
              <a:rPr sz="1600" b="0" i="0">
                <a:solidFill>
                  <a:srgbClr val="1B2330"/>
                </a:solidFill>
                <a:latin typeface="Montserrat"/>
              </a:rPr>
              <a:t>Autorizaciones y proyectos con sus pruebas</a:t>
            </a:r>
          </a:p>
          <a:p>
            <a:pPr>
              <a:spcAft>
                <a:spcPts val="1000"/>
              </a:spcAft>
            </a:pPr>
            <a:r>
              <a:rPr sz="1600" b="1" i="0">
                <a:solidFill>
                  <a:srgbClr val="2E3A80"/>
                </a:solidFill>
                <a:latin typeface="Montserrat"/>
              </a:rPr>
              <a:t>•  </a:t>
            </a:r>
            <a:r>
              <a:rPr sz="1600" b="0" i="0">
                <a:solidFill>
                  <a:srgbClr val="1B2330"/>
                </a:solidFill>
                <a:latin typeface="Montserrat"/>
              </a:rPr>
              <a:t>Estanquidad: las dos últimas</a:t>
            </a:r>
          </a:p>
          <a:p>
            <a:pPr>
              <a:spcAft>
                <a:spcPts val="1000"/>
              </a:spcAft>
            </a:pPr>
            <a:r>
              <a:rPr sz="1600" b="1" i="0">
                <a:solidFill>
                  <a:srgbClr val="2E3A80"/>
                </a:solidFill>
                <a:latin typeface="Montserrat"/>
              </a:rPr>
              <a:t>•  </a:t>
            </a:r>
            <a:r>
              <a:rPr sz="1600" b="0" i="0">
                <a:solidFill>
                  <a:srgbClr val="1B2330"/>
                </a:solidFill>
                <a:latin typeface="Montserrat"/>
              </a:rPr>
              <a:t>Seguridad y emergencias: mínimo 5 años</a:t>
            </a:r>
          </a:p>
        </p:txBody>
      </p:sp>
      <p:sp>
        <p:nvSpPr>
          <p:cNvPr id="8" name="imgph" descr="IMGQ:archive folders shelves document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archive folders shelves documents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8 · AFECCIONES POR TERCEROS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Antes de picar, pregunta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Aviso al distribuidor: 30 días antes</a:t>
            </a:r>
          </a:p>
          <a:p>
            <a:pPr>
              <a:spcAft>
                <a:spcPts val="1000"/>
              </a:spcAft>
            </a:pPr>
            <a:r>
              <a:rPr sz="1600" b="1" i="0">
                <a:solidFill>
                  <a:srgbClr val="2E3A80"/>
                </a:solidFill>
                <a:latin typeface="Montserrat"/>
              </a:rPr>
              <a:t>•  </a:t>
            </a:r>
            <a:r>
              <a:rPr sz="1600" b="0" i="0">
                <a:solidFill>
                  <a:srgbClr val="1B2330"/>
                </a:solidFill>
                <a:latin typeface="Montserrat"/>
              </a:rPr>
              <a:t>El distribuidor contesta en 20 días</a:t>
            </a:r>
          </a:p>
          <a:p>
            <a:pPr>
              <a:spcAft>
                <a:spcPts val="1000"/>
              </a:spcAft>
            </a:pPr>
            <a:r>
              <a:rPr sz="1600" b="1" i="0">
                <a:solidFill>
                  <a:srgbClr val="2E3A80"/>
                </a:solidFill>
                <a:latin typeface="Montserrat"/>
              </a:rPr>
              <a:t>•  </a:t>
            </a:r>
            <a:r>
              <a:rPr sz="1600" b="0" i="0">
                <a:solidFill>
                  <a:srgbClr val="1B2330"/>
                </a:solidFill>
                <a:latin typeface="Montserrat"/>
              </a:rPr>
              <a:t>Inicio de obra: aviso 24 horas antes</a:t>
            </a:r>
          </a:p>
          <a:p>
            <a:pPr>
              <a:spcAft>
                <a:spcPts val="1000"/>
              </a:spcAft>
            </a:pPr>
            <a:r>
              <a:rPr sz="1600" b="1" i="0">
                <a:solidFill>
                  <a:srgbClr val="2E3A80"/>
                </a:solidFill>
                <a:latin typeface="Montserrat"/>
              </a:rPr>
              <a:t>•  </a:t>
            </a:r>
            <a:r>
              <a:rPr sz="1600" b="0" i="0">
                <a:solidFill>
                  <a:srgbClr val="1B2330"/>
                </a:solidFill>
                <a:latin typeface="Montserrat"/>
              </a:rPr>
              <a:t>Por escrito, con la localización</a:t>
            </a:r>
          </a:p>
        </p:txBody>
      </p:sp>
      <p:sp>
        <p:nvSpPr>
          <p:cNvPr id="8" name="imgph" descr="IMGQ:road excavation works underground pip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road excavation works underground pipes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8 · QUIÉN DECIDE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Si hay pelea, manda la 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Afecta al trazado: distribuidor puede negarse</a:t>
            </a:r>
          </a:p>
          <a:p>
            <a:pPr>
              <a:spcAft>
                <a:spcPts val="1000"/>
              </a:spcAft>
            </a:pPr>
            <a:r>
              <a:rPr sz="1600" b="1" i="0">
                <a:solidFill>
                  <a:srgbClr val="2E3A80"/>
                </a:solidFill>
                <a:latin typeface="Montserrat"/>
              </a:rPr>
              <a:t>•  </a:t>
            </a:r>
            <a:r>
              <a:rPr sz="1600" b="0" i="0">
                <a:solidFill>
                  <a:srgbClr val="1B2330"/>
                </a:solidFill>
                <a:latin typeface="Montserrat"/>
              </a:rPr>
              <a:t>Motivo: razones técnicas o de seguridad</a:t>
            </a:r>
          </a:p>
          <a:p>
            <a:pPr>
              <a:spcAft>
                <a:spcPts val="1000"/>
              </a:spcAft>
            </a:pPr>
            <a:r>
              <a:rPr sz="1600" b="1" i="0">
                <a:solidFill>
                  <a:srgbClr val="2E3A80"/>
                </a:solidFill>
                <a:latin typeface="Montserrat"/>
              </a:rPr>
              <a:t>•  </a:t>
            </a:r>
            <a:r>
              <a:rPr sz="1600" b="0" i="0">
                <a:solidFill>
                  <a:srgbClr val="1B2330"/>
                </a:solidFill>
                <a:latin typeface="Montserrat"/>
              </a:rPr>
              <a:t>Desacuerdo: resuelve la Comunidad Autónoma</a:t>
            </a:r>
          </a:p>
          <a:p>
            <a:pPr>
              <a:spcAft>
                <a:spcPts val="1000"/>
              </a:spcAft>
            </a:pPr>
            <a:r>
              <a:rPr sz="1600" b="1" i="0">
                <a:solidFill>
                  <a:srgbClr val="2E3A80"/>
                </a:solidFill>
                <a:latin typeface="Montserrat"/>
              </a:rPr>
              <a:t>•  </a:t>
            </a:r>
            <a:r>
              <a:rPr sz="1600" b="0" i="0">
                <a:solidFill>
                  <a:srgbClr val="1B2330"/>
                </a:solidFill>
                <a:latin typeface="Montserrat"/>
              </a:rPr>
              <a:t>La carga de probar es del solicitante</a:t>
            </a:r>
          </a:p>
        </p:txBody>
      </p:sp>
      <p:sp>
        <p:nvSpPr>
          <p:cNvPr id="8" name="imgph" descr="IMGQ:engineers discussing plans construction si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engineers discussing plans construction site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 que no se te puede olvidar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Dos parámetros: presión y odorizante</a:t>
            </a:r>
          </a:p>
          <a:p>
            <a:pPr>
              <a:spcAft>
                <a:spcPts val="1000"/>
              </a:spcAft>
            </a:pPr>
            <a:r>
              <a:rPr sz="1600" b="1" i="0">
                <a:solidFill>
                  <a:srgbClr val="2E3A80"/>
                </a:solidFill>
                <a:latin typeface="Montserrat"/>
              </a:rPr>
              <a:t>•  </a:t>
            </a:r>
            <a:r>
              <a:rPr sz="1600" b="0" i="0">
                <a:solidFill>
                  <a:srgbClr val="1B2330"/>
                </a:solidFill>
                <a:latin typeface="Montserrat"/>
              </a:rPr>
              <a:t>Urgencias: olor, incendio, explosión</a:t>
            </a:r>
          </a:p>
          <a:p>
            <a:pPr>
              <a:spcAft>
                <a:spcPts val="1000"/>
              </a:spcAft>
            </a:pPr>
            <a:r>
              <a:rPr sz="1600" b="1" i="0">
                <a:solidFill>
                  <a:srgbClr val="2E3A80"/>
                </a:solidFill>
                <a:latin typeface="Montserrat"/>
              </a:rPr>
              <a:t>•  </a:t>
            </a:r>
            <a:r>
              <a:rPr sz="1600" b="0" i="0">
                <a:solidFill>
                  <a:srgbClr val="1B2330"/>
                </a:solidFill>
                <a:latin typeface="Montserrat"/>
              </a:rPr>
              <a:t>Fugas: urgente, programada, vigilancia</a:t>
            </a:r>
          </a:p>
          <a:p>
            <a:pPr>
              <a:spcAft>
                <a:spcPts val="1000"/>
              </a:spcAft>
            </a:pPr>
            <a:r>
              <a:rPr sz="1600" b="1" i="0">
                <a:solidFill>
                  <a:srgbClr val="2E3A80"/>
                </a:solidFill>
                <a:latin typeface="Montserrat"/>
              </a:rPr>
              <a:t>•  </a:t>
            </a:r>
            <a:r>
              <a:rPr sz="1600" b="0" i="0">
                <a:solidFill>
                  <a:srgbClr val="1B2330"/>
                </a:solidFill>
                <a:latin typeface="Montserrat"/>
              </a:rPr>
              <a:t>Plazos de terceros: 30 · 20 · 24</a:t>
            </a:r>
          </a:p>
          <a:p>
            <a:pPr>
              <a:spcAft>
                <a:spcPts val="1000"/>
              </a:spcAft>
            </a:pPr>
            <a:r>
              <a:rPr sz="1600" b="1" i="0">
                <a:solidFill>
                  <a:srgbClr val="2E3A80"/>
                </a:solidFill>
                <a:latin typeface="Montserrat"/>
              </a:rPr>
              <a:t>•  </a:t>
            </a:r>
            <a:r>
              <a:rPr sz="1600" b="0" i="0">
                <a:solidFill>
                  <a:srgbClr val="1B2330"/>
                </a:solidFill>
                <a:latin typeface="Montserrat"/>
              </a:rPr>
              <a:t>Archivo: dos últimas y cinco años</a:t>
            </a:r>
          </a:p>
        </p:txBody>
      </p:sp>
      <p:sp>
        <p:nvSpPr>
          <p:cNvPr id="8" name="imgph" descr="IMGQ:gas cylinder cabinet outdoor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cylinder cabinet outdoor wall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sabes mantener viva una red de gas</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Reconoces los tres plazos de terceros: 30, 20 y 24</a:t>
            </a:r>
          </a:p>
          <a:p>
            <a:pPr>
              <a:spcAft>
                <a:spcPts val="1200"/>
              </a:spcAft>
            </a:pPr>
            <a:r>
              <a:rPr sz="2000" b="1" i="0">
                <a:solidFill>
                  <a:srgbClr val="CADCFC"/>
                </a:solidFill>
                <a:latin typeface="Montserrat"/>
              </a:rPr>
              <a:t>✓  </a:t>
            </a:r>
            <a:r>
              <a:rPr sz="1900" b="0" i="0">
                <a:solidFill>
                  <a:srgbClr val="FFFFFF"/>
                </a:solidFill>
                <a:latin typeface="Montserrat"/>
              </a:rPr>
              <a:t>Clasificas una fuga por gravedad y por cercanía</a:t>
            </a:r>
          </a:p>
          <a:p>
            <a:pPr>
              <a:spcAft>
                <a:spcPts val="1200"/>
              </a:spcAft>
            </a:pPr>
            <a:r>
              <a:rPr sz="2000" b="1" i="0">
                <a:solidFill>
                  <a:srgbClr val="CADCFC"/>
                </a:solidFill>
                <a:latin typeface="Montserrat"/>
              </a:rPr>
              <a:t>✓  </a:t>
            </a:r>
            <a:r>
              <a:rPr sz="1900" b="0" i="0">
                <a:solidFill>
                  <a:srgbClr val="FFFFFF"/>
                </a:solidFill>
                <a:latin typeface="Montserrat"/>
              </a:rPr>
              <a:t>Aplicas el parche seguro antes de la reparación buena</a:t>
            </a:r>
          </a:p>
          <a:p>
            <a:pPr>
              <a:spcAft>
                <a:spcPts val="1200"/>
              </a:spcAft>
            </a:pPr>
            <a:r>
              <a:rPr sz="2000" b="1" i="0">
                <a:solidFill>
                  <a:srgbClr val="CADCFC"/>
                </a:solidFill>
                <a:latin typeface="Montserrat"/>
              </a:rPr>
              <a:t>✓  </a:t>
            </a:r>
            <a:r>
              <a:rPr sz="1900" b="0" i="0">
                <a:solidFill>
                  <a:srgbClr val="FFFFFF"/>
                </a:solidFill>
                <a:latin typeface="Montserrat"/>
              </a:rPr>
              <a:t>Cierras con el truco de campo: si burbujea, fuga</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Cierras la ITC-ICG 01 entera: del papel a la calle viva. Ya eres mucho más gasista que ayer.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
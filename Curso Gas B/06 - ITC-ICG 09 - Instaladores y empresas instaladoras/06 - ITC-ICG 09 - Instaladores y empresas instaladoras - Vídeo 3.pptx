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este último vídeo de qué va, de más teoría?</a:t>
            </a:r>
          </a:p>
          <a:p>
            <a:r>
              <a:t>N2: Va del temario oficial, sí, pero te lo voy a hacer útil, no un ladrillo. La ITC nueve termina con dos anexos. El anexo uno es la lista de conocimientos mínimos que te pueden exigir para cada categoría, y es justo la referencia del examen de tu comunidad autónoma, tu vía para sacar el carné. El anexo dos son los conocimientos más avanzados sobre aparatos, los que hacen falta para los casos gordos que vimos en los vídeos anteriores. Lo importante no es memorizar cada línea, sino entender la lógica: por qué la categoría a estudia más que la be, y la be más que la ce. Si pillas esa lógica, el temario deja de dar miedo y empieza a tener sentido. Vamos con ella.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estos tres números para empezar?</a:t>
            </a:r>
          </a:p>
          <a:p>
            <a:r>
              <a:t>N2: Porque son el mapa del vídeo. Dos anexos: el uno, conocimientos mínimos por categoría; el dos, conocimientos avanzados sobre aparatos. Tres categorías, la a, la be y la ce, cada una con su propio nivel de temario, de más a menos. Y dieciocho apartados, que es el índice del anexo dos, el de los aparatos. Ese número, dieciocho, lo vamos a usar al final para una regla muy concreta: quién tiene que estudiarse los dieciocho enteros y quién solo hasta el diecisiete. Quédate con la foto y avanzamos.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¿Los dos anexos sirven para lo mismo?</a:t>
            </a:r>
          </a:p>
          <a:p>
            <a:r>
              <a:t>N2: No, cada uno tiene su función, y conviene separarlos desde el principio. El anexo uno es el temario base: la lista de conocimientos mínimos, teóricos, prácticos y de reglamentación, que necesita cada categoría de instalador. ¿Para qué te sirve en la práctica? Es la referencia del examen de tu comunidad autónoma, esa vía ce para sacar el carné de la que hablamos en el vídeo uno. Si te presentas al examen, sale de aquí. El anexo dos es otra cosa: son los conocimientos avanzados sobre aparatos, los que exige el apartado cuatro para tocar los aparatos gordos, las calderas grandes, las vitros de fuegos cubiertos y el cambio de familia de gas. Resumen: anexo uno, el temario para ser instalador; anexo dos, el temario para tocar los aparatos difíciles.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¿Cada categoría estudia un temario totalmente distinto?</a:t>
            </a:r>
          </a:p>
          <a:p>
            <a:r>
              <a:t>N2: No, y aquí está el truco que te ahorra la mitad del esfuerzo. Los temarios están encajados como muñecas rusas, uno dentro de otro. En los conocimientos teórico-prácticos, la categoría a es la de la be más unos extras; por eso, cuando lees el temario de la a, solo aparecen los añadidos, y parece corto. En la reglamentación se cuenta al revés: la be es la de la a menos unas cuantas cosas, y la ce es la de la be menos otras tantas. Pero la conclusión es siempre la misma: cuanto más alta la categoría, más temario. La a estudia lo de la be y algo más; la ce es la que menos estudia. Si entiendes esta jerarquía, ya no te asusta ver que el listado de la a es breve, porque son solo los extras, ni que el de la ce sea el más pelado.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estudia la A que no estudie la B?</a:t>
            </a:r>
          </a:p>
          <a:p>
            <a:r>
              <a:t>N2: Mira los añadidos de la a y verás un patrón muy claro que engancha con el vídeo uno: todo lo que suma la a suena a exterior, a enterrado y a gas licuado a granel. Te lo agrupo. Por un lado, el polietileno, ese tubo de plástico de las conducciones enterradas, con sus cortes y soldaduras. Por otro, la corrosión y la protección catódica, que es la técnica para que las tuberías metálicas enterradas no se oxiden, con las corrientes de fuga y galvánicas. Y por otro, los depósitos fijos de gas licuado, las zanjas, los vaporizadores, los compresores y las válvulas de trasvase. ¿Por qué justo esto? Porque la a es la única categoría que toca lo enterrado por el exterior y los depósitos fijos de gas licuado. La be ya se sabe lo de dentro de los edificios; la a añade lo de fuera y bajo tierra. El temario acompaña al alcance, siempre.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parte de leyes de la A es muy larga?</a:t>
            </a:r>
          </a:p>
          <a:p>
            <a:r>
              <a:t>N2: Es la más completa de las tres, porque la a llega a todo. No hace falta que te la sepas coma a coma, pero sí que ubiques los bloques. Primero, la reglamentación de la calidad y la seguridad industrial: qué son las entidades de normalización, como AENOR, y las de acreditación, como la ENAC, y qué es una norma UNE. Segundo, la ley del sector de hidrocarburos, que es la gran ley del gas, con sus capítulos de gas natural y gas licuado. Tercero, el propio Reglamento técnico de gas y todas sus instrucciones técnicas, las ITC, de la uno a la diez. Y cuarto, dos normas UNE clave: la de instalaciones receptoras hasta cinco bar y la de salas de máquinas. La idea que te tienes que llevar: la a se lo estudia todo porque puede tocarlo todo; en las siguientes categorías iremos quitando piezas.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B es la que me saco yo, ¿qué entra en su temario?</a:t>
            </a:r>
          </a:p>
          <a:p>
            <a:r>
              <a:t>N2: El grueso de todo, porque la be es la base sobre la que se construyen las demás. Te lo cuento por bloques, sin agobios. Primero, una base de matemáticas y física: operaciones, unidades del sistema internacional, presión, calor, caudal, nociones de electricidad. Segundo, química del gas: qué gases hay, las familias y, sobre todo, la combustión, cómo arde el gas y qué significa una llama azul o amarilla. Tercero, materiales y uniones: tuberías de cobre, acero y plomo, y los tipos de soldadura. Cuarto, el corazón práctico: quemadores, dispositivos de seguridad, sistemas de encendido y los aparatos, cocinas, calentadores y calderas. Y quinto, algo muy de examen: el cálculo de la instalación receptora, cómo se dimensiona una tubería según el caudal. Todo esto, más la parte de seguridad y emergencias, es lo que te convierte en instalador be.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en leyes, qué se ahorra la B respecto a la A?</a:t>
            </a:r>
          </a:p>
          <a:p>
            <a:r>
              <a:t>N2: Se ahorra justo lo que no va a tocar nunca, y es fácil de recordar. La reglamentación de la be es la misma que la de la a, pero quitando tres piezas. Una: el capítulo de la ley de hidrocarburos que habla de regasificación, transporte y almacenamiento de gas natural, o sea, la infraestructura gorda, las grandes redes. Y dos: tres instrucciones técnicas concretas, la cero uno, la cero tres y la cero cinco. La cero uno es la de distribución de gas por canalización; la cero tres, la de depósitos fijos de gas licuado; y la cero cinco, la de estaciones de servicio para vehículos a gas. ¿Ves la coherencia? La be no toca ni las grandes redes, ni los depósitos fijos, ni las gasolineras de gas, así que no necesita estudiárselo. Memoriza qué ITC se le caen a la be respecto a la a: la cero uno, la cero tres y la cero cinco.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C estudia mucho menos?</a:t>
            </a:r>
          </a:p>
          <a:p>
            <a:r>
              <a:t>N2: Sí, es el temario más recortado de los tres, y tiene todo el sentido. La ce solo toca instalaciones individuales de vivienda a cero coma cuatro bar, así que su temario se queda con lo justo para eso. ¿Qué se le cae respecto a la be? Las matemáticas y la física vienen recortadas, sin las partes más avanzadas, como las potencias, las raíces o el comportamiento de los gases. En química, se quita lo de los gases inertes. Y desaparecen dos bloques importantes: el de adaptación de aparatos a otras familias de gas, lógico porque la ce no puede cambiar de familia, y el de los depósitos móviles de gas licuado de más de quince kilos. En resumen, la ce estudia lo básico de la vivienda: tuberías sencillas, aparatos domésticos, ventilación y seguridad. Nada de lo grande ni lo enterrado.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la reglamentación de la C todavía es más corta?</a:t>
            </a:r>
          </a:p>
          <a:p>
            <a:r>
              <a:t>N2: La más corta de todas, sí, es la más pelada. Encadena la jerarquía: la ce es la reglamentación de la be, pero quitando todavía más cosas. Se le caen más capítulos de la ley de hidrocarburos, dos instrucciones técnicas, la cero seis, de envases de gas licuado para uso propio, y la diez, de caravanas y autocaravanas, y una norma importante: la de salas de máquinas. Fíjate en un dato que cae en el examen: la norma de salas de máquinas la estudian la a y la be, pero no la ce. ¿Por qué? Porque la ce solo toca viviendas individuales a baja presión; no va a ver en su vida una sala de máquinas, ni una caravana, ni un envase de uso propio. Otra vez la misma idea: el temario acompaña al alcance. Si te preguntan qué categorías estudian la norma de salas de máquinas, la respuesta es la a y la be; la ce no.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dos normas UNE tengo que tener claras?</a:t>
            </a:r>
          </a:p>
          <a:p>
            <a:r>
              <a:t>N2: Dos, y son de las que más caen, así que las separamos bien. La primera es la norma de instalaciones receptoras hasta cinco bar. Esa la estudian las tres categorías, la a, la be y la ce, porque cubre lo básico del oficio: las tuberías y sus pruebas, los contadores y, muy importante, la ventilación de los locales. Y ojo con la ventilación, que no es relleno: es justo lo que evita el problema más grave del gas, la intoxicación por monóxido de carbono cuando falta aire para la combustión o los humos se evacúan mal. La segunda norma es la de salas de máquinas, y esa solo la ven la a y la be, no la ce. Chuleta rápida: la norma de receptoras hasta cinco bar, las tres; la de salas de máquinas, solo la a y la be. Si las tienes claras, resuelves varias preguntas de golpe.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¿Todo el que toca aparatos gordos estudia el anexo dos entero?</a:t>
            </a:r>
          </a:p>
          <a:p>
            <a:r>
              <a:t>N2: No, y aquí está la regla fina que cae en el examen. El anexo dos tiene dieciocho apartados. El reparto depende de qué operación quieras hacer. Si es el cuatro punto uno, arrancar, mantener o reparar los aparatos grandes y las vitros de fuegos cubiertos, necesitas los apartados del uno al diecisiete. Si es el cuatro punto dos, adecuar por cambio de familia de gas, necesitas el anexo completo, los dieciocho. ¿Qué tiene de especial el apartado dieciocho para marcar la diferencia? Es justo el de adaptación de aparatos a otras familias de gas: pasar un aparato de butano a gas natural, por ejemplo. Por eso solo lo pide el cuatro punto dos. Y recuerda del vídeo dos: ese cuatro punto dos solo lo pueden hacer la a y la be, nunca la ce. Chuleta de una línea: el dieciocho es el cambio de gas, y solo lo necesita el cuatro punto dos.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Regla fina de este vídeo. Para el cambio de familia de gas, ¿cuánto anexo dos te piden y quién puede hacerlo?</a:t>
            </a:r>
          </a:p>
          <a:p>
            <a:r>
              <a:t>N2: Acuérdate del apartado que marca la diferencia y de que la ce se queda fuera de cambiar el gas. Junta esas dos pistas.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el completo y solo la a y la be?</a:t>
            </a:r>
          </a:p>
          <a:p>
            <a:r>
              <a:t>N2: Porque el cuatro punto dos, cambiar de familia de gas, necesita el apartado dieciocho, el de adaptación de aparatos a otras familias, y ese solo está en el anexo completo. Y como la ce trabaja con instalaciones que no cambian de familia de gas, esa operación le está vetada: solo la a y la be. El truco: el cuatro punto uno, arrancar los grandes, se queda en el uno al diecisiete; el cambio de gas se lo lleva todo.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anexo dos es solo teoría de aparatos?</a:t>
            </a:r>
          </a:p>
          <a:p>
            <a:r>
              <a:t>N2: Es mucho más útil de lo que parece: es un manual de averías puesto en forma de temario. Mira lo que hay dentro. Análisis de los productos de la combustión y el monóxido de carbono ambiente, o sea, cómo medir si un aparato quema bien o está soltando gases peligrosos. El rendimiento y los inquemados, para saber cuánta energía se pierde. Los dispositivos de seguridad, como el cortatiro, el termopar o el antidesbordamiento de humos, que son las piezas que apagan el aparato cuando algo va mal. Y, lo más jugoso, las averías más frecuentes de calentadores y calderas: el vaso de expansión descargado, el presostato, la válvula de tres vías, el purgador. Esto es lo que separa a quien cambia una pieza a ciegas de quien diagnostica de verdad por qué una caldera se apaga, ennegrece la pared o no da agua caliente. Por eso el anexo dos, más que temario, es oficio.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Espera, ¿los tipos de aparato A, B y C son mis categorías?</a:t>
            </a:r>
          </a:p>
          <a:p>
            <a:r>
              <a:t>N2: No, y esta es la trampa clásica del tema, así que fíjate bien. En el anexo dos aparecen los aparatos clasificados en tipo a, tipo be y tipo ce, pero esto no tiene nada que ver con las categorías del instalador. Aquí, las letras van por cómo evacúa el aparato los humos de la combustión. El tipo a es el no conducido: suelta los humos directamente al local donde está, como una cocina de gas. El tipo be es el conducido: coge el aire del local pero saca los humos fuera por un conducto, como muchos calentadores antiguos. Y el tipo ce es el estanco: coge el aire de fuera y expulsa los humos fuera, en un circuito cerrado que no toca el aire de la casa, como las calderas modernas de pared. Son dos clasificaciones distintas que, por mala suerte, usan las mismas letras. En obra importa mucho: un aparato tipo a en un local sin ventilación es un riesgo directo de monóxido de carbono. No confundas el tipo del aparato con la categoría de tu carné.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cerramos con la trampa clásica del tema. En el anexo dos, un aparato de tipo a, ¿qué es?</a:t>
            </a:r>
          </a:p>
          <a:p>
            <a:r>
              <a:t>N2: Ojo, que no te hablo de tu carné. Aquí las letras van por cómo saca el aparato los humos. Piensa en una cocina de gas sin campana.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no conducido y no la categoría del instalador?</a:t>
            </a:r>
          </a:p>
          <a:p>
            <a:r>
              <a:t>N2: Porque en el anexo dos las letras de los aparatos van por cómo evacúan los humos: el tipo a los suelta al local, el tipo be los saca fuera pero coge el aire de dentro, y el tipo ce es estanco, en circuito cerrado con el exterior. Son dos clasificaciones distintas que usan las mismas letras. El truco para no caer: si te hablan de humos y evacuación, es el tipo del aparato; si te hablan de presión y alcance, es la categoría del carné.</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Último cierre. ¿Qué me llevo de los anexos y del tema entero?</a:t>
            </a:r>
          </a:p>
          <a:p>
            <a:r>
              <a:t>N2: Te llevas el temario ordenado y, sobre todo, entendido. Primero, el anexo uno es la referencia del examen de tu comunidad, y funciona por capas de muñeca rusa: la a incluye a la be, la be incluye a la ce; cuanta más categoría, más temario, siempre acompañando al alcance de cada carné. Segundo, dos normas UNE que resuelven preguntas: la de instalaciones receptoras hasta cinco bar la estudian las tres categorías, y la de salas de máquinas solo la a y la be. Tercero, el anexo dos es el manual de los aparatos y sus averías, con su regla de reparto: del uno al diecisiete para arrancar los grandes, y completo, con el dieciocho, para el cambio de gas, que es solo de la a y la be. Y cuarto, la trampa que no puedes fallar: los tipos de aparato a, be y ce van por cómo evacúan los humos, y no son las categorías del instalador.</a:t>
            </a:r>
          </a:p>
          <a:p>
            <a:r>
              <a:t>N1: ¿Y con esto ya está el tema?</a:t>
            </a:r>
          </a:p>
          <a:p>
            <a:r>
              <a:t>N2: Con esto cierras la ITC nueve de punta a punta. Piensa en el camino: empezaste sin saber qué era una categoría, luego aprendiste qué puede tocar cada instalador, después cómo se monta y se sostiene una empresa, y ahora dominas el temario oficial y la lógica que lo ordena. En el examen, este tema se pregunta muchísimo, y casi siempre con las mismas trampas, las que ya sabes ver: categorías por presión, cifras del seguro, plazos, y los tipos de aparato frente a las categorías. En la obra, es lo que decide qué trabajos son tuyos, qué papeles firmas y con qué respaldo. Has pasado de no saber nada a poder explicárselo a otro. Eso es ser gasista. Enhorabuena: has cerrado el tema seis.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3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Los anexos de la ITC-ICG 09</a:t>
            </a:r>
          </a:p>
          <a:p>
            <a:r>
              <a:rPr sz="2200" b="0" i="0">
                <a:solidFill>
                  <a:srgbClr val="CADCFC"/>
                </a:solidFill>
                <a:latin typeface="Montserrat"/>
              </a:rPr>
              <a:t>El temario oficial de las categorías A, B y C</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06 · Reglamento · ITC-ICG 09</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2</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anexos que cierran la ITC-ICG 09</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18</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apartados del temario del anexo 2</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categorías con su propio temario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Los dos anexos</a:t>
            </a:r>
          </a:p>
          <a:p>
            <a:pPr>
              <a:spcAft>
                <a:spcPts val="900"/>
              </a:spcAft>
            </a:pPr>
            <a:r>
              <a:rPr sz="1800" b="1" i="0">
                <a:solidFill>
                  <a:srgbClr val="E8801A"/>
                </a:solidFill>
                <a:latin typeface="Montserrat"/>
              </a:rPr>
              <a:t>02   </a:t>
            </a:r>
            <a:r>
              <a:rPr sz="1700" b="0" i="0">
                <a:solidFill>
                  <a:srgbClr val="1B2330"/>
                </a:solidFill>
                <a:latin typeface="Montserrat"/>
              </a:rPr>
              <a:t>La lógica del temario</a:t>
            </a:r>
          </a:p>
          <a:p>
            <a:pPr>
              <a:spcAft>
                <a:spcPts val="900"/>
              </a:spcAft>
            </a:pPr>
            <a:r>
              <a:rPr sz="1800" b="1" i="0">
                <a:solidFill>
                  <a:srgbClr val="E8801A"/>
                </a:solidFill>
                <a:latin typeface="Montserrat"/>
              </a:rPr>
              <a:t>03   </a:t>
            </a:r>
            <a:r>
              <a:rPr sz="1700" b="0" i="0">
                <a:solidFill>
                  <a:srgbClr val="1B2330"/>
                </a:solidFill>
                <a:latin typeface="Montserrat"/>
              </a:rPr>
              <a:t>Anexo 1</a:t>
            </a:r>
          </a:p>
          <a:p>
            <a:pPr>
              <a:spcAft>
                <a:spcPts val="900"/>
              </a:spcAft>
            </a:pPr>
            <a:r>
              <a:rPr sz="1800" b="1" i="0">
                <a:solidFill>
                  <a:srgbClr val="E8801A"/>
                </a:solidFill>
                <a:latin typeface="Montserrat"/>
              </a:rPr>
              <a:t>04   </a:t>
            </a:r>
            <a:r>
              <a:rPr sz="1700" b="0" i="0">
                <a:solidFill>
                  <a:srgbClr val="1B2330"/>
                </a:solidFill>
                <a:latin typeface="Montserrat"/>
              </a:rPr>
              <a:t>Normas de examen</a:t>
            </a:r>
          </a:p>
          <a:p>
            <a:pPr>
              <a:spcAft>
                <a:spcPts val="900"/>
              </a:spcAft>
            </a:pPr>
            <a:r>
              <a:rPr sz="1800" b="1" i="0">
                <a:solidFill>
                  <a:srgbClr val="E8801A"/>
                </a:solidFill>
                <a:latin typeface="Montserrat"/>
              </a:rPr>
              <a:t>05   </a:t>
            </a:r>
            <a:r>
              <a:rPr sz="1700" b="0" i="0">
                <a:solidFill>
                  <a:srgbClr val="1B2330"/>
                </a:solidFill>
                <a:latin typeface="Montserrat"/>
              </a:rPr>
              <a:t>Anexo 2</a:t>
            </a:r>
          </a:p>
          <a:p>
            <a:pPr>
              <a:spcAft>
                <a:spcPts val="900"/>
              </a:spcAft>
            </a:pPr>
            <a:r>
              <a:rPr sz="1800" b="1" i="0">
                <a:solidFill>
                  <a:srgbClr val="E8801A"/>
                </a:solidFill>
                <a:latin typeface="Montserrat"/>
              </a:rPr>
              <a:t>06   </a:t>
            </a:r>
            <a:r>
              <a:rPr sz="1700" b="0" i="0">
                <a:solidFill>
                  <a:srgbClr val="1B2330"/>
                </a:solidFill>
                <a:latin typeface="Montserrat"/>
              </a:rPr>
              <a:t>Trampa clásica</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LOS DOS ANEXOS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Para qué sirve cada anexo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Anexo 1: conocimientos mínimos por categoría</a:t>
            </a:r>
          </a:p>
          <a:p>
            <a:pPr>
              <a:spcAft>
                <a:spcPts val="1100"/>
              </a:spcAft>
            </a:pPr>
            <a:r>
              <a:rPr sz="1600" b="1" i="0">
                <a:solidFill>
                  <a:srgbClr val="E8801A"/>
                </a:solidFill>
                <a:latin typeface="Montserrat"/>
              </a:rPr>
              <a:t>▸  </a:t>
            </a:r>
            <a:r>
              <a:rPr sz="1600" b="0" i="0">
                <a:solidFill>
                  <a:srgbClr val="1B2330"/>
                </a:solidFill>
                <a:latin typeface="Montserrat"/>
              </a:rPr>
              <a:t>Es la referencia del examen</a:t>
            </a:r>
          </a:p>
          <a:p>
            <a:pPr>
              <a:spcAft>
                <a:spcPts val="1100"/>
              </a:spcAft>
            </a:pPr>
            <a:r>
              <a:rPr sz="1600" b="1" i="0">
                <a:solidFill>
                  <a:srgbClr val="E8801A"/>
                </a:solidFill>
                <a:latin typeface="Montserrat"/>
              </a:rPr>
              <a:t>▸  </a:t>
            </a:r>
            <a:r>
              <a:rPr sz="1600" b="0" i="0">
                <a:solidFill>
                  <a:srgbClr val="1B2330"/>
                </a:solidFill>
                <a:latin typeface="Montserrat"/>
              </a:rPr>
              <a:t>Anexo 2: conocimientos expertos de aparatos</a:t>
            </a:r>
          </a:p>
          <a:p>
            <a:pPr>
              <a:spcAft>
                <a:spcPts val="1100"/>
              </a:spcAft>
            </a:pPr>
            <a:r>
              <a:rPr sz="1600" b="1" i="0">
                <a:solidFill>
                  <a:srgbClr val="E8801A"/>
                </a:solidFill>
                <a:latin typeface="Montserrat"/>
              </a:rPr>
              <a:t>▸  </a:t>
            </a:r>
            <a:r>
              <a:rPr sz="1600" b="0" i="0">
                <a:solidFill>
                  <a:srgbClr val="1B2330"/>
                </a:solidFill>
                <a:latin typeface="Montserrat"/>
              </a:rPr>
              <a:t>Para los casos gordos</a:t>
            </a:r>
          </a:p>
        </p:txBody>
      </p:sp>
      <p:sp>
        <p:nvSpPr>
          <p:cNvPr id="9" name="imgph" descr="IMGQ:open technical manual book page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open technical manual book pages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LA LÓGICA DEL TEMARIO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Muñecas rusas: A incluye a B</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 = temario de B + extras</a:t>
            </a:r>
          </a:p>
          <a:p>
            <a:pPr>
              <a:spcAft>
                <a:spcPts val="1100"/>
              </a:spcAft>
            </a:pPr>
            <a:r>
              <a:rPr sz="1600" b="1" i="0">
                <a:solidFill>
                  <a:srgbClr val="E8801A"/>
                </a:solidFill>
                <a:latin typeface="Montserrat"/>
              </a:rPr>
              <a:t>▸  </a:t>
            </a:r>
            <a:r>
              <a:rPr sz="1600" b="0" i="0">
                <a:solidFill>
                  <a:srgbClr val="1B2330"/>
                </a:solidFill>
                <a:latin typeface="Montserrat"/>
              </a:rPr>
              <a:t>B = A menos algunas cosas</a:t>
            </a:r>
          </a:p>
          <a:p>
            <a:pPr>
              <a:spcAft>
                <a:spcPts val="1100"/>
              </a:spcAft>
            </a:pPr>
            <a:r>
              <a:rPr sz="1600" b="1" i="0">
                <a:solidFill>
                  <a:srgbClr val="E8801A"/>
                </a:solidFill>
                <a:latin typeface="Montserrat"/>
              </a:rPr>
              <a:t>▸  </a:t>
            </a:r>
            <a:r>
              <a:rPr sz="1600" b="0" i="0">
                <a:solidFill>
                  <a:srgbClr val="1B2330"/>
                </a:solidFill>
                <a:latin typeface="Montserrat"/>
              </a:rPr>
              <a:t>C = B menos otras tantas</a:t>
            </a:r>
          </a:p>
          <a:p>
            <a:pPr>
              <a:spcAft>
                <a:spcPts val="1100"/>
              </a:spcAft>
            </a:pPr>
            <a:r>
              <a:rPr sz="1600" b="1" i="0">
                <a:solidFill>
                  <a:srgbClr val="E8801A"/>
                </a:solidFill>
                <a:latin typeface="Montserrat"/>
              </a:rPr>
              <a:t>▸  </a:t>
            </a:r>
            <a:r>
              <a:rPr sz="1600" b="0" i="0">
                <a:solidFill>
                  <a:srgbClr val="1B2330"/>
                </a:solidFill>
                <a:latin typeface="Montserrat"/>
              </a:rPr>
              <a:t>Más categoría, más temario</a:t>
            </a:r>
          </a:p>
        </p:txBody>
      </p:sp>
      <p:sp>
        <p:nvSpPr>
          <p:cNvPr id="9" name="imgph" descr="IMGQ:russian nesting dolls se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russian nesting dolls set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1 · CATEGORÍA 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Lo que añade la categoría 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Polietileno y sus soldaduras</a:t>
            </a:r>
          </a:p>
          <a:p>
            <a:pPr>
              <a:spcAft>
                <a:spcPts val="1100"/>
              </a:spcAft>
            </a:pPr>
            <a:r>
              <a:rPr sz="1600" b="1" i="0">
                <a:solidFill>
                  <a:srgbClr val="E8801A"/>
                </a:solidFill>
                <a:latin typeface="Montserrat"/>
              </a:rPr>
              <a:t>▸  </a:t>
            </a:r>
            <a:r>
              <a:rPr sz="1600" b="0" i="0">
                <a:solidFill>
                  <a:srgbClr val="1B2330"/>
                </a:solidFill>
                <a:latin typeface="Montserrat"/>
              </a:rPr>
              <a:t>Corrosión y protección catódica</a:t>
            </a:r>
          </a:p>
          <a:p>
            <a:pPr>
              <a:spcAft>
                <a:spcPts val="1100"/>
              </a:spcAft>
            </a:pPr>
            <a:r>
              <a:rPr sz="1600" b="1" i="0">
                <a:solidFill>
                  <a:srgbClr val="E8801A"/>
                </a:solidFill>
                <a:latin typeface="Montserrat"/>
              </a:rPr>
              <a:t>▸  </a:t>
            </a:r>
            <a:r>
              <a:rPr sz="1600" b="0" i="0">
                <a:solidFill>
                  <a:srgbClr val="1B2330"/>
                </a:solidFill>
                <a:latin typeface="Montserrat"/>
              </a:rPr>
              <a:t>Depósitos fijos de GLP y zanjas</a:t>
            </a:r>
          </a:p>
          <a:p>
            <a:pPr>
              <a:spcAft>
                <a:spcPts val="1100"/>
              </a:spcAft>
            </a:pPr>
            <a:r>
              <a:rPr sz="1600" b="1" i="0">
                <a:solidFill>
                  <a:srgbClr val="E8801A"/>
                </a:solidFill>
                <a:latin typeface="Montserrat"/>
              </a:rPr>
              <a:t>▸  </a:t>
            </a:r>
            <a:r>
              <a:rPr sz="1600" b="0" i="0">
                <a:solidFill>
                  <a:srgbClr val="1B2330"/>
                </a:solidFill>
                <a:latin typeface="Montserrat"/>
              </a:rPr>
              <a:t>Todo lo enterrado y a granel</a:t>
            </a:r>
          </a:p>
        </p:txBody>
      </p:sp>
      <p:sp>
        <p:nvSpPr>
          <p:cNvPr id="9" name="imgph" descr="IMGQ:underground gas pipeline installation trench"/>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underground gas pipeline installation trench</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1 · REGLAMENTACIÓN 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reglamentación de la 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Calidad y seguridad: AENOR y ENAC</a:t>
            </a:r>
          </a:p>
          <a:p>
            <a:pPr>
              <a:spcAft>
                <a:spcPts val="1100"/>
              </a:spcAft>
            </a:pPr>
            <a:r>
              <a:rPr sz="1600" b="1" i="0">
                <a:solidFill>
                  <a:srgbClr val="E8801A"/>
                </a:solidFill>
                <a:latin typeface="Montserrat"/>
              </a:rPr>
              <a:t>▸  </a:t>
            </a:r>
            <a:r>
              <a:rPr sz="1600" b="0" i="0">
                <a:solidFill>
                  <a:srgbClr val="1B2330"/>
                </a:solidFill>
                <a:latin typeface="Montserrat"/>
              </a:rPr>
              <a:t>La ley del sector de hidrocarburos</a:t>
            </a:r>
          </a:p>
          <a:p>
            <a:pPr>
              <a:spcAft>
                <a:spcPts val="1100"/>
              </a:spcAft>
            </a:pPr>
            <a:r>
              <a:rPr sz="1600" b="1" i="0">
                <a:solidFill>
                  <a:srgbClr val="E8801A"/>
                </a:solidFill>
                <a:latin typeface="Montserrat"/>
              </a:rPr>
              <a:t>▸  </a:t>
            </a:r>
            <a:r>
              <a:rPr sz="1600" b="0" i="0">
                <a:solidFill>
                  <a:srgbClr val="1B2330"/>
                </a:solidFill>
                <a:latin typeface="Montserrat"/>
              </a:rPr>
              <a:t>El Reglamento y todas sus ITC</a:t>
            </a:r>
          </a:p>
          <a:p>
            <a:pPr>
              <a:spcAft>
                <a:spcPts val="1100"/>
              </a:spcAft>
            </a:pPr>
            <a:r>
              <a:rPr sz="1600" b="1" i="0">
                <a:solidFill>
                  <a:srgbClr val="E8801A"/>
                </a:solidFill>
                <a:latin typeface="Montserrat"/>
              </a:rPr>
              <a:t>▸  </a:t>
            </a:r>
            <a:r>
              <a:rPr sz="1600" b="0" i="0">
                <a:solidFill>
                  <a:srgbClr val="1B2330"/>
                </a:solidFill>
                <a:latin typeface="Montserrat"/>
              </a:rPr>
              <a:t>Normas UNE 60670 y 60601</a:t>
            </a:r>
          </a:p>
        </p:txBody>
      </p:sp>
      <p:sp>
        <p:nvSpPr>
          <p:cNvPr id="9" name="imgph" descr="IMGQ:shelf full of legal regulation books"/>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shelf full of legal regulation books</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1 · CATEGORÍA B</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grueso del temario es la B</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Matemáticas, física y química de base</a:t>
            </a:r>
          </a:p>
          <a:p>
            <a:pPr>
              <a:spcAft>
                <a:spcPts val="1100"/>
              </a:spcAft>
            </a:pPr>
            <a:r>
              <a:rPr sz="1600" b="1" i="0">
                <a:solidFill>
                  <a:srgbClr val="E8801A"/>
                </a:solidFill>
                <a:latin typeface="Montserrat"/>
              </a:rPr>
              <a:t>▸  </a:t>
            </a:r>
            <a:r>
              <a:rPr sz="1600" b="0" i="0">
                <a:solidFill>
                  <a:srgbClr val="1B2330"/>
                </a:solidFill>
                <a:latin typeface="Montserrat"/>
              </a:rPr>
              <a:t>Materiales, uniones y soldaduras</a:t>
            </a:r>
          </a:p>
          <a:p>
            <a:pPr>
              <a:spcAft>
                <a:spcPts val="1100"/>
              </a:spcAft>
            </a:pPr>
            <a:r>
              <a:rPr sz="1600" b="1" i="0">
                <a:solidFill>
                  <a:srgbClr val="E8801A"/>
                </a:solidFill>
                <a:latin typeface="Montserrat"/>
              </a:rPr>
              <a:t>▸  </a:t>
            </a:r>
            <a:r>
              <a:rPr sz="1600" b="0" i="0">
                <a:solidFill>
                  <a:srgbClr val="1B2330"/>
                </a:solidFill>
                <a:latin typeface="Montserrat"/>
              </a:rPr>
              <a:t>Quemadores, seguridad y encendido</a:t>
            </a:r>
          </a:p>
          <a:p>
            <a:pPr>
              <a:spcAft>
                <a:spcPts val="1100"/>
              </a:spcAft>
            </a:pPr>
            <a:r>
              <a:rPr sz="1600" b="1" i="0">
                <a:solidFill>
                  <a:srgbClr val="E8801A"/>
                </a:solidFill>
                <a:latin typeface="Montserrat"/>
              </a:rPr>
              <a:t>▸  </a:t>
            </a:r>
            <a:r>
              <a:rPr sz="1600" b="0" i="0">
                <a:solidFill>
                  <a:srgbClr val="1B2330"/>
                </a:solidFill>
                <a:latin typeface="Montserrat"/>
              </a:rPr>
              <a:t>Aparatos y cálculo de instalaciones</a:t>
            </a:r>
          </a:p>
        </p:txBody>
      </p:sp>
      <p:sp>
        <p:nvSpPr>
          <p:cNvPr id="9" name="imgph" descr="IMGQ:student studying technical drawings at desk"/>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student studying technical drawings at desk</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1 · REGLAMENTACIÓN B</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B es la A menos tres piezas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Fuera: gas natural a gran escala</a:t>
            </a:r>
          </a:p>
          <a:p>
            <a:pPr>
              <a:spcAft>
                <a:spcPts val="1100"/>
              </a:spcAft>
            </a:pPr>
            <a:r>
              <a:rPr sz="1600" b="1" i="0">
                <a:solidFill>
                  <a:srgbClr val="E8801A"/>
                </a:solidFill>
                <a:latin typeface="Montserrat"/>
              </a:rPr>
              <a:t>▸  </a:t>
            </a:r>
            <a:r>
              <a:rPr sz="1600" b="0" i="0">
                <a:solidFill>
                  <a:srgbClr val="1B2330"/>
                </a:solidFill>
                <a:latin typeface="Montserrat"/>
              </a:rPr>
              <a:t>Fuera: ITC-ICG 01, 03 y 05</a:t>
            </a:r>
          </a:p>
          <a:p>
            <a:pPr>
              <a:spcAft>
                <a:spcPts val="1100"/>
              </a:spcAft>
            </a:pPr>
            <a:r>
              <a:rPr sz="1600" b="1" i="0">
                <a:solidFill>
                  <a:srgbClr val="E8801A"/>
                </a:solidFill>
                <a:latin typeface="Montserrat"/>
              </a:rPr>
              <a:t>▸  </a:t>
            </a:r>
            <a:r>
              <a:rPr sz="1600" b="0" i="0">
                <a:solidFill>
                  <a:srgbClr val="1B2330"/>
                </a:solidFill>
                <a:latin typeface="Montserrat"/>
              </a:rPr>
              <a:t>Distribución, depósitos fijos y estaciones</a:t>
            </a:r>
          </a:p>
        </p:txBody>
      </p:sp>
      <p:sp>
        <p:nvSpPr>
          <p:cNvPr id="9" name="imgph" descr="IMGQ:gas distribution station equipme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distribution station equipment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1 · CATEGORÍA C</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C: el temario más recortado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Matemáticas y física reducidas</a:t>
            </a:r>
          </a:p>
          <a:p>
            <a:pPr>
              <a:spcAft>
                <a:spcPts val="1100"/>
              </a:spcAft>
            </a:pPr>
            <a:r>
              <a:rPr sz="1600" b="1" i="0">
                <a:solidFill>
                  <a:srgbClr val="E8801A"/>
                </a:solidFill>
                <a:latin typeface="Montserrat"/>
              </a:rPr>
              <a:t>▸  </a:t>
            </a:r>
            <a:r>
              <a:rPr sz="1600" b="0" i="0">
                <a:solidFill>
                  <a:srgbClr val="1B2330"/>
                </a:solidFill>
                <a:latin typeface="Montserrat"/>
              </a:rPr>
              <a:t>Sin adaptación a otras familias de gas</a:t>
            </a:r>
          </a:p>
          <a:p>
            <a:pPr>
              <a:spcAft>
                <a:spcPts val="1100"/>
              </a:spcAft>
            </a:pPr>
            <a:r>
              <a:rPr sz="1600" b="1" i="0">
                <a:solidFill>
                  <a:srgbClr val="E8801A"/>
                </a:solidFill>
                <a:latin typeface="Montserrat"/>
              </a:rPr>
              <a:t>▸  </a:t>
            </a:r>
            <a:r>
              <a:rPr sz="1600" b="0" i="0">
                <a:solidFill>
                  <a:srgbClr val="1B2330"/>
                </a:solidFill>
                <a:latin typeface="Montserrat"/>
              </a:rPr>
              <a:t>Sin depósitos móviles grandes</a:t>
            </a:r>
          </a:p>
          <a:p>
            <a:pPr>
              <a:spcAft>
                <a:spcPts val="1100"/>
              </a:spcAft>
            </a:pPr>
            <a:r>
              <a:rPr sz="1600" b="1" i="0">
                <a:solidFill>
                  <a:srgbClr val="E8801A"/>
                </a:solidFill>
                <a:latin typeface="Montserrat"/>
              </a:rPr>
              <a:t>▸  </a:t>
            </a:r>
            <a:r>
              <a:rPr sz="1600" b="0" i="0">
                <a:solidFill>
                  <a:srgbClr val="1B2330"/>
                </a:solidFill>
                <a:latin typeface="Montserrat"/>
              </a:rPr>
              <a:t>Solo lo de la vivienda</a:t>
            </a:r>
          </a:p>
        </p:txBody>
      </p:sp>
      <p:sp>
        <p:nvSpPr>
          <p:cNvPr id="9" name="imgph" descr="IMGQ:simple home gas water heat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simple home gas water heater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1 · REGLAMENTACIÓN C</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C es la B menos aún más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Fuera: más capítulos de hidrocarburos</a:t>
            </a:r>
          </a:p>
          <a:p>
            <a:pPr>
              <a:spcAft>
                <a:spcPts val="1100"/>
              </a:spcAft>
            </a:pPr>
            <a:r>
              <a:rPr sz="1600" b="1" i="0">
                <a:solidFill>
                  <a:srgbClr val="E8801A"/>
                </a:solidFill>
                <a:latin typeface="Montserrat"/>
              </a:rPr>
              <a:t>▸  </a:t>
            </a:r>
            <a:r>
              <a:rPr sz="1600" b="0" i="0">
                <a:solidFill>
                  <a:srgbClr val="1B2330"/>
                </a:solidFill>
                <a:latin typeface="Montserrat"/>
              </a:rPr>
              <a:t>Fuera: ITC-ICG 06 y 10</a:t>
            </a:r>
          </a:p>
          <a:p>
            <a:pPr>
              <a:spcAft>
                <a:spcPts val="1100"/>
              </a:spcAft>
            </a:pPr>
            <a:r>
              <a:rPr sz="1600" b="1" i="0">
                <a:solidFill>
                  <a:srgbClr val="E8801A"/>
                </a:solidFill>
                <a:latin typeface="Montserrat"/>
              </a:rPr>
              <a:t>▸  </a:t>
            </a:r>
            <a:r>
              <a:rPr sz="1600" b="0" i="0">
                <a:solidFill>
                  <a:srgbClr val="1B2330"/>
                </a:solidFill>
                <a:latin typeface="Montserrat"/>
              </a:rPr>
              <a:t>Fuera: UNE 60601 de salas de máquinas</a:t>
            </a:r>
          </a:p>
          <a:p>
            <a:pPr>
              <a:spcAft>
                <a:spcPts val="1100"/>
              </a:spcAft>
            </a:pPr>
            <a:r>
              <a:rPr sz="1600" b="1" i="0">
                <a:solidFill>
                  <a:srgbClr val="E8801A"/>
                </a:solidFill>
                <a:latin typeface="Montserrat"/>
              </a:rPr>
              <a:t>▸  </a:t>
            </a:r>
            <a:r>
              <a:rPr sz="1600" b="0" i="0">
                <a:solidFill>
                  <a:srgbClr val="1B2330"/>
                </a:solidFill>
                <a:latin typeface="Montserrat"/>
              </a:rPr>
              <a:t>La UNE 60601 la ven A y B</a:t>
            </a:r>
          </a:p>
        </p:txBody>
      </p:sp>
      <p:sp>
        <p:nvSpPr>
          <p:cNvPr id="9" name="imgph" descr="IMGQ:industrial gas boiler machine roo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industrial gas boiler machine room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NORMAS DE EXAMEN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UNE 60670 y UNE 60601</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UNE 60670: la estudian las tres</a:t>
            </a:r>
          </a:p>
          <a:p>
            <a:pPr>
              <a:spcAft>
                <a:spcPts val="1100"/>
              </a:spcAft>
            </a:pPr>
            <a:r>
              <a:rPr sz="1600" b="1" i="0">
                <a:solidFill>
                  <a:srgbClr val="E8801A"/>
                </a:solidFill>
                <a:latin typeface="Montserrat"/>
              </a:rPr>
              <a:t>▸  </a:t>
            </a:r>
            <a:r>
              <a:rPr sz="1600" b="0" i="0">
                <a:solidFill>
                  <a:srgbClr val="1B2330"/>
                </a:solidFill>
                <a:latin typeface="Montserrat"/>
              </a:rPr>
              <a:t>Receptoras hasta 5 bar y ventilación</a:t>
            </a:r>
          </a:p>
          <a:p>
            <a:pPr>
              <a:spcAft>
                <a:spcPts val="1100"/>
              </a:spcAft>
            </a:pPr>
            <a:r>
              <a:rPr sz="1600" b="1" i="0">
                <a:solidFill>
                  <a:srgbClr val="E8801A"/>
                </a:solidFill>
                <a:latin typeface="Montserrat"/>
              </a:rPr>
              <a:t>▸  </a:t>
            </a:r>
            <a:r>
              <a:rPr sz="1600" b="0" i="0">
                <a:solidFill>
                  <a:srgbClr val="1B2330"/>
                </a:solidFill>
                <a:latin typeface="Montserrat"/>
              </a:rPr>
              <a:t>UNE 60601: solo A y B</a:t>
            </a:r>
          </a:p>
          <a:p>
            <a:pPr>
              <a:spcAft>
                <a:spcPts val="1100"/>
              </a:spcAft>
            </a:pPr>
            <a:r>
              <a:rPr sz="1600" b="1" i="0">
                <a:solidFill>
                  <a:srgbClr val="E8801A"/>
                </a:solidFill>
                <a:latin typeface="Montserrat"/>
              </a:rPr>
              <a:t>▸  </a:t>
            </a:r>
            <a:r>
              <a:rPr sz="1600" b="0" i="0">
                <a:solidFill>
                  <a:srgbClr val="1B2330"/>
                </a:solidFill>
                <a:latin typeface="Montserrat"/>
              </a:rPr>
              <a:t>Salas de máquinas</a:t>
            </a:r>
          </a:p>
        </p:txBody>
      </p:sp>
      <p:sp>
        <p:nvSpPr>
          <p:cNvPr id="9" name="imgph" descr="IMGQ:ventilation grille on kitchen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ventilation grille on kitchen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2 · REPARTO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18 apartados: 1 a 17 o completo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4.1 (aparatos grandes): apartados 1 a 17</a:t>
            </a:r>
          </a:p>
          <a:p>
            <a:pPr>
              <a:spcAft>
                <a:spcPts val="1100"/>
              </a:spcAft>
            </a:pPr>
            <a:r>
              <a:rPr sz="1600" b="1" i="0">
                <a:solidFill>
                  <a:srgbClr val="E8801A"/>
                </a:solidFill>
                <a:latin typeface="Montserrat"/>
              </a:rPr>
              <a:t>▸  </a:t>
            </a:r>
            <a:r>
              <a:rPr sz="1600" b="0" i="0">
                <a:solidFill>
                  <a:srgbClr val="1B2330"/>
                </a:solidFill>
                <a:latin typeface="Montserrat"/>
              </a:rPr>
              <a:t>4.2 (cambio de gas): anexo completo</a:t>
            </a:r>
          </a:p>
          <a:p>
            <a:pPr>
              <a:spcAft>
                <a:spcPts val="1100"/>
              </a:spcAft>
            </a:pPr>
            <a:r>
              <a:rPr sz="1600" b="1" i="0">
                <a:solidFill>
                  <a:srgbClr val="E8801A"/>
                </a:solidFill>
                <a:latin typeface="Montserrat"/>
              </a:rPr>
              <a:t>▸  </a:t>
            </a:r>
            <a:r>
              <a:rPr sz="1600" b="0" i="0">
                <a:solidFill>
                  <a:srgbClr val="1B2330"/>
                </a:solidFill>
                <a:latin typeface="Montserrat"/>
              </a:rPr>
              <a:t>El 18 es adaptación a otras familias</a:t>
            </a:r>
          </a:p>
          <a:p>
            <a:pPr>
              <a:spcAft>
                <a:spcPts val="1100"/>
              </a:spcAft>
            </a:pPr>
            <a:r>
              <a:rPr sz="1600" b="1" i="0">
                <a:solidFill>
                  <a:srgbClr val="E8801A"/>
                </a:solidFill>
                <a:latin typeface="Montserrat"/>
              </a:rPr>
              <a:t>▸  </a:t>
            </a:r>
            <a:r>
              <a:rPr sz="1600" b="0" i="0">
                <a:solidFill>
                  <a:srgbClr val="1B2330"/>
                </a:solidFill>
                <a:latin typeface="Montserrat"/>
              </a:rPr>
              <a:t>El 4.2 es solo para A y B</a:t>
            </a:r>
          </a:p>
        </p:txBody>
      </p:sp>
      <p:sp>
        <p:nvSpPr>
          <p:cNvPr id="9" name="imgph" descr="IMGQ:gas appliance technical schematic diagram"/>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appliance technical schematic diagram</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Para adecuar un aparato por cambio de familia de gas (4.2), ¿qué parte del anexo 2 se exige y a qué categorías?</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El anexo 2 completo (1 a 18), solo A y B</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Los apartados 1 a 17, solo A y B</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El anexo 2 completo, las tres categorías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Los apartados 1 a 17, las tres categorías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Para adecuar un aparato por cambio de familia de gas (4.2), ¿qué parte del anexo 2 se exige y a qué categorías?</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El anexo 2 completo (1 a 18), solo A y B</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4.2 exige el anexo 2 completo porque suma el apartado 18, de adaptación a otras familias de gas, y solo lo pueden acreditar las categorías A y B.</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ANEXO 2 · EN LA PRÁCTICA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anexo 2 es un manual de averías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Análisis de humos y CO ambiente</a:t>
            </a:r>
          </a:p>
          <a:p>
            <a:pPr>
              <a:spcAft>
                <a:spcPts val="1100"/>
              </a:spcAft>
            </a:pPr>
            <a:r>
              <a:rPr sz="1600" b="1" i="0">
                <a:solidFill>
                  <a:srgbClr val="E8801A"/>
                </a:solidFill>
                <a:latin typeface="Montserrat"/>
              </a:rPr>
              <a:t>▸  </a:t>
            </a:r>
            <a:r>
              <a:rPr sz="1600" b="0" i="0">
                <a:solidFill>
                  <a:srgbClr val="1B2330"/>
                </a:solidFill>
                <a:latin typeface="Montserrat"/>
              </a:rPr>
              <a:t>Rendimiento e inquemados</a:t>
            </a:r>
          </a:p>
          <a:p>
            <a:pPr>
              <a:spcAft>
                <a:spcPts val="1100"/>
              </a:spcAft>
            </a:pPr>
            <a:r>
              <a:rPr sz="1600" b="1" i="0">
                <a:solidFill>
                  <a:srgbClr val="E8801A"/>
                </a:solidFill>
                <a:latin typeface="Montserrat"/>
              </a:rPr>
              <a:t>▸  </a:t>
            </a:r>
            <a:r>
              <a:rPr sz="1600" b="0" i="0">
                <a:solidFill>
                  <a:srgbClr val="1B2330"/>
                </a:solidFill>
                <a:latin typeface="Montserrat"/>
              </a:rPr>
              <a:t>Seguridad: cortatiro y termopar</a:t>
            </a:r>
          </a:p>
          <a:p>
            <a:pPr>
              <a:spcAft>
                <a:spcPts val="1100"/>
              </a:spcAft>
            </a:pPr>
            <a:r>
              <a:rPr sz="1600" b="1" i="0">
                <a:solidFill>
                  <a:srgbClr val="E8801A"/>
                </a:solidFill>
                <a:latin typeface="Montserrat"/>
              </a:rPr>
              <a:t>▸  </a:t>
            </a:r>
            <a:r>
              <a:rPr sz="1600" b="0" i="0">
                <a:solidFill>
                  <a:srgbClr val="1B2330"/>
                </a:solidFill>
                <a:latin typeface="Montserrat"/>
              </a:rPr>
              <a:t>Averías de calentadores y calderas</a:t>
            </a:r>
          </a:p>
        </p:txBody>
      </p:sp>
      <p:sp>
        <p:nvSpPr>
          <p:cNvPr id="9" name="imgph" descr="IMGQ:technician measuring boiler flue gases with analyz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technician measuring boiler flue gases with analyzer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TRAMPA CLÁSICA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Tipos de aparato ≠ categorías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Tipo A: no conducido (humos al local)</a:t>
            </a:r>
          </a:p>
          <a:p>
            <a:pPr>
              <a:spcAft>
                <a:spcPts val="1100"/>
              </a:spcAft>
            </a:pPr>
            <a:r>
              <a:rPr sz="1600" b="1" i="0">
                <a:solidFill>
                  <a:srgbClr val="E8801A"/>
                </a:solidFill>
                <a:latin typeface="Montserrat"/>
              </a:rPr>
              <a:t>▸  </a:t>
            </a:r>
            <a:r>
              <a:rPr sz="1600" b="0" i="0">
                <a:solidFill>
                  <a:srgbClr val="1B2330"/>
                </a:solidFill>
                <a:latin typeface="Montserrat"/>
              </a:rPr>
              <a:t>Tipo B: conducido, toma aire del local</a:t>
            </a:r>
          </a:p>
          <a:p>
            <a:pPr>
              <a:spcAft>
                <a:spcPts val="1100"/>
              </a:spcAft>
            </a:pPr>
            <a:r>
              <a:rPr sz="1600" b="1" i="0">
                <a:solidFill>
                  <a:srgbClr val="E8801A"/>
                </a:solidFill>
                <a:latin typeface="Montserrat"/>
              </a:rPr>
              <a:t>▸  </a:t>
            </a:r>
            <a:r>
              <a:rPr sz="1600" b="0" i="0">
                <a:solidFill>
                  <a:srgbClr val="1B2330"/>
                </a:solidFill>
                <a:latin typeface="Montserrat"/>
              </a:rPr>
              <a:t>Tipo C: estanco, circuito con el exterior</a:t>
            </a:r>
          </a:p>
          <a:p>
            <a:pPr>
              <a:spcAft>
                <a:spcPts val="1100"/>
              </a:spcAft>
            </a:pPr>
            <a:r>
              <a:rPr sz="1600" b="1" i="0">
                <a:solidFill>
                  <a:srgbClr val="E8801A"/>
                </a:solidFill>
                <a:latin typeface="Montserrat"/>
              </a:rPr>
              <a:t>▸  </a:t>
            </a:r>
            <a:r>
              <a:rPr sz="1600" b="0" i="0">
                <a:solidFill>
                  <a:srgbClr val="1B2330"/>
                </a:solidFill>
                <a:latin typeface="Montserrat"/>
              </a:rPr>
              <a:t>No son las categorías del instalador</a:t>
            </a:r>
          </a:p>
        </p:txBody>
      </p:sp>
      <p:sp>
        <p:nvSpPr>
          <p:cNvPr id="9" name="imgph" descr="IMGQ:sealed balanced flue gas boiler on wal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sealed balanced flue gas boiler on wall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el anexo 2, ¿qué es un aparato de tipo 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No conducido: evacúa los humos al propio local</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Estanco: circuito cerrado con el exterior</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Conducido: toma el aire del local y saca los humos fuera</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La categoría más alta del instalador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06 · Instaladores y empresas instaladoras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A</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el anexo 2, ¿qué es un aparato de tipo 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A.  </a:t>
            </a:r>
            <a:r>
              <a:rPr sz="1800" b="1" i="0">
                <a:solidFill>
                  <a:srgbClr val="1E2761"/>
                </a:solidFill>
                <a:latin typeface="Montserrat"/>
              </a:rPr>
              <a:t>No conducido: evacúa los humos al propio local</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tipo A es el aparato no conducido: suelta los productos de la combustión al local. No tiene nada que ver con la categoría A del instalador.</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dominas la ITC-ICG 09 entera</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Anexo 1 = temario del examen, por capas</a:t>
            </a:r>
          </a:p>
          <a:p>
            <a:pPr>
              <a:spcAft>
                <a:spcPts val="1200"/>
              </a:spcAft>
            </a:pPr>
            <a:r>
              <a:rPr sz="2000" b="1" i="0">
                <a:solidFill>
                  <a:srgbClr val="F4A24C"/>
                </a:solidFill>
                <a:latin typeface="Montserrat"/>
              </a:rPr>
              <a:t>✓  </a:t>
            </a:r>
            <a:r>
              <a:rPr sz="1900" b="0" i="0">
                <a:solidFill>
                  <a:srgbClr val="FFFFFF"/>
                </a:solidFill>
                <a:latin typeface="Montserrat"/>
              </a:rPr>
              <a:t>A incluye a B; B incluye a C</a:t>
            </a:r>
          </a:p>
          <a:p>
            <a:pPr>
              <a:spcAft>
                <a:spcPts val="1200"/>
              </a:spcAft>
            </a:pPr>
            <a:r>
              <a:rPr sz="2000" b="1" i="0">
                <a:solidFill>
                  <a:srgbClr val="F4A24C"/>
                </a:solidFill>
                <a:latin typeface="Montserrat"/>
              </a:rPr>
              <a:t>✓  </a:t>
            </a:r>
            <a:r>
              <a:rPr sz="1900" b="0" i="0">
                <a:solidFill>
                  <a:srgbClr val="FFFFFF"/>
                </a:solidFill>
                <a:latin typeface="Montserrat"/>
              </a:rPr>
              <a:t>UNE 60670 las tres; UNE 60601 solo A y B</a:t>
            </a:r>
          </a:p>
          <a:p>
            <a:pPr>
              <a:spcAft>
                <a:spcPts val="1200"/>
              </a:spcAft>
            </a:pPr>
            <a:r>
              <a:rPr sz="2000" b="1" i="0">
                <a:solidFill>
                  <a:srgbClr val="F4A24C"/>
                </a:solidFill>
                <a:latin typeface="Montserrat"/>
              </a:rPr>
              <a:t>✓  </a:t>
            </a:r>
            <a:r>
              <a:rPr sz="1900" b="0" i="0">
                <a:solidFill>
                  <a:srgbClr val="FFFFFF"/>
                </a:solidFill>
                <a:latin typeface="Montserrat"/>
              </a:rPr>
              <a:t>Tipos de aparato A/B/C no son categorías</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Cierras la ITC-ICG 09 de punta a punta. Ya piensas como un gasista.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
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dicen que este es el vídeo más importante del tema?</a:t>
            </a:r>
          </a:p>
          <a:p>
            <a:r>
              <a:t>N2: Porque es el por dónde sí y por dónde no del tubo de gas, y es lo primero que mira un inspector cuando llega a una obra. Aquí está todo lo que se ve a simple vista: si el tubo va visto, envainado, enterrado o empotrado; qué distancia deja con la luz, el agua o una chimenea; cómo se sujeta, se protege, se ventila y se señaliza. Es el capítulo cuatro de la norma y está lleno de valores concretos y de prohibiciones que caen tal cual en el examen. Tómatelo con calma, porque dominar esto es la diferencia entre que la instalación pase a la primera o te la tumben. Vamos poco a poco.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cifras me llevo de entrada?</a:t>
            </a:r>
          </a:p>
          <a:p>
            <a:r>
              <a:t>N2: Tres anclas para todo el vídeo. Uno, hay cuatro modalidades de tubería según por dónde vaya: vista, envainada, enterrada y empotrada. Dos, el número mágico de las distancias es tres centímetros, la separación mínima que el tubo de gas guarda con cualquier otro servicio y con el suelo. Y tres, el empotrado, que es la excepción, tiene un tope de cuarenta centímetros de longitud. Con estos tres números en la cabeza, el resto del vídeo se ordena solo.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cuántas maneras puede ir un tubo de gas?</a:t>
            </a:r>
          </a:p>
          <a:p>
            <a:r>
              <a:t>N2: De cuatro, y todas responden a una misma idea de fondo: poder reparar el tubo sin tener que picar la pared. Vamos una a una. Vista es la que se ve en todo su recorrido, la ideal, porque la tienes delante para revisarla; también cuenta como vista la que va tapada por registros que se pueden abrir y están ventilados. Envainada es la que va dentro de otro tubo protector, la vaina o conducto. Enterrada es la que va directamente en el subsuelo, siempre por fuera del edificio. Y empotrada es la que va metida directamente en la pared, a pelo, sin vaina. Ojo a la diferencia fina, que se pregunta muchísimo: envainada lleva un tubo protector alrededor; empotrada va directa en la obra sin nada. No son lo mismo. Lo ideal siempre es vista o envainada, porque son accesibles; empotrada es la excepción y está muy limitada.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Entonces, ¿cuál es la norma general de por dónde llevar el tubo?</a:t>
            </a:r>
          </a:p>
          <a:p>
            <a:r>
              <a:t>N2: La norma quiere que el tubo se pueda reparar o sustituir en cualquier momento sin destrozar la casa. Por eso, como criterio general, las tuberías van vistas o envainadas, que son las accesibles; solo van enterradas los tramos que tengan que ir por fuera. La empotrada se deja para casos muy contados que veremos luego. Además, hay una regla de por dónde discurre cada instalación: la instalación común, la que sirve a todo el edificio, va por zonas comunitarias, como la fachada, el patio o la caja de escalera; la individual, la de cada vivienda, va por zonas comunes o por dentro de la propia vivienda a la que sirve. Y un detalle práctico: cada vez que un tubo atraviesa un muro o una pared, se protege con un pasamuros, que es como un manguito que evita que el tubo roce con la obra. Si en algún tramo no puedes cumplir estas condiciones, la solución es envainarlo.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sitios por donde el gas no puede pasar nunca?</a:t>
            </a:r>
          </a:p>
          <a:p>
            <a:r>
              <a:t>N2: Sí, y esta lista es pregunta segura, así que apréndetela con un truco muy simple: por donde suba fuego, humo, basura o electricidad gorda, el gas no pasa. En concreto: nada de huecos de ascensores o montacargas, porque el mecanismo podría aplastar o cortar el tubo; nada de locales con transformadores eléctricos de potencia, porque una chispa junto al gas es una explosión; nada de chimeneas ni conductos de humos; nada de bajantes de basura; y nada de conductos o rejillas de ventilación, salvo un caso muy concreto. Y añade una más: el tubo no puede ir metido dentro de los forjados, o sea dentro del suelo o el techo que separa las viviendas. La lógica es siempre la misma: alejar el gas de todo lo que pueda encenderlo, dañarlo o dificultar cerrarlo en una emergencia. Saltarse esta lista es firmar la instalación que un día explica un incendio.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 ver esta, que tiene truco. Escúchala entera. ¿Por cuál de estos lugares sí puede discurrir una tubería de gas? Te leo las cuatro opciones. Opción A, por el hueco de un ascensor. Opción B, por un local con un transformador eléctrico de potencia. Opción C, por un local con un depósito de gasoil, de clase C, de ochocientos litros. Opción D, por dentro de un forjado de la vivienda. Párala y elige.</a:t>
            </a:r>
          </a:p>
          <a:p>
            <a:r>
              <a:t>N2: Una pista: acuérdate del truco, por donde suba fuego, humo, basura o electricidad gorda, el gas no pasa. Solo uno de estos cuatro es una excepción tolerada.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por un local con un depósito de gasoil de clase C de ochocientos litros. ¿Por qué? Porque el gasoil es un combustible de clase C, se inflama a cincuenta y cinco grados o más, así que cuesta mucho prenderlo y es menos peligroso que la gasolina; por eso la norma deja pasar el gas por un local con un depósito de gasoil pequeño, de hasta mil litros, cumpliendo distancias y ventilación. El truco para no fallar: ascensor, transformador y forjado son noes rotundos; la única puerta abierta es la clase C en depósito pequeño.</a:t>
            </a:r>
          </a:p>
          <a:p>
            <a:r>
              <a:t>N1: Ochocientos litros están por debajo de los mil que permite la norma, así que la opción C entra. Las otras tres son de la lista negra.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lo de los combustibles líquidos? ¿No decías que estaba prohibido?</a:t>
            </a:r>
          </a:p>
          <a:p>
            <a:r>
              <a:t>N2: Prohibido en general, sí, pero con una excepción que conviene entender. Los combustibles líquidos se clasifican por lo fácil que es encenderlos. Los de clase C son los que se inflaman a cincuenta y cinco grados o más, es decir, cuesta mucho prenderlos: el gasoil de calefacción entra en este grupo. Como son menos peligrosos que la gasolina, la norma permite que el gas pase por un cuarto con un depósito de gasoil, pero con dos condiciones: que el depósito sea pequeño, de hasta mil litros, y que se cumplan las distancias y la ventilación que exige la reglamentación de instalaciones petrolíferas. Con clase A o B, más volátiles, o con depósitos de más de mil litros, prohibido total. Resumen: gasoil pequeño y bien ventilado, se puede; gasolina o depósitos grandes, ni hablar.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el tubo va visto, ¿cómo se sujeta?</a:t>
            </a:r>
          </a:p>
          <a:p>
            <a:r>
              <a:t>N2: Con abrazaderas o soportes firmes anclados a la construcción, pero con tres condiciones importantes. Uno, tienen que ser desmontables, para poder quitar el tubo el día que haga falta. Dos, tienen que quedar aislados del tubo, sin metal contra metal, para que no aparezca corrosión. Y tres, tienen que permitir que el tubo dilate, porque con el calor el metal se alarga y si lo aprietas a muerte, se tensa y sufre. ¿Cada cuánto pones un soporte? Depende del grosor: cuanto más grueso el tubo, más peso aguanta y más distancia puedes dejar entre sujeciones; y en los tramos verticales puedes separar un poco más que en los horizontales. Los que van por fuera, además, protegidos contra la corrosión y contra el sol. La idea: que el tubo quede firme, alineado y sin apoyarse ni rozar con nada.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se pone un soporte en un tubo visto?</a:t>
            </a:r>
          </a:p>
          <a:p>
            <a:r>
              <a:t>N2: Esta tabla te da la separación máxima entre sujeciones según el grosor del tubo, y tiene una lógica muy clara: cuanto más grueso el tubo, más distancia puedes dejar, porque aguanta más peso sin combarse. Se lee por filas de diámetro. Un tubo fino, de hasta quince milímetros, pide un soporte cada metro en horizontal y cada metro y medio en vertical. Según sube el diámetro, la separación crece: en el tramo de veintiocho a cuarenta y dos milímetros ya vas a dos metros y medio en horizontal y tres en vertical. Y para los tubos más gruesos, de más de cuarenta y dos, hasta tres metros en horizontal y tres y medio en vertical, pero con al menos una sujeción por planta. Fíjate en dos patrones: el vertical siempre admite un poco más que el horizontal, y son valores orientativos. Ejemplo de obra: un montante de tubo grueso lleva como mínimo una abrazadera en cada piso.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distancia tiene que guardar con la luz o el agua?</a:t>
            </a:r>
          </a:p>
          <a:p>
            <a:r>
              <a:t>N2: Dos treses muy fáciles de recordar: tres centímetros a cualquier otro servicio, sea la luz, el agua, el vapor o una chimenea, tanto si va en paralelo como si lo cruza; y tres centímetros al suelo. Y se mide de superficie a superficie, no de centro a centro del tubo. Pero lo más importante es la regla de oro que hay detrás: el tubo de gas nunca toca nada, ni otra tubería ni la estructura metálica del edificio. ¿Por qué? Porque cuando dos metales distintos se tocan, se crea una pequeña pila eléctrica, lo que se llama par galvánico, y eso corroe el tubo poco a poco hasta que aparece una picadura que un día será una fuga. Así que separa, no apoyes y no dejes que roce. Si por lo que sea no llegas a esos tres centímetros, hay una salida que vemos ahora mismo.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no puedo dejar los tres centímetros?</a:t>
            </a:r>
          </a:p>
          <a:p>
            <a:r>
              <a:t>N2: Entonces puedes acercar el tubo, pero solo si lo aíslas en ese tramo. El aislamiento sirve para que, aunque estén cerca, el gas y la luz o el agua no se afecten. ¿Con qué se aísla? Con una coquilla aislante, una caña de PVC, o una cinta autovulcanizante o termoretráctil, colocada como diga el fabricante. Pero ojo, esa protección no vale cualquiera: tiene que aguantar un aislamiento eléctrico de al menos cuatrocientos voltios y resistir temperaturas de menos quince a más ochenta grados. Y si el tramo va por el exterior, además tiene que estar protegida contra el sol. O sea, la coquilla no es decorativa, tiene sus números que cumplir. Ejemplo típico: el tubo de gas tiene que cruzarse con un cable eléctrico y no hay hueco para los tres centímetros; le pones la coquilla que cumple esos cuatrocientos voltios y ya puedes acercarlo.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que señalizar el tubo?</a:t>
            </a:r>
          </a:p>
          <a:p>
            <a:r>
              <a:t>N2: Sí, y por una razón muy práctica de seguridad. En la zona común, al menos una vez, y cerca de la llave de montante, el tubo se marca con la palabra gas o con una franja amarilla bien visible. ¿Para qué? Para que nadie taladre a ciegas y pinche el tubo pensando que era otra cosa. Es avisar: aquí hay gas, cuidado. Y aprovecho para un error clásico de examen: para tuberías vistas no se puede usar polietileno, el pe e. El polietileno es ese plástico de las tuberías enterradas; puesto al sol se degrada, se vuelve quebradizo y acaba fugando. Así que el polietileno es para enterrado, nunca visto. En vistas usas metal, como acero o cobre. Grábate esto: polietileno a la vista, jamás.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 mete un tubo dentro de una vaina?</a:t>
            </a:r>
          </a:p>
          <a:p>
            <a:r>
              <a:t>N2: Por cuatro motivos, y conviene tenerlos separados porque cada uno tiene sus reglas. El primero, protección mecánica: cuando el tubo puede recibir un golpe, por ejemplo en un garaje donde pasan coches, se envaina para blindarlo. El segundo, ventilación: cuando el tubo cruza sitios donde una fuga se podría acumular, como un semisótano, un falso techo, una cámara cerrada o una vivienda ajena, se envaina para que, si hay escape, se airee hacia fuera y no se quede dentro. El tercero, para dar acceso a los armarios empotrados de regulación o contadores. Y el cuarto, cuando el tubo va por el suelo o el subsuelo. Truco de examen: si te preguntan por qué se envaina aquí, identifica primero cuál de estos cuatro casos es, porque de eso dependen el material y las condiciones. Cada motivo, su tratamiento.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 especial un semisótano?</a:t>
            </a:r>
          </a:p>
          <a:p>
            <a:r>
              <a:t>N2: Porque un semisótano es una trampa para el gas: si hay una fuga, el gas se queda acumulado ahí abajo. Por eso, como regla general, el tubo se envaina al cruzarlo. Pero hay una puerta abierta, con condiciones estrictas: solo si el gas es más ligero que el aire, como el gas natural, si va a poca presión, cincuenta milibares o menos, y si el semisótano está muy bien ventilado. La lógica es preciosa: el gas natural, al ser ligero, sube y se escapa por las rejillas de arriba; por eso al butano y al propano, que son más pesados que el aire y se van al suelo, esta excepción no les vale. ¿Qué es estar bien ventilado? Dos rejillas en paredes opuestas, separadas al menos dos metros en horizontal y dos metros en altura, y con una superficie de rejilla de diez centímetros cuadrados por cada metro cuadrado de suelo, con un mínimo de doscientos centímetros cuadrados. Esa es la fórmula: superficie igual a diez por el área del suelo, y nunca menos de doscientos.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la rejilla del semisótano tiene que salir por un conducto largo?</a:t>
            </a:r>
          </a:p>
          <a:p>
            <a:r>
              <a:t>N2: Entonces la superficie de aireación que habías calculado se queda corta y hay que agrandarla, porque el aire circula peor cuanto más largo es el conducto. Esta tabla te da por cuánto multiplicar. Se lee por tramos de longitud. Si el conducto mide entre tres y diez metros, multiplicas la superficie por uno coma cinco. Si mide más de diez y hasta veintiséis, la multiplicas por dos. Y si mide más de veintiséis y hasta cincuenta, por dos coma cinco. La idea de fondo: cuanto más largo el conducto, más resistencia al paso del aire, así que más rejilla necesitas para compensar. Ejemplo: si te salían doscientos centímetros cuadrados de rejilla y el conducto mide quince metros, multiplicas por dos y necesitas cuatrocientos.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material tiene que ser la vaina?</a:t>
            </a:r>
          </a:p>
          <a:p>
            <a:r>
              <a:t>N2: Depende del para qué, y hay un patrón muy claro en la tabla. Para protección mecánica y para ventilación en semisótano, la vaina es metálica sí o sí, porque ahí necesitas resistencia de verdad: acero u otro material igual de fuerte. En los demás casos, o sea ventilación normal, acceso a armarios y suelo o subsuelo, sí admites plástico rígido, como pe uve ce, polietileno o polipropileno, siempre que aguante la forma sin aplastarse. Eso de aguantar la forma tiene nombre técnico, rigidez anular, y se traduce en que el material no se doble más de la cuenta. Además, en todos los casos marcados con asterisco en la norma, la vaina tiene que ser estanca, que no se cuele nada. Y una regla que cae: si una misma vaina hace dos trabajos a la vez, por ejemplo proteger y ventilar, tiene que cumplir lo más exigente de los dos. Metal donde hay que resistir; plástico rígido donde solo hay que envolver.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material va la vaina según para qué sirva?</a:t>
            </a:r>
          </a:p>
          <a:p>
            <a:r>
              <a:t>N2: Esta tabla cruza cada función con el material admitido, y tiene un patrón que conviene ver. Se lee por filas de función. Para protección mecánica, la vaina es de acero de al menos milímetro y medio de espesor, u otro material igual de resistente, porque ahí necesitas aguantar golpes. Para ventilación en semisótano, metálica sí o sí. En cambio, en los demás casos, ventilación normal, acceso a armarios y suelo o subsuelo, ya se admite plástico rígido como pe uve ce, polietileno o polipropileno, siempre que mantenga la forma, lo que la norma llama rigidez anular, un radio de curvatura de al menos tres veces su propio diámetro. Los conductos, en todos los casos, pueden ser metálicos o de obra. Dos reglas que caen: donde hay asterisco, el material tiene que ser estanco; y si una vaina hace dos funciones a la vez, cumple lo más exigente de las dos. Metal donde hay que resistir; plástico rígido donde solo hay que envolver.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la vaina es para ventilar, ¿cómo funciona exactamente?</a:t>
            </a:r>
          </a:p>
          <a:p>
            <a:r>
              <a:t>N2: Piénsala como un tubo dentro de un tubo que respira. La idea es que si el tubo de gas tiene una fuga dentro de una zona ciega, como un semisótano o una cámara, ese escape tenga que salir obligatoriamente fuera, no quedarse dentro. Por eso la vaina de ventilación es continua y estanca en todo su recorrido, y sus dos bocas comunican con el exterior: una hace de entrada de aire y la otra de salida, y así se barre cualquier fuga hacia la calle. Si solo puede salir por una boca, la otra se sella pegada al tubo. Y hay una regla que se pregunta mucho y que la norma reforzó: siempre se sella el extremo de la vaina que da a un local sin ventilación, para que la fuga no se cuele justo en ese local cerrado. En resumen: la vaina de ventilación coge la fuga y la echa fuera, nunca la mete dentro.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¿Vaina y conducto son lo mismo?</a:t>
            </a:r>
          </a:p>
          <a:p>
            <a:r>
              <a:t>N2: Se parecen, porque los dos protegen o ventilan el tubo, pero hay una diferencia práctica. La vaina va ceñida al tubo, abrazándolo, y no lleva registros, es decir, no tiene tapas para meter la mano. El conducto es más holgado, va más suelto alrededor del tubo, y sí puede llevar registros para poder mantener la tubería sin destaparla del todo; eso sí, esos registros tienen que ser estancos y accesibles. Y un detalle importante que cae en examen: un conducto de ventilación del gas no cuenta como ventilación del local, ni sirve para pasar por él ningún otro servicio ajeno al gas. Es solo para el gas. Regla mental: vaina, ajustada y cerrada; conducto, holgado y con registros, pero exclusivo del gas.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cuando el tubo va enterrado o empotrado?</a:t>
            </a:r>
          </a:p>
          <a:p>
            <a:r>
              <a:t>N2: Vamos con las dos. Enterrada es la que va por el subsuelo, siempre por fuera del edificio, y se hace siguiendo otra norma específica de tuberías enterradas, con su protección contra la corrosión. La empotrada es la excepción tasada: solo se permite para rodear un obstáculo o para conectar con un cajetín o armario, y como máximo cuarenta centímetros, salvo cuando va hacia un conjunto de regulación o contadores, que puede llegar a dos metros y medio. Dentro del tramo empotrado no puede haber ninguna unión mecánica, o sea nada de roscas escondidas que un día tengas que apretar y no puedas. Si el tubo es de acero o cobre, se protege como si fuera enterrado: se limpia, se le da una imprimación y se envuelve con doble capa de cinta anticorrosión con un cincuenta por ciento de solape. Y antes de tapar, siempre prueba de estanquidad: lo que se tapa, se comprueba antes. Regla: empotrar, lo justo y bien protegido.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empotrado es la excepción y está muy tasado. Escucha la pregunta. ¿Cuál es la longitud máxima de empotramiento de una tubería de gas, en el caso general? Estas son las opciones. Opción A, cero coma veinte metros, o sea veinte centímetros. Opción B, cero coma cuarenta metros, cuarenta centímetros. Opción C, un metro. Opción D, dos metros y medio. Tómate un momento.</a:t>
            </a:r>
          </a:p>
          <a:p>
            <a:r>
              <a:t>N2: Una pista: empotrar es solo para rodear un obstáculo o llegar a un cajetín. Hay una cifra pequeña que marca el caso normal, y otra mayor que es solo para un caso especial.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cero coma cuarenta metros, es decir, cuarenta centímetros. ¿Por qué? Porque la norma solo deja empotrar lo justo, para esquivar un obstáculo o conectar con un cajetín, y pone el tope en cuarenta centímetros. La opción D, los dos metros y medio, es la trampa: esa longitud mayor solo vale cuando el tubo va hacia un conjunto de regulación o de contadores, no en el caso general.</a:t>
            </a:r>
          </a:p>
          <a:p>
            <a:r>
              <a:t>N1: El truco para no fallar: caso normal, cuarenta centímetros; hacia regulación o contadores, hasta dos metros y medio. Y dentro del empotrado, ninguna unión mecánica escondida.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¿Cambia algo si el gas va a más presión?</a:t>
            </a:r>
          </a:p>
          <a:p>
            <a:r>
              <a:t>N2: Cambia, y con lógica. Cuando la presión es alta, entre dos y cinco bar, una fuga es más peligrosa porque sale más gas y con más fuerza. Así que la norma quiere ese tubo fuera del edificio siempre que se pueda: por la fachada, por un patio de ventilación o por zonas al aire libre. Solo se mete dentro cuando es inevitable, por ejemplo si el conjunto de regulación tiene que ir por dentro, o si pasa por una centralización de contadores o una sala de máquinas. Y en esos casos, por regla general, va envainado. Hay una excepción puntual: dentro de esa misma sala de máquinas o centralización que alimenta ese regulador, o dentro del local no doméstico donde están los aparatos, no hace falta vaina. La idea a recordar: cuanta más presión, más lejos de dentro de la casa.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que sellar las tuberías del armario de contadores?</a:t>
            </a:r>
          </a:p>
          <a:p>
            <a:r>
              <a:t>N2: Por una razón muy concreta: un armario de contadores o de regulación puede tener una fuga pequeña, y si el tubo que sale de ahí va empotrado o envainado hacia dentro del edificio, esa fuga podría viajar por el hueco del tubo y colarse en una vivienda. Para taponar ese camino, se sellan las tuberías de entrada y de salida. La regla práctica es fácil: si el tubo entra en la obra o en una vaina, sella los dos puntos, la vaina contra el recinto y el tubo contra la vaina, para que no quede ningún resquicio por donde el gas se escape hacia dentro. En armarios semiempotrados basta con sellar la parte empotrada; en los adosados donde el tubo entra directo al edificio, también se sella. ¿Con qué? Con juntas de goma específicas o con pastas sellantes, como silicona, que aguanten estancas con el tiempo. Sellar es cerrarle el pasaporte a la fuga.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 este trazado, ¿queda registrado en algún sitio?</a:t>
            </a:r>
          </a:p>
          <a:p>
            <a:r>
              <a:t>N2: Sí, y esto es importante para no tener sustos con el inspector. El recorrido del tubo se documenta con su croquis o esquema en el certificado de instalación, el modelo I erre ge, que firma la empresa instaladora habilitada y se entrega a la distribuidora. Y hay una regla que enlaza con lo que hemos visto: todo lo que se tapa, o sea lo empotrado y lo envainado, se prueba de estanquidad antes de cerrarlo, y esa prueba respalda el certificado. ¿Por qué tanto papel? Porque para el inspector, lo que no está probado y documentado no existe. Si dentro de esa pared hay un tramo que nadie comprobó ni dibujó, es como si no lo hubieras hecho bien. Así que dibuja el trazado, prueba antes de tapar y firma solo lo que de verdad está montado y comprobado.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Menudo bloque. ¿Cómo lo ato todo?</a:t>
            </a:r>
          </a:p>
          <a:p>
            <a:r>
              <a:t>N2: Reconstruyamos el hilo, que tiene una lógica de principio a fin: todo gira en torno a poder reparar sin picar y a alejar el gas del peligro. Primero, las cuatro modalidades: vista y envainada, las buenas, porque son accesibles; enterrada, por fuera; empotrada, la excepción. Luego, la lista negra, que es puro sentido común: por donde sube fuego, humo, basura o electricidad gorda, el gas no pasa. En vistas, los dos treses, tres centímetros a todo y tres al suelo, y el tubo sin tocar nada para que no se corroa. La vaina, con sus cuatro para qué, y la de ventilación siempre echando la fuga hacia fuera. Y el empotrado, lo justo, cuarenta centímetros, sin uniones escondidas y probado antes de tapar.</a:t>
            </a:r>
          </a:p>
          <a:p>
            <a:r>
              <a:t>N1: ¿Y esto cómo cae en el examen?</a:t>
            </a:r>
          </a:p>
          <a:p>
            <a:r>
              <a:t>N2: A base de cifras y de prohibiciones tal cual: los tres centímetros, los cuarenta centímetros del empotrado, la diferencia entre envainado y empotrado, la lista negra, el semisótano solo para gases ligeros. Y en la obra es lo primero que mira el inspector cuando llega: por ahí se aprueba o se tumba una instalación. Si dominas este vídeo, entras en una obra y ves de un vistazo lo que está mal. Hoy ya eres más gasista que ayer. Nos queda un último vídeo para cerrar la Parte cuatro: cómo se mide, se regula y se corta el gas, con toda la cadena de llaves.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Trazado y ubicación de las tuberías</a:t>
            </a:r>
          </a:p>
          <a:p>
            <a:r>
              <a:rPr sz="2200" b="0" i="0">
                <a:solidFill>
                  <a:srgbClr val="CADCFC"/>
                </a:solidFill>
                <a:latin typeface="Montserrat"/>
              </a:rPr>
              <a:t>Modalidades, distancias, vainas, empotrado y sellados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11 · UNE 60670-4</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4</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modalidades de tubería según su ubicación</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cm de separación mínima a otros servicios</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0,40</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metros: máximo de tubo empotrado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4.1</a:t>
            </a:r>
          </a:p>
          <a:p>
            <a:pPr>
              <a:spcAft>
                <a:spcPts val="900"/>
              </a:spcAft>
            </a:pPr>
            <a:r>
              <a:rPr sz="1800" b="1" i="0">
                <a:solidFill>
                  <a:srgbClr val="E8801A"/>
                </a:solidFill>
                <a:latin typeface="Montserrat"/>
              </a:rPr>
              <a:t>02   </a:t>
            </a:r>
            <a:r>
              <a:rPr sz="1700" b="0" i="0">
                <a:solidFill>
                  <a:srgbClr val="1B2330"/>
                </a:solidFill>
                <a:latin typeface="Montserrat"/>
              </a:rPr>
              <a:t>Apartado 4.2</a:t>
            </a:r>
          </a:p>
          <a:p>
            <a:pPr>
              <a:spcAft>
                <a:spcPts val="900"/>
              </a:spcAft>
            </a:pPr>
            <a:r>
              <a:rPr sz="1800" b="1" i="0">
                <a:solidFill>
                  <a:srgbClr val="E8801A"/>
                </a:solidFill>
                <a:latin typeface="Montserrat"/>
              </a:rPr>
              <a:t>03   </a:t>
            </a:r>
            <a:r>
              <a:rPr sz="1700" b="0" i="0">
                <a:solidFill>
                  <a:srgbClr val="1B2330"/>
                </a:solidFill>
                <a:latin typeface="Montserrat"/>
              </a:rPr>
              <a:t>Apartado 4.3</a:t>
            </a:r>
          </a:p>
          <a:p>
            <a:pPr>
              <a:spcAft>
                <a:spcPts val="900"/>
              </a:spcAft>
            </a:pPr>
            <a:r>
              <a:rPr sz="1800" b="1" i="0">
                <a:solidFill>
                  <a:srgbClr val="E8801A"/>
                </a:solidFill>
                <a:latin typeface="Montserrat"/>
              </a:rPr>
              <a:t>04   </a:t>
            </a:r>
            <a:r>
              <a:rPr sz="1700" b="0" i="0">
                <a:solidFill>
                  <a:srgbClr val="1B2330"/>
                </a:solidFill>
                <a:latin typeface="Montserrat"/>
              </a:rPr>
              <a:t>Apartado 4.4</a:t>
            </a:r>
          </a:p>
          <a:p>
            <a:pPr>
              <a:spcAft>
                <a:spcPts val="900"/>
              </a:spcAft>
            </a:pPr>
            <a:r>
              <a:rPr sz="1800" b="1" i="0">
                <a:solidFill>
                  <a:srgbClr val="E8801A"/>
                </a:solidFill>
                <a:latin typeface="Montserrat"/>
              </a:rPr>
              <a:t>05   </a:t>
            </a:r>
            <a:r>
              <a:rPr sz="1700" b="0" i="0">
                <a:solidFill>
                  <a:srgbClr val="1B2330"/>
                </a:solidFill>
                <a:latin typeface="Montserrat"/>
              </a:rPr>
              <a:t>Apartado 4.4.1.2</a:t>
            </a:r>
          </a:p>
          <a:p>
            <a:pPr>
              <a:spcAft>
                <a:spcPts val="900"/>
              </a:spcAft>
            </a:pPr>
            <a:r>
              <a:rPr sz="1800" b="1" i="0">
                <a:solidFill>
                  <a:srgbClr val="E8801A"/>
                </a:solidFill>
                <a:latin typeface="Montserrat"/>
              </a:rPr>
              <a:t>06   </a:t>
            </a:r>
            <a:r>
              <a:rPr sz="1700" b="0" i="0">
                <a:solidFill>
                  <a:srgbClr val="1B2330"/>
                </a:solidFill>
                <a:latin typeface="Montserrat"/>
              </a:rPr>
              <a:t>Apartado 4.4.2</a:t>
            </a:r>
          </a:p>
          <a:p>
            <a:pPr>
              <a:spcAft>
                <a:spcPts val="900"/>
              </a:spcAft>
            </a:pPr>
            <a:r>
              <a:rPr sz="1800" b="1" i="0">
                <a:solidFill>
                  <a:srgbClr val="E8801A"/>
                </a:solidFill>
                <a:latin typeface="Montserrat"/>
              </a:rPr>
              <a:t>07   </a:t>
            </a:r>
            <a:r>
              <a:rPr sz="1700" b="0" i="0">
                <a:solidFill>
                  <a:srgbClr val="1B2330"/>
                </a:solidFill>
                <a:latin typeface="Montserrat"/>
              </a:rPr>
              <a:t>Apartado 4.4.3</a:t>
            </a:r>
          </a:p>
          <a:p>
            <a:pPr>
              <a:spcAft>
                <a:spcPts val="900"/>
              </a:spcAft>
            </a:pPr>
            <a:r>
              <a:rPr sz="1800" b="1" i="0">
                <a:solidFill>
                  <a:srgbClr val="E8801A"/>
                </a:solidFill>
                <a:latin typeface="Montserrat"/>
              </a:rPr>
              <a:t>08   </a:t>
            </a:r>
            <a:r>
              <a:rPr sz="1700" b="0" i="0">
                <a:solidFill>
                  <a:srgbClr val="1B2330"/>
                </a:solidFill>
                <a:latin typeface="Montserrat"/>
              </a:rPr>
              <a:t>Apartados 4.5 y 4.6</a:t>
            </a:r>
          </a:p>
          <a:p>
            <a:pPr>
              <a:spcAft>
                <a:spcPts val="900"/>
              </a:spcAft>
            </a:pPr>
            <a:r>
              <a:rPr sz="1800" b="1" i="0">
                <a:solidFill>
                  <a:srgbClr val="E8801A"/>
                </a:solidFill>
                <a:latin typeface="Montserrat"/>
              </a:rPr>
              <a:t>09   </a:t>
            </a:r>
            <a:r>
              <a:rPr sz="1700" b="0" i="0">
                <a:solidFill>
                  <a:srgbClr val="1B2330"/>
                </a:solidFill>
                <a:latin typeface="Montserrat"/>
              </a:rPr>
              <a:t>Apartado 4.7</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 · CLASIFICACIÓN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Cuatro formas de llevar el tubo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Vista: visible en todo el recorrido</a:t>
            </a:r>
          </a:p>
          <a:p>
            <a:pPr>
              <a:spcAft>
                <a:spcPts val="1100"/>
              </a:spcAft>
            </a:pPr>
            <a:r>
              <a:rPr sz="1600" b="1" i="0">
                <a:solidFill>
                  <a:srgbClr val="E8801A"/>
                </a:solidFill>
                <a:latin typeface="Montserrat"/>
              </a:rPr>
              <a:t>▸  </a:t>
            </a:r>
            <a:r>
              <a:rPr sz="1600" b="0" i="0">
                <a:solidFill>
                  <a:srgbClr val="1B2330"/>
                </a:solidFill>
                <a:latin typeface="Montserrat"/>
              </a:rPr>
              <a:t>Envainada: dentro de vaina o conducto</a:t>
            </a:r>
          </a:p>
          <a:p>
            <a:pPr>
              <a:spcAft>
                <a:spcPts val="1100"/>
              </a:spcAft>
            </a:pPr>
            <a:r>
              <a:rPr sz="1600" b="1" i="0">
                <a:solidFill>
                  <a:srgbClr val="E8801A"/>
                </a:solidFill>
                <a:latin typeface="Montserrat"/>
              </a:rPr>
              <a:t>▸  </a:t>
            </a:r>
            <a:r>
              <a:rPr sz="1600" b="0" i="0">
                <a:solidFill>
                  <a:srgbClr val="1B2330"/>
                </a:solidFill>
                <a:latin typeface="Montserrat"/>
              </a:rPr>
              <a:t>Enterrada: en el subsuelo, por fuera</a:t>
            </a:r>
          </a:p>
          <a:p>
            <a:pPr>
              <a:spcAft>
                <a:spcPts val="1100"/>
              </a:spcAft>
            </a:pPr>
            <a:r>
              <a:rPr sz="1600" b="1" i="0">
                <a:solidFill>
                  <a:srgbClr val="E8801A"/>
                </a:solidFill>
                <a:latin typeface="Montserrat"/>
              </a:rPr>
              <a:t>▸  </a:t>
            </a:r>
            <a:r>
              <a:rPr sz="1600" b="0" i="0">
                <a:solidFill>
                  <a:srgbClr val="1B2330"/>
                </a:solidFill>
                <a:latin typeface="Montserrat"/>
              </a:rPr>
              <a:t>Empotrada: en la pared, sin vaina</a:t>
            </a:r>
          </a:p>
        </p:txBody>
      </p:sp>
      <p:sp>
        <p:nvSpPr>
          <p:cNvPr id="9" name="imgph" descr="IMGQ:copper gas pipe exposed o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copper gas pipe exposed 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Regla de oro: reparar sin picar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Vista o envainada siempre que se pueda</a:t>
            </a:r>
          </a:p>
          <a:p>
            <a:pPr>
              <a:spcAft>
                <a:spcPts val="1100"/>
              </a:spcAft>
            </a:pPr>
            <a:r>
              <a:rPr sz="1600" b="1" i="0">
                <a:solidFill>
                  <a:srgbClr val="E8801A"/>
                </a:solidFill>
                <a:latin typeface="Montserrat"/>
              </a:rPr>
              <a:t>▸  </a:t>
            </a:r>
            <a:r>
              <a:rPr sz="1600" b="0" i="0">
                <a:solidFill>
                  <a:srgbClr val="1B2330"/>
                </a:solidFill>
                <a:latin typeface="Montserrat"/>
              </a:rPr>
              <a:t>La común, por zonas comunitarias</a:t>
            </a:r>
          </a:p>
          <a:p>
            <a:pPr>
              <a:spcAft>
                <a:spcPts val="1100"/>
              </a:spcAft>
            </a:pPr>
            <a:r>
              <a:rPr sz="1600" b="1" i="0">
                <a:solidFill>
                  <a:srgbClr val="E8801A"/>
                </a:solidFill>
                <a:latin typeface="Montserrat"/>
              </a:rPr>
              <a:t>▸  </a:t>
            </a:r>
            <a:r>
              <a:rPr sz="1600" b="0" i="0">
                <a:solidFill>
                  <a:srgbClr val="1B2330"/>
                </a:solidFill>
                <a:latin typeface="Montserrat"/>
              </a:rPr>
              <a:t>Atravesar muros: con pasamuros</a:t>
            </a:r>
          </a:p>
        </p:txBody>
      </p:sp>
      <p:sp>
        <p:nvSpPr>
          <p:cNvPr id="9" name="imgph" descr="IMGQ:gas pipe passing through wall sleev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pipe passing through wall sleeve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 · PROHIBICIONES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lista negra: por aquí 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Ascensores y montacargas</a:t>
            </a:r>
          </a:p>
          <a:p>
            <a:pPr>
              <a:spcAft>
                <a:spcPts val="1100"/>
              </a:spcAft>
            </a:pPr>
            <a:r>
              <a:rPr sz="1600" b="1" i="0">
                <a:solidFill>
                  <a:srgbClr val="E8801A"/>
                </a:solidFill>
                <a:latin typeface="Montserrat"/>
              </a:rPr>
              <a:t>▸  </a:t>
            </a:r>
            <a:r>
              <a:rPr sz="1600" b="0" i="0">
                <a:solidFill>
                  <a:srgbClr val="1B2330"/>
                </a:solidFill>
                <a:latin typeface="Montserrat"/>
              </a:rPr>
              <a:t>Transformadores eléctricos de potencia</a:t>
            </a:r>
          </a:p>
          <a:p>
            <a:pPr>
              <a:spcAft>
                <a:spcPts val="1100"/>
              </a:spcAft>
            </a:pPr>
            <a:r>
              <a:rPr sz="1600" b="1" i="0">
                <a:solidFill>
                  <a:srgbClr val="E8801A"/>
                </a:solidFill>
                <a:latin typeface="Montserrat"/>
              </a:rPr>
              <a:t>▸  </a:t>
            </a:r>
            <a:r>
              <a:rPr sz="1600" b="0" i="0">
                <a:solidFill>
                  <a:srgbClr val="1B2330"/>
                </a:solidFill>
                <a:latin typeface="Montserrat"/>
              </a:rPr>
              <a:t>Chimeneas, basuras y ventilaciones</a:t>
            </a:r>
          </a:p>
          <a:p>
            <a:pPr>
              <a:spcAft>
                <a:spcPts val="1100"/>
              </a:spcAft>
            </a:pPr>
            <a:r>
              <a:rPr sz="1600" b="1" i="0">
                <a:solidFill>
                  <a:srgbClr val="E8801A"/>
                </a:solidFill>
                <a:latin typeface="Montserrat"/>
              </a:rPr>
              <a:t>▸  </a:t>
            </a:r>
            <a:r>
              <a:rPr sz="1600" b="0" i="0">
                <a:solidFill>
                  <a:srgbClr val="1B2330"/>
                </a:solidFill>
                <a:latin typeface="Montserrat"/>
              </a:rPr>
              <a:t>Nunca dentro de los forjados</a:t>
            </a:r>
          </a:p>
        </p:txBody>
      </p:sp>
      <p:sp>
        <p:nvSpPr>
          <p:cNvPr id="9" name="imgph" descr="IMGQ:elevator shaft building interio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elevator shaft building interior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¿Por cuál de estos lugares SÍ puede discurrir una tubería de gas?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Por el hueco de un ascensor</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Por un local con un transformador eléctrico de potencia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Por un local con un depósito de gasoil (clase C) de 800 l</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Por dentro de un forjado de la vivienda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¿Por cuál de estos lugares SÍ puede discurrir una tubería de gas?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Por un local con un depósito de gasoil (clase C) de 800 l</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Los combustibles de clase C, como el gasoil, en depósitos de hasta 1000 l son la única excepción admitida, cumpliendo distancias y ventilación.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 · EXCEPCIÓN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gasoil, clase C, sí pasa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Clase C: se inflama a 55 °C o más</a:t>
            </a:r>
          </a:p>
          <a:p>
            <a:pPr>
              <a:spcAft>
                <a:spcPts val="1100"/>
              </a:spcAft>
            </a:pPr>
            <a:r>
              <a:rPr sz="1600" b="1" i="0">
                <a:solidFill>
                  <a:srgbClr val="E8801A"/>
                </a:solidFill>
                <a:latin typeface="Montserrat"/>
              </a:rPr>
              <a:t>▸  </a:t>
            </a:r>
            <a:r>
              <a:rPr sz="1600" b="0" i="0">
                <a:solidFill>
                  <a:srgbClr val="1B2330"/>
                </a:solidFill>
                <a:latin typeface="Montserrat"/>
              </a:rPr>
              <a:t>Solo depósitos de hasta 1000 l</a:t>
            </a:r>
          </a:p>
          <a:p>
            <a:pPr>
              <a:spcAft>
                <a:spcPts val="1100"/>
              </a:spcAft>
            </a:pPr>
            <a:r>
              <a:rPr sz="1600" b="1" i="0">
                <a:solidFill>
                  <a:srgbClr val="E8801A"/>
                </a:solidFill>
                <a:latin typeface="Montserrat"/>
              </a:rPr>
              <a:t>▸  </a:t>
            </a:r>
            <a:r>
              <a:rPr sz="1600" b="0" i="0">
                <a:solidFill>
                  <a:srgbClr val="1B2330"/>
                </a:solidFill>
                <a:latin typeface="Montserrat"/>
              </a:rPr>
              <a:t>Cumpliendo distancias y ventilación</a:t>
            </a:r>
          </a:p>
        </p:txBody>
      </p:sp>
      <p:sp>
        <p:nvSpPr>
          <p:cNvPr id="9" name="imgph" descr="IMGQ:diesel heating oil tank in base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diesel heating oil tank in basement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4.3 · TUBERÍAS VISTAS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Bien sujeta, sin apoyarse en nada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Soportes desmontables y aislados</a:t>
            </a:r>
          </a:p>
          <a:p>
            <a:pPr>
              <a:spcAft>
                <a:spcPts val="1100"/>
              </a:spcAft>
            </a:pPr>
            <a:r>
              <a:rPr sz="1600" b="1" i="0">
                <a:solidFill>
                  <a:srgbClr val="E8801A"/>
                </a:solidFill>
                <a:latin typeface="Montserrat"/>
              </a:rPr>
              <a:t>▸  </a:t>
            </a:r>
            <a:r>
              <a:rPr sz="1600" b="0" i="0">
                <a:solidFill>
                  <a:srgbClr val="1B2330"/>
                </a:solidFill>
                <a:latin typeface="Montserrat"/>
              </a:rPr>
              <a:t>Que permitan la dilatación</a:t>
            </a:r>
          </a:p>
          <a:p>
            <a:pPr>
              <a:spcAft>
                <a:spcPts val="1100"/>
              </a:spcAft>
            </a:pPr>
            <a:r>
              <a:rPr sz="1600" b="1" i="0">
                <a:solidFill>
                  <a:srgbClr val="E8801A"/>
                </a:solidFill>
                <a:latin typeface="Montserrat"/>
              </a:rPr>
              <a:t>▸  </a:t>
            </a:r>
            <a:r>
              <a:rPr sz="1600" b="0" i="0">
                <a:solidFill>
                  <a:srgbClr val="1B2330"/>
                </a:solidFill>
                <a:latin typeface="Montserrat"/>
              </a:rPr>
              <a:t>Más grueso el tubo, más separación</a:t>
            </a:r>
          </a:p>
        </p:txBody>
      </p:sp>
      <p:sp>
        <p:nvSpPr>
          <p:cNvPr id="9" name="imgph" descr="IMGQ:metal pipe clamp bracket o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metal pipe clamp bracket 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4.3 · TUBERÍAS VISTAS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Separación máxima entre elementos de sujeción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772918"/>
                <a:gridCol w="2772918"/>
                <a:gridCol w="2772918"/>
                <a:gridCol w="2772918"/>
              </a:tblGrid>
              <a:tr h="804672">
                <a:tc>
                  <a:txBody>
                    <a:bodyPr/>
                    <a:lstStyle/>
                    <a:p>
                      <a:r>
                        <a:rPr sz="1200" b="1" i="0">
                          <a:solidFill>
                            <a:srgbClr val="FFFFFF"/>
                          </a:solidFill>
                          <a:latin typeface="Montserrat"/>
                        </a:rPr>
                        <a:t>Diámetro nominal (DN, mm)</a:t>
                      </a:r>
                    </a:p>
                  </a:txBody>
                  <a:tcPr>
                    <a:solidFill>
                      <a:srgbClr val="1E2761"/>
                    </a:solidFill>
                  </a:tcPr>
                </a:tc>
                <a:tc>
                  <a:txBody>
                    <a:bodyPr/>
                    <a:lstStyle/>
                    <a:p>
                      <a:r>
                        <a:rPr sz="1200" b="1" i="0">
                          <a:solidFill>
                            <a:srgbClr val="FFFFFF"/>
                          </a:solidFill>
                          <a:latin typeface="Montserrat"/>
                        </a:rPr>
                        <a:t>Diámetro nominal (pulgadas)</a:t>
                      </a:r>
                    </a:p>
                  </a:txBody>
                  <a:tcPr>
                    <a:solidFill>
                      <a:srgbClr val="1E2761"/>
                    </a:solidFill>
                  </a:tcPr>
                </a:tc>
                <a:tc>
                  <a:txBody>
                    <a:bodyPr/>
                    <a:lstStyle/>
                    <a:p>
                      <a:r>
                        <a:rPr sz="1200" b="1" i="0">
                          <a:solidFill>
                            <a:srgbClr val="FFFFFF"/>
                          </a:solidFill>
                          <a:latin typeface="Montserrat"/>
                        </a:rPr>
                        <a:t>Tramo horizontal (m)</a:t>
                      </a:r>
                    </a:p>
                  </a:txBody>
                  <a:tcPr>
                    <a:solidFill>
                      <a:srgbClr val="1E2761"/>
                    </a:solidFill>
                  </a:tcPr>
                </a:tc>
                <a:tc>
                  <a:txBody>
                    <a:bodyPr/>
                    <a:lstStyle/>
                    <a:p>
                      <a:r>
                        <a:rPr sz="1200" b="1" i="0">
                          <a:solidFill>
                            <a:srgbClr val="FFFFFF"/>
                          </a:solidFill>
                          <a:latin typeface="Montserrat"/>
                        </a:rPr>
                        <a:t>Tramo vertical (m)</a:t>
                      </a:r>
                    </a:p>
                  </a:txBody>
                  <a:tcPr>
                    <a:solidFill>
                      <a:srgbClr val="1E2761"/>
                    </a:solidFill>
                  </a:tcPr>
                </a:tc>
              </a:tr>
              <a:tr h="804672">
                <a:tc>
                  <a:txBody>
                    <a:bodyPr/>
                    <a:lstStyle/>
                    <a:p>
                      <a:r>
                        <a:rPr sz="1200" b="0" i="0">
                          <a:solidFill>
                            <a:srgbClr val="1B2330"/>
                          </a:solidFill>
                          <a:latin typeface="Montserrat"/>
                        </a:rPr>
                        <a:t>DN ≤ 15</a:t>
                      </a:r>
                    </a:p>
                  </a:txBody>
                  <a:tcPr>
                    <a:solidFill>
                      <a:srgbClr val="F6F8FC"/>
                    </a:solidFill>
                  </a:tcPr>
                </a:tc>
                <a:tc>
                  <a:txBody>
                    <a:bodyPr/>
                    <a:lstStyle/>
                    <a:p>
                      <a:r>
                        <a:rPr sz="1200" b="0" i="0">
                          <a:solidFill>
                            <a:srgbClr val="1B2330"/>
                          </a:solidFill>
                          <a:latin typeface="Montserrat"/>
                        </a:rPr>
                        <a:t>DN ≤ ½"</a:t>
                      </a:r>
                    </a:p>
                  </a:txBody>
                  <a:tcPr>
                    <a:solidFill>
                      <a:srgbClr val="F6F8FC"/>
                    </a:solidFill>
                  </a:tcPr>
                </a:tc>
                <a:tc>
                  <a:txBody>
                    <a:bodyPr/>
                    <a:lstStyle/>
                    <a:p>
                      <a:r>
                        <a:rPr sz="1200" b="0" i="0">
                          <a:solidFill>
                            <a:srgbClr val="1B2330"/>
                          </a:solidFill>
                          <a:latin typeface="Montserrat"/>
                        </a:rPr>
                        <a:t>1,0</a:t>
                      </a:r>
                    </a:p>
                  </a:txBody>
                  <a:tcPr>
                    <a:solidFill>
                      <a:srgbClr val="F6F8FC"/>
                    </a:solidFill>
                  </a:tcPr>
                </a:tc>
                <a:tc>
                  <a:txBody>
                    <a:bodyPr/>
                    <a:lstStyle/>
                    <a:p>
                      <a:r>
                        <a:rPr sz="1200" b="0" i="0">
                          <a:solidFill>
                            <a:srgbClr val="1B2330"/>
                          </a:solidFill>
                          <a:latin typeface="Montserrat"/>
                        </a:rPr>
                        <a:t>1,5</a:t>
                      </a:r>
                    </a:p>
                  </a:txBody>
                  <a:tcPr>
                    <a:solidFill>
                      <a:srgbClr val="F6F8FC"/>
                    </a:solidFill>
                  </a:tcPr>
                </a:tc>
              </a:tr>
              <a:tr h="804672">
                <a:tc>
                  <a:txBody>
                    <a:bodyPr/>
                    <a:lstStyle/>
                    <a:p>
                      <a:r>
                        <a:rPr sz="1200" b="0" i="0">
                          <a:solidFill>
                            <a:srgbClr val="1B2330"/>
                          </a:solidFill>
                          <a:latin typeface="Montserrat"/>
                        </a:rPr>
                        <a:t>15 &lt; DN ≤ 28</a:t>
                      </a:r>
                    </a:p>
                  </a:txBody>
                  <a:tcPr>
                    <a:solidFill>
                      <a:srgbClr val="FFFFFF"/>
                    </a:solidFill>
                  </a:tcPr>
                </a:tc>
                <a:tc>
                  <a:txBody>
                    <a:bodyPr/>
                    <a:lstStyle/>
                    <a:p>
                      <a:r>
                        <a:rPr sz="1200" b="0" i="0">
                          <a:solidFill>
                            <a:srgbClr val="1B2330"/>
                          </a:solidFill>
                          <a:latin typeface="Montserrat"/>
                        </a:rPr>
                        <a:t>½" &lt; DN ≤ 1"</a:t>
                      </a:r>
                    </a:p>
                  </a:txBody>
                  <a:tcPr>
                    <a:solidFill>
                      <a:srgbClr val="FFFFFF"/>
                    </a:solidFill>
                  </a:tcPr>
                </a:tc>
                <a:tc>
                  <a:txBody>
                    <a:bodyPr/>
                    <a:lstStyle/>
                    <a:p>
                      <a:r>
                        <a:rPr sz="1200" b="0" i="0">
                          <a:solidFill>
                            <a:srgbClr val="1B2330"/>
                          </a:solidFill>
                          <a:latin typeface="Montserrat"/>
                        </a:rPr>
                        <a:t>1,5</a:t>
                      </a:r>
                    </a:p>
                  </a:txBody>
                  <a:tcPr>
                    <a:solidFill>
                      <a:srgbClr val="FFFFFF"/>
                    </a:solidFill>
                  </a:tcPr>
                </a:tc>
                <a:tc>
                  <a:txBody>
                    <a:bodyPr/>
                    <a:lstStyle/>
                    <a:p>
                      <a:r>
                        <a:rPr sz="1200" b="0" i="0">
                          <a:solidFill>
                            <a:srgbClr val="1B2330"/>
                          </a:solidFill>
                          <a:latin typeface="Montserrat"/>
                        </a:rPr>
                        <a:t>2,0</a:t>
                      </a:r>
                    </a:p>
                  </a:txBody>
                  <a:tcPr>
                    <a:solidFill>
                      <a:srgbClr val="FFFFFF"/>
                    </a:solidFill>
                  </a:tcPr>
                </a:tc>
              </a:tr>
              <a:tr h="804672">
                <a:tc>
                  <a:txBody>
                    <a:bodyPr/>
                    <a:lstStyle/>
                    <a:p>
                      <a:r>
                        <a:rPr sz="1200" b="0" i="0">
                          <a:solidFill>
                            <a:srgbClr val="1B2330"/>
                          </a:solidFill>
                          <a:latin typeface="Montserrat"/>
                        </a:rPr>
                        <a:t>28 &lt; DN ≤ 42</a:t>
                      </a:r>
                    </a:p>
                  </a:txBody>
                  <a:tcPr>
                    <a:solidFill>
                      <a:srgbClr val="F6F8FC"/>
                    </a:solidFill>
                  </a:tcPr>
                </a:tc>
                <a:tc>
                  <a:txBody>
                    <a:bodyPr/>
                    <a:lstStyle/>
                    <a:p>
                      <a:r>
                        <a:rPr sz="1200" b="0" i="0">
                          <a:solidFill>
                            <a:srgbClr val="1B2330"/>
                          </a:solidFill>
                          <a:latin typeface="Montserrat"/>
                        </a:rPr>
                        <a:t>1" &lt; DN ≤ 1½"</a:t>
                      </a:r>
                    </a:p>
                  </a:txBody>
                  <a:tcPr>
                    <a:solidFill>
                      <a:srgbClr val="F6F8FC"/>
                    </a:solidFill>
                  </a:tcPr>
                </a:tc>
                <a:tc>
                  <a:txBody>
                    <a:bodyPr/>
                    <a:lstStyle/>
                    <a:p>
                      <a:r>
                        <a:rPr sz="1200" b="0" i="0">
                          <a:solidFill>
                            <a:srgbClr val="1B2330"/>
                          </a:solidFill>
                          <a:latin typeface="Montserrat"/>
                        </a:rPr>
                        <a:t>2,5</a:t>
                      </a:r>
                    </a:p>
                  </a:txBody>
                  <a:tcPr>
                    <a:solidFill>
                      <a:srgbClr val="F6F8FC"/>
                    </a:solidFill>
                  </a:tcPr>
                </a:tc>
                <a:tc>
                  <a:txBody>
                    <a:bodyPr/>
                    <a:lstStyle/>
                    <a:p>
                      <a:r>
                        <a:rPr sz="1200" b="0" i="0">
                          <a:solidFill>
                            <a:srgbClr val="1B2330"/>
                          </a:solidFill>
                          <a:latin typeface="Montserrat"/>
                        </a:rPr>
                        <a:t>3,0</a:t>
                      </a:r>
                    </a:p>
                  </a:txBody>
                  <a:tcPr>
                    <a:solidFill>
                      <a:srgbClr val="F6F8FC"/>
                    </a:solidFill>
                  </a:tcPr>
                </a:tc>
              </a:tr>
              <a:tr h="804672">
                <a:tc>
                  <a:txBody>
                    <a:bodyPr/>
                    <a:lstStyle/>
                    <a:p>
                      <a:r>
                        <a:rPr sz="1200" b="0" i="0">
                          <a:solidFill>
                            <a:srgbClr val="1B2330"/>
                          </a:solidFill>
                          <a:latin typeface="Montserrat"/>
                        </a:rPr>
                        <a:t>DN &gt; 42</a:t>
                      </a:r>
                    </a:p>
                  </a:txBody>
                  <a:tcPr>
                    <a:solidFill>
                      <a:srgbClr val="FFFFFF"/>
                    </a:solidFill>
                  </a:tcPr>
                </a:tc>
                <a:tc>
                  <a:txBody>
                    <a:bodyPr/>
                    <a:lstStyle/>
                    <a:p>
                      <a:r>
                        <a:rPr sz="1200" b="0" i="0">
                          <a:solidFill>
                            <a:srgbClr val="1B2330"/>
                          </a:solidFill>
                          <a:latin typeface="Montserrat"/>
                        </a:rPr>
                        <a:t>DN &gt; 1½"</a:t>
                      </a:r>
                    </a:p>
                  </a:txBody>
                  <a:tcPr>
                    <a:solidFill>
                      <a:srgbClr val="FFFFFF"/>
                    </a:solidFill>
                  </a:tcPr>
                </a:tc>
                <a:tc>
                  <a:txBody>
                    <a:bodyPr/>
                    <a:lstStyle/>
                    <a:p>
                      <a:r>
                        <a:rPr sz="1200" b="0" i="0">
                          <a:solidFill>
                            <a:srgbClr val="1B2330"/>
                          </a:solidFill>
                          <a:latin typeface="Montserrat"/>
                        </a:rPr>
                        <a:t>3,0</a:t>
                      </a:r>
                    </a:p>
                  </a:txBody>
                  <a:tcPr>
                    <a:solidFill>
                      <a:srgbClr val="FFFFFF"/>
                    </a:solidFill>
                  </a:tcPr>
                </a:tc>
                <a:tc>
                  <a:txBody>
                    <a:bodyPr/>
                    <a:lstStyle/>
                    <a:p>
                      <a:r>
                        <a:rPr sz="1200" b="0" i="0">
                          <a:solidFill>
                            <a:srgbClr val="1B2330"/>
                          </a:solidFill>
                          <a:latin typeface="Montserrat"/>
                        </a:rPr>
                        <a:t>3,5 (al menos una sujeción por planta)</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A mayor diámetro de tubo, más peso aguanta y más se pueden separar los soportes; en vertical se admite algo más que en horizontal.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4.3 · DISTANCIAS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3 y el 3: tres centímetros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3 cm a cualquier otro servicio</a:t>
            </a:r>
          </a:p>
          <a:p>
            <a:pPr>
              <a:spcAft>
                <a:spcPts val="1100"/>
              </a:spcAft>
            </a:pPr>
            <a:r>
              <a:rPr sz="1600" b="1" i="0">
                <a:solidFill>
                  <a:srgbClr val="E8801A"/>
                </a:solidFill>
                <a:latin typeface="Montserrat"/>
              </a:rPr>
              <a:t>▸  </a:t>
            </a:r>
            <a:r>
              <a:rPr sz="1600" b="0" i="0">
                <a:solidFill>
                  <a:srgbClr val="1B2330"/>
                </a:solidFill>
                <a:latin typeface="Montserrat"/>
              </a:rPr>
              <a:t>3 cm al suelo</a:t>
            </a:r>
          </a:p>
          <a:p>
            <a:pPr>
              <a:spcAft>
                <a:spcPts val="1100"/>
              </a:spcAft>
            </a:pPr>
            <a:r>
              <a:rPr sz="1600" b="1" i="0">
                <a:solidFill>
                  <a:srgbClr val="E8801A"/>
                </a:solidFill>
                <a:latin typeface="Montserrat"/>
              </a:rPr>
              <a:t>▸  </a:t>
            </a:r>
            <a:r>
              <a:rPr sz="1600" b="0" i="0">
                <a:solidFill>
                  <a:srgbClr val="1B2330"/>
                </a:solidFill>
                <a:latin typeface="Montserrat"/>
              </a:rPr>
              <a:t>El tubo de gas nunca toca nada</a:t>
            </a:r>
          </a:p>
        </p:txBody>
      </p:sp>
      <p:sp>
        <p:nvSpPr>
          <p:cNvPr id="9" name="imgph" descr="IMGQ:gas pipe next to electrical conduit 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pipe next to electrical conduit 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4.3 · EXCEPCIÓN DE LOS 3 CM</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 no llegas, aísla el tubo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Coquilla, caña de PVC o cinta</a:t>
            </a:r>
          </a:p>
          <a:p>
            <a:pPr>
              <a:spcAft>
                <a:spcPts val="1100"/>
              </a:spcAft>
            </a:pPr>
            <a:r>
              <a:rPr sz="1600" b="1" i="0">
                <a:solidFill>
                  <a:srgbClr val="E8801A"/>
                </a:solidFill>
                <a:latin typeface="Montserrat"/>
              </a:rPr>
              <a:t>▸  </a:t>
            </a:r>
            <a:r>
              <a:rPr sz="1600" b="0" i="0">
                <a:solidFill>
                  <a:srgbClr val="1B2330"/>
                </a:solidFill>
                <a:latin typeface="Montserrat"/>
              </a:rPr>
              <a:t>Aislamiento mínimo de 400 voltios</a:t>
            </a:r>
          </a:p>
          <a:p>
            <a:pPr>
              <a:spcAft>
                <a:spcPts val="1100"/>
              </a:spcAft>
            </a:pPr>
            <a:r>
              <a:rPr sz="1600" b="1" i="0">
                <a:solidFill>
                  <a:srgbClr val="E8801A"/>
                </a:solidFill>
                <a:latin typeface="Montserrat"/>
              </a:rPr>
              <a:t>▸  </a:t>
            </a:r>
            <a:r>
              <a:rPr sz="1600" b="0" i="0">
                <a:solidFill>
                  <a:srgbClr val="1B2330"/>
                </a:solidFill>
                <a:latin typeface="Montserrat"/>
              </a:rPr>
              <a:t>Aguantar de −15 a +80 °C</a:t>
            </a:r>
          </a:p>
        </p:txBody>
      </p:sp>
      <p:sp>
        <p:nvSpPr>
          <p:cNvPr id="9" name="imgph" descr="IMGQ:foam pipe insulation sleev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foam pipe insulation sleeve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4.3 · SEÑALIZACIÓN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Señaliza y olvídate del PE visto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Señal 'gas' o franja amarilla</a:t>
            </a:r>
          </a:p>
          <a:p>
            <a:pPr>
              <a:spcAft>
                <a:spcPts val="1100"/>
              </a:spcAft>
            </a:pPr>
            <a:r>
              <a:rPr sz="1600" b="1" i="0">
                <a:solidFill>
                  <a:srgbClr val="E8801A"/>
                </a:solidFill>
                <a:latin typeface="Montserrat"/>
              </a:rPr>
              <a:t>▸  </a:t>
            </a:r>
            <a:r>
              <a:rPr sz="1600" b="0" i="0">
                <a:solidFill>
                  <a:srgbClr val="1B2330"/>
                </a:solidFill>
                <a:latin typeface="Montserrat"/>
              </a:rPr>
              <a:t>Al menos una vez en zona común</a:t>
            </a:r>
          </a:p>
          <a:p>
            <a:pPr>
              <a:spcAft>
                <a:spcPts val="1100"/>
              </a:spcAft>
            </a:pPr>
            <a:r>
              <a:rPr sz="1600" b="1" i="0">
                <a:solidFill>
                  <a:srgbClr val="E8801A"/>
                </a:solidFill>
                <a:latin typeface="Montserrat"/>
              </a:rPr>
              <a:t>▸  </a:t>
            </a:r>
            <a:r>
              <a:rPr sz="1600" b="0" i="0">
                <a:solidFill>
                  <a:srgbClr val="1B2330"/>
                </a:solidFill>
                <a:latin typeface="Montserrat"/>
              </a:rPr>
              <a:t>Polietileno visto: jamás</a:t>
            </a:r>
          </a:p>
        </p:txBody>
      </p:sp>
      <p:sp>
        <p:nvSpPr>
          <p:cNvPr id="9" name="imgph" descr="IMGQ:yellow gas pipe marking labe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yellow gas pipe marking label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4.4 · VAINAS Y CONDUCTOS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vaina tiene cuatro 'para qué'</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 Protección mecánica (golpes)</a:t>
            </a:r>
          </a:p>
          <a:p>
            <a:pPr>
              <a:spcAft>
                <a:spcPts val="1100"/>
              </a:spcAft>
            </a:pPr>
            <a:r>
              <a:rPr sz="1600" b="1" i="0">
                <a:solidFill>
                  <a:srgbClr val="E8801A"/>
                </a:solidFill>
                <a:latin typeface="Montserrat"/>
              </a:rPr>
              <a:t>▸  </a:t>
            </a:r>
            <a:r>
              <a:rPr sz="1600" b="0" i="0">
                <a:solidFill>
                  <a:srgbClr val="1B2330"/>
                </a:solidFill>
                <a:latin typeface="Montserrat"/>
              </a:rPr>
              <a:t>2. Ventilación (semisótanos, cámaras)</a:t>
            </a:r>
          </a:p>
          <a:p>
            <a:pPr>
              <a:spcAft>
                <a:spcPts val="1100"/>
              </a:spcAft>
            </a:pPr>
            <a:r>
              <a:rPr sz="1600" b="1" i="0">
                <a:solidFill>
                  <a:srgbClr val="E8801A"/>
                </a:solidFill>
                <a:latin typeface="Montserrat"/>
              </a:rPr>
              <a:t>▸  </a:t>
            </a:r>
            <a:r>
              <a:rPr sz="1600" b="0" i="0">
                <a:solidFill>
                  <a:srgbClr val="1B2330"/>
                </a:solidFill>
                <a:latin typeface="Montserrat"/>
              </a:rPr>
              <a:t>3. Acceso a armarios empotrados</a:t>
            </a:r>
          </a:p>
          <a:p>
            <a:pPr>
              <a:spcAft>
                <a:spcPts val="1100"/>
              </a:spcAft>
            </a:pPr>
            <a:r>
              <a:rPr sz="1600" b="1" i="0">
                <a:solidFill>
                  <a:srgbClr val="E8801A"/>
                </a:solidFill>
                <a:latin typeface="Montserrat"/>
              </a:rPr>
              <a:t>▸  </a:t>
            </a:r>
            <a:r>
              <a:rPr sz="1600" b="0" i="0">
                <a:solidFill>
                  <a:srgbClr val="1B2330"/>
                </a:solidFill>
                <a:latin typeface="Montserrat"/>
              </a:rPr>
              <a:t>4. Tuberías en suelo o subsuelo</a:t>
            </a:r>
          </a:p>
        </p:txBody>
      </p:sp>
      <p:sp>
        <p:nvSpPr>
          <p:cNvPr id="9" name="imgph" descr="IMGQ:gas pipe inside protective steel condui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pipe inside protective steel conduit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4.4.1.2 ·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semisótano, solo gases ligeros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gas más ligero que el aire</a:t>
            </a:r>
          </a:p>
          <a:p>
            <a:pPr>
              <a:spcAft>
                <a:spcPts val="1100"/>
              </a:spcAft>
            </a:pPr>
            <a:r>
              <a:rPr sz="1600" b="1" i="0">
                <a:solidFill>
                  <a:srgbClr val="E8801A"/>
                </a:solidFill>
                <a:latin typeface="Montserrat"/>
              </a:rPr>
              <a:t>▸  </a:t>
            </a:r>
            <a:r>
              <a:rPr sz="1600" b="0" i="0">
                <a:solidFill>
                  <a:srgbClr val="1B2330"/>
                </a:solidFill>
                <a:latin typeface="Montserrat"/>
              </a:rPr>
              <a:t>A 50 mbar o menos</a:t>
            </a:r>
          </a:p>
          <a:p>
            <a:pPr>
              <a:spcAft>
                <a:spcPts val="1100"/>
              </a:spcAft>
            </a:pPr>
            <a:r>
              <a:rPr sz="1600" b="1" i="0">
                <a:solidFill>
                  <a:srgbClr val="E8801A"/>
                </a:solidFill>
                <a:latin typeface="Montserrat"/>
              </a:rPr>
              <a:t>▸  </a:t>
            </a:r>
            <a:r>
              <a:rPr sz="1600" b="0" i="0">
                <a:solidFill>
                  <a:srgbClr val="1B2330"/>
                </a:solidFill>
                <a:latin typeface="Montserrat"/>
              </a:rPr>
              <a:t>S = 10 · A, mínimo 200 cm²</a:t>
            </a:r>
          </a:p>
        </p:txBody>
      </p:sp>
      <p:sp>
        <p:nvSpPr>
          <p:cNvPr id="9" name="imgph" descr="IMGQ:basement ventilation grille 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basement ventilation grille 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4.4.1.2 · SEMISÓTANO VENTILADO</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Factores de corrección de la superficie de aireación por conducto</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005840">
                <a:tc>
                  <a:txBody>
                    <a:bodyPr/>
                    <a:lstStyle/>
                    <a:p>
                      <a:r>
                        <a:rPr sz="1200" b="1" i="0">
                          <a:solidFill>
                            <a:srgbClr val="FFFFFF"/>
                          </a:solidFill>
                          <a:latin typeface="Montserrat"/>
                        </a:rPr>
                        <a:t>Longitud de conducto (m)</a:t>
                      </a:r>
                    </a:p>
                  </a:txBody>
                  <a:tcPr>
                    <a:solidFill>
                      <a:srgbClr val="1E2761"/>
                    </a:solidFill>
                  </a:tcPr>
                </a:tc>
                <a:tc>
                  <a:txBody>
                    <a:bodyPr/>
                    <a:lstStyle/>
                    <a:p>
                      <a:r>
                        <a:rPr sz="1200" b="1" i="0">
                          <a:solidFill>
                            <a:srgbClr val="FFFFFF"/>
                          </a:solidFill>
                          <a:latin typeface="Montserrat"/>
                        </a:rPr>
                        <a:t>Factor de corrección</a:t>
                      </a:r>
                    </a:p>
                  </a:txBody>
                  <a:tcPr>
                    <a:solidFill>
                      <a:srgbClr val="1E2761"/>
                    </a:solidFill>
                  </a:tcPr>
                </a:tc>
              </a:tr>
              <a:tr h="1005840">
                <a:tc>
                  <a:txBody>
                    <a:bodyPr/>
                    <a:lstStyle/>
                    <a:p>
                      <a:r>
                        <a:rPr sz="1200" b="0" i="0">
                          <a:solidFill>
                            <a:srgbClr val="1B2330"/>
                          </a:solidFill>
                          <a:latin typeface="Montserrat"/>
                        </a:rPr>
                        <a:t>3 ≤ L ≤ 10</a:t>
                      </a:r>
                    </a:p>
                  </a:txBody>
                  <a:tcPr>
                    <a:solidFill>
                      <a:srgbClr val="F6F8FC"/>
                    </a:solidFill>
                  </a:tcPr>
                </a:tc>
                <a:tc>
                  <a:txBody>
                    <a:bodyPr/>
                    <a:lstStyle/>
                    <a:p>
                      <a:r>
                        <a:rPr sz="1200" b="0" i="0">
                          <a:solidFill>
                            <a:srgbClr val="1B2330"/>
                          </a:solidFill>
                          <a:latin typeface="Montserrat"/>
                        </a:rPr>
                        <a:t>1,5</a:t>
                      </a:r>
                    </a:p>
                  </a:txBody>
                  <a:tcPr>
                    <a:solidFill>
                      <a:srgbClr val="F6F8FC"/>
                    </a:solidFill>
                  </a:tcPr>
                </a:tc>
              </a:tr>
              <a:tr h="1005840">
                <a:tc>
                  <a:txBody>
                    <a:bodyPr/>
                    <a:lstStyle/>
                    <a:p>
                      <a:r>
                        <a:rPr sz="1200" b="0" i="0">
                          <a:solidFill>
                            <a:srgbClr val="1B2330"/>
                          </a:solidFill>
                          <a:latin typeface="Montserrat"/>
                        </a:rPr>
                        <a:t>10 &lt; L ≤ 26</a:t>
                      </a:r>
                    </a:p>
                  </a:txBody>
                  <a:tcPr>
                    <a:solidFill>
                      <a:srgbClr val="FFFFFF"/>
                    </a:solidFill>
                  </a:tcPr>
                </a:tc>
                <a:tc>
                  <a:txBody>
                    <a:bodyPr/>
                    <a:lstStyle/>
                    <a:p>
                      <a:r>
                        <a:rPr sz="1200" b="0" i="0">
                          <a:solidFill>
                            <a:srgbClr val="1B2330"/>
                          </a:solidFill>
                          <a:latin typeface="Montserrat"/>
                        </a:rPr>
                        <a:t>2</a:t>
                      </a:r>
                    </a:p>
                  </a:txBody>
                  <a:tcPr>
                    <a:solidFill>
                      <a:srgbClr val="FFFFFF"/>
                    </a:solidFill>
                  </a:tcPr>
                </a:tc>
              </a:tr>
              <a:tr h="1005840">
                <a:tc>
                  <a:txBody>
                    <a:bodyPr/>
                    <a:lstStyle/>
                    <a:p>
                      <a:r>
                        <a:rPr sz="1200" b="0" i="0">
                          <a:solidFill>
                            <a:srgbClr val="1B2330"/>
                          </a:solidFill>
                          <a:latin typeface="Montserrat"/>
                        </a:rPr>
                        <a:t>26 &lt; L ≤ 50</a:t>
                      </a:r>
                    </a:p>
                  </a:txBody>
                  <a:tcPr>
                    <a:solidFill>
                      <a:srgbClr val="F6F8FC"/>
                    </a:solidFill>
                  </a:tcPr>
                </a:tc>
                <a:tc>
                  <a:txBody>
                    <a:bodyPr/>
                    <a:lstStyle/>
                    <a:p>
                      <a:r>
                        <a:rPr sz="1200" b="0" i="0">
                          <a:solidFill>
                            <a:srgbClr val="1B2330"/>
                          </a:solidFill>
                          <a:latin typeface="Montserrat"/>
                        </a:rPr>
                        <a:t>2,5</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Si la ventilación del semisótano llega por un conducto largo, la superficie de rejilla se multiplica por este factor: cuanto más largo, más rejilla.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4.4.2 · TABLA 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Metal siempre, plástico a veces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Mecánica y semisótano: metal sí o sí</a:t>
            </a:r>
          </a:p>
          <a:p>
            <a:pPr>
              <a:spcAft>
                <a:spcPts val="1100"/>
              </a:spcAft>
            </a:pPr>
            <a:r>
              <a:rPr sz="1600" b="1" i="0">
                <a:solidFill>
                  <a:srgbClr val="E8801A"/>
                </a:solidFill>
                <a:latin typeface="Montserrat"/>
              </a:rPr>
              <a:t>▸  </a:t>
            </a:r>
            <a:r>
              <a:rPr sz="1600" b="0" i="0">
                <a:solidFill>
                  <a:srgbClr val="1B2330"/>
                </a:solidFill>
                <a:latin typeface="Montserrat"/>
              </a:rPr>
              <a:t>Resto de casos: plástico rígido admitido</a:t>
            </a:r>
          </a:p>
          <a:p>
            <a:pPr>
              <a:spcAft>
                <a:spcPts val="1100"/>
              </a:spcAft>
            </a:pPr>
            <a:r>
              <a:rPr sz="1600" b="1" i="0">
                <a:solidFill>
                  <a:srgbClr val="E8801A"/>
                </a:solidFill>
                <a:latin typeface="Montserrat"/>
              </a:rPr>
              <a:t>▸  </a:t>
            </a:r>
            <a:r>
              <a:rPr sz="1600" b="0" i="0">
                <a:solidFill>
                  <a:srgbClr val="1B2330"/>
                </a:solidFill>
                <a:latin typeface="Montserrat"/>
              </a:rPr>
              <a:t>Donde lleva asterisco: estanca</a:t>
            </a:r>
          </a:p>
        </p:txBody>
      </p:sp>
      <p:sp>
        <p:nvSpPr>
          <p:cNvPr id="9" name="imgph" descr="IMGQ:steel metal conduit pip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steel metal conduit pipe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4.4.2 · TABLA 6</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Materiales de las vainas y conductos según su función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670560">
                <a:tc>
                  <a:txBody>
                    <a:bodyPr/>
                    <a:lstStyle/>
                    <a:p>
                      <a:r>
                        <a:rPr sz="1200" b="1" i="0">
                          <a:solidFill>
                            <a:srgbClr val="FFFFFF"/>
                          </a:solidFill>
                          <a:latin typeface="Montserrat"/>
                        </a:rPr>
                        <a:t>Función</a:t>
                      </a:r>
                    </a:p>
                  </a:txBody>
                  <a:tcPr>
                    <a:solidFill>
                      <a:srgbClr val="1E2761"/>
                    </a:solidFill>
                  </a:tcPr>
                </a:tc>
                <a:tc>
                  <a:txBody>
                    <a:bodyPr/>
                    <a:lstStyle/>
                    <a:p>
                      <a:r>
                        <a:rPr sz="1200" b="1" i="0">
                          <a:solidFill>
                            <a:srgbClr val="FFFFFF"/>
                          </a:solidFill>
                          <a:latin typeface="Montserrat"/>
                        </a:rPr>
                        <a:t>Material de vainas</a:t>
                      </a:r>
                    </a:p>
                  </a:txBody>
                  <a:tcPr>
                    <a:solidFill>
                      <a:srgbClr val="1E2761"/>
                    </a:solidFill>
                  </a:tcPr>
                </a:tc>
                <a:tc>
                  <a:txBody>
                    <a:bodyPr/>
                    <a:lstStyle/>
                    <a:p>
                      <a:r>
                        <a:rPr sz="1200" b="1" i="0">
                          <a:solidFill>
                            <a:srgbClr val="FFFFFF"/>
                          </a:solidFill>
                          <a:latin typeface="Montserrat"/>
                        </a:rPr>
                        <a:t>Material de conductos o perfiles</a:t>
                      </a:r>
                    </a:p>
                  </a:txBody>
                  <a:tcPr>
                    <a:solidFill>
                      <a:srgbClr val="1E2761"/>
                    </a:solidFill>
                  </a:tcPr>
                </a:tc>
              </a:tr>
              <a:tr h="670560">
                <a:tc>
                  <a:txBody>
                    <a:bodyPr/>
                    <a:lstStyle/>
                    <a:p>
                      <a:r>
                        <a:rPr sz="1200" b="0" i="0">
                          <a:solidFill>
                            <a:srgbClr val="1B2330"/>
                          </a:solidFill>
                          <a:latin typeface="Montserrat"/>
                        </a:rPr>
                        <a:t>Protección mecánica de tuberías</a:t>
                      </a:r>
                    </a:p>
                  </a:txBody>
                  <a:tcPr>
                    <a:solidFill>
                      <a:srgbClr val="F6F8FC"/>
                    </a:solidFill>
                  </a:tcPr>
                </a:tc>
                <a:tc>
                  <a:txBody>
                    <a:bodyPr/>
                    <a:lstStyle/>
                    <a:p>
                      <a:r>
                        <a:rPr sz="1200" b="0" i="0">
                          <a:solidFill>
                            <a:srgbClr val="1B2330"/>
                          </a:solidFill>
                          <a:latin typeface="Montserrat"/>
                        </a:rPr>
                        <a:t>Acero, espesor mínimo de 1,5 mm; u otros de similar resistencia mecánica</a:t>
                      </a:r>
                    </a:p>
                  </a:txBody>
                  <a:tcPr>
                    <a:solidFill>
                      <a:srgbClr val="F6F8FC"/>
                    </a:solidFill>
                  </a:tcPr>
                </a:tc>
                <a:tc>
                  <a:txBody>
                    <a:bodyPr/>
                    <a:lstStyle/>
                    <a:p>
                      <a:r>
                        <a:rPr sz="1200" b="0" i="0">
                          <a:solidFill>
                            <a:srgbClr val="1B2330"/>
                          </a:solidFill>
                          <a:latin typeface="Montserrat"/>
                        </a:rPr>
                        <a:t>Metálicos (acero, cobre, etc.), espesor mínimo 1,5 mm; o de obra (espesor mínimo 5 cm)</a:t>
                      </a:r>
                    </a:p>
                  </a:txBody>
                  <a:tcPr>
                    <a:solidFill>
                      <a:srgbClr val="F6F8FC"/>
                    </a:solidFill>
                  </a:tcPr>
                </a:tc>
              </a:tr>
              <a:tr h="670560">
                <a:tc>
                  <a:txBody>
                    <a:bodyPr/>
                    <a:lstStyle/>
                    <a:p>
                      <a:r>
                        <a:rPr sz="1200" b="0" i="0">
                          <a:solidFill>
                            <a:srgbClr val="1B2330"/>
                          </a:solidFill>
                          <a:latin typeface="Montserrat"/>
                        </a:rPr>
                        <a:t>Ventilación de tuberías en semisótano*</a:t>
                      </a:r>
                    </a:p>
                  </a:txBody>
                  <a:tcPr>
                    <a:solidFill>
                      <a:srgbClr val="FFFFFF"/>
                    </a:solidFill>
                  </a:tcPr>
                </a:tc>
                <a:tc>
                  <a:txBody>
                    <a:bodyPr/>
                    <a:lstStyle/>
                    <a:p>
                      <a:r>
                        <a:rPr sz="1200" b="0" i="0">
                          <a:solidFill>
                            <a:srgbClr val="1B2330"/>
                          </a:solidFill>
                          <a:latin typeface="Montserrat"/>
                        </a:rPr>
                        <a:t>Metálicos (acero, cobre, etc.)</a:t>
                      </a:r>
                    </a:p>
                  </a:txBody>
                  <a:tcPr>
                    <a:solidFill>
                      <a:srgbClr val="FFFFFF"/>
                    </a:solidFill>
                  </a:tcPr>
                </a:tc>
                <a:tc>
                  <a:txBody>
                    <a:bodyPr/>
                    <a:lstStyle/>
                    <a:p>
                      <a:r>
                        <a:rPr sz="1200" b="0" i="0">
                          <a:solidFill>
                            <a:srgbClr val="1B2330"/>
                          </a:solidFill>
                          <a:latin typeface="Montserrat"/>
                        </a:rPr>
                        <a:t>Metálicos (acero, cobre, etc.)</a:t>
                      </a:r>
                    </a:p>
                  </a:txBody>
                  <a:tcPr>
                    <a:solidFill>
                      <a:srgbClr val="FFFFFF"/>
                    </a:solidFill>
                  </a:tcPr>
                </a:tc>
              </a:tr>
              <a:tr h="670560">
                <a:tc>
                  <a:txBody>
                    <a:bodyPr/>
                    <a:lstStyle/>
                    <a:p>
                      <a:r>
                        <a:rPr sz="1200" b="0" i="0">
                          <a:solidFill>
                            <a:srgbClr val="1B2330"/>
                          </a:solidFill>
                          <a:latin typeface="Montserrat"/>
                        </a:rPr>
                        <a:t>Ventilación de tuberías en el resto de casos*</a:t>
                      </a:r>
                    </a:p>
                  </a:txBody>
                  <a:tcPr>
                    <a:solidFill>
                      <a:srgbClr val="F6F8FC"/>
                    </a:solidFill>
                  </a:tcPr>
                </a:tc>
                <a:tc>
                  <a:txBody>
                    <a:bodyPr/>
                    <a:lstStyle/>
                    <a:p>
                      <a:r>
                        <a:rPr sz="1200" b="0" i="0">
                          <a:solidFill>
                            <a:srgbClr val="1B2330"/>
                          </a:solidFill>
                          <a:latin typeface="Montserrat"/>
                        </a:rPr>
                        <a:t>Metálicos; u otros con rigidez anular (radio de curvatura ≥ 3 veces su diámetro), p. ej. PVC, PE, PP</a:t>
                      </a:r>
                    </a:p>
                  </a:txBody>
                  <a:tcPr>
                    <a:solidFill>
                      <a:srgbClr val="F6F8FC"/>
                    </a:solidFill>
                  </a:tcPr>
                </a:tc>
                <a:tc>
                  <a:txBody>
                    <a:bodyPr/>
                    <a:lstStyle/>
                    <a:p>
                      <a:r>
                        <a:rPr sz="1200" b="0" i="0">
                          <a:solidFill>
                            <a:srgbClr val="1B2330"/>
                          </a:solidFill>
                          <a:latin typeface="Montserrat"/>
                        </a:rPr>
                        <a:t>Metálicos (acero, cobre, etc.); o de obra</a:t>
                      </a:r>
                    </a:p>
                  </a:txBody>
                  <a:tcPr>
                    <a:solidFill>
                      <a:srgbClr val="F6F8FC"/>
                    </a:solidFill>
                  </a:tcPr>
                </a:tc>
              </a:tr>
              <a:tr h="670560">
                <a:tc>
                  <a:txBody>
                    <a:bodyPr/>
                    <a:lstStyle/>
                    <a:p>
                      <a:r>
                        <a:rPr sz="1200" b="0" i="0">
                          <a:solidFill>
                            <a:srgbClr val="1B2330"/>
                          </a:solidFill>
                          <a:latin typeface="Montserrat"/>
                        </a:rPr>
                        <a:t>Acceso a armarios empotrados de regulación y contadores*</a:t>
                      </a:r>
                    </a:p>
                  </a:txBody>
                  <a:tcPr>
                    <a:solidFill>
                      <a:srgbClr val="FFFFFF"/>
                    </a:solidFill>
                  </a:tcPr>
                </a:tc>
                <a:tc>
                  <a:txBody>
                    <a:bodyPr/>
                    <a:lstStyle/>
                    <a:p>
                      <a:r>
                        <a:rPr sz="1200" b="0" i="0">
                          <a:solidFill>
                            <a:srgbClr val="1B2330"/>
                          </a:solidFill>
                          <a:latin typeface="Montserrat"/>
                        </a:rPr>
                        <a:t>Metálicos; u otros con rigidez anular (radio de curvatura ≥ 3 veces su diámetro), p. ej. PVC, PE, PP</a:t>
                      </a:r>
                    </a:p>
                  </a:txBody>
                  <a:tcPr>
                    <a:solidFill>
                      <a:srgbClr val="FFFFFF"/>
                    </a:solidFill>
                  </a:tcPr>
                </a:tc>
                <a:tc>
                  <a:txBody>
                    <a:bodyPr/>
                    <a:lstStyle/>
                    <a:p>
                      <a:r>
                        <a:rPr sz="1200" b="0" i="0">
                          <a:solidFill>
                            <a:srgbClr val="1B2330"/>
                          </a:solidFill>
                          <a:latin typeface="Montserrat"/>
                        </a:rPr>
                        <a:t>Metálicos (acero, cobre, etc.); o de obra</a:t>
                      </a:r>
                    </a:p>
                  </a:txBody>
                  <a:tcPr>
                    <a:solidFill>
                      <a:srgbClr val="FFFFFF"/>
                    </a:solidFill>
                  </a:tcPr>
                </a:tc>
              </a:tr>
              <a:tr h="670560">
                <a:tc>
                  <a:txBody>
                    <a:bodyPr/>
                    <a:lstStyle/>
                    <a:p>
                      <a:r>
                        <a:rPr sz="1200" b="0" i="0">
                          <a:solidFill>
                            <a:srgbClr val="1B2330"/>
                          </a:solidFill>
                          <a:latin typeface="Montserrat"/>
                        </a:rPr>
                        <a:t>Tuberías situadas en suelo o subsuelo*</a:t>
                      </a:r>
                    </a:p>
                  </a:txBody>
                  <a:tcPr>
                    <a:solidFill>
                      <a:srgbClr val="F6F8FC"/>
                    </a:solidFill>
                  </a:tcPr>
                </a:tc>
                <a:tc>
                  <a:txBody>
                    <a:bodyPr/>
                    <a:lstStyle/>
                    <a:p>
                      <a:r>
                        <a:rPr sz="1200" b="0" i="0">
                          <a:solidFill>
                            <a:srgbClr val="1B2330"/>
                          </a:solidFill>
                          <a:latin typeface="Montserrat"/>
                        </a:rPr>
                        <a:t>Metálicos; u otros con rigidez anular (radio de curvatura ≥ 3 veces su diámetro), p. ej. PVC, PE, PP</a:t>
                      </a:r>
                    </a:p>
                  </a:txBody>
                  <a:tcPr>
                    <a:solidFill>
                      <a:srgbClr val="F6F8FC"/>
                    </a:solidFill>
                  </a:tcPr>
                </a:tc>
                <a:tc>
                  <a:txBody>
                    <a:bodyPr/>
                    <a:lstStyle/>
                    <a:p>
                      <a:r>
                        <a:rPr sz="1200" b="0" i="0">
                          <a:solidFill>
                            <a:srgbClr val="1B2330"/>
                          </a:solidFill>
                          <a:latin typeface="Montserrat"/>
                        </a:rPr>
                        <a:t>Metálicos (acero, cobre, etc.); o de obra</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El asterisco (*) indica que el material debe asegurar la estanquidad; en protección mecánica y semisótano la vaina es siempre metálica.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4.4.3 · VAINA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 tubo que respira hacia fuera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Continua y estanca</a:t>
            </a:r>
          </a:p>
          <a:p>
            <a:pPr>
              <a:spcAft>
                <a:spcPts val="1100"/>
              </a:spcAft>
            </a:pPr>
            <a:r>
              <a:rPr sz="1600" b="1" i="0">
                <a:solidFill>
                  <a:srgbClr val="E8801A"/>
                </a:solidFill>
                <a:latin typeface="Montserrat"/>
              </a:rPr>
              <a:t>▸  </a:t>
            </a:r>
            <a:r>
              <a:rPr sz="1600" b="0" i="0">
                <a:solidFill>
                  <a:srgbClr val="1B2330"/>
                </a:solidFill>
                <a:latin typeface="Montserrat"/>
              </a:rPr>
              <a:t>Sus dos bocas, al exterior</a:t>
            </a:r>
          </a:p>
          <a:p>
            <a:pPr>
              <a:spcAft>
                <a:spcPts val="1100"/>
              </a:spcAft>
            </a:pPr>
            <a:r>
              <a:rPr sz="1600" b="1" i="0">
                <a:solidFill>
                  <a:srgbClr val="E8801A"/>
                </a:solidFill>
                <a:latin typeface="Montserrat"/>
              </a:rPr>
              <a:t>▸  </a:t>
            </a:r>
            <a:r>
              <a:rPr sz="1600" b="0" i="0">
                <a:solidFill>
                  <a:srgbClr val="1B2330"/>
                </a:solidFill>
                <a:latin typeface="Montserrat"/>
              </a:rPr>
              <a:t>Sella el extremo a local sin ventilar</a:t>
            </a:r>
          </a:p>
        </p:txBody>
      </p:sp>
      <p:sp>
        <p:nvSpPr>
          <p:cNvPr id="9" name="imgph" descr="IMGQ:pipe vent outlet on exterior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pipe vent outlet on exterior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4.4 · MATICES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Vaina y conducto no son iguales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Vaina: ceñida al tubo, sin registros</a:t>
            </a:r>
          </a:p>
          <a:p>
            <a:pPr>
              <a:spcAft>
                <a:spcPts val="1100"/>
              </a:spcAft>
            </a:pPr>
            <a:r>
              <a:rPr sz="1600" b="1" i="0">
                <a:solidFill>
                  <a:srgbClr val="E8801A"/>
                </a:solidFill>
                <a:latin typeface="Montserrat"/>
              </a:rPr>
              <a:t>▸  </a:t>
            </a:r>
            <a:r>
              <a:rPr sz="1600" b="0" i="0">
                <a:solidFill>
                  <a:srgbClr val="1B2330"/>
                </a:solidFill>
                <a:latin typeface="Montserrat"/>
              </a:rPr>
              <a:t>Conducto: holgado, con registros</a:t>
            </a:r>
          </a:p>
          <a:p>
            <a:pPr>
              <a:spcAft>
                <a:spcPts val="1100"/>
              </a:spcAft>
            </a:pPr>
            <a:r>
              <a:rPr sz="1600" b="1" i="0">
                <a:solidFill>
                  <a:srgbClr val="E8801A"/>
                </a:solidFill>
                <a:latin typeface="Montserrat"/>
              </a:rPr>
              <a:t>▸  </a:t>
            </a:r>
            <a:r>
              <a:rPr sz="1600" b="0" i="0">
                <a:solidFill>
                  <a:srgbClr val="1B2330"/>
                </a:solidFill>
                <a:latin typeface="Montserrat"/>
              </a:rPr>
              <a:t>El conducto no ventila el local</a:t>
            </a:r>
          </a:p>
        </p:txBody>
      </p:sp>
      <p:sp>
        <p:nvSpPr>
          <p:cNvPr id="9" name="imgph" descr="IMGQ:large pipe duct with maintenance acces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large pipe duct with maintenance access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4.5 Y 4.6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Enterrada y empotrada: lo justo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Enterrada: por fuera, según UNE 60311</a:t>
            </a:r>
          </a:p>
          <a:p>
            <a:pPr>
              <a:spcAft>
                <a:spcPts val="1100"/>
              </a:spcAft>
            </a:pPr>
            <a:r>
              <a:rPr sz="1600" b="1" i="0">
                <a:solidFill>
                  <a:srgbClr val="E8801A"/>
                </a:solidFill>
                <a:latin typeface="Montserrat"/>
              </a:rPr>
              <a:t>▸  </a:t>
            </a:r>
            <a:r>
              <a:rPr sz="1600" b="0" i="0">
                <a:solidFill>
                  <a:srgbClr val="1B2330"/>
                </a:solidFill>
                <a:latin typeface="Montserrat"/>
              </a:rPr>
              <a:t>Empotrada: máximo 0,40 m</a:t>
            </a:r>
          </a:p>
          <a:p>
            <a:pPr>
              <a:spcAft>
                <a:spcPts val="1100"/>
              </a:spcAft>
            </a:pPr>
            <a:r>
              <a:rPr sz="1600" b="1" i="0">
                <a:solidFill>
                  <a:srgbClr val="E8801A"/>
                </a:solidFill>
                <a:latin typeface="Montserrat"/>
              </a:rPr>
              <a:t>▸  </a:t>
            </a:r>
            <a:r>
              <a:rPr sz="1600" b="0" i="0">
                <a:solidFill>
                  <a:srgbClr val="1B2330"/>
                </a:solidFill>
                <a:latin typeface="Montserrat"/>
              </a:rPr>
              <a:t>Sin ninguna unión mecánica dentro</a:t>
            </a:r>
          </a:p>
        </p:txBody>
      </p:sp>
      <p:sp>
        <p:nvSpPr>
          <p:cNvPr id="9" name="imgph" descr="IMGQ:buried gas pipe in trench excava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buried gas pipe in trench excavation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¿Cuál es la longitud máxima de empotramiento de una tubería de gas (caso general)?</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0,20 m</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0,40 m</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1,00 m</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2,50 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¿Cuál es la longitud máxima de empotramiento de una tubería de gas (caso general)?</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0,40 m</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empotrado se limita a 0,40 m en el caso general; solo hacia un conjunto de regulación o contadores puede llegar a 2,50 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4.7 · MOP DE 2 A 5 BAR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 más presión, más al aire libre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Por el exterior: fachada, patio, aire libre</a:t>
            </a:r>
          </a:p>
          <a:p>
            <a:pPr>
              <a:spcAft>
                <a:spcPts val="1100"/>
              </a:spcAft>
            </a:pPr>
            <a:r>
              <a:rPr sz="1600" b="1" i="0">
                <a:solidFill>
                  <a:srgbClr val="E8801A"/>
                </a:solidFill>
                <a:latin typeface="Montserrat"/>
              </a:rPr>
              <a:t>▸  </a:t>
            </a:r>
            <a:r>
              <a:rPr sz="1600" b="0" i="0">
                <a:solidFill>
                  <a:srgbClr val="1B2330"/>
                </a:solidFill>
                <a:latin typeface="Montserrat"/>
              </a:rPr>
              <a:t>Dentro solo si es inevitable</a:t>
            </a:r>
          </a:p>
          <a:p>
            <a:pPr>
              <a:spcAft>
                <a:spcPts val="1100"/>
              </a:spcAft>
            </a:pPr>
            <a:r>
              <a:rPr sz="1600" b="1" i="0">
                <a:solidFill>
                  <a:srgbClr val="E8801A"/>
                </a:solidFill>
                <a:latin typeface="Montserrat"/>
              </a:rPr>
              <a:t>▸  </a:t>
            </a:r>
            <a:r>
              <a:rPr sz="1600" b="0" i="0">
                <a:solidFill>
                  <a:srgbClr val="1B2330"/>
                </a:solidFill>
                <a:latin typeface="Montserrat"/>
              </a:rPr>
              <a:t>Y entonces, envainado</a:t>
            </a:r>
          </a:p>
        </p:txBody>
      </p:sp>
      <p:sp>
        <p:nvSpPr>
          <p:cNvPr id="9" name="imgph" descr="IMGQ:gas pipe on building facade exterio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pipe on building facade exterior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4.8 · SELLADOS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Sellar para que la fuga no viaje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Sella entrada y salida del armario</a:t>
            </a:r>
          </a:p>
          <a:p>
            <a:pPr>
              <a:spcAft>
                <a:spcPts val="1100"/>
              </a:spcAft>
            </a:pPr>
            <a:r>
              <a:rPr sz="1600" b="1" i="0">
                <a:solidFill>
                  <a:srgbClr val="E8801A"/>
                </a:solidFill>
                <a:latin typeface="Montserrat"/>
              </a:rPr>
              <a:t>▸  </a:t>
            </a:r>
            <a:r>
              <a:rPr sz="1600" b="0" i="0">
                <a:solidFill>
                  <a:srgbClr val="1B2330"/>
                </a:solidFill>
                <a:latin typeface="Montserrat"/>
              </a:rPr>
              <a:t>Vaina contra recinto y tubo contra vaina</a:t>
            </a:r>
          </a:p>
          <a:p>
            <a:pPr>
              <a:spcAft>
                <a:spcPts val="1100"/>
              </a:spcAft>
            </a:pPr>
            <a:r>
              <a:rPr sz="1600" b="1" i="0">
                <a:solidFill>
                  <a:srgbClr val="E8801A"/>
                </a:solidFill>
                <a:latin typeface="Montserrat"/>
              </a:rPr>
              <a:t>▸  </a:t>
            </a:r>
            <a:r>
              <a:rPr sz="1600" b="0" i="0">
                <a:solidFill>
                  <a:srgbClr val="1B2330"/>
                </a:solidFill>
                <a:latin typeface="Montserrat"/>
              </a:rPr>
              <a:t>Juntas de elastómero o pasta sellante</a:t>
            </a:r>
          </a:p>
        </p:txBody>
      </p:sp>
      <p:sp>
        <p:nvSpPr>
          <p:cNvPr id="9" name="imgph" descr="IMGQ:sealant applied around pipe wall penetra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sealant applied around pipe wall penetration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027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trazado, en el certificado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Croquis del trazado en el modelo IRG</a:t>
            </a:r>
          </a:p>
          <a:p>
            <a:pPr>
              <a:spcAft>
                <a:spcPts val="1100"/>
              </a:spcAft>
            </a:pPr>
            <a:r>
              <a:rPr sz="1600" b="1" i="0">
                <a:solidFill>
                  <a:srgbClr val="E8801A"/>
                </a:solidFill>
                <a:latin typeface="Montserrat"/>
              </a:rPr>
              <a:t>▸  </a:t>
            </a:r>
            <a:r>
              <a:rPr sz="1600" b="0" i="0">
                <a:solidFill>
                  <a:srgbClr val="1B2330"/>
                </a:solidFill>
                <a:latin typeface="Montserrat"/>
              </a:rPr>
              <a:t>Lo que se tapa, se prueba antes</a:t>
            </a:r>
          </a:p>
          <a:p>
            <a:pPr>
              <a:spcAft>
                <a:spcPts val="1100"/>
              </a:spcAft>
            </a:pPr>
            <a:r>
              <a:rPr sz="1600" b="1" i="0">
                <a:solidFill>
                  <a:srgbClr val="E8801A"/>
                </a:solidFill>
                <a:latin typeface="Montserrat"/>
              </a:rPr>
              <a:t>▸  </a:t>
            </a:r>
            <a:r>
              <a:rPr sz="1600" b="0" i="0">
                <a:solidFill>
                  <a:srgbClr val="1B2330"/>
                </a:solidFill>
                <a:latin typeface="Montserrat"/>
              </a:rPr>
              <a:t>Firma la empresa instaladora habilitada</a:t>
            </a:r>
          </a:p>
        </p:txBody>
      </p:sp>
      <p:sp>
        <p:nvSpPr>
          <p:cNvPr id="9" name="imgph" descr="IMGQ:installer with tablet inspecting gas pipe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installer with tablet inspecting gas pipes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por dónde va cada tubo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Cuatro modalidades y la regla: reparar sin picar</a:t>
            </a:r>
          </a:p>
          <a:p>
            <a:pPr>
              <a:spcAft>
                <a:spcPts val="1200"/>
              </a:spcAft>
            </a:pPr>
            <a:r>
              <a:rPr sz="2000" b="1" i="0">
                <a:solidFill>
                  <a:srgbClr val="F4A24C"/>
                </a:solidFill>
                <a:latin typeface="Montserrat"/>
              </a:rPr>
              <a:t>✓  </a:t>
            </a:r>
            <a:r>
              <a:rPr sz="1900" b="0" i="0">
                <a:solidFill>
                  <a:srgbClr val="FFFFFF"/>
                </a:solidFill>
                <a:latin typeface="Montserrat"/>
              </a:rPr>
              <a:t>La lista negra y los dos treses (3 cm)</a:t>
            </a:r>
          </a:p>
          <a:p>
            <a:pPr>
              <a:spcAft>
                <a:spcPts val="1200"/>
              </a:spcAft>
            </a:pPr>
            <a:r>
              <a:rPr sz="2000" b="1" i="0">
                <a:solidFill>
                  <a:srgbClr val="F4A24C"/>
                </a:solidFill>
                <a:latin typeface="Montserrat"/>
              </a:rPr>
              <a:t>✓  </a:t>
            </a:r>
            <a:r>
              <a:rPr sz="1900" b="0" i="0">
                <a:solidFill>
                  <a:srgbClr val="FFFFFF"/>
                </a:solidFill>
                <a:latin typeface="Montserrat"/>
              </a:rPr>
              <a:t>La vaina y sus cuatro 'para qué'</a:t>
            </a:r>
          </a:p>
          <a:p>
            <a:pPr>
              <a:spcAft>
                <a:spcPts val="1200"/>
              </a:spcAft>
            </a:pPr>
            <a:r>
              <a:rPr sz="2000" b="1" i="0">
                <a:solidFill>
                  <a:srgbClr val="F4A24C"/>
                </a:solidFill>
                <a:latin typeface="Montserrat"/>
              </a:rPr>
              <a:t>✓  </a:t>
            </a:r>
            <a:r>
              <a:rPr sz="1900" b="0" i="0">
                <a:solidFill>
                  <a:srgbClr val="FFFFFF"/>
                </a:solidFill>
                <a:latin typeface="Montserrat"/>
              </a:rPr>
              <a:t>Empotrado: 0,40 m y prueba antes de tapar</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Esto es lo primero que mira el inspector. En el siguiente vídeo, cómo medir, regular y cortar el gas.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
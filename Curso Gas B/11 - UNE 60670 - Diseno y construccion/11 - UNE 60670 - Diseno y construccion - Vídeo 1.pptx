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dónde se empieza a diseñar una instalación de gas?</a:t>
            </a:r>
          </a:p>
          <a:p>
            <a:r>
              <a:t>N2: Pues por los números, antes de tocar un solo tubo. Mira, la Parte cuatro de la UNE sesenta mil seiscientos setenta es la norma de diseño y construcción, y este primer vídeo es toda la parte de cálculo: cuántos kilovatios pide la vivienda, cuánto pide el edificio entero, qué caudal de gas hay que mover y, con eso, qué grosor de tubo pones. Piénsalo como la calculadora del tema: si estas cuentas salen bien, la caldera dará toda su potencia y el agua caliente no se quedará corta; si salen mal, tienes averías para toda la vida de la instalación. Vamos a construirlo paso a paso.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tres cifras resumen el vídeo?</a:t>
            </a:r>
          </a:p>
          <a:p>
            <a:r>
              <a:t>N2: Tres números que van a ser tus anclas. Uno, la norma completa son trece partes, y la que estudiamos es la cuatro, la de diseño y construcción. Dos, antes de calcular nada necesitas siete datos de partida, y no te los inventas: te los da por escrito la compañía distribuidora. Y tres, el gas nunca puede correr por el tubo a más de veinte metros por segundo, porque si va más rápido silba, vibra y arrastra suciedad. Si retienes estos tres números, ya tienes el esqueleto del vídeo montado.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cubre exactamente esta norma?</a:t>
            </a:r>
          </a:p>
          <a:p>
            <a:r>
              <a:t>N2: Vamos por partes. Una instalación receptora es todo el recorrido del gas desde que entra en la propiedad hasta el aparato que lo quema: la caldera, el calentador, la cocina. La UNE sesenta mil seiscientos setenta es el libro de instrucciones de esas instalaciones cuando trabajan a presión baja, hasta cinco bar como máximo. Y no solo dice cómo montarlas: fija los criterios técnicos, los requisitos de seguridad y las garantías de buen servicio para todo el ciclo de vida, o sea diseñar, construir, ampliar, modificar, probar, poner en servicio y revisar de forma periódica. La palabra clave es MOP, que es la máxima presión a la que puede trabajar la instalación: si es igual o menor que cinco bar, esta es tu norma. Un ejemplo: la instalación de gas natural de un piso normal va a unos veinte milibares; eso es muchísimo menos de cinco bar, así que cae de lleno aquí dentro.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por qué está partida en tantos trozos?</a:t>
            </a:r>
          </a:p>
          <a:p>
            <a:r>
              <a:t>N2: Porque cada fase de la vida de una instalación tiene su propio cuaderno. La norma completa son trece partes. La uno y la dos son generalidades y vocabulario; la tres te dice con qué materiales trabajas, o sea tubos, accesorios y uniones; y la cuatro, que es la nuestra, te dice cómo diseñarla y montarla. Luego siguen las demás: la cinco de los cuartos de contadores, la seis de la ventilación de los locales con aparatos, la ocho de las pruebas de estanquidad, la nueve de la puesta en servicio, y así hasta la trece, que va del control periódico de los aparatos. ¿Para qué te sirve saber esto en el examen? Para colocar cada pregunta en su sitio: si te preguntan por la distancia de un tubo, es la Parte cuatro; si te preguntan por una prueba de estanquidad, es la Parte ocho. Sitúas la pregunta y aciertas.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Vale, ¿y qué hace la Parte cuatro que no hagan las demás?</a:t>
            </a:r>
          </a:p>
          <a:p>
            <a:r>
              <a:t>N2: La Parte cuatro responde a dos preguntas muy concretas de obra: cómo monto el tubo y por dónde lo llevo. Piénsalo con una analogía: la Parte tres es la ferretería, te dice qué tubos y qué accesorios existen; la Parte cuatro es el plano de la casa, te dice cómo colocarlos y por dónde pasarlos. Cuando en obra dudes, por ejemplo si puede ir un tubo por un sitio o qué distancia dejas con la luz, la respuesta está en la Parte cuatro. Este primer vídeo es solo la mitad de esa parte: la mitad de cálculo, echar números. El trazado, o sea el por dónde, lo vemos en el vídeo siguiente. Hoy nos quedamos con la calculadora.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¿Merece la pena fijarse en las novedades?</a:t>
            </a:r>
          </a:p>
          <a:p>
            <a:r>
              <a:t>N2: Sí, porque los cambios de una edición a otra son justo lo que más se pregunta: el examinador va a lo nuevo. Te adelanto los que más caen. Uno: las instalaciones de más de setenta kilovatios hay que individualizarlas, es decir, sacarlas aparte del resto, y ahora la norma explica cómo. Dos: aclara que una tubería empotrada es la que va metida directamente en la pared sin vaina; si lleva vaina, ya no es empotrada, es envainada. Tres: si no puedes dejar los tres centímetros de separación con la luz o el agua, puedes acercar el tubo si lo aíslas con una coquilla. Y hay más, como que ahora se admite el press-fitting dentro de vainas, o que el regulador con válvula de alivio por dentro necesita ventilación permanente. No te agobies memorizándolas todas hoy; quédate con que existen y las iremos viendo en su sitio.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Antes de calcular, ¿qué necesito tener sobre la mesa?</a:t>
            </a:r>
          </a:p>
          <a:p>
            <a:r>
              <a:t>N2: Necesitas siete datos, y esto es importante: no te los inventas ni los mides tú, te los da por escrito la compañía distribuidora. Son la ficha técnica del suministro. ¿Cuáles son? La familia y el nombre del gas; el poder calorífico superior, que se llama Hache ese y es la energía que da cada metro cúbico de gas; las densidades del gas; el índice de Wobbe; la presión garantizada a la salida de la llave de acometida; el rango de presiones dentro de la instalación; y el diámetro de la llave de acometida. Sin estos datos no puedes calcular ni un diámetro, porque calcular es siempre relacionar lo que pide la instalación con lo que entrega el gas, y lo que entrega el gas está en esos datos. Un detalle que cae: si en tu zona está previsto cambiar de gas, por ejemplo pasar de propano a gas natural, la instalación tiene que valer para los dos, para no rehacerla el día del cambio.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eso del grado de gasificación?</a:t>
            </a:r>
          </a:p>
          <a:p>
            <a:r>
              <a:t>N2: Es una etiqueta según la potencia que va a tener la instalación de una vivienda o local. Solo tienes que memorizar dos números: treinta y setenta kilovatios. Hasta treinta, grado uno; entre treinta y setenta, grado dos; por encima de setenta, grado tres. Nada más. La potencia, recuerda, es cuánto gas es capaz de quemar la instalación cuando está a tope. ¿Por qué importa el grado? Porque marca cómo tratas la instalación: cuanto más grande, más exigencias. Y guárdate bien el setenta, porque reaparece enseguida: las instalaciones de más de setenta kilovatios hay que individualizarlas, sacarlas aparte. El treinta y el setenta caen muchísimo, así que que no se te olviden.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¿En qué grado cae una vivienda según su potencia?</a:t>
            </a:r>
          </a:p>
          <a:p>
            <a:r>
              <a:t>N2: Esta tabla es la regla de los tres grados, y solo tienes que fijarte en dos cifras: treinta y setenta kilovatios. Se lee de arriba abajo. Primera fila: si la potencia de diseño de la instalación individual es igual o menor que treinta kilovatios, es grado uno, la vivienda normal. Segunda fila: si está por encima de treinta y hasta setenta, es grado dos. Tercera fila: si pasa de setenta, es grado tres, y eso obliga a individualizar la instalación, a sacarla aparte. Un ejemplo de obra: un piso con caldera y cocina que suma unos treinta kilovatios es grado uno; la caldera común de todo un bloque, que se va por encima de setenta, es grado tres. Guárdate el setenta, porque es la frontera que más cae.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Vamos con una rápida. Tienes sobre la mesa una instalación de sesenta y cinco kilovatios. ¿Qué grado le pones?</a:t>
            </a:r>
          </a:p>
          <a:p>
            <a:r>
              <a:t>N2: Piensa en las dos cifras clave, treinta y setenta, y mira entre qué números cae el sesenta y cinco.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grado dos?</a:t>
            </a:r>
          </a:p>
          <a:p>
            <a:r>
              <a:t>N2: Porque el grado dos es el tramo que va por encima de treinta y hasta setenta kilovatios, y sesenta y cinco está justo ahí dentro. El truco para no fallar: si no pasa de setenta, todavía no es grado tres; y como supera los treinta, ya no es grado uno. Solo cuando se rebasa el setenta salta a grado tres y hay que individualizar.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calculo la potencia de una vivienda?</a:t>
            </a:r>
          </a:p>
          <a:p>
            <a:r>
              <a:t>N2: Con un truco muy lógico. En una casa no todos los aparatos pesan igual, porque es rarísimo que enciendas todo a la vez. Así que la fórmula lo tiene en cuenta: los dos aparatos que más consumen, normalmente la caldera y la cocina, o la caldera y el calentador, cuentan enteros. El resto de aparatos, los secundarios, se dividen entre dos, porque casi nunca coinciden todos funcionando. Sumas eso y lo multiplicas por uno coma diez, que es un pequeño coeficiente corrector del gas. Y una regla de oro: pase lo que pase, nunca bajes de treinta kilovatios, que es el suelo obligatorio del grado uno. Aunque te salga menos, pones treinta. Ejemplo: una vivienda con caldera y cocina cuenta esos dos enteros; si además tiene un calentador auxiliar, ese va a la mitad.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en un bar o un local, se hace igual?</a:t>
            </a:r>
          </a:p>
          <a:p>
            <a:r>
              <a:t>N2: No, en un local no doméstico cambia la lógica. En una vivienda descontabas los aparatos pequeños porque no se usan a la vez, pero en un local, por ejemplo la cocina de un restaurante, sí puede estar todo funcionando en plena hora punta. Por eso aquí sumas los consumos de todos los aparatos, sin dividir ninguno entre dos, y lo multiplicas por ese uno coma diez. Es la potencia del local. Si quieres aplicar algún coeficiente de simultaneidad para rebajarlo, puedes, pero tienes que justificarlo debidamente por escrito, no vale rebajar a ojo. La idea de fondo: donde es probable el uso simultáneo, se cuenta todo; donde no lo es, se descuenta.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cómo calculo lo que pide el edificio entero?</a:t>
            </a:r>
          </a:p>
          <a:p>
            <a:r>
              <a:t>N2: Sumando lo de todas las viviendas y locales que cuelgan de la misma acometida, incluidos los pisos que todavía no tienen instalación pero podrían tenerla. A las viviendas les aplicas un factor de simultaneidad, que se llama ese ene, y a los locales los sumas aparte. La clave del factor es puro sentido común: cuanto más grande es el edificio, menos probable es que todos usen el gas a la vez, así que el factor baja. Para una sola vivienda vale uno, esa sola puede tenerlo todo encendido; para más de treinta viviendas se queda en quince centésimas. Y una regla que cae fijo: existen dos factores, uno sin calefacción y otro con calefacción, y el de con calefacción siempre es mayor, porque la calefacción tira mucho gas y hace más probable que coincidan usándolo. Menos viviendas o con calefacción, factor más alto; muchas viviendas y sin calefacción, factor más bajo.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se lee esta tabla del factor de simultaneidad?</a:t>
            </a:r>
          </a:p>
          <a:p>
            <a:r>
              <a:t>N2: Primero cuentas cuántas viviendas cuelgan de la acometida y buscas esa fila. Luego eliges columna: la ese uno si el edificio no tiene calefacción individual, y la ese dos si la tiene. El número que sale es el factor por el que multiplicas la suma de las potencias de las viviendas. Fíjate en el patrón: cuantas más viviendas, más baja el factor, porque es menos probable que todos usen el gas a la vez. Para una vivienda vale uno entero; para dieciséis ya baja a veintiuna centésimas sin calefacción. Y una regla que cae fijo: la columna con calefacción siempre da un número mayor que la de sin calefacción, porque la calefacción tira mucho y hace más probable el uso simultáneo. Ejemplo: en un bloque de ocho viviendas sin calefacción, multiplicas la suma de potencias por treinta centésimas.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qué pasa cuando el edificio es muy grande?</a:t>
            </a:r>
          </a:p>
          <a:p>
            <a:r>
              <a:t>N2: Esta es la segunda mitad de la tabla, de diecisiete viviendas en adelante. Se lee igual: buscas la fila por número de viviendas y eliges columna según haya o no calefacción. Lo importante de esta parte es el final: cuando pasas de treinta viviendas, el factor deja de bajar y se queda clavado en el mínimo, quince centésimas sin calefacción y treinta y cinco con calefacción. Da igual que sean treinta y una o doscientas viviendas: se usa siempre ese suelo. La razón es la misma de antes, en un edificio enorme es casi imposible que todos abran el gas a la vez, así que el factor no puede seguir bajando sin fin. Ejemplo: para una torre de cincuenta viviendas con calefacción, multiplicas por treinta y cinco centésimas.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significa exactamente individualizar una instalación grande?</a:t>
            </a:r>
          </a:p>
          <a:p>
            <a:r>
              <a:t>N2: Significa sacarla aparte para que no dependa del resto del edificio. Imagina un restaurante, una lavandería o la caldera común de un bloque: todo eso puede pasar de setenta kilovatios. No puede colgar en serie del mismo conjunto de regulación que los vecinos, como si fuera un piso más, porque el día que tengas que repararlo dejarías sin gas a todo el edificio. Así que se individualiza: se conecta aguas arriba, o sea antes del conjunto de regulación de las viviendas, con su propia derivación. Y muy importante, en esa derivación se ponen dos llaves, una a cada lado, para poder aislar esa instalación grande sin tocar la de los vecinos. Hecho así, el día que reparas el restaurante, cierras sus dos llaves y los vecinos ni se enteran. Hay una excepción para locales solo comerciales, que pueden compartir el conjunto de regulación y separarse aguas abajo con llaves accesibles, pero la regla general es aguas arriba.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Ya tengo la potencia. ¿Cómo paso a caudal?</a:t>
            </a:r>
          </a:p>
          <a:p>
            <a:r>
              <a:t>N2: Con una división muy sencilla, y fíjate en el patrón porque siempre es el mismo: el caudal es la potencia dividida entre el Hache ese. La potencia, en kilovatios, es lo que pide la instalación; el Hache ese, el poder calorífico superior, es lo que entrega cada metro cúbico de gas. Si divides lo que pides entre lo que da cada metro cúbico, te sale cuántos metros cúbicos por hora tienes que mover. Y ese caudal es justo lo que necesitas para elegir el grosor del tubo. Lo haces igual para una vivienda, para el edificio o para un aparato suelto: siempre potencia entre Hache ese. Un aviso: si el gas se vende por peso, como el butano o el propano en kilos, entonces el caudal te sale en kilos por hora en vez de en metros cúbicos por hora. Pero la operación es la misma.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límites tengo que respetar al calcular?</a:t>
            </a:r>
          </a:p>
          <a:p>
            <a:r>
              <a:t>N2: Dos, y los dos entran en el examen casi seguro. El primero es la velocidad del gas dentro del tubo: no puede pasar de veinte metros por segundo. ¿Por qué? Porque si el gas corre demasiado rápido, silba, vibra y arrastra la suciedad del tubo hacia el aparato. El segundo son las presiones mínimas en la llave del aparato: el gas natural necesita al menos diecisiete milibares, el butano veinte, el propano cuarenta y dos coma cinco cuando va a cincuenta, y veinticinco cuando va a treinta y siete. ¿Por qué mínimas? Porque si al aparato le llega menos presión de la que marca la tabla, no funciona bien: la caldera modula a la baja o se apaga, el calentador no calienta. Y si le falta presión, casi siempre es porque el tubo se quedó corto de diámetro o el gas va demasiado rápido. Por eso estos dos topes mandan sobre todo el cálculo.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¿Cuánta presión tiene que llegar como mínimo al aparato?</a:t>
            </a:r>
          </a:p>
          <a:p>
            <a:r>
              <a:t>N2: Esta tabla te da el suelo de presión en la llave del aparato según el gas, y se lee por filas. El gas natural, familia dos hache, necesita al menos diecisiete milibares. El butano, veinte. El propano tiene dos casos: cuando trabaja a cincuenta milibares de partida, en la llave del aparato necesita al menos cuarenta y dos coma cinco; y cuando trabaja a treinta y siete, necesita veinticinco. La idea es siempre la misma: si a la entrada del aparato llega menos presión que la de la tabla, el aparato no rinde, la caldera modula a la baja o se apaga y el calentador no calienta. Ejemplo de obra: si mides en la llave de una caldera de gas natural y no llegas a diecisiete milibares, la instalación está mal dimensionada o pierde demasiada carga por el camino.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Pregunta de las que caen fijo. ¿A qué velocidad como mucho puede circular el gas por el tubo?</a:t>
            </a:r>
          </a:p>
          <a:p>
            <a:r>
              <a:t>N2: Piensa en por qué se limita: si el gas corre demasiado, silba y arrastra suciedad. Es un número redondo.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veinte metros por segundo?</a:t>
            </a:r>
          </a:p>
          <a:p>
            <a:r>
              <a:t>N2: Porque la norma pone ese tope para que el gas no vaya tan rápido que empiece a silbar, a vibrar y a arrastrar la suciedad del tubo hasta el aparato. El truco para no fallar: es un número redondo y bajo, veinte, no lo confundas con presiones ni con potencias. Si en el cálculo te pasas de esa velocidad, tienes que subir el diámetro del tubo.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Estos cálculos, ¿se quedan en mi libreta?</a:t>
            </a:r>
          </a:p>
          <a:p>
            <a:r>
              <a:t>N2: No. Todo lo que has calculado tiene que quedar reflejado en papel. Si la instalación es de las que lo exigen por potencia o por tipo, va en un proyecto firmado por un técnico competente; en las más sencillas, basta con una memoria. Y cuando la obra está terminada, todo se plasma en el certificado de instalación de gas, el famoso modelo I erre ge, que firma la empresa instaladora habilitada y se entrega a la distribuidora antes de dar gas. La regla de oro es esta: el papel tiene que cuadrar con lo montado. Si has dimensionado una cosa y has instalado otra, ese certificado no deberías firmarlo, porque estás certificando algo que no es verdad. Lo que se firma, se responde.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Vale, ha sido denso. Si me quedo con lo esencial, ¿qué es?</a:t>
            </a:r>
          </a:p>
          <a:p>
            <a:r>
              <a:t>N2: Reconstruyamos el hilo, que verás que encaja. Empezaste sabiendo que la distribuidora te entrega siete datos: sin ellos no calculas nada, porque son lo que el gas entrega. Con esos datos sacaste potencias: en la vivienda, los dos aparatos grandes enteros y el resto a la mitad, nunca por debajo de treinta kilovatios; en el edificio, sumando todo y aplicando el factor de simultaneidad, que baja cuantas más viviendas hay. De la potencia pasaste al caudal con una sola división, potencia entre Hache ese, y con el caudal eliges el grosor del tubo. Y todo el cálculo respeta dos topes: veinte metros por segundo de velocidad y las presiones mínimas en el aparato.</a:t>
            </a:r>
          </a:p>
          <a:p>
            <a:r>
              <a:t>N1: ¿Y cómo se pregunta esto?</a:t>
            </a:r>
          </a:p>
          <a:p>
            <a:r>
              <a:t>N2: En el examen te clavan las cifras: el treinta y el setenta de los grados, el veinte de la velocidad, los diecisiete milibares del gas natural, y el más de setenta se individualiza. En la obra es aún más real: casi todas las averías de este aparato no rinde son en realidad una instalación mal dimensionada, un tubo que se quedó corto. Si dominas esto, no solo apruebas: diagnosticas. Hoy ya eres más gasista que ayer. Y ahora que sabes cuánto gas hay que mover, en el vídeo siguiente vemos por dónde puede ir ese tubo y por dónde no. Te espero allí.</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1 DE 3</a:t>
            </a:r>
          </a:p>
        </p:txBody>
      </p:sp>
      <p:sp>
        <p:nvSpPr>
          <p:cNvPr id="4" name="Rectangle 3"/>
          <p:cNvSpPr/>
          <p:nvPr/>
        </p:nvSpPr>
        <p:spPr>
          <a:xfrm>
            <a:off x="868680" y="205740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Dimensionado de la instalación receptora</a:t>
            </a:r>
          </a:p>
          <a:p>
            <a:r>
              <a:rPr sz="2200" b="0" i="0">
                <a:solidFill>
                  <a:srgbClr val="CADCFC"/>
                </a:solidFill>
                <a:latin typeface="Montserrat"/>
              </a:rPr>
              <a:t>Datos de partida, potencias, caudales y criterios de cálculo</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11 · UNE 60670-4</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ectangle 5"/>
          <p:cNvSpPr/>
          <p:nvPr/>
        </p:nvSpPr>
        <p:spPr>
          <a:xfrm>
            <a:off x="868680" y="1234440"/>
            <a:ext cx="146304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77440"/>
            <a:ext cx="3017520" cy="1371600"/>
          </a:xfrm>
          <a:prstGeom prst="rect">
            <a:avLst/>
          </a:prstGeom>
          <a:noFill/>
        </p:spPr>
        <p:txBody>
          <a:bodyPr wrap="square">
            <a:spAutoFit/>
          </a:bodyPr>
          <a:lstStyle/>
          <a:p>
            <a:pPr algn="ctr"/>
            <a:r>
              <a:rPr sz="5800" b="1" i="0">
                <a:solidFill>
                  <a:srgbClr val="1E2761"/>
                </a:solidFill>
                <a:latin typeface="Montserrat"/>
              </a:rPr>
              <a:t>13</a:t>
            </a:r>
          </a:p>
        </p:txBody>
      </p:sp>
      <p:sp>
        <p:nvSpPr>
          <p:cNvPr id="10" name="TextBox 9"/>
          <p:cNvSpPr txBox="1"/>
          <p:nvPr/>
        </p:nvSpPr>
        <p:spPr>
          <a:xfrm>
            <a:off x="1051560" y="3657600"/>
            <a:ext cx="2560320" cy="1005840"/>
          </a:xfrm>
          <a:prstGeom prst="rect">
            <a:avLst/>
          </a:prstGeom>
          <a:noFill/>
        </p:spPr>
        <p:txBody>
          <a:bodyPr wrap="square">
            <a:spAutoFit/>
          </a:bodyPr>
          <a:lstStyle/>
          <a:p>
            <a:pPr algn="ctr"/>
            <a:r>
              <a:rPr sz="1400" b="0" i="0">
                <a:solidFill>
                  <a:srgbClr val="1B2330"/>
                </a:solidFill>
                <a:latin typeface="Montserrat"/>
              </a:rPr>
              <a:t>partes que componen la UNE 60670</a:t>
            </a:r>
          </a:p>
        </p:txBody>
      </p:sp>
      <p:sp>
        <p:nvSpPr>
          <p:cNvPr id="11" name="Rounded Rectangle 10"/>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017520" cy="1371600"/>
          </a:xfrm>
          <a:prstGeom prst="rect">
            <a:avLst/>
          </a:prstGeom>
          <a:noFill/>
        </p:spPr>
        <p:txBody>
          <a:bodyPr wrap="square">
            <a:spAutoFit/>
          </a:bodyPr>
          <a:lstStyle/>
          <a:p>
            <a:pPr algn="ctr"/>
            <a:r>
              <a:rPr sz="5800" b="1" i="0">
                <a:solidFill>
                  <a:srgbClr val="1E2761"/>
                </a:solidFill>
                <a:latin typeface="Montserrat"/>
              </a:rPr>
              <a:t>7</a:t>
            </a:r>
          </a:p>
        </p:txBody>
      </p:sp>
      <p:sp>
        <p:nvSpPr>
          <p:cNvPr id="14" name="TextBox 13"/>
          <p:cNvSpPr txBox="1"/>
          <p:nvPr/>
        </p:nvSpPr>
        <p:spPr>
          <a:xfrm>
            <a:off x="4846320" y="3657600"/>
            <a:ext cx="2560320" cy="1005840"/>
          </a:xfrm>
          <a:prstGeom prst="rect">
            <a:avLst/>
          </a:prstGeom>
          <a:noFill/>
        </p:spPr>
        <p:txBody>
          <a:bodyPr wrap="square">
            <a:spAutoFit/>
          </a:bodyPr>
          <a:lstStyle/>
          <a:p>
            <a:pPr algn="ctr"/>
            <a:r>
              <a:rPr sz="1400" b="0" i="0">
                <a:solidFill>
                  <a:srgbClr val="1B2330"/>
                </a:solidFill>
                <a:latin typeface="Montserrat"/>
              </a:rPr>
              <a:t>datos de partida que da la distribuidora</a:t>
            </a:r>
          </a:p>
        </p:txBody>
      </p:sp>
      <p:sp>
        <p:nvSpPr>
          <p:cNvPr id="15" name="Rounded Rectangle 14"/>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77440"/>
            <a:ext cx="3017520" cy="1371600"/>
          </a:xfrm>
          <a:prstGeom prst="rect">
            <a:avLst/>
          </a:prstGeom>
          <a:noFill/>
        </p:spPr>
        <p:txBody>
          <a:bodyPr wrap="square">
            <a:spAutoFit/>
          </a:bodyPr>
          <a:lstStyle/>
          <a:p>
            <a:pPr algn="ctr"/>
            <a:r>
              <a:rPr sz="5800" b="1" i="0">
                <a:solidFill>
                  <a:srgbClr val="1E2761"/>
                </a:solidFill>
                <a:latin typeface="Montserrat"/>
              </a:rPr>
              <a:t>20</a:t>
            </a:r>
          </a:p>
        </p:txBody>
      </p:sp>
      <p:sp>
        <p:nvSpPr>
          <p:cNvPr id="18" name="TextBox 17"/>
          <p:cNvSpPr txBox="1"/>
          <p:nvPr/>
        </p:nvSpPr>
        <p:spPr>
          <a:xfrm>
            <a:off x="8641080" y="3657600"/>
            <a:ext cx="2560320" cy="1005840"/>
          </a:xfrm>
          <a:prstGeom prst="rect">
            <a:avLst/>
          </a:prstGeom>
          <a:noFill/>
        </p:spPr>
        <p:txBody>
          <a:bodyPr wrap="square">
            <a:spAutoFit/>
          </a:bodyPr>
          <a:lstStyle/>
          <a:p>
            <a:pPr algn="ctr"/>
            <a:r>
              <a:rPr sz="1400" b="0" i="0">
                <a:solidFill>
                  <a:srgbClr val="1B2330"/>
                </a:solidFill>
                <a:latin typeface="Montserrat"/>
              </a:rPr>
              <a:t>velocidad máxima del gas, en m/s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ectangle 6"/>
          <p:cNvSpPr/>
          <p:nvPr/>
        </p:nvSpPr>
        <p:spPr>
          <a:xfrm>
            <a:off x="868680" y="167335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Objeto de la norma</a:t>
            </a:r>
          </a:p>
          <a:p>
            <a:pPr>
              <a:spcAft>
                <a:spcPts val="900"/>
              </a:spcAft>
            </a:pPr>
            <a:r>
              <a:rPr sz="1800" b="1" i="0">
                <a:solidFill>
                  <a:srgbClr val="E8801A"/>
                </a:solidFill>
                <a:latin typeface="Montserrat"/>
              </a:rPr>
              <a:t>02   </a:t>
            </a:r>
            <a:r>
              <a:rPr sz="1700" b="0" i="0">
                <a:solidFill>
                  <a:srgbClr val="1B2330"/>
                </a:solidFill>
                <a:latin typeface="Montserrat"/>
              </a:rPr>
              <a:t>Estructura de la norma</a:t>
            </a:r>
          </a:p>
          <a:p>
            <a:pPr>
              <a:spcAft>
                <a:spcPts val="900"/>
              </a:spcAft>
            </a:pPr>
            <a:r>
              <a:rPr sz="1800" b="1" i="0">
                <a:solidFill>
                  <a:srgbClr val="E8801A"/>
                </a:solidFill>
                <a:latin typeface="Montserrat"/>
              </a:rPr>
              <a:t>03   </a:t>
            </a:r>
            <a:r>
              <a:rPr sz="1700" b="0" i="0">
                <a:solidFill>
                  <a:srgbClr val="1B2330"/>
                </a:solidFill>
                <a:latin typeface="Montserrat"/>
              </a:rPr>
              <a:t>Parte 4</a:t>
            </a:r>
          </a:p>
          <a:p>
            <a:pPr>
              <a:spcAft>
                <a:spcPts val="900"/>
              </a:spcAft>
            </a:pPr>
            <a:r>
              <a:rPr sz="1800" b="1" i="0">
                <a:solidFill>
                  <a:srgbClr val="E8801A"/>
                </a:solidFill>
                <a:latin typeface="Montserrat"/>
              </a:rPr>
              <a:t>04   </a:t>
            </a:r>
            <a:r>
              <a:rPr sz="1700" b="0" i="0">
                <a:solidFill>
                  <a:srgbClr val="1B2330"/>
                </a:solidFill>
                <a:latin typeface="Montserrat"/>
              </a:rPr>
              <a:t>Novedades de esta edición</a:t>
            </a:r>
          </a:p>
          <a:p>
            <a:pPr>
              <a:spcAft>
                <a:spcPts val="900"/>
              </a:spcAft>
            </a:pPr>
            <a:r>
              <a:rPr sz="1800" b="1" i="0">
                <a:solidFill>
                  <a:srgbClr val="E8801A"/>
                </a:solidFill>
                <a:latin typeface="Montserrat"/>
              </a:rPr>
              <a:t>05   </a:t>
            </a:r>
            <a:r>
              <a:rPr sz="1700" b="0" i="0">
                <a:solidFill>
                  <a:srgbClr val="1B2330"/>
                </a:solidFill>
                <a:latin typeface="Montserrat"/>
              </a:rPr>
              <a:t>Apartado 3.1</a:t>
            </a:r>
          </a:p>
          <a:p>
            <a:pPr>
              <a:spcAft>
                <a:spcPts val="900"/>
              </a:spcAft>
            </a:pPr>
            <a:r>
              <a:rPr sz="1800" b="1" i="0">
                <a:solidFill>
                  <a:srgbClr val="E8801A"/>
                </a:solidFill>
                <a:latin typeface="Montserrat"/>
              </a:rPr>
              <a:t>06   </a:t>
            </a:r>
            <a:r>
              <a:rPr sz="1700" b="0" i="0">
                <a:solidFill>
                  <a:srgbClr val="1B2330"/>
                </a:solidFill>
                <a:latin typeface="Montserrat"/>
              </a:rPr>
              <a:t>Apartado 3.2</a:t>
            </a:r>
          </a:p>
          <a:p>
            <a:pPr>
              <a:spcAft>
                <a:spcPts val="900"/>
              </a:spcAft>
            </a:pPr>
            <a:r>
              <a:rPr sz="1800" b="1" i="0">
                <a:solidFill>
                  <a:srgbClr val="E8801A"/>
                </a:solidFill>
                <a:latin typeface="Montserrat"/>
              </a:rPr>
              <a:t>07   </a:t>
            </a:r>
            <a:r>
              <a:rPr sz="1700" b="0" i="0">
                <a:solidFill>
                  <a:srgbClr val="1B2330"/>
                </a:solidFill>
                <a:latin typeface="Montserrat"/>
              </a:rPr>
              <a:t>Apartado 3.3</a:t>
            </a:r>
          </a:p>
          <a:p>
            <a:pPr>
              <a:spcAft>
                <a:spcPts val="900"/>
              </a:spcAft>
            </a:pPr>
            <a:r>
              <a:rPr sz="1800" b="1" i="0">
                <a:solidFill>
                  <a:srgbClr val="E8801A"/>
                </a:solidFill>
                <a:latin typeface="Montserrat"/>
              </a:rPr>
              <a:t>08   </a:t>
            </a:r>
            <a:r>
              <a:rPr sz="1700" b="0" i="0">
                <a:solidFill>
                  <a:srgbClr val="1B2330"/>
                </a:solidFill>
                <a:latin typeface="Montserrat"/>
              </a:rPr>
              <a:t>Apartado 3.4</a:t>
            </a:r>
          </a:p>
          <a:p>
            <a:pPr>
              <a:spcAft>
                <a:spcPts val="900"/>
              </a:spcAft>
            </a:pPr>
            <a:r>
              <a:rPr sz="1800" b="1" i="0">
                <a:solidFill>
                  <a:srgbClr val="E8801A"/>
                </a:solidFill>
                <a:latin typeface="Montserrat"/>
              </a:rPr>
              <a:t>09   </a:t>
            </a:r>
            <a:r>
              <a:rPr sz="1700" b="0" i="0">
                <a:solidFill>
                  <a:srgbClr val="1B2330"/>
                </a:solidFill>
                <a:latin typeface="Montserrat"/>
              </a:rPr>
              <a:t>Apartado 3.5</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OBJETO DE LA NORMA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¿Qué regula la UNE 60670?</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Instalaciones receptoras hasta 5 bar</a:t>
            </a:r>
          </a:p>
          <a:p>
            <a:pPr>
              <a:spcAft>
                <a:spcPts val="1100"/>
              </a:spcAft>
            </a:pPr>
            <a:r>
              <a:rPr sz="1600" b="1" i="0">
                <a:solidFill>
                  <a:srgbClr val="E8801A"/>
                </a:solidFill>
                <a:latin typeface="Montserrat"/>
              </a:rPr>
              <a:t>▸  </a:t>
            </a:r>
            <a:r>
              <a:rPr sz="1600" b="0" i="0">
                <a:solidFill>
                  <a:srgbClr val="1B2330"/>
                </a:solidFill>
                <a:latin typeface="Montserrat"/>
              </a:rPr>
              <a:t>Criterios técnicos y de seguridad</a:t>
            </a:r>
          </a:p>
          <a:p>
            <a:pPr>
              <a:spcAft>
                <a:spcPts val="1100"/>
              </a:spcAft>
            </a:pPr>
            <a:r>
              <a:rPr sz="1600" b="1" i="0">
                <a:solidFill>
                  <a:srgbClr val="E8801A"/>
                </a:solidFill>
                <a:latin typeface="Montserrat"/>
              </a:rPr>
              <a:t>▸  </a:t>
            </a:r>
            <a:r>
              <a:rPr sz="1600" b="0" i="0">
                <a:solidFill>
                  <a:srgbClr val="1B2330"/>
                </a:solidFill>
                <a:latin typeface="Montserrat"/>
              </a:rPr>
              <a:t>Diseñar, construir, probar y poner en servicio</a:t>
            </a:r>
          </a:p>
        </p:txBody>
      </p:sp>
      <p:sp>
        <p:nvSpPr>
          <p:cNvPr id="9" name="imgph" descr="IMGQ:gas boiler installation in apartment kitchen"/>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boiler installation in apartment kitchen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ESTRUCTURA DE LA NORMA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Trece partes, una por fase</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Parte 3: tuberías, accesorios y uniones</a:t>
            </a:r>
          </a:p>
          <a:p>
            <a:pPr>
              <a:spcAft>
                <a:spcPts val="1100"/>
              </a:spcAft>
            </a:pPr>
            <a:r>
              <a:rPr sz="1600" b="1" i="0">
                <a:solidFill>
                  <a:srgbClr val="E8801A"/>
                </a:solidFill>
                <a:latin typeface="Montserrat"/>
              </a:rPr>
              <a:t>▸  </a:t>
            </a:r>
            <a:r>
              <a:rPr sz="1600" b="0" i="0">
                <a:solidFill>
                  <a:srgbClr val="1B2330"/>
                </a:solidFill>
                <a:latin typeface="Montserrat"/>
              </a:rPr>
              <a:t>Parte 4: diseño y construcción</a:t>
            </a:r>
          </a:p>
          <a:p>
            <a:pPr>
              <a:spcAft>
                <a:spcPts val="1100"/>
              </a:spcAft>
            </a:pPr>
            <a:r>
              <a:rPr sz="1600" b="1" i="0">
                <a:solidFill>
                  <a:srgbClr val="E8801A"/>
                </a:solidFill>
                <a:latin typeface="Montserrat"/>
              </a:rPr>
              <a:t>▸  </a:t>
            </a:r>
            <a:r>
              <a:rPr sz="1600" b="0" i="0">
                <a:solidFill>
                  <a:srgbClr val="1B2330"/>
                </a:solidFill>
                <a:latin typeface="Montserrat"/>
              </a:rPr>
              <a:t>Partes 8 y 9: pruebas y puesta en servicio</a:t>
            </a:r>
          </a:p>
        </p:txBody>
      </p:sp>
      <p:sp>
        <p:nvSpPr>
          <p:cNvPr id="9" name="imgph" descr="IMGQ:technical standard document binder on desk"/>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technical standard document binder on desk</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4 · DISEÑO Y CONSTRUCCIÓN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cómo y el por dónde del tubo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Parte 3: con qué materiales</a:t>
            </a:r>
          </a:p>
          <a:p>
            <a:pPr>
              <a:spcAft>
                <a:spcPts val="1100"/>
              </a:spcAft>
            </a:pPr>
            <a:r>
              <a:rPr sz="1600" b="1" i="0">
                <a:solidFill>
                  <a:srgbClr val="E8801A"/>
                </a:solidFill>
                <a:latin typeface="Montserrat"/>
              </a:rPr>
              <a:t>▸  </a:t>
            </a:r>
            <a:r>
              <a:rPr sz="1600" b="0" i="0">
                <a:solidFill>
                  <a:srgbClr val="1B2330"/>
                </a:solidFill>
                <a:latin typeface="Montserrat"/>
              </a:rPr>
              <a:t>Parte 4: cómo montar y por dónde</a:t>
            </a:r>
          </a:p>
          <a:p>
            <a:pPr>
              <a:spcAft>
                <a:spcPts val="1100"/>
              </a:spcAft>
            </a:pPr>
            <a:r>
              <a:rPr sz="1600" b="1" i="0">
                <a:solidFill>
                  <a:srgbClr val="E8801A"/>
                </a:solidFill>
                <a:latin typeface="Montserrat"/>
              </a:rPr>
              <a:t>▸  </a:t>
            </a:r>
            <a:r>
              <a:rPr sz="1600" b="0" i="0">
                <a:solidFill>
                  <a:srgbClr val="1B2330"/>
                </a:solidFill>
                <a:latin typeface="Montserrat"/>
              </a:rPr>
              <a:t>Directrices de diseño y trazado</a:t>
            </a:r>
          </a:p>
        </p:txBody>
      </p:sp>
      <p:sp>
        <p:nvSpPr>
          <p:cNvPr id="9" name="imgph" descr="IMGQ:copper gas pipe installed along wal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copper gas pipe installed along wall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NOVEDADES DE ESTA EDICIÓN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Lo que más se pregunta ahora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Individualizar instalaciones de más de 70 kW</a:t>
            </a:r>
          </a:p>
          <a:p>
            <a:pPr>
              <a:spcAft>
                <a:spcPts val="1100"/>
              </a:spcAft>
            </a:pPr>
            <a:r>
              <a:rPr sz="1600" b="1" i="0">
                <a:solidFill>
                  <a:srgbClr val="E8801A"/>
                </a:solidFill>
                <a:latin typeface="Montserrat"/>
              </a:rPr>
              <a:t>▸  </a:t>
            </a:r>
            <a:r>
              <a:rPr sz="1600" b="0" i="0">
                <a:solidFill>
                  <a:srgbClr val="1B2330"/>
                </a:solidFill>
                <a:latin typeface="Montserrat"/>
              </a:rPr>
              <a:t>Empotrada = en la pared, sin vaina</a:t>
            </a:r>
          </a:p>
          <a:p>
            <a:pPr>
              <a:spcAft>
                <a:spcPts val="1100"/>
              </a:spcAft>
            </a:pPr>
            <a:r>
              <a:rPr sz="1600" b="1" i="0">
                <a:solidFill>
                  <a:srgbClr val="E8801A"/>
                </a:solidFill>
                <a:latin typeface="Montserrat"/>
              </a:rPr>
              <a:t>▸  </a:t>
            </a:r>
            <a:r>
              <a:rPr sz="1600" b="0" i="0">
                <a:solidFill>
                  <a:srgbClr val="1B2330"/>
                </a:solidFill>
                <a:latin typeface="Montserrat"/>
              </a:rPr>
              <a:t>Reducir los 3 cm aislando el tubo</a:t>
            </a:r>
          </a:p>
        </p:txBody>
      </p:sp>
      <p:sp>
        <p:nvSpPr>
          <p:cNvPr id="9" name="imgph" descr="IMGQ:gas meter cabinet on building facad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meter cabinet on building facade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3.1 · DATOS DE PARTIDA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Los siete datos que da la distribuidora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Familia, denominación y Hs del gas</a:t>
            </a:r>
          </a:p>
          <a:p>
            <a:pPr>
              <a:spcAft>
                <a:spcPts val="1100"/>
              </a:spcAft>
            </a:pPr>
            <a:r>
              <a:rPr sz="1600" b="1" i="0">
                <a:solidFill>
                  <a:srgbClr val="E8801A"/>
                </a:solidFill>
                <a:latin typeface="Montserrat"/>
              </a:rPr>
              <a:t>▸  </a:t>
            </a:r>
            <a:r>
              <a:rPr sz="1600" b="0" i="0">
                <a:solidFill>
                  <a:srgbClr val="1B2330"/>
                </a:solidFill>
                <a:latin typeface="Montserrat"/>
              </a:rPr>
              <a:t>Densidades, índice de Wobbe y presiones</a:t>
            </a:r>
          </a:p>
          <a:p>
            <a:pPr>
              <a:spcAft>
                <a:spcPts val="1100"/>
              </a:spcAft>
            </a:pPr>
            <a:r>
              <a:rPr sz="1600" b="1" i="0">
                <a:solidFill>
                  <a:srgbClr val="E8801A"/>
                </a:solidFill>
                <a:latin typeface="Montserrat"/>
              </a:rPr>
              <a:t>▸  </a:t>
            </a:r>
            <a:r>
              <a:rPr sz="1600" b="0" i="0">
                <a:solidFill>
                  <a:srgbClr val="1B2330"/>
                </a:solidFill>
                <a:latin typeface="Montserrat"/>
              </a:rPr>
              <a:t>DN de la llave de acometida</a:t>
            </a:r>
          </a:p>
        </p:txBody>
      </p:sp>
      <p:sp>
        <p:nvSpPr>
          <p:cNvPr id="9" name="imgph" descr="IMGQ:technician reading gas supply document clipboard"/>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technician reading gas supply document clipboard</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3.2 · GRADO DE GASIFICACIÓN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Solo dos cifras: 30 y 70</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Grado 1: hasta 30 kW</a:t>
            </a:r>
          </a:p>
          <a:p>
            <a:pPr>
              <a:spcAft>
                <a:spcPts val="1100"/>
              </a:spcAft>
            </a:pPr>
            <a:r>
              <a:rPr sz="1600" b="1" i="0">
                <a:solidFill>
                  <a:srgbClr val="E8801A"/>
                </a:solidFill>
                <a:latin typeface="Montserrat"/>
              </a:rPr>
              <a:t>▸  </a:t>
            </a:r>
            <a:r>
              <a:rPr sz="1600" b="0" i="0">
                <a:solidFill>
                  <a:srgbClr val="1B2330"/>
                </a:solidFill>
                <a:latin typeface="Montserrat"/>
              </a:rPr>
              <a:t>Grado 2: de 30 a 70 kW</a:t>
            </a:r>
          </a:p>
          <a:p>
            <a:pPr>
              <a:spcAft>
                <a:spcPts val="1100"/>
              </a:spcAft>
            </a:pPr>
            <a:r>
              <a:rPr sz="1600" b="1" i="0">
                <a:solidFill>
                  <a:srgbClr val="E8801A"/>
                </a:solidFill>
                <a:latin typeface="Montserrat"/>
              </a:rPr>
              <a:t>▸  </a:t>
            </a:r>
            <a:r>
              <a:rPr sz="1600" b="0" i="0">
                <a:solidFill>
                  <a:srgbClr val="1B2330"/>
                </a:solidFill>
                <a:latin typeface="Montserrat"/>
              </a:rPr>
              <a:t>Grado 3: más de 70 kW</a:t>
            </a:r>
          </a:p>
        </p:txBody>
      </p:sp>
      <p:sp>
        <p:nvSpPr>
          <p:cNvPr id="9" name="imgph" descr="IMGQ:residential gas boiler mounted on wall"/>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residential gas boiler mounted on wall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APARTADO 3.2 · GRADO DE GASIFICACIÓN</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Grado de gasificación de los locales</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5545836"/>
                <a:gridCol w="5545836"/>
              </a:tblGrid>
              <a:tr h="1005840">
                <a:tc>
                  <a:txBody>
                    <a:bodyPr/>
                    <a:lstStyle/>
                    <a:p>
                      <a:r>
                        <a:rPr sz="1200" b="1" i="0">
                          <a:solidFill>
                            <a:srgbClr val="FFFFFF"/>
                          </a:solidFill>
                          <a:latin typeface="Montserrat"/>
                        </a:rPr>
                        <a:t>Grado</a:t>
                      </a:r>
                    </a:p>
                  </a:txBody>
                  <a:tcPr>
                    <a:solidFill>
                      <a:srgbClr val="1E2761"/>
                    </a:solidFill>
                  </a:tcPr>
                </a:tc>
                <a:tc>
                  <a:txBody>
                    <a:bodyPr/>
                    <a:lstStyle/>
                    <a:p>
                      <a:r>
                        <a:rPr sz="1200" b="1" i="0">
                          <a:solidFill>
                            <a:srgbClr val="FFFFFF"/>
                          </a:solidFill>
                          <a:latin typeface="Montserrat"/>
                        </a:rPr>
                        <a:t>Potencia de diseño individual (Pi), en kW</a:t>
                      </a:r>
                    </a:p>
                  </a:txBody>
                  <a:tcPr>
                    <a:solidFill>
                      <a:srgbClr val="1E2761"/>
                    </a:solidFill>
                  </a:tcPr>
                </a:tc>
              </a:tr>
              <a:tr h="1005840">
                <a:tc>
                  <a:txBody>
                    <a:bodyPr/>
                    <a:lstStyle/>
                    <a:p>
                      <a:r>
                        <a:rPr sz="1200" b="0" i="0">
                          <a:solidFill>
                            <a:srgbClr val="1B2330"/>
                          </a:solidFill>
                          <a:latin typeface="Montserrat"/>
                        </a:rPr>
                        <a:t>1</a:t>
                      </a:r>
                    </a:p>
                  </a:txBody>
                  <a:tcPr>
                    <a:solidFill>
                      <a:srgbClr val="F6F8FC"/>
                    </a:solidFill>
                  </a:tcPr>
                </a:tc>
                <a:tc>
                  <a:txBody>
                    <a:bodyPr/>
                    <a:lstStyle/>
                    <a:p>
                      <a:r>
                        <a:rPr sz="1200" b="0" i="0">
                          <a:solidFill>
                            <a:srgbClr val="1B2330"/>
                          </a:solidFill>
                          <a:latin typeface="Montserrat"/>
                        </a:rPr>
                        <a:t>Pi ≤ 30</a:t>
                      </a:r>
                    </a:p>
                  </a:txBody>
                  <a:tcPr>
                    <a:solidFill>
                      <a:srgbClr val="F6F8FC"/>
                    </a:solidFill>
                  </a:tcPr>
                </a:tc>
              </a:tr>
              <a:tr h="1005840">
                <a:tc>
                  <a:txBody>
                    <a:bodyPr/>
                    <a:lstStyle/>
                    <a:p>
                      <a:r>
                        <a:rPr sz="1200" b="0" i="0">
                          <a:solidFill>
                            <a:srgbClr val="1B2330"/>
                          </a:solidFill>
                          <a:latin typeface="Montserrat"/>
                        </a:rPr>
                        <a:t>2</a:t>
                      </a:r>
                    </a:p>
                  </a:txBody>
                  <a:tcPr>
                    <a:solidFill>
                      <a:srgbClr val="FFFFFF"/>
                    </a:solidFill>
                  </a:tcPr>
                </a:tc>
                <a:tc>
                  <a:txBody>
                    <a:bodyPr/>
                    <a:lstStyle/>
                    <a:p>
                      <a:r>
                        <a:rPr sz="1200" b="0" i="0">
                          <a:solidFill>
                            <a:srgbClr val="1B2330"/>
                          </a:solidFill>
                          <a:latin typeface="Montserrat"/>
                        </a:rPr>
                        <a:t>30 &lt; Pi ≤ 70</a:t>
                      </a:r>
                    </a:p>
                  </a:txBody>
                  <a:tcPr>
                    <a:solidFill>
                      <a:srgbClr val="FFFFFF"/>
                    </a:solidFill>
                  </a:tcPr>
                </a:tc>
              </a:tr>
              <a:tr h="1005840">
                <a:tc>
                  <a:txBody>
                    <a:bodyPr/>
                    <a:lstStyle/>
                    <a:p>
                      <a:r>
                        <a:rPr sz="1200" b="0" i="0">
                          <a:solidFill>
                            <a:srgbClr val="1B2330"/>
                          </a:solidFill>
                          <a:latin typeface="Montserrat"/>
                        </a:rPr>
                        <a:t>3</a:t>
                      </a:r>
                    </a:p>
                  </a:txBody>
                  <a:tcPr>
                    <a:solidFill>
                      <a:srgbClr val="F6F8FC"/>
                    </a:solidFill>
                  </a:tcPr>
                </a:tc>
                <a:tc>
                  <a:txBody>
                    <a:bodyPr/>
                    <a:lstStyle/>
                    <a:p>
                      <a:r>
                        <a:rPr sz="1200" b="0" i="0">
                          <a:solidFill>
                            <a:srgbClr val="1B2330"/>
                          </a:solidFill>
                          <a:latin typeface="Montserrat"/>
                        </a:rPr>
                        <a:t>Pi &gt; 70</a:t>
                      </a:r>
                    </a:p>
                  </a:txBody>
                  <a:tcPr>
                    <a:solidFill>
                      <a:srgbClr val="F6F8FC"/>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Pi es la potencia con la que se dota la vivienda o local; según ese valor, la instalación cae en uno de los tres grados.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Una instalación individual de 65 kW, ¿qué grado de gasificación tiene?</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Grado 1</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Grado 2</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Grado 3</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No se le asigna grado</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B</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Una instalación individual de 65 kW, ¿qué grado de gasificación tiene?</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B.  </a:t>
            </a:r>
            <a:r>
              <a:rPr sz="1800" b="1" i="0">
                <a:solidFill>
                  <a:srgbClr val="1E2761"/>
                </a:solidFill>
                <a:latin typeface="Montserrat"/>
              </a:rPr>
              <a:t>Grado 2</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El grado 2 abarca las potencias por encima de 30 kW y hasta 70 kW, y 65 kW cae dentro de ese tramo.</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3.2 · POTENCIA DE LA VIVIENDA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Los dos aparatos grandes, enteros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Los dos mayores cuentan enteros</a:t>
            </a:r>
          </a:p>
          <a:p>
            <a:pPr>
              <a:spcAft>
                <a:spcPts val="1100"/>
              </a:spcAft>
            </a:pPr>
            <a:r>
              <a:rPr sz="1600" b="1" i="0">
                <a:solidFill>
                  <a:srgbClr val="E8801A"/>
                </a:solidFill>
                <a:latin typeface="Montserrat"/>
              </a:rPr>
              <a:t>▸  </a:t>
            </a:r>
            <a:r>
              <a:rPr sz="1600" b="0" i="0">
                <a:solidFill>
                  <a:srgbClr val="1B2330"/>
                </a:solidFill>
                <a:latin typeface="Montserrat"/>
              </a:rPr>
              <a:t>El resto, dividido entre 2</a:t>
            </a:r>
          </a:p>
          <a:p>
            <a:pPr>
              <a:spcAft>
                <a:spcPts val="1100"/>
              </a:spcAft>
            </a:pPr>
            <a:r>
              <a:rPr sz="1600" b="1" i="0">
                <a:solidFill>
                  <a:srgbClr val="E8801A"/>
                </a:solidFill>
                <a:latin typeface="Montserrat"/>
              </a:rPr>
              <a:t>▸  </a:t>
            </a:r>
            <a:r>
              <a:rPr sz="1600" b="0" i="0">
                <a:solidFill>
                  <a:srgbClr val="1B2330"/>
                </a:solidFill>
                <a:latin typeface="Montserrat"/>
              </a:rPr>
              <a:t>Mínimo obligatorio: 30 kW</a:t>
            </a:r>
          </a:p>
        </p:txBody>
      </p:sp>
      <p:sp>
        <p:nvSpPr>
          <p:cNvPr id="9" name="imgph" descr="IMGQ:kitchen with gas cooker and wall boiler"/>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kitchen with gas cooker and wall boiler</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3.2 · LOCAL NO DOMÉSTICO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En un local, se suma todo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Suma de todos los consumos</a:t>
            </a:r>
          </a:p>
          <a:p>
            <a:pPr>
              <a:spcAft>
                <a:spcPts val="1100"/>
              </a:spcAft>
            </a:pPr>
            <a:r>
              <a:rPr sz="1600" b="1" i="0">
                <a:solidFill>
                  <a:srgbClr val="E8801A"/>
                </a:solidFill>
                <a:latin typeface="Montserrat"/>
              </a:rPr>
              <a:t>▸  </a:t>
            </a:r>
            <a:r>
              <a:rPr sz="1600" b="0" i="0">
                <a:solidFill>
                  <a:srgbClr val="1B2330"/>
                </a:solidFill>
                <a:latin typeface="Montserrat"/>
              </a:rPr>
              <a:t>Multiplicado por 1,10</a:t>
            </a:r>
          </a:p>
          <a:p>
            <a:pPr>
              <a:spcAft>
                <a:spcPts val="1100"/>
              </a:spcAft>
            </a:pPr>
            <a:r>
              <a:rPr sz="1600" b="1" i="0">
                <a:solidFill>
                  <a:srgbClr val="E8801A"/>
                </a:solidFill>
                <a:latin typeface="Montserrat"/>
              </a:rPr>
              <a:t>▸  </a:t>
            </a:r>
            <a:r>
              <a:rPr sz="1600" b="0" i="0">
                <a:solidFill>
                  <a:srgbClr val="1B2330"/>
                </a:solidFill>
                <a:latin typeface="Montserrat"/>
              </a:rPr>
              <a:t>Simultaneidad solo si se justifica</a:t>
            </a:r>
          </a:p>
        </p:txBody>
      </p:sp>
      <p:sp>
        <p:nvSpPr>
          <p:cNvPr id="9" name="imgph" descr="IMGQ:commercial kitchen gas range restaurant"/>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commercial kitchen gas range restaurant</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3.3 · POTENCIA COMÚN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edificio entero: la potencia Pc</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Pc = Sn × ΣPiv + ΣPil</a:t>
            </a:r>
          </a:p>
          <a:p>
            <a:pPr>
              <a:spcAft>
                <a:spcPts val="1100"/>
              </a:spcAft>
            </a:pPr>
            <a:r>
              <a:rPr sz="1600" b="1" i="0">
                <a:solidFill>
                  <a:srgbClr val="E8801A"/>
                </a:solidFill>
                <a:latin typeface="Montserrat"/>
              </a:rPr>
              <a:t>▸  </a:t>
            </a:r>
            <a:r>
              <a:rPr sz="1600" b="0" i="0">
                <a:solidFill>
                  <a:srgbClr val="1B2330"/>
                </a:solidFill>
                <a:latin typeface="Montserrat"/>
              </a:rPr>
              <a:t>Más viviendas, menos simultaneidad</a:t>
            </a:r>
          </a:p>
          <a:p>
            <a:pPr>
              <a:spcAft>
                <a:spcPts val="1100"/>
              </a:spcAft>
            </a:pPr>
            <a:r>
              <a:rPr sz="1600" b="1" i="0">
                <a:solidFill>
                  <a:srgbClr val="E8801A"/>
                </a:solidFill>
                <a:latin typeface="Montserrat"/>
              </a:rPr>
              <a:t>▸  </a:t>
            </a:r>
            <a:r>
              <a:rPr sz="1600" b="0" i="0">
                <a:solidFill>
                  <a:srgbClr val="1B2330"/>
                </a:solidFill>
                <a:latin typeface="Montserrat"/>
              </a:rPr>
              <a:t>Con calefacción, el factor sube</a:t>
            </a:r>
          </a:p>
        </p:txBody>
      </p:sp>
      <p:sp>
        <p:nvSpPr>
          <p:cNvPr id="9" name="imgph" descr="IMGQ:apartment building gas riser pipes"/>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apartment building gas riser pipes</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APARTADO 3.3 · FACTOR DE SIMULTANEIDAD</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Factor de simultaneidad Sn (1 a 16 viviendas)</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3697224"/>
                <a:gridCol w="3697224"/>
                <a:gridCol w="3697224"/>
              </a:tblGrid>
              <a:tr h="236668">
                <a:tc>
                  <a:txBody>
                    <a:bodyPr/>
                    <a:lstStyle/>
                    <a:p>
                      <a:r>
                        <a:rPr sz="1200" b="1" i="0">
                          <a:solidFill>
                            <a:srgbClr val="FFFFFF"/>
                          </a:solidFill>
                          <a:latin typeface="Montserrat"/>
                        </a:rPr>
                        <a:t>Nº viviendas</a:t>
                      </a:r>
                    </a:p>
                  </a:txBody>
                  <a:tcPr>
                    <a:solidFill>
                      <a:srgbClr val="1E2761"/>
                    </a:solidFill>
                  </a:tcPr>
                </a:tc>
                <a:tc>
                  <a:txBody>
                    <a:bodyPr/>
                    <a:lstStyle/>
                    <a:p>
                      <a:r>
                        <a:rPr sz="1200" b="1" i="0">
                          <a:solidFill>
                            <a:srgbClr val="FFFFFF"/>
                          </a:solidFill>
                          <a:latin typeface="Montserrat"/>
                        </a:rPr>
                        <a:t>S1 (sin calefacción)</a:t>
                      </a:r>
                    </a:p>
                  </a:txBody>
                  <a:tcPr>
                    <a:solidFill>
                      <a:srgbClr val="1E2761"/>
                    </a:solidFill>
                  </a:tcPr>
                </a:tc>
                <a:tc>
                  <a:txBody>
                    <a:bodyPr/>
                    <a:lstStyle/>
                    <a:p>
                      <a:r>
                        <a:rPr sz="1200" b="1" i="0">
                          <a:solidFill>
                            <a:srgbClr val="FFFFFF"/>
                          </a:solidFill>
                          <a:latin typeface="Montserrat"/>
                        </a:rPr>
                        <a:t>S2 (con calefacción)</a:t>
                      </a:r>
                    </a:p>
                  </a:txBody>
                  <a:tcPr>
                    <a:solidFill>
                      <a:srgbClr val="1E2761"/>
                    </a:solidFill>
                  </a:tcPr>
                </a:tc>
              </a:tr>
              <a:tr h="236668">
                <a:tc>
                  <a:txBody>
                    <a:bodyPr/>
                    <a:lstStyle/>
                    <a:p>
                      <a:r>
                        <a:rPr sz="1200" b="0" i="0">
                          <a:solidFill>
                            <a:srgbClr val="1B2330"/>
                          </a:solidFill>
                          <a:latin typeface="Montserrat"/>
                        </a:rPr>
                        <a:t>1</a:t>
                      </a:r>
                    </a:p>
                  </a:txBody>
                  <a:tcPr>
                    <a:solidFill>
                      <a:srgbClr val="F6F8FC"/>
                    </a:solidFill>
                  </a:tcPr>
                </a:tc>
                <a:tc>
                  <a:txBody>
                    <a:bodyPr/>
                    <a:lstStyle/>
                    <a:p>
                      <a:r>
                        <a:rPr sz="1200" b="0" i="0">
                          <a:solidFill>
                            <a:srgbClr val="1B2330"/>
                          </a:solidFill>
                          <a:latin typeface="Montserrat"/>
                        </a:rPr>
                        <a:t>1,00</a:t>
                      </a:r>
                    </a:p>
                  </a:txBody>
                  <a:tcPr>
                    <a:solidFill>
                      <a:srgbClr val="F6F8FC"/>
                    </a:solidFill>
                  </a:tcPr>
                </a:tc>
                <a:tc>
                  <a:txBody>
                    <a:bodyPr/>
                    <a:lstStyle/>
                    <a:p>
                      <a:r>
                        <a:rPr sz="1200" b="0" i="0">
                          <a:solidFill>
                            <a:srgbClr val="1B2330"/>
                          </a:solidFill>
                          <a:latin typeface="Montserrat"/>
                        </a:rPr>
                        <a:t>1,00</a:t>
                      </a:r>
                    </a:p>
                  </a:txBody>
                  <a:tcPr>
                    <a:solidFill>
                      <a:srgbClr val="F6F8FC"/>
                    </a:solidFill>
                  </a:tcPr>
                </a:tc>
              </a:tr>
              <a:tr h="236668">
                <a:tc>
                  <a:txBody>
                    <a:bodyPr/>
                    <a:lstStyle/>
                    <a:p>
                      <a:r>
                        <a:rPr sz="1200" b="0" i="0">
                          <a:solidFill>
                            <a:srgbClr val="1B2330"/>
                          </a:solidFill>
                          <a:latin typeface="Montserrat"/>
                        </a:rPr>
                        <a:t>2</a:t>
                      </a:r>
                    </a:p>
                  </a:txBody>
                  <a:tcPr>
                    <a:solidFill>
                      <a:srgbClr val="FFFFFF"/>
                    </a:solidFill>
                  </a:tcPr>
                </a:tc>
                <a:tc>
                  <a:txBody>
                    <a:bodyPr/>
                    <a:lstStyle/>
                    <a:p>
                      <a:r>
                        <a:rPr sz="1200" b="0" i="0">
                          <a:solidFill>
                            <a:srgbClr val="1B2330"/>
                          </a:solidFill>
                          <a:latin typeface="Montserrat"/>
                        </a:rPr>
                        <a:t>0,70</a:t>
                      </a:r>
                    </a:p>
                  </a:txBody>
                  <a:tcPr>
                    <a:solidFill>
                      <a:srgbClr val="FFFFFF"/>
                    </a:solidFill>
                  </a:tcPr>
                </a:tc>
                <a:tc>
                  <a:txBody>
                    <a:bodyPr/>
                    <a:lstStyle/>
                    <a:p>
                      <a:r>
                        <a:rPr sz="1200" b="0" i="0">
                          <a:solidFill>
                            <a:srgbClr val="1B2330"/>
                          </a:solidFill>
                          <a:latin typeface="Montserrat"/>
                        </a:rPr>
                        <a:t>0,88</a:t>
                      </a:r>
                    </a:p>
                  </a:txBody>
                  <a:tcPr>
                    <a:solidFill>
                      <a:srgbClr val="FFFFFF"/>
                    </a:solidFill>
                  </a:tcPr>
                </a:tc>
              </a:tr>
              <a:tr h="236668">
                <a:tc>
                  <a:txBody>
                    <a:bodyPr/>
                    <a:lstStyle/>
                    <a:p>
                      <a:r>
                        <a:rPr sz="1200" b="0" i="0">
                          <a:solidFill>
                            <a:srgbClr val="1B2330"/>
                          </a:solidFill>
                          <a:latin typeface="Montserrat"/>
                        </a:rPr>
                        <a:t>3</a:t>
                      </a:r>
                    </a:p>
                  </a:txBody>
                  <a:tcPr>
                    <a:solidFill>
                      <a:srgbClr val="F6F8FC"/>
                    </a:solidFill>
                  </a:tcPr>
                </a:tc>
                <a:tc>
                  <a:txBody>
                    <a:bodyPr/>
                    <a:lstStyle/>
                    <a:p>
                      <a:r>
                        <a:rPr sz="1200" b="0" i="0">
                          <a:solidFill>
                            <a:srgbClr val="1B2330"/>
                          </a:solidFill>
                          <a:latin typeface="Montserrat"/>
                        </a:rPr>
                        <a:t>0,55</a:t>
                      </a:r>
                    </a:p>
                  </a:txBody>
                  <a:tcPr>
                    <a:solidFill>
                      <a:srgbClr val="F6F8FC"/>
                    </a:solidFill>
                  </a:tcPr>
                </a:tc>
                <a:tc>
                  <a:txBody>
                    <a:bodyPr/>
                    <a:lstStyle/>
                    <a:p>
                      <a:r>
                        <a:rPr sz="1200" b="0" i="0">
                          <a:solidFill>
                            <a:srgbClr val="1B2330"/>
                          </a:solidFill>
                          <a:latin typeface="Montserrat"/>
                        </a:rPr>
                        <a:t>0,79</a:t>
                      </a:r>
                    </a:p>
                  </a:txBody>
                  <a:tcPr>
                    <a:solidFill>
                      <a:srgbClr val="F6F8FC"/>
                    </a:solidFill>
                  </a:tcPr>
                </a:tc>
              </a:tr>
              <a:tr h="236668">
                <a:tc>
                  <a:txBody>
                    <a:bodyPr/>
                    <a:lstStyle/>
                    <a:p>
                      <a:r>
                        <a:rPr sz="1200" b="0" i="0">
                          <a:solidFill>
                            <a:srgbClr val="1B2330"/>
                          </a:solidFill>
                          <a:latin typeface="Montserrat"/>
                        </a:rPr>
                        <a:t>4</a:t>
                      </a:r>
                    </a:p>
                  </a:txBody>
                  <a:tcPr>
                    <a:solidFill>
                      <a:srgbClr val="FFFFFF"/>
                    </a:solidFill>
                  </a:tcPr>
                </a:tc>
                <a:tc>
                  <a:txBody>
                    <a:bodyPr/>
                    <a:lstStyle/>
                    <a:p>
                      <a:r>
                        <a:rPr sz="1200" b="0" i="0">
                          <a:solidFill>
                            <a:srgbClr val="1B2330"/>
                          </a:solidFill>
                          <a:latin typeface="Montserrat"/>
                        </a:rPr>
                        <a:t>0,46</a:t>
                      </a:r>
                    </a:p>
                  </a:txBody>
                  <a:tcPr>
                    <a:solidFill>
                      <a:srgbClr val="FFFFFF"/>
                    </a:solidFill>
                  </a:tcPr>
                </a:tc>
                <a:tc>
                  <a:txBody>
                    <a:bodyPr/>
                    <a:lstStyle/>
                    <a:p>
                      <a:r>
                        <a:rPr sz="1200" b="0" i="0">
                          <a:solidFill>
                            <a:srgbClr val="1B2330"/>
                          </a:solidFill>
                          <a:latin typeface="Montserrat"/>
                        </a:rPr>
                        <a:t>0,72</a:t>
                      </a:r>
                    </a:p>
                  </a:txBody>
                  <a:tcPr>
                    <a:solidFill>
                      <a:srgbClr val="FFFFFF"/>
                    </a:solidFill>
                  </a:tcPr>
                </a:tc>
              </a:tr>
              <a:tr h="236668">
                <a:tc>
                  <a:txBody>
                    <a:bodyPr/>
                    <a:lstStyle/>
                    <a:p>
                      <a:r>
                        <a:rPr sz="1200" b="0" i="0">
                          <a:solidFill>
                            <a:srgbClr val="1B2330"/>
                          </a:solidFill>
                          <a:latin typeface="Montserrat"/>
                        </a:rPr>
                        <a:t>5</a:t>
                      </a:r>
                    </a:p>
                  </a:txBody>
                  <a:tcPr>
                    <a:solidFill>
                      <a:srgbClr val="F6F8FC"/>
                    </a:solidFill>
                  </a:tcPr>
                </a:tc>
                <a:tc>
                  <a:txBody>
                    <a:bodyPr/>
                    <a:lstStyle/>
                    <a:p>
                      <a:r>
                        <a:rPr sz="1200" b="0" i="0">
                          <a:solidFill>
                            <a:srgbClr val="1B2330"/>
                          </a:solidFill>
                          <a:latin typeface="Montserrat"/>
                        </a:rPr>
                        <a:t>0,40</a:t>
                      </a:r>
                    </a:p>
                  </a:txBody>
                  <a:tcPr>
                    <a:solidFill>
                      <a:srgbClr val="F6F8FC"/>
                    </a:solidFill>
                  </a:tcPr>
                </a:tc>
                <a:tc>
                  <a:txBody>
                    <a:bodyPr/>
                    <a:lstStyle/>
                    <a:p>
                      <a:r>
                        <a:rPr sz="1200" b="0" i="0">
                          <a:solidFill>
                            <a:srgbClr val="1B2330"/>
                          </a:solidFill>
                          <a:latin typeface="Montserrat"/>
                        </a:rPr>
                        <a:t>0,67</a:t>
                      </a:r>
                    </a:p>
                  </a:txBody>
                  <a:tcPr>
                    <a:solidFill>
                      <a:srgbClr val="F6F8FC"/>
                    </a:solidFill>
                  </a:tcPr>
                </a:tc>
              </a:tr>
              <a:tr h="236668">
                <a:tc>
                  <a:txBody>
                    <a:bodyPr/>
                    <a:lstStyle/>
                    <a:p>
                      <a:r>
                        <a:rPr sz="1200" b="0" i="0">
                          <a:solidFill>
                            <a:srgbClr val="1B2330"/>
                          </a:solidFill>
                          <a:latin typeface="Montserrat"/>
                        </a:rPr>
                        <a:t>6</a:t>
                      </a:r>
                    </a:p>
                  </a:txBody>
                  <a:tcPr>
                    <a:solidFill>
                      <a:srgbClr val="FFFFFF"/>
                    </a:solidFill>
                  </a:tcPr>
                </a:tc>
                <a:tc>
                  <a:txBody>
                    <a:bodyPr/>
                    <a:lstStyle/>
                    <a:p>
                      <a:r>
                        <a:rPr sz="1200" b="0" i="0">
                          <a:solidFill>
                            <a:srgbClr val="1B2330"/>
                          </a:solidFill>
                          <a:latin typeface="Montserrat"/>
                        </a:rPr>
                        <a:t>0,36</a:t>
                      </a:r>
                    </a:p>
                  </a:txBody>
                  <a:tcPr>
                    <a:solidFill>
                      <a:srgbClr val="FFFFFF"/>
                    </a:solidFill>
                  </a:tcPr>
                </a:tc>
                <a:tc>
                  <a:txBody>
                    <a:bodyPr/>
                    <a:lstStyle/>
                    <a:p>
                      <a:r>
                        <a:rPr sz="1200" b="0" i="0">
                          <a:solidFill>
                            <a:srgbClr val="1B2330"/>
                          </a:solidFill>
                          <a:latin typeface="Montserrat"/>
                        </a:rPr>
                        <a:t>0,63</a:t>
                      </a:r>
                    </a:p>
                  </a:txBody>
                  <a:tcPr>
                    <a:solidFill>
                      <a:srgbClr val="FFFFFF"/>
                    </a:solidFill>
                  </a:tcPr>
                </a:tc>
              </a:tr>
              <a:tr h="236668">
                <a:tc>
                  <a:txBody>
                    <a:bodyPr/>
                    <a:lstStyle/>
                    <a:p>
                      <a:r>
                        <a:rPr sz="1200" b="0" i="0">
                          <a:solidFill>
                            <a:srgbClr val="1B2330"/>
                          </a:solidFill>
                          <a:latin typeface="Montserrat"/>
                        </a:rPr>
                        <a:t>7</a:t>
                      </a:r>
                    </a:p>
                  </a:txBody>
                  <a:tcPr>
                    <a:solidFill>
                      <a:srgbClr val="F6F8FC"/>
                    </a:solidFill>
                  </a:tcPr>
                </a:tc>
                <a:tc>
                  <a:txBody>
                    <a:bodyPr/>
                    <a:lstStyle/>
                    <a:p>
                      <a:r>
                        <a:rPr sz="1200" b="0" i="0">
                          <a:solidFill>
                            <a:srgbClr val="1B2330"/>
                          </a:solidFill>
                          <a:latin typeface="Montserrat"/>
                        </a:rPr>
                        <a:t>0,33</a:t>
                      </a:r>
                    </a:p>
                  </a:txBody>
                  <a:tcPr>
                    <a:solidFill>
                      <a:srgbClr val="F6F8FC"/>
                    </a:solidFill>
                  </a:tcPr>
                </a:tc>
                <a:tc>
                  <a:txBody>
                    <a:bodyPr/>
                    <a:lstStyle/>
                    <a:p>
                      <a:r>
                        <a:rPr sz="1200" b="0" i="0">
                          <a:solidFill>
                            <a:srgbClr val="1B2330"/>
                          </a:solidFill>
                          <a:latin typeface="Montserrat"/>
                        </a:rPr>
                        <a:t>0,59</a:t>
                      </a:r>
                    </a:p>
                  </a:txBody>
                  <a:tcPr>
                    <a:solidFill>
                      <a:srgbClr val="F6F8FC"/>
                    </a:solidFill>
                  </a:tcPr>
                </a:tc>
              </a:tr>
              <a:tr h="236668">
                <a:tc>
                  <a:txBody>
                    <a:bodyPr/>
                    <a:lstStyle/>
                    <a:p>
                      <a:r>
                        <a:rPr sz="1200" b="0" i="0">
                          <a:solidFill>
                            <a:srgbClr val="1B2330"/>
                          </a:solidFill>
                          <a:latin typeface="Montserrat"/>
                        </a:rPr>
                        <a:t>8</a:t>
                      </a:r>
                    </a:p>
                  </a:txBody>
                  <a:tcPr>
                    <a:solidFill>
                      <a:srgbClr val="FFFFFF"/>
                    </a:solidFill>
                  </a:tcPr>
                </a:tc>
                <a:tc>
                  <a:txBody>
                    <a:bodyPr/>
                    <a:lstStyle/>
                    <a:p>
                      <a:r>
                        <a:rPr sz="1200" b="0" i="0">
                          <a:solidFill>
                            <a:srgbClr val="1B2330"/>
                          </a:solidFill>
                          <a:latin typeface="Montserrat"/>
                        </a:rPr>
                        <a:t>0,30</a:t>
                      </a:r>
                    </a:p>
                  </a:txBody>
                  <a:tcPr>
                    <a:solidFill>
                      <a:srgbClr val="FFFFFF"/>
                    </a:solidFill>
                  </a:tcPr>
                </a:tc>
                <a:tc>
                  <a:txBody>
                    <a:bodyPr/>
                    <a:lstStyle/>
                    <a:p>
                      <a:r>
                        <a:rPr sz="1200" b="0" i="0">
                          <a:solidFill>
                            <a:srgbClr val="1B2330"/>
                          </a:solidFill>
                          <a:latin typeface="Montserrat"/>
                        </a:rPr>
                        <a:t>0,56</a:t>
                      </a:r>
                    </a:p>
                  </a:txBody>
                  <a:tcPr>
                    <a:solidFill>
                      <a:srgbClr val="FFFFFF"/>
                    </a:solidFill>
                  </a:tcPr>
                </a:tc>
              </a:tr>
              <a:tr h="236668">
                <a:tc>
                  <a:txBody>
                    <a:bodyPr/>
                    <a:lstStyle/>
                    <a:p>
                      <a:r>
                        <a:rPr sz="1200" b="0" i="0">
                          <a:solidFill>
                            <a:srgbClr val="1B2330"/>
                          </a:solidFill>
                          <a:latin typeface="Montserrat"/>
                        </a:rPr>
                        <a:t>9</a:t>
                      </a:r>
                    </a:p>
                  </a:txBody>
                  <a:tcPr>
                    <a:solidFill>
                      <a:srgbClr val="F6F8FC"/>
                    </a:solidFill>
                  </a:tcPr>
                </a:tc>
                <a:tc>
                  <a:txBody>
                    <a:bodyPr/>
                    <a:lstStyle/>
                    <a:p>
                      <a:r>
                        <a:rPr sz="1200" b="0" i="0">
                          <a:solidFill>
                            <a:srgbClr val="1B2330"/>
                          </a:solidFill>
                          <a:latin typeface="Montserrat"/>
                        </a:rPr>
                        <a:t>0,28</a:t>
                      </a:r>
                    </a:p>
                  </a:txBody>
                  <a:tcPr>
                    <a:solidFill>
                      <a:srgbClr val="F6F8FC"/>
                    </a:solidFill>
                  </a:tcPr>
                </a:tc>
                <a:tc>
                  <a:txBody>
                    <a:bodyPr/>
                    <a:lstStyle/>
                    <a:p>
                      <a:r>
                        <a:rPr sz="1200" b="0" i="0">
                          <a:solidFill>
                            <a:srgbClr val="1B2330"/>
                          </a:solidFill>
                          <a:latin typeface="Montserrat"/>
                        </a:rPr>
                        <a:t>0,54</a:t>
                      </a:r>
                    </a:p>
                  </a:txBody>
                  <a:tcPr>
                    <a:solidFill>
                      <a:srgbClr val="F6F8FC"/>
                    </a:solidFill>
                  </a:tcPr>
                </a:tc>
              </a:tr>
              <a:tr h="236668">
                <a:tc>
                  <a:txBody>
                    <a:bodyPr/>
                    <a:lstStyle/>
                    <a:p>
                      <a:r>
                        <a:rPr sz="1200" b="0" i="0">
                          <a:solidFill>
                            <a:srgbClr val="1B2330"/>
                          </a:solidFill>
                          <a:latin typeface="Montserrat"/>
                        </a:rPr>
                        <a:t>10</a:t>
                      </a:r>
                    </a:p>
                  </a:txBody>
                  <a:tcPr>
                    <a:solidFill>
                      <a:srgbClr val="FFFFFF"/>
                    </a:solidFill>
                  </a:tcPr>
                </a:tc>
                <a:tc>
                  <a:txBody>
                    <a:bodyPr/>
                    <a:lstStyle/>
                    <a:p>
                      <a:r>
                        <a:rPr sz="1200" b="0" i="0">
                          <a:solidFill>
                            <a:srgbClr val="1B2330"/>
                          </a:solidFill>
                          <a:latin typeface="Montserrat"/>
                        </a:rPr>
                        <a:t>0,26</a:t>
                      </a:r>
                    </a:p>
                  </a:txBody>
                  <a:tcPr>
                    <a:solidFill>
                      <a:srgbClr val="FFFFFF"/>
                    </a:solidFill>
                  </a:tcPr>
                </a:tc>
                <a:tc>
                  <a:txBody>
                    <a:bodyPr/>
                    <a:lstStyle/>
                    <a:p>
                      <a:r>
                        <a:rPr sz="1200" b="0" i="0">
                          <a:solidFill>
                            <a:srgbClr val="1B2330"/>
                          </a:solidFill>
                          <a:latin typeface="Montserrat"/>
                        </a:rPr>
                        <a:t>0,52</a:t>
                      </a:r>
                    </a:p>
                  </a:txBody>
                  <a:tcPr>
                    <a:solidFill>
                      <a:srgbClr val="FFFFFF"/>
                    </a:solidFill>
                  </a:tcPr>
                </a:tc>
              </a:tr>
              <a:tr h="236668">
                <a:tc>
                  <a:txBody>
                    <a:bodyPr/>
                    <a:lstStyle/>
                    <a:p>
                      <a:r>
                        <a:rPr sz="1200" b="0" i="0">
                          <a:solidFill>
                            <a:srgbClr val="1B2330"/>
                          </a:solidFill>
                          <a:latin typeface="Montserrat"/>
                        </a:rPr>
                        <a:t>11</a:t>
                      </a:r>
                    </a:p>
                  </a:txBody>
                  <a:tcPr>
                    <a:solidFill>
                      <a:srgbClr val="F6F8FC"/>
                    </a:solidFill>
                  </a:tcPr>
                </a:tc>
                <a:tc>
                  <a:txBody>
                    <a:bodyPr/>
                    <a:lstStyle/>
                    <a:p>
                      <a:r>
                        <a:rPr sz="1200" b="0" i="0">
                          <a:solidFill>
                            <a:srgbClr val="1B2330"/>
                          </a:solidFill>
                          <a:latin typeface="Montserrat"/>
                        </a:rPr>
                        <a:t>0,25</a:t>
                      </a:r>
                    </a:p>
                  </a:txBody>
                  <a:tcPr>
                    <a:solidFill>
                      <a:srgbClr val="F6F8FC"/>
                    </a:solidFill>
                  </a:tcPr>
                </a:tc>
                <a:tc>
                  <a:txBody>
                    <a:bodyPr/>
                    <a:lstStyle/>
                    <a:p>
                      <a:r>
                        <a:rPr sz="1200" b="0" i="0">
                          <a:solidFill>
                            <a:srgbClr val="1B2330"/>
                          </a:solidFill>
                          <a:latin typeface="Montserrat"/>
                        </a:rPr>
                        <a:t>0,50</a:t>
                      </a:r>
                    </a:p>
                  </a:txBody>
                  <a:tcPr>
                    <a:solidFill>
                      <a:srgbClr val="F6F8FC"/>
                    </a:solidFill>
                  </a:tcPr>
                </a:tc>
              </a:tr>
              <a:tr h="236668">
                <a:tc>
                  <a:txBody>
                    <a:bodyPr/>
                    <a:lstStyle/>
                    <a:p>
                      <a:r>
                        <a:rPr sz="1200" b="0" i="0">
                          <a:solidFill>
                            <a:srgbClr val="1B2330"/>
                          </a:solidFill>
                          <a:latin typeface="Montserrat"/>
                        </a:rPr>
                        <a:t>12</a:t>
                      </a:r>
                    </a:p>
                  </a:txBody>
                  <a:tcPr>
                    <a:solidFill>
                      <a:srgbClr val="FFFFFF"/>
                    </a:solidFill>
                  </a:tcPr>
                </a:tc>
                <a:tc>
                  <a:txBody>
                    <a:bodyPr/>
                    <a:lstStyle/>
                    <a:p>
                      <a:r>
                        <a:rPr sz="1200" b="0" i="0">
                          <a:solidFill>
                            <a:srgbClr val="1B2330"/>
                          </a:solidFill>
                          <a:latin typeface="Montserrat"/>
                        </a:rPr>
                        <a:t>0,24</a:t>
                      </a:r>
                    </a:p>
                  </a:txBody>
                  <a:tcPr>
                    <a:solidFill>
                      <a:srgbClr val="FFFFFF"/>
                    </a:solidFill>
                  </a:tcPr>
                </a:tc>
                <a:tc>
                  <a:txBody>
                    <a:bodyPr/>
                    <a:lstStyle/>
                    <a:p>
                      <a:r>
                        <a:rPr sz="1200" b="0" i="0">
                          <a:solidFill>
                            <a:srgbClr val="1B2330"/>
                          </a:solidFill>
                          <a:latin typeface="Montserrat"/>
                        </a:rPr>
                        <a:t>0,48</a:t>
                      </a:r>
                    </a:p>
                  </a:txBody>
                  <a:tcPr>
                    <a:solidFill>
                      <a:srgbClr val="FFFFFF"/>
                    </a:solidFill>
                  </a:tcPr>
                </a:tc>
              </a:tr>
              <a:tr h="236668">
                <a:tc>
                  <a:txBody>
                    <a:bodyPr/>
                    <a:lstStyle/>
                    <a:p>
                      <a:r>
                        <a:rPr sz="1200" b="0" i="0">
                          <a:solidFill>
                            <a:srgbClr val="1B2330"/>
                          </a:solidFill>
                          <a:latin typeface="Montserrat"/>
                        </a:rPr>
                        <a:t>13</a:t>
                      </a:r>
                    </a:p>
                  </a:txBody>
                  <a:tcPr>
                    <a:solidFill>
                      <a:srgbClr val="F6F8FC"/>
                    </a:solidFill>
                  </a:tcPr>
                </a:tc>
                <a:tc>
                  <a:txBody>
                    <a:bodyPr/>
                    <a:lstStyle/>
                    <a:p>
                      <a:r>
                        <a:rPr sz="1200" b="0" i="0">
                          <a:solidFill>
                            <a:srgbClr val="1B2330"/>
                          </a:solidFill>
                          <a:latin typeface="Montserrat"/>
                        </a:rPr>
                        <a:t>0,23</a:t>
                      </a:r>
                    </a:p>
                  </a:txBody>
                  <a:tcPr>
                    <a:solidFill>
                      <a:srgbClr val="F6F8FC"/>
                    </a:solidFill>
                  </a:tcPr>
                </a:tc>
                <a:tc>
                  <a:txBody>
                    <a:bodyPr/>
                    <a:lstStyle/>
                    <a:p>
                      <a:r>
                        <a:rPr sz="1200" b="0" i="0">
                          <a:solidFill>
                            <a:srgbClr val="1B2330"/>
                          </a:solidFill>
                          <a:latin typeface="Montserrat"/>
                        </a:rPr>
                        <a:t>0,47</a:t>
                      </a:r>
                    </a:p>
                  </a:txBody>
                  <a:tcPr>
                    <a:solidFill>
                      <a:srgbClr val="F6F8FC"/>
                    </a:solidFill>
                  </a:tcPr>
                </a:tc>
              </a:tr>
              <a:tr h="236668">
                <a:tc>
                  <a:txBody>
                    <a:bodyPr/>
                    <a:lstStyle/>
                    <a:p>
                      <a:r>
                        <a:rPr sz="1200" b="0" i="0">
                          <a:solidFill>
                            <a:srgbClr val="1B2330"/>
                          </a:solidFill>
                          <a:latin typeface="Montserrat"/>
                        </a:rPr>
                        <a:t>14</a:t>
                      </a:r>
                    </a:p>
                  </a:txBody>
                  <a:tcPr>
                    <a:solidFill>
                      <a:srgbClr val="FFFFFF"/>
                    </a:solidFill>
                  </a:tcPr>
                </a:tc>
                <a:tc>
                  <a:txBody>
                    <a:bodyPr/>
                    <a:lstStyle/>
                    <a:p>
                      <a:r>
                        <a:rPr sz="1200" b="0" i="0">
                          <a:solidFill>
                            <a:srgbClr val="1B2330"/>
                          </a:solidFill>
                          <a:latin typeface="Montserrat"/>
                        </a:rPr>
                        <a:t>0,22</a:t>
                      </a:r>
                    </a:p>
                  </a:txBody>
                  <a:tcPr>
                    <a:solidFill>
                      <a:srgbClr val="FFFFFF"/>
                    </a:solidFill>
                  </a:tcPr>
                </a:tc>
                <a:tc>
                  <a:txBody>
                    <a:bodyPr/>
                    <a:lstStyle/>
                    <a:p>
                      <a:r>
                        <a:rPr sz="1200" b="0" i="0">
                          <a:solidFill>
                            <a:srgbClr val="1B2330"/>
                          </a:solidFill>
                          <a:latin typeface="Montserrat"/>
                        </a:rPr>
                        <a:t>0,46</a:t>
                      </a:r>
                    </a:p>
                  </a:txBody>
                  <a:tcPr>
                    <a:solidFill>
                      <a:srgbClr val="FFFFFF"/>
                    </a:solidFill>
                  </a:tcPr>
                </a:tc>
              </a:tr>
              <a:tr h="236668">
                <a:tc>
                  <a:txBody>
                    <a:bodyPr/>
                    <a:lstStyle/>
                    <a:p>
                      <a:r>
                        <a:rPr sz="1200" b="0" i="0">
                          <a:solidFill>
                            <a:srgbClr val="1B2330"/>
                          </a:solidFill>
                          <a:latin typeface="Montserrat"/>
                        </a:rPr>
                        <a:t>15</a:t>
                      </a:r>
                    </a:p>
                  </a:txBody>
                  <a:tcPr>
                    <a:solidFill>
                      <a:srgbClr val="F6F8FC"/>
                    </a:solidFill>
                  </a:tcPr>
                </a:tc>
                <a:tc>
                  <a:txBody>
                    <a:bodyPr/>
                    <a:lstStyle/>
                    <a:p>
                      <a:r>
                        <a:rPr sz="1200" b="0" i="0">
                          <a:solidFill>
                            <a:srgbClr val="1B2330"/>
                          </a:solidFill>
                          <a:latin typeface="Montserrat"/>
                        </a:rPr>
                        <a:t>0,21</a:t>
                      </a:r>
                    </a:p>
                  </a:txBody>
                  <a:tcPr>
                    <a:solidFill>
                      <a:srgbClr val="F6F8FC"/>
                    </a:solidFill>
                  </a:tcPr>
                </a:tc>
                <a:tc>
                  <a:txBody>
                    <a:bodyPr/>
                    <a:lstStyle/>
                    <a:p>
                      <a:r>
                        <a:rPr sz="1200" b="0" i="0">
                          <a:solidFill>
                            <a:srgbClr val="1B2330"/>
                          </a:solidFill>
                          <a:latin typeface="Montserrat"/>
                        </a:rPr>
                        <a:t>0,45</a:t>
                      </a:r>
                    </a:p>
                  </a:txBody>
                  <a:tcPr>
                    <a:solidFill>
                      <a:srgbClr val="F6F8FC"/>
                    </a:solidFill>
                  </a:tcPr>
                </a:tc>
              </a:tr>
              <a:tr h="236672">
                <a:tc>
                  <a:txBody>
                    <a:bodyPr/>
                    <a:lstStyle/>
                    <a:p>
                      <a:r>
                        <a:rPr sz="1200" b="0" i="0">
                          <a:solidFill>
                            <a:srgbClr val="1B2330"/>
                          </a:solidFill>
                          <a:latin typeface="Montserrat"/>
                        </a:rPr>
                        <a:t>16</a:t>
                      </a:r>
                    </a:p>
                  </a:txBody>
                  <a:tcPr>
                    <a:solidFill>
                      <a:srgbClr val="FFFFFF"/>
                    </a:solidFill>
                  </a:tcPr>
                </a:tc>
                <a:tc>
                  <a:txBody>
                    <a:bodyPr/>
                    <a:lstStyle/>
                    <a:p>
                      <a:r>
                        <a:rPr sz="1200" b="0" i="0">
                          <a:solidFill>
                            <a:srgbClr val="1B2330"/>
                          </a:solidFill>
                          <a:latin typeface="Montserrat"/>
                        </a:rPr>
                        <a:t>0,21</a:t>
                      </a:r>
                    </a:p>
                  </a:txBody>
                  <a:tcPr>
                    <a:solidFill>
                      <a:srgbClr val="FFFFFF"/>
                    </a:solidFill>
                  </a:tcPr>
                </a:tc>
                <a:tc>
                  <a:txBody>
                    <a:bodyPr/>
                    <a:lstStyle/>
                    <a:p>
                      <a:r>
                        <a:rPr sz="1200" b="0" i="0">
                          <a:solidFill>
                            <a:srgbClr val="1B2330"/>
                          </a:solidFill>
                          <a:latin typeface="Montserrat"/>
                        </a:rPr>
                        <a:t>0,44</a:t>
                      </a:r>
                    </a:p>
                  </a:txBody>
                  <a:tcPr>
                    <a:solidFill>
                      <a:srgbClr val="FFFFFF"/>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S1 se usa cuando no hay calefacción individual y S2 cuando sí la hay; el factor multiplica la suma de potencias de las viviendas.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APARTADO 3.3 · FACTOR DE SIMULTANEIDAD</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Factor de simultaneidad Sn (de 17 viviendas en adelante)</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3697224"/>
                <a:gridCol w="3697224"/>
                <a:gridCol w="3697224"/>
              </a:tblGrid>
              <a:tr h="251460">
                <a:tc>
                  <a:txBody>
                    <a:bodyPr/>
                    <a:lstStyle/>
                    <a:p>
                      <a:r>
                        <a:rPr sz="1200" b="1" i="0">
                          <a:solidFill>
                            <a:srgbClr val="FFFFFF"/>
                          </a:solidFill>
                          <a:latin typeface="Montserrat"/>
                        </a:rPr>
                        <a:t>Nº viviendas</a:t>
                      </a:r>
                    </a:p>
                  </a:txBody>
                  <a:tcPr>
                    <a:solidFill>
                      <a:srgbClr val="1E2761"/>
                    </a:solidFill>
                  </a:tcPr>
                </a:tc>
                <a:tc>
                  <a:txBody>
                    <a:bodyPr/>
                    <a:lstStyle/>
                    <a:p>
                      <a:r>
                        <a:rPr sz="1200" b="1" i="0">
                          <a:solidFill>
                            <a:srgbClr val="FFFFFF"/>
                          </a:solidFill>
                          <a:latin typeface="Montserrat"/>
                        </a:rPr>
                        <a:t>S1 (sin calefacción)</a:t>
                      </a:r>
                    </a:p>
                  </a:txBody>
                  <a:tcPr>
                    <a:solidFill>
                      <a:srgbClr val="1E2761"/>
                    </a:solidFill>
                  </a:tcPr>
                </a:tc>
                <a:tc>
                  <a:txBody>
                    <a:bodyPr/>
                    <a:lstStyle/>
                    <a:p>
                      <a:r>
                        <a:rPr sz="1200" b="1" i="0">
                          <a:solidFill>
                            <a:srgbClr val="FFFFFF"/>
                          </a:solidFill>
                          <a:latin typeface="Montserrat"/>
                        </a:rPr>
                        <a:t>S2 (con calefacción)</a:t>
                      </a:r>
                    </a:p>
                  </a:txBody>
                  <a:tcPr>
                    <a:solidFill>
                      <a:srgbClr val="1E2761"/>
                    </a:solidFill>
                  </a:tcPr>
                </a:tc>
              </a:tr>
              <a:tr h="251460">
                <a:tc>
                  <a:txBody>
                    <a:bodyPr/>
                    <a:lstStyle/>
                    <a:p>
                      <a:r>
                        <a:rPr sz="1200" b="0" i="0">
                          <a:solidFill>
                            <a:srgbClr val="1B2330"/>
                          </a:solidFill>
                          <a:latin typeface="Montserrat"/>
                        </a:rPr>
                        <a:t>17</a:t>
                      </a:r>
                    </a:p>
                  </a:txBody>
                  <a:tcPr>
                    <a:solidFill>
                      <a:srgbClr val="F6F8FC"/>
                    </a:solidFill>
                  </a:tcPr>
                </a:tc>
                <a:tc>
                  <a:txBody>
                    <a:bodyPr/>
                    <a:lstStyle/>
                    <a:p>
                      <a:r>
                        <a:rPr sz="1200" b="0" i="0">
                          <a:solidFill>
                            <a:srgbClr val="1B2330"/>
                          </a:solidFill>
                          <a:latin typeface="Montserrat"/>
                        </a:rPr>
                        <a:t>0,20</a:t>
                      </a:r>
                    </a:p>
                  </a:txBody>
                  <a:tcPr>
                    <a:solidFill>
                      <a:srgbClr val="F6F8FC"/>
                    </a:solidFill>
                  </a:tcPr>
                </a:tc>
                <a:tc>
                  <a:txBody>
                    <a:bodyPr/>
                    <a:lstStyle/>
                    <a:p>
                      <a:r>
                        <a:rPr sz="1200" b="0" i="0">
                          <a:solidFill>
                            <a:srgbClr val="1B2330"/>
                          </a:solidFill>
                          <a:latin typeface="Montserrat"/>
                        </a:rPr>
                        <a:t>0,43</a:t>
                      </a:r>
                    </a:p>
                  </a:txBody>
                  <a:tcPr>
                    <a:solidFill>
                      <a:srgbClr val="F6F8FC"/>
                    </a:solidFill>
                  </a:tcPr>
                </a:tc>
              </a:tr>
              <a:tr h="251460">
                <a:tc>
                  <a:txBody>
                    <a:bodyPr/>
                    <a:lstStyle/>
                    <a:p>
                      <a:r>
                        <a:rPr sz="1200" b="0" i="0">
                          <a:solidFill>
                            <a:srgbClr val="1B2330"/>
                          </a:solidFill>
                          <a:latin typeface="Montserrat"/>
                        </a:rPr>
                        <a:t>18</a:t>
                      </a:r>
                    </a:p>
                  </a:txBody>
                  <a:tcPr>
                    <a:solidFill>
                      <a:srgbClr val="FFFFFF"/>
                    </a:solidFill>
                  </a:tcPr>
                </a:tc>
                <a:tc>
                  <a:txBody>
                    <a:bodyPr/>
                    <a:lstStyle/>
                    <a:p>
                      <a:r>
                        <a:rPr sz="1200" b="0" i="0">
                          <a:solidFill>
                            <a:srgbClr val="1B2330"/>
                          </a:solidFill>
                          <a:latin typeface="Montserrat"/>
                        </a:rPr>
                        <a:t>0,19</a:t>
                      </a:r>
                    </a:p>
                  </a:txBody>
                  <a:tcPr>
                    <a:solidFill>
                      <a:srgbClr val="FFFFFF"/>
                    </a:solidFill>
                  </a:tcPr>
                </a:tc>
                <a:tc>
                  <a:txBody>
                    <a:bodyPr/>
                    <a:lstStyle/>
                    <a:p>
                      <a:r>
                        <a:rPr sz="1200" b="0" i="0">
                          <a:solidFill>
                            <a:srgbClr val="1B2330"/>
                          </a:solidFill>
                          <a:latin typeface="Montserrat"/>
                        </a:rPr>
                        <a:t>0,42</a:t>
                      </a:r>
                    </a:p>
                  </a:txBody>
                  <a:tcPr>
                    <a:solidFill>
                      <a:srgbClr val="FFFFFF"/>
                    </a:solidFill>
                  </a:tcPr>
                </a:tc>
              </a:tr>
              <a:tr h="251460">
                <a:tc>
                  <a:txBody>
                    <a:bodyPr/>
                    <a:lstStyle/>
                    <a:p>
                      <a:r>
                        <a:rPr sz="1200" b="0" i="0">
                          <a:solidFill>
                            <a:srgbClr val="1B2330"/>
                          </a:solidFill>
                          <a:latin typeface="Montserrat"/>
                        </a:rPr>
                        <a:t>19</a:t>
                      </a:r>
                    </a:p>
                  </a:txBody>
                  <a:tcPr>
                    <a:solidFill>
                      <a:srgbClr val="F6F8FC"/>
                    </a:solidFill>
                  </a:tcPr>
                </a:tc>
                <a:tc>
                  <a:txBody>
                    <a:bodyPr/>
                    <a:lstStyle/>
                    <a:p>
                      <a:r>
                        <a:rPr sz="1200" b="0" i="0">
                          <a:solidFill>
                            <a:srgbClr val="1B2330"/>
                          </a:solidFill>
                          <a:latin typeface="Montserrat"/>
                        </a:rPr>
                        <a:t>0,19</a:t>
                      </a:r>
                    </a:p>
                  </a:txBody>
                  <a:tcPr>
                    <a:solidFill>
                      <a:srgbClr val="F6F8FC"/>
                    </a:solidFill>
                  </a:tcPr>
                </a:tc>
                <a:tc>
                  <a:txBody>
                    <a:bodyPr/>
                    <a:lstStyle/>
                    <a:p>
                      <a:r>
                        <a:rPr sz="1200" b="0" i="0">
                          <a:solidFill>
                            <a:srgbClr val="1B2330"/>
                          </a:solidFill>
                          <a:latin typeface="Montserrat"/>
                        </a:rPr>
                        <a:t>0,41</a:t>
                      </a:r>
                    </a:p>
                  </a:txBody>
                  <a:tcPr>
                    <a:solidFill>
                      <a:srgbClr val="F6F8FC"/>
                    </a:solidFill>
                  </a:tcPr>
                </a:tc>
              </a:tr>
              <a:tr h="251460">
                <a:tc>
                  <a:txBody>
                    <a:bodyPr/>
                    <a:lstStyle/>
                    <a:p>
                      <a:r>
                        <a:rPr sz="1200" b="0" i="0">
                          <a:solidFill>
                            <a:srgbClr val="1B2330"/>
                          </a:solidFill>
                          <a:latin typeface="Montserrat"/>
                        </a:rPr>
                        <a:t>20</a:t>
                      </a:r>
                    </a:p>
                  </a:txBody>
                  <a:tcPr>
                    <a:solidFill>
                      <a:srgbClr val="FFFFFF"/>
                    </a:solidFill>
                  </a:tcPr>
                </a:tc>
                <a:tc>
                  <a:txBody>
                    <a:bodyPr/>
                    <a:lstStyle/>
                    <a:p>
                      <a:r>
                        <a:rPr sz="1200" b="0" i="0">
                          <a:solidFill>
                            <a:srgbClr val="1B2330"/>
                          </a:solidFill>
                          <a:latin typeface="Montserrat"/>
                        </a:rPr>
                        <a:t>0,19</a:t>
                      </a:r>
                    </a:p>
                  </a:txBody>
                  <a:tcPr>
                    <a:solidFill>
                      <a:srgbClr val="FFFFFF"/>
                    </a:solidFill>
                  </a:tcPr>
                </a:tc>
                <a:tc>
                  <a:txBody>
                    <a:bodyPr/>
                    <a:lstStyle/>
                    <a:p>
                      <a:r>
                        <a:rPr sz="1200" b="0" i="0">
                          <a:solidFill>
                            <a:srgbClr val="1B2330"/>
                          </a:solidFill>
                          <a:latin typeface="Montserrat"/>
                        </a:rPr>
                        <a:t>0,41</a:t>
                      </a:r>
                    </a:p>
                  </a:txBody>
                  <a:tcPr>
                    <a:solidFill>
                      <a:srgbClr val="FFFFFF"/>
                    </a:solidFill>
                  </a:tcPr>
                </a:tc>
              </a:tr>
              <a:tr h="251460">
                <a:tc>
                  <a:txBody>
                    <a:bodyPr/>
                    <a:lstStyle/>
                    <a:p>
                      <a:r>
                        <a:rPr sz="1200" b="0" i="0">
                          <a:solidFill>
                            <a:srgbClr val="1B2330"/>
                          </a:solidFill>
                          <a:latin typeface="Montserrat"/>
                        </a:rPr>
                        <a:t>21</a:t>
                      </a:r>
                    </a:p>
                  </a:txBody>
                  <a:tcPr>
                    <a:solidFill>
                      <a:srgbClr val="F6F8FC"/>
                    </a:solidFill>
                  </a:tcPr>
                </a:tc>
                <a:tc>
                  <a:txBody>
                    <a:bodyPr/>
                    <a:lstStyle/>
                    <a:p>
                      <a:r>
                        <a:rPr sz="1200" b="0" i="0">
                          <a:solidFill>
                            <a:srgbClr val="1B2330"/>
                          </a:solidFill>
                          <a:latin typeface="Montserrat"/>
                        </a:rPr>
                        <a:t>0,18</a:t>
                      </a:r>
                    </a:p>
                  </a:txBody>
                  <a:tcPr>
                    <a:solidFill>
                      <a:srgbClr val="F6F8FC"/>
                    </a:solidFill>
                  </a:tcPr>
                </a:tc>
                <a:tc>
                  <a:txBody>
                    <a:bodyPr/>
                    <a:lstStyle/>
                    <a:p>
                      <a:r>
                        <a:rPr sz="1200" b="0" i="0">
                          <a:solidFill>
                            <a:srgbClr val="1B2330"/>
                          </a:solidFill>
                          <a:latin typeface="Montserrat"/>
                        </a:rPr>
                        <a:t>0,40</a:t>
                      </a:r>
                    </a:p>
                  </a:txBody>
                  <a:tcPr>
                    <a:solidFill>
                      <a:srgbClr val="F6F8FC"/>
                    </a:solidFill>
                  </a:tcPr>
                </a:tc>
              </a:tr>
              <a:tr h="251460">
                <a:tc>
                  <a:txBody>
                    <a:bodyPr/>
                    <a:lstStyle/>
                    <a:p>
                      <a:r>
                        <a:rPr sz="1200" b="0" i="0">
                          <a:solidFill>
                            <a:srgbClr val="1B2330"/>
                          </a:solidFill>
                          <a:latin typeface="Montserrat"/>
                        </a:rPr>
                        <a:t>22</a:t>
                      </a:r>
                    </a:p>
                  </a:txBody>
                  <a:tcPr>
                    <a:solidFill>
                      <a:srgbClr val="FFFFFF"/>
                    </a:solidFill>
                  </a:tcPr>
                </a:tc>
                <a:tc>
                  <a:txBody>
                    <a:bodyPr/>
                    <a:lstStyle/>
                    <a:p>
                      <a:r>
                        <a:rPr sz="1200" b="0" i="0">
                          <a:solidFill>
                            <a:srgbClr val="1B2330"/>
                          </a:solidFill>
                          <a:latin typeface="Montserrat"/>
                        </a:rPr>
                        <a:t>0,18</a:t>
                      </a:r>
                    </a:p>
                  </a:txBody>
                  <a:tcPr>
                    <a:solidFill>
                      <a:srgbClr val="FFFFFF"/>
                    </a:solidFill>
                  </a:tcPr>
                </a:tc>
                <a:tc>
                  <a:txBody>
                    <a:bodyPr/>
                    <a:lstStyle/>
                    <a:p>
                      <a:r>
                        <a:rPr sz="1200" b="0" i="0">
                          <a:solidFill>
                            <a:srgbClr val="1B2330"/>
                          </a:solidFill>
                          <a:latin typeface="Montserrat"/>
                        </a:rPr>
                        <a:t>0,39</a:t>
                      </a:r>
                    </a:p>
                  </a:txBody>
                  <a:tcPr>
                    <a:solidFill>
                      <a:srgbClr val="FFFFFF"/>
                    </a:solidFill>
                  </a:tcPr>
                </a:tc>
              </a:tr>
              <a:tr h="251460">
                <a:tc>
                  <a:txBody>
                    <a:bodyPr/>
                    <a:lstStyle/>
                    <a:p>
                      <a:r>
                        <a:rPr sz="1200" b="0" i="0">
                          <a:solidFill>
                            <a:srgbClr val="1B2330"/>
                          </a:solidFill>
                          <a:latin typeface="Montserrat"/>
                        </a:rPr>
                        <a:t>23</a:t>
                      </a:r>
                    </a:p>
                  </a:txBody>
                  <a:tcPr>
                    <a:solidFill>
                      <a:srgbClr val="F6F8FC"/>
                    </a:solidFill>
                  </a:tcPr>
                </a:tc>
                <a:tc>
                  <a:txBody>
                    <a:bodyPr/>
                    <a:lstStyle/>
                    <a:p>
                      <a:r>
                        <a:rPr sz="1200" b="0" i="0">
                          <a:solidFill>
                            <a:srgbClr val="1B2330"/>
                          </a:solidFill>
                          <a:latin typeface="Montserrat"/>
                        </a:rPr>
                        <a:t>0,18</a:t>
                      </a:r>
                    </a:p>
                  </a:txBody>
                  <a:tcPr>
                    <a:solidFill>
                      <a:srgbClr val="F6F8FC"/>
                    </a:solidFill>
                  </a:tcPr>
                </a:tc>
                <a:tc>
                  <a:txBody>
                    <a:bodyPr/>
                    <a:lstStyle/>
                    <a:p>
                      <a:r>
                        <a:rPr sz="1200" b="0" i="0">
                          <a:solidFill>
                            <a:srgbClr val="1B2330"/>
                          </a:solidFill>
                          <a:latin typeface="Montserrat"/>
                        </a:rPr>
                        <a:t>0,39</a:t>
                      </a:r>
                    </a:p>
                  </a:txBody>
                  <a:tcPr>
                    <a:solidFill>
                      <a:srgbClr val="F6F8FC"/>
                    </a:solidFill>
                  </a:tcPr>
                </a:tc>
              </a:tr>
              <a:tr h="251460">
                <a:tc>
                  <a:txBody>
                    <a:bodyPr/>
                    <a:lstStyle/>
                    <a:p>
                      <a:r>
                        <a:rPr sz="1200" b="0" i="0">
                          <a:solidFill>
                            <a:srgbClr val="1B2330"/>
                          </a:solidFill>
                          <a:latin typeface="Montserrat"/>
                        </a:rPr>
                        <a:t>24</a:t>
                      </a:r>
                    </a:p>
                  </a:txBody>
                  <a:tcPr>
                    <a:solidFill>
                      <a:srgbClr val="FFFFFF"/>
                    </a:solidFill>
                  </a:tcPr>
                </a:tc>
                <a:tc>
                  <a:txBody>
                    <a:bodyPr/>
                    <a:lstStyle/>
                    <a:p>
                      <a:r>
                        <a:rPr sz="1200" b="0" i="0">
                          <a:solidFill>
                            <a:srgbClr val="1B2330"/>
                          </a:solidFill>
                          <a:latin typeface="Montserrat"/>
                        </a:rPr>
                        <a:t>0,17</a:t>
                      </a:r>
                    </a:p>
                  </a:txBody>
                  <a:tcPr>
                    <a:solidFill>
                      <a:srgbClr val="FFFFFF"/>
                    </a:solidFill>
                  </a:tcPr>
                </a:tc>
                <a:tc>
                  <a:txBody>
                    <a:bodyPr/>
                    <a:lstStyle/>
                    <a:p>
                      <a:r>
                        <a:rPr sz="1200" b="0" i="0">
                          <a:solidFill>
                            <a:srgbClr val="1B2330"/>
                          </a:solidFill>
                          <a:latin typeface="Montserrat"/>
                        </a:rPr>
                        <a:t>0,38</a:t>
                      </a:r>
                    </a:p>
                  </a:txBody>
                  <a:tcPr>
                    <a:solidFill>
                      <a:srgbClr val="FFFFFF"/>
                    </a:solidFill>
                  </a:tcPr>
                </a:tc>
              </a:tr>
              <a:tr h="251460">
                <a:tc>
                  <a:txBody>
                    <a:bodyPr/>
                    <a:lstStyle/>
                    <a:p>
                      <a:r>
                        <a:rPr sz="1200" b="0" i="0">
                          <a:solidFill>
                            <a:srgbClr val="1B2330"/>
                          </a:solidFill>
                          <a:latin typeface="Montserrat"/>
                        </a:rPr>
                        <a:t>25</a:t>
                      </a:r>
                    </a:p>
                  </a:txBody>
                  <a:tcPr>
                    <a:solidFill>
                      <a:srgbClr val="F6F8FC"/>
                    </a:solidFill>
                  </a:tcPr>
                </a:tc>
                <a:tc>
                  <a:txBody>
                    <a:bodyPr/>
                    <a:lstStyle/>
                    <a:p>
                      <a:r>
                        <a:rPr sz="1200" b="0" i="0">
                          <a:solidFill>
                            <a:srgbClr val="1B2330"/>
                          </a:solidFill>
                          <a:latin typeface="Montserrat"/>
                        </a:rPr>
                        <a:t>0,17</a:t>
                      </a:r>
                    </a:p>
                  </a:txBody>
                  <a:tcPr>
                    <a:solidFill>
                      <a:srgbClr val="F6F8FC"/>
                    </a:solidFill>
                  </a:tcPr>
                </a:tc>
                <a:tc>
                  <a:txBody>
                    <a:bodyPr/>
                    <a:lstStyle/>
                    <a:p>
                      <a:r>
                        <a:rPr sz="1200" b="0" i="0">
                          <a:solidFill>
                            <a:srgbClr val="1B2330"/>
                          </a:solidFill>
                          <a:latin typeface="Montserrat"/>
                        </a:rPr>
                        <a:t>0,38</a:t>
                      </a:r>
                    </a:p>
                  </a:txBody>
                  <a:tcPr>
                    <a:solidFill>
                      <a:srgbClr val="F6F8FC"/>
                    </a:solidFill>
                  </a:tcPr>
                </a:tc>
              </a:tr>
              <a:tr h="251460">
                <a:tc>
                  <a:txBody>
                    <a:bodyPr/>
                    <a:lstStyle/>
                    <a:p>
                      <a:r>
                        <a:rPr sz="1200" b="0" i="0">
                          <a:solidFill>
                            <a:srgbClr val="1B2330"/>
                          </a:solidFill>
                          <a:latin typeface="Montserrat"/>
                        </a:rPr>
                        <a:t>26</a:t>
                      </a:r>
                    </a:p>
                  </a:txBody>
                  <a:tcPr>
                    <a:solidFill>
                      <a:srgbClr val="FFFFFF"/>
                    </a:solidFill>
                  </a:tcPr>
                </a:tc>
                <a:tc>
                  <a:txBody>
                    <a:bodyPr/>
                    <a:lstStyle/>
                    <a:p>
                      <a:r>
                        <a:rPr sz="1200" b="0" i="0">
                          <a:solidFill>
                            <a:srgbClr val="1B2330"/>
                          </a:solidFill>
                          <a:latin typeface="Montserrat"/>
                        </a:rPr>
                        <a:t>0,17</a:t>
                      </a:r>
                    </a:p>
                  </a:txBody>
                  <a:tcPr>
                    <a:solidFill>
                      <a:srgbClr val="FFFFFF"/>
                    </a:solidFill>
                  </a:tcPr>
                </a:tc>
                <a:tc>
                  <a:txBody>
                    <a:bodyPr/>
                    <a:lstStyle/>
                    <a:p>
                      <a:r>
                        <a:rPr sz="1200" b="0" i="0">
                          <a:solidFill>
                            <a:srgbClr val="1B2330"/>
                          </a:solidFill>
                          <a:latin typeface="Montserrat"/>
                        </a:rPr>
                        <a:t>0,38</a:t>
                      </a:r>
                    </a:p>
                  </a:txBody>
                  <a:tcPr>
                    <a:solidFill>
                      <a:srgbClr val="FFFFFF"/>
                    </a:solidFill>
                  </a:tcPr>
                </a:tc>
              </a:tr>
              <a:tr h="251460">
                <a:tc>
                  <a:txBody>
                    <a:bodyPr/>
                    <a:lstStyle/>
                    <a:p>
                      <a:r>
                        <a:rPr sz="1200" b="0" i="0">
                          <a:solidFill>
                            <a:srgbClr val="1B2330"/>
                          </a:solidFill>
                          <a:latin typeface="Montserrat"/>
                        </a:rPr>
                        <a:t>27</a:t>
                      </a:r>
                    </a:p>
                  </a:txBody>
                  <a:tcPr>
                    <a:solidFill>
                      <a:srgbClr val="F6F8FC"/>
                    </a:solidFill>
                  </a:tcPr>
                </a:tc>
                <a:tc>
                  <a:txBody>
                    <a:bodyPr/>
                    <a:lstStyle/>
                    <a:p>
                      <a:r>
                        <a:rPr sz="1200" b="0" i="0">
                          <a:solidFill>
                            <a:srgbClr val="1B2330"/>
                          </a:solidFill>
                          <a:latin typeface="Montserrat"/>
                        </a:rPr>
                        <a:t>0,16</a:t>
                      </a:r>
                    </a:p>
                  </a:txBody>
                  <a:tcPr>
                    <a:solidFill>
                      <a:srgbClr val="F6F8FC"/>
                    </a:solidFill>
                  </a:tcPr>
                </a:tc>
                <a:tc>
                  <a:txBody>
                    <a:bodyPr/>
                    <a:lstStyle/>
                    <a:p>
                      <a:r>
                        <a:rPr sz="1200" b="0" i="0">
                          <a:solidFill>
                            <a:srgbClr val="1B2330"/>
                          </a:solidFill>
                          <a:latin typeface="Montserrat"/>
                        </a:rPr>
                        <a:t>0,37</a:t>
                      </a:r>
                    </a:p>
                  </a:txBody>
                  <a:tcPr>
                    <a:solidFill>
                      <a:srgbClr val="F6F8FC"/>
                    </a:solidFill>
                  </a:tcPr>
                </a:tc>
              </a:tr>
              <a:tr h="251460">
                <a:tc>
                  <a:txBody>
                    <a:bodyPr/>
                    <a:lstStyle/>
                    <a:p>
                      <a:r>
                        <a:rPr sz="1200" b="0" i="0">
                          <a:solidFill>
                            <a:srgbClr val="1B2330"/>
                          </a:solidFill>
                          <a:latin typeface="Montserrat"/>
                        </a:rPr>
                        <a:t>28</a:t>
                      </a:r>
                    </a:p>
                  </a:txBody>
                  <a:tcPr>
                    <a:solidFill>
                      <a:srgbClr val="FFFFFF"/>
                    </a:solidFill>
                  </a:tcPr>
                </a:tc>
                <a:tc>
                  <a:txBody>
                    <a:bodyPr/>
                    <a:lstStyle/>
                    <a:p>
                      <a:r>
                        <a:rPr sz="1200" b="0" i="0">
                          <a:solidFill>
                            <a:srgbClr val="1B2330"/>
                          </a:solidFill>
                          <a:latin typeface="Montserrat"/>
                        </a:rPr>
                        <a:t>0,16</a:t>
                      </a:r>
                    </a:p>
                  </a:txBody>
                  <a:tcPr>
                    <a:solidFill>
                      <a:srgbClr val="FFFFFF"/>
                    </a:solidFill>
                  </a:tcPr>
                </a:tc>
                <a:tc>
                  <a:txBody>
                    <a:bodyPr/>
                    <a:lstStyle/>
                    <a:p>
                      <a:r>
                        <a:rPr sz="1200" b="0" i="0">
                          <a:solidFill>
                            <a:srgbClr val="1B2330"/>
                          </a:solidFill>
                          <a:latin typeface="Montserrat"/>
                        </a:rPr>
                        <a:t>0,37</a:t>
                      </a:r>
                    </a:p>
                  </a:txBody>
                  <a:tcPr>
                    <a:solidFill>
                      <a:srgbClr val="FFFFFF"/>
                    </a:solidFill>
                  </a:tcPr>
                </a:tc>
              </a:tr>
              <a:tr h="251460">
                <a:tc>
                  <a:txBody>
                    <a:bodyPr/>
                    <a:lstStyle/>
                    <a:p>
                      <a:r>
                        <a:rPr sz="1200" b="0" i="0">
                          <a:solidFill>
                            <a:srgbClr val="1B2330"/>
                          </a:solidFill>
                          <a:latin typeface="Montserrat"/>
                        </a:rPr>
                        <a:t>29</a:t>
                      </a:r>
                    </a:p>
                  </a:txBody>
                  <a:tcPr>
                    <a:solidFill>
                      <a:srgbClr val="F6F8FC"/>
                    </a:solidFill>
                  </a:tcPr>
                </a:tc>
                <a:tc>
                  <a:txBody>
                    <a:bodyPr/>
                    <a:lstStyle/>
                    <a:p>
                      <a:r>
                        <a:rPr sz="1200" b="0" i="0">
                          <a:solidFill>
                            <a:srgbClr val="1B2330"/>
                          </a:solidFill>
                          <a:latin typeface="Montserrat"/>
                        </a:rPr>
                        <a:t>0,16</a:t>
                      </a:r>
                    </a:p>
                  </a:txBody>
                  <a:tcPr>
                    <a:solidFill>
                      <a:srgbClr val="F6F8FC"/>
                    </a:solidFill>
                  </a:tcPr>
                </a:tc>
                <a:tc>
                  <a:txBody>
                    <a:bodyPr/>
                    <a:lstStyle/>
                    <a:p>
                      <a:r>
                        <a:rPr sz="1200" b="0" i="0">
                          <a:solidFill>
                            <a:srgbClr val="1B2330"/>
                          </a:solidFill>
                          <a:latin typeface="Montserrat"/>
                        </a:rPr>
                        <a:t>0,36</a:t>
                      </a:r>
                    </a:p>
                  </a:txBody>
                  <a:tcPr>
                    <a:solidFill>
                      <a:srgbClr val="F6F8FC"/>
                    </a:solidFill>
                  </a:tcPr>
                </a:tc>
              </a:tr>
              <a:tr h="251460">
                <a:tc>
                  <a:txBody>
                    <a:bodyPr/>
                    <a:lstStyle/>
                    <a:p>
                      <a:r>
                        <a:rPr sz="1200" b="0" i="0">
                          <a:solidFill>
                            <a:srgbClr val="1B2330"/>
                          </a:solidFill>
                          <a:latin typeface="Montserrat"/>
                        </a:rPr>
                        <a:t>30</a:t>
                      </a:r>
                    </a:p>
                  </a:txBody>
                  <a:tcPr>
                    <a:solidFill>
                      <a:srgbClr val="FFFFFF"/>
                    </a:solidFill>
                  </a:tcPr>
                </a:tc>
                <a:tc>
                  <a:txBody>
                    <a:bodyPr/>
                    <a:lstStyle/>
                    <a:p>
                      <a:r>
                        <a:rPr sz="1200" b="0" i="0">
                          <a:solidFill>
                            <a:srgbClr val="1B2330"/>
                          </a:solidFill>
                          <a:latin typeface="Montserrat"/>
                        </a:rPr>
                        <a:t>0,16</a:t>
                      </a:r>
                    </a:p>
                  </a:txBody>
                  <a:tcPr>
                    <a:solidFill>
                      <a:srgbClr val="FFFFFF"/>
                    </a:solidFill>
                  </a:tcPr>
                </a:tc>
                <a:tc>
                  <a:txBody>
                    <a:bodyPr/>
                    <a:lstStyle/>
                    <a:p>
                      <a:r>
                        <a:rPr sz="1200" b="0" i="0">
                          <a:solidFill>
                            <a:srgbClr val="1B2330"/>
                          </a:solidFill>
                          <a:latin typeface="Montserrat"/>
                        </a:rPr>
                        <a:t>0,36</a:t>
                      </a:r>
                    </a:p>
                  </a:txBody>
                  <a:tcPr>
                    <a:solidFill>
                      <a:srgbClr val="FFFFFF"/>
                    </a:solidFill>
                  </a:tcPr>
                </a:tc>
              </a:tr>
              <a:tr h="251460">
                <a:tc>
                  <a:txBody>
                    <a:bodyPr/>
                    <a:lstStyle/>
                    <a:p>
                      <a:r>
                        <a:rPr sz="1200" b="0" i="0">
                          <a:solidFill>
                            <a:srgbClr val="1B2330"/>
                          </a:solidFill>
                          <a:latin typeface="Montserrat"/>
                        </a:rPr>
                        <a:t>Más de 30</a:t>
                      </a:r>
                    </a:p>
                  </a:txBody>
                  <a:tcPr>
                    <a:solidFill>
                      <a:srgbClr val="F6F8FC"/>
                    </a:solidFill>
                  </a:tcPr>
                </a:tc>
                <a:tc>
                  <a:txBody>
                    <a:bodyPr/>
                    <a:lstStyle/>
                    <a:p>
                      <a:r>
                        <a:rPr sz="1200" b="0" i="0">
                          <a:solidFill>
                            <a:srgbClr val="1B2330"/>
                          </a:solidFill>
                          <a:latin typeface="Montserrat"/>
                        </a:rPr>
                        <a:t>0,15</a:t>
                      </a:r>
                    </a:p>
                  </a:txBody>
                  <a:tcPr>
                    <a:solidFill>
                      <a:srgbClr val="F6F8FC"/>
                    </a:solidFill>
                  </a:tcPr>
                </a:tc>
                <a:tc>
                  <a:txBody>
                    <a:bodyPr/>
                    <a:lstStyle/>
                    <a:p>
                      <a:r>
                        <a:rPr sz="1200" b="0" i="0">
                          <a:solidFill>
                            <a:srgbClr val="1B2330"/>
                          </a:solidFill>
                          <a:latin typeface="Montserrat"/>
                        </a:rPr>
                        <a:t>0,35</a:t>
                      </a:r>
                    </a:p>
                  </a:txBody>
                  <a:tcPr>
                    <a:solidFill>
                      <a:srgbClr val="F6F8FC"/>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A partir de 30 viviendas el factor se estabiliza en su valor mínimo: 0,15 sin calefacción y 0,35 con calefacción.</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3.3 · MÁS DE 70 KW</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Lo grande va aparte</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Individualizar: conectar aguas arriba</a:t>
            </a:r>
          </a:p>
          <a:p>
            <a:pPr>
              <a:spcAft>
                <a:spcPts val="1100"/>
              </a:spcAft>
            </a:pPr>
            <a:r>
              <a:rPr sz="1600" b="1" i="0">
                <a:solidFill>
                  <a:srgbClr val="E8801A"/>
                </a:solidFill>
                <a:latin typeface="Montserrat"/>
              </a:rPr>
              <a:t>▸  </a:t>
            </a:r>
            <a:r>
              <a:rPr sz="1600" b="0" i="0">
                <a:solidFill>
                  <a:srgbClr val="1B2330"/>
                </a:solidFill>
                <a:latin typeface="Montserrat"/>
              </a:rPr>
              <a:t>Una llave a cada lado para aislar</a:t>
            </a:r>
          </a:p>
          <a:p>
            <a:pPr>
              <a:spcAft>
                <a:spcPts val="1100"/>
              </a:spcAft>
            </a:pPr>
            <a:r>
              <a:rPr sz="1600" b="1" i="0">
                <a:solidFill>
                  <a:srgbClr val="E8801A"/>
                </a:solidFill>
                <a:latin typeface="Montserrat"/>
              </a:rPr>
              <a:t>▸  </a:t>
            </a:r>
            <a:r>
              <a:rPr sz="1600" b="0" i="0">
                <a:solidFill>
                  <a:srgbClr val="1B2330"/>
                </a:solidFill>
                <a:latin typeface="Montserrat"/>
              </a:rPr>
              <a:t>Restaurante, lavandería, caldera de bloque</a:t>
            </a:r>
          </a:p>
        </p:txBody>
      </p:sp>
      <p:sp>
        <p:nvSpPr>
          <p:cNvPr id="9" name="imgph" descr="IMGQ:industrial gas shut off valve pipelin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industrial gas shut off valve pipeline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3.4 · CAUDALES DE DISEÑO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Caudal = potencia entre Hs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Individual: qsi = Pi / Hs</a:t>
            </a:r>
          </a:p>
          <a:p>
            <a:pPr>
              <a:spcAft>
                <a:spcPts val="1100"/>
              </a:spcAft>
            </a:pPr>
            <a:r>
              <a:rPr sz="1600" b="1" i="0">
                <a:solidFill>
                  <a:srgbClr val="E8801A"/>
                </a:solidFill>
                <a:latin typeface="Montserrat"/>
              </a:rPr>
              <a:t>▸  </a:t>
            </a:r>
            <a:r>
              <a:rPr sz="1600" b="0" i="0">
                <a:solidFill>
                  <a:srgbClr val="1B2330"/>
                </a:solidFill>
                <a:latin typeface="Montserrat"/>
              </a:rPr>
              <a:t>Común: qsc = Pc / Hs</a:t>
            </a:r>
          </a:p>
          <a:p>
            <a:pPr>
              <a:spcAft>
                <a:spcPts val="1100"/>
              </a:spcAft>
            </a:pPr>
            <a:r>
              <a:rPr sz="1600" b="1" i="0">
                <a:solidFill>
                  <a:srgbClr val="E8801A"/>
                </a:solidFill>
                <a:latin typeface="Montserrat"/>
              </a:rPr>
              <a:t>▸  </a:t>
            </a:r>
            <a:r>
              <a:rPr sz="1600" b="0" i="0">
                <a:solidFill>
                  <a:srgbClr val="1B2330"/>
                </a:solidFill>
                <a:latin typeface="Montserrat"/>
              </a:rPr>
              <a:t>Si el gas va por masa, en kg/h</a:t>
            </a:r>
          </a:p>
        </p:txBody>
      </p:sp>
      <p:sp>
        <p:nvSpPr>
          <p:cNvPr id="9" name="imgph" descr="IMGQ:gas flow meter dial gaug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flow meter dial gauge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020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3.5 · CRITERIOS DE CÁLCULO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Dos topes que caen fijo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Velocidad máxima: 20 m/s</a:t>
            </a:r>
          </a:p>
          <a:p>
            <a:pPr>
              <a:spcAft>
                <a:spcPts val="1100"/>
              </a:spcAft>
            </a:pPr>
            <a:r>
              <a:rPr sz="1600" b="1" i="0">
                <a:solidFill>
                  <a:srgbClr val="E8801A"/>
                </a:solidFill>
                <a:latin typeface="Montserrat"/>
              </a:rPr>
              <a:t>▸  </a:t>
            </a:r>
            <a:r>
              <a:rPr sz="1600" b="0" i="0">
                <a:solidFill>
                  <a:srgbClr val="1B2330"/>
                </a:solidFill>
                <a:latin typeface="Montserrat"/>
              </a:rPr>
              <a:t>Presión mínima gas natural: 17 mbar</a:t>
            </a:r>
          </a:p>
          <a:p>
            <a:pPr>
              <a:spcAft>
                <a:spcPts val="1100"/>
              </a:spcAft>
            </a:pPr>
            <a:r>
              <a:rPr sz="1600" b="1" i="0">
                <a:solidFill>
                  <a:srgbClr val="E8801A"/>
                </a:solidFill>
                <a:latin typeface="Montserrat"/>
              </a:rPr>
              <a:t>▸  </a:t>
            </a:r>
            <a:r>
              <a:rPr sz="1600" b="0" i="0">
                <a:solidFill>
                  <a:srgbClr val="1B2330"/>
                </a:solidFill>
                <a:latin typeface="Montserrat"/>
              </a:rPr>
              <a:t>Butano 20; propano 42,5 o 25 mbar</a:t>
            </a:r>
          </a:p>
        </p:txBody>
      </p:sp>
      <p:sp>
        <p:nvSpPr>
          <p:cNvPr id="9" name="imgph" descr="IMGQ:blue gas flame burner close up"/>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blue gas flame burner close up</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021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APARTADO 3.5 · CRITERIOS DE CÁLCULO</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Presión mínima de gas en la llave de aparato</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3697224"/>
                <a:gridCol w="3697224"/>
                <a:gridCol w="3697224"/>
              </a:tblGrid>
              <a:tr h="804672">
                <a:tc>
                  <a:txBody>
                    <a:bodyPr/>
                    <a:lstStyle/>
                    <a:p>
                      <a:r>
                        <a:rPr sz="1200" b="1" i="0">
                          <a:solidFill>
                            <a:srgbClr val="FFFFFF"/>
                          </a:solidFill>
                          <a:latin typeface="Montserrat"/>
                        </a:rPr>
                        <a:t>Familia y grupo</a:t>
                      </a:r>
                    </a:p>
                  </a:txBody>
                  <a:tcPr>
                    <a:solidFill>
                      <a:srgbClr val="1E2761"/>
                    </a:solidFill>
                  </a:tcPr>
                </a:tc>
                <a:tc>
                  <a:txBody>
                    <a:bodyPr/>
                    <a:lstStyle/>
                    <a:p>
                      <a:r>
                        <a:rPr sz="1200" b="1" i="0">
                          <a:solidFill>
                            <a:srgbClr val="FFFFFF"/>
                          </a:solidFill>
                          <a:latin typeface="Montserrat"/>
                        </a:rPr>
                        <a:t>Denominación del gas</a:t>
                      </a:r>
                    </a:p>
                  </a:txBody>
                  <a:tcPr>
                    <a:solidFill>
                      <a:srgbClr val="1E2761"/>
                    </a:solidFill>
                  </a:tcPr>
                </a:tc>
                <a:tc>
                  <a:txBody>
                    <a:bodyPr/>
                    <a:lstStyle/>
                    <a:p>
                      <a:r>
                        <a:rPr sz="1200" b="1" i="0">
                          <a:solidFill>
                            <a:srgbClr val="FFFFFF"/>
                          </a:solidFill>
                          <a:latin typeface="Montserrat"/>
                        </a:rPr>
                        <a:t>Presión mínima en la llave (mbar)</a:t>
                      </a:r>
                    </a:p>
                  </a:txBody>
                  <a:tcPr>
                    <a:solidFill>
                      <a:srgbClr val="1E2761"/>
                    </a:solidFill>
                  </a:tcPr>
                </a:tc>
              </a:tr>
              <a:tr h="804672">
                <a:tc>
                  <a:txBody>
                    <a:bodyPr/>
                    <a:lstStyle/>
                    <a:p>
                      <a:r>
                        <a:rPr sz="1200" b="0" i="0">
                          <a:solidFill>
                            <a:srgbClr val="1B2330"/>
                          </a:solidFill>
                          <a:latin typeface="Montserrat"/>
                        </a:rPr>
                        <a:t>2H</a:t>
                      </a:r>
                    </a:p>
                  </a:txBody>
                  <a:tcPr>
                    <a:solidFill>
                      <a:srgbClr val="F6F8FC"/>
                    </a:solidFill>
                  </a:tcPr>
                </a:tc>
                <a:tc>
                  <a:txBody>
                    <a:bodyPr/>
                    <a:lstStyle/>
                    <a:p>
                      <a:r>
                        <a:rPr sz="1200" b="0" i="0">
                          <a:solidFill>
                            <a:srgbClr val="1B2330"/>
                          </a:solidFill>
                          <a:latin typeface="Montserrat"/>
                        </a:rPr>
                        <a:t>Gas natural</a:t>
                      </a:r>
                    </a:p>
                  </a:txBody>
                  <a:tcPr>
                    <a:solidFill>
                      <a:srgbClr val="F6F8FC"/>
                    </a:solidFill>
                  </a:tcPr>
                </a:tc>
                <a:tc>
                  <a:txBody>
                    <a:bodyPr/>
                    <a:lstStyle/>
                    <a:p>
                      <a:r>
                        <a:rPr sz="1200" b="0" i="0">
                          <a:solidFill>
                            <a:srgbClr val="1B2330"/>
                          </a:solidFill>
                          <a:latin typeface="Montserrat"/>
                        </a:rPr>
                        <a:t>17</a:t>
                      </a:r>
                    </a:p>
                  </a:txBody>
                  <a:tcPr>
                    <a:solidFill>
                      <a:srgbClr val="F6F8FC"/>
                    </a:solidFill>
                  </a:tcPr>
                </a:tc>
              </a:tr>
              <a:tr h="804672">
                <a:tc>
                  <a:txBody>
                    <a:bodyPr/>
                    <a:lstStyle/>
                    <a:p>
                      <a:r>
                        <a:rPr sz="1200" b="0" i="0">
                          <a:solidFill>
                            <a:srgbClr val="1B2330"/>
                          </a:solidFill>
                          <a:latin typeface="Montserrat"/>
                        </a:rPr>
                        <a:t>3B</a:t>
                      </a:r>
                    </a:p>
                  </a:txBody>
                  <a:tcPr>
                    <a:solidFill>
                      <a:srgbClr val="FFFFFF"/>
                    </a:solidFill>
                  </a:tcPr>
                </a:tc>
                <a:tc>
                  <a:txBody>
                    <a:bodyPr/>
                    <a:lstStyle/>
                    <a:p>
                      <a:r>
                        <a:rPr sz="1200" b="0" i="0">
                          <a:solidFill>
                            <a:srgbClr val="1B2330"/>
                          </a:solidFill>
                          <a:latin typeface="Montserrat"/>
                        </a:rPr>
                        <a:t>Gas butano</a:t>
                      </a:r>
                    </a:p>
                  </a:txBody>
                  <a:tcPr>
                    <a:solidFill>
                      <a:srgbClr val="FFFFFF"/>
                    </a:solidFill>
                  </a:tcPr>
                </a:tc>
                <a:tc>
                  <a:txBody>
                    <a:bodyPr/>
                    <a:lstStyle/>
                    <a:p>
                      <a:r>
                        <a:rPr sz="1200" b="0" i="0">
                          <a:solidFill>
                            <a:srgbClr val="1B2330"/>
                          </a:solidFill>
                          <a:latin typeface="Montserrat"/>
                        </a:rPr>
                        <a:t>20</a:t>
                      </a:r>
                    </a:p>
                  </a:txBody>
                  <a:tcPr>
                    <a:solidFill>
                      <a:srgbClr val="FFFFFF"/>
                    </a:solidFill>
                  </a:tcPr>
                </a:tc>
              </a:tr>
              <a:tr h="804672">
                <a:tc>
                  <a:txBody>
                    <a:bodyPr/>
                    <a:lstStyle/>
                    <a:p>
                      <a:r>
                        <a:rPr sz="1200" b="0" i="0">
                          <a:solidFill>
                            <a:srgbClr val="1B2330"/>
                          </a:solidFill>
                          <a:latin typeface="Montserrat"/>
                        </a:rPr>
                        <a:t>3P (50)</a:t>
                      </a:r>
                    </a:p>
                  </a:txBody>
                  <a:tcPr>
                    <a:solidFill>
                      <a:srgbClr val="F6F8FC"/>
                    </a:solidFill>
                  </a:tcPr>
                </a:tc>
                <a:tc>
                  <a:txBody>
                    <a:bodyPr/>
                    <a:lstStyle/>
                    <a:p>
                      <a:r>
                        <a:rPr sz="1200" b="0" i="0">
                          <a:solidFill>
                            <a:srgbClr val="1B2330"/>
                          </a:solidFill>
                          <a:latin typeface="Montserrat"/>
                        </a:rPr>
                        <a:t>Gas propano</a:t>
                      </a:r>
                    </a:p>
                  </a:txBody>
                  <a:tcPr>
                    <a:solidFill>
                      <a:srgbClr val="F6F8FC"/>
                    </a:solidFill>
                  </a:tcPr>
                </a:tc>
                <a:tc>
                  <a:txBody>
                    <a:bodyPr/>
                    <a:lstStyle/>
                    <a:p>
                      <a:r>
                        <a:rPr sz="1200" b="0" i="0">
                          <a:solidFill>
                            <a:srgbClr val="1B2330"/>
                          </a:solidFill>
                          <a:latin typeface="Montserrat"/>
                        </a:rPr>
                        <a:t>42,5</a:t>
                      </a:r>
                    </a:p>
                  </a:txBody>
                  <a:tcPr>
                    <a:solidFill>
                      <a:srgbClr val="F6F8FC"/>
                    </a:solidFill>
                  </a:tcPr>
                </a:tc>
              </a:tr>
              <a:tr h="804672">
                <a:tc>
                  <a:txBody>
                    <a:bodyPr/>
                    <a:lstStyle/>
                    <a:p>
                      <a:r>
                        <a:rPr sz="1200" b="0" i="0">
                          <a:solidFill>
                            <a:srgbClr val="1B2330"/>
                          </a:solidFill>
                          <a:latin typeface="Montserrat"/>
                        </a:rPr>
                        <a:t>3P (37)</a:t>
                      </a:r>
                    </a:p>
                  </a:txBody>
                  <a:tcPr>
                    <a:solidFill>
                      <a:srgbClr val="FFFFFF"/>
                    </a:solidFill>
                  </a:tcPr>
                </a:tc>
                <a:tc>
                  <a:txBody>
                    <a:bodyPr/>
                    <a:lstStyle/>
                    <a:p>
                      <a:r>
                        <a:rPr sz="1200" b="0" i="0">
                          <a:solidFill>
                            <a:srgbClr val="1B2330"/>
                          </a:solidFill>
                          <a:latin typeface="Montserrat"/>
                        </a:rPr>
                        <a:t>Gas propano</a:t>
                      </a:r>
                    </a:p>
                  </a:txBody>
                  <a:tcPr>
                    <a:solidFill>
                      <a:srgbClr val="FFFFFF"/>
                    </a:solidFill>
                  </a:tcPr>
                </a:tc>
                <a:tc>
                  <a:txBody>
                    <a:bodyPr/>
                    <a:lstStyle/>
                    <a:p>
                      <a:r>
                        <a:rPr sz="1200" b="0" i="0">
                          <a:solidFill>
                            <a:srgbClr val="1B2330"/>
                          </a:solidFill>
                          <a:latin typeface="Montserrat"/>
                        </a:rPr>
                        <a:t>25</a:t>
                      </a:r>
                    </a:p>
                  </a:txBody>
                  <a:tcPr>
                    <a:solidFill>
                      <a:srgbClr val="FFFFFF"/>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Es la presión que como mínimo debe llegar a la entrada del aparato; por debajo de ella, el aparato no funciona bien.</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022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¿Cuál es la velocidad máxima admisible del gas dentro de la tubería?</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10 m/s</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15 m/s</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20 m/s</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25 m/s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023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C</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¿Cuál es la velocidad máxima admisible del gas dentro de la tubería?</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C.  </a:t>
            </a:r>
            <a:r>
              <a:rPr sz="1800" b="1" i="0">
                <a:solidFill>
                  <a:srgbClr val="1E2761"/>
                </a:solidFill>
                <a:latin typeface="Montserrat"/>
              </a:rPr>
              <a:t>20 m/s</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La norma fija que la velocidad del gas no debe superar los 20 m/s para evitar ruidos, vibraciones y arrastre de suciedad.</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024 / 025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DOCUMENTACIÓN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Del cálculo al certificado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Cálculos en memoria o proyecto</a:t>
            </a:r>
          </a:p>
          <a:p>
            <a:pPr>
              <a:spcAft>
                <a:spcPts val="1100"/>
              </a:spcAft>
            </a:pPr>
            <a:r>
              <a:rPr sz="1600" b="1" i="0">
                <a:solidFill>
                  <a:srgbClr val="E8801A"/>
                </a:solidFill>
                <a:latin typeface="Montserrat"/>
              </a:rPr>
              <a:t>▸  </a:t>
            </a:r>
            <a:r>
              <a:rPr sz="1600" b="0" i="0">
                <a:solidFill>
                  <a:srgbClr val="1B2330"/>
                </a:solidFill>
                <a:latin typeface="Montserrat"/>
              </a:rPr>
              <a:t>Certificado de instalación (modelo IRG)</a:t>
            </a:r>
          </a:p>
          <a:p>
            <a:pPr>
              <a:spcAft>
                <a:spcPts val="1100"/>
              </a:spcAft>
            </a:pPr>
            <a:r>
              <a:rPr sz="1600" b="1" i="0">
                <a:solidFill>
                  <a:srgbClr val="E8801A"/>
                </a:solidFill>
                <a:latin typeface="Montserrat"/>
              </a:rPr>
              <a:t>▸  </a:t>
            </a:r>
            <a:r>
              <a:rPr sz="1600" b="0" i="0">
                <a:solidFill>
                  <a:srgbClr val="1B2330"/>
                </a:solidFill>
                <a:latin typeface="Montserrat"/>
              </a:rPr>
              <a:t>Firma la empresa instaladora habilitada</a:t>
            </a:r>
          </a:p>
        </p:txBody>
      </p:sp>
      <p:sp>
        <p:nvSpPr>
          <p:cNvPr id="9" name="imgph" descr="IMGQ:installer signing installation certificate document"/>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installer signing installation certificate document</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ectangle 3"/>
          <p:cNvSpPr/>
          <p:nvPr/>
        </p:nvSpPr>
        <p:spPr>
          <a:xfrm>
            <a:off x="868680" y="105156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sabes echar los números del gas</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La distribuidora te da los 7 datos de partida</a:t>
            </a:r>
          </a:p>
          <a:p>
            <a:pPr>
              <a:spcAft>
                <a:spcPts val="1200"/>
              </a:spcAft>
            </a:pPr>
            <a:r>
              <a:rPr sz="2000" b="1" i="0">
                <a:solidFill>
                  <a:srgbClr val="F4A24C"/>
                </a:solidFill>
                <a:latin typeface="Montserrat"/>
              </a:rPr>
              <a:t>✓  </a:t>
            </a:r>
            <a:r>
              <a:rPr sz="1900" b="0" i="0">
                <a:solidFill>
                  <a:srgbClr val="FFFFFF"/>
                </a:solidFill>
                <a:latin typeface="Montserrat"/>
              </a:rPr>
              <a:t>Grado de gasificación: recuerda 30 y 70 kW</a:t>
            </a:r>
          </a:p>
          <a:p>
            <a:pPr>
              <a:spcAft>
                <a:spcPts val="1200"/>
              </a:spcAft>
            </a:pPr>
            <a:r>
              <a:rPr sz="2000" b="1" i="0">
                <a:solidFill>
                  <a:srgbClr val="F4A24C"/>
                </a:solidFill>
                <a:latin typeface="Montserrat"/>
              </a:rPr>
              <a:t>✓  </a:t>
            </a:r>
            <a:r>
              <a:rPr sz="1900" b="0" i="0">
                <a:solidFill>
                  <a:srgbClr val="FFFFFF"/>
                </a:solidFill>
                <a:latin typeface="Montserrat"/>
              </a:rPr>
              <a:t>Caudal = potencia / Hs, y con él eliges el tubo</a:t>
            </a:r>
          </a:p>
          <a:p>
            <a:pPr>
              <a:spcAft>
                <a:spcPts val="1200"/>
              </a:spcAft>
            </a:pPr>
            <a:r>
              <a:rPr sz="2000" b="1" i="0">
                <a:solidFill>
                  <a:srgbClr val="F4A24C"/>
                </a:solidFill>
                <a:latin typeface="Montserrat"/>
              </a:rPr>
              <a:t>✓  </a:t>
            </a:r>
            <a:r>
              <a:rPr sz="1900" b="0" i="0">
                <a:solidFill>
                  <a:srgbClr val="FFFFFF"/>
                </a:solidFill>
                <a:latin typeface="Montserrat"/>
              </a:rPr>
              <a:t>Nunca más de 20 m/s ni por debajo de la presión mínima</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Con esto la caldera da toda su potencia. En el siguiente vídeo, por dónde llevamos el tubo.</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
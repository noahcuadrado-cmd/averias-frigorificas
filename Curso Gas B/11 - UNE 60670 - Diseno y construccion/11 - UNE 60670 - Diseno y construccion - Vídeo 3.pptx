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cierra este último vídeo del tema?</a:t>
            </a:r>
          </a:p>
          <a:p>
            <a:r>
              <a:t>N2: Cierra la Parte cuatro con lo que de verdad gobierna la instalación: los tres elementos que controlan el gas. Uno, dónde se mide, que son las tomas de presión. Dos, cómo se baja la presión, que es la regulación, y cambia según sea gas natural o gas de bombona. Y tres, cómo se corta, que es toda la cadena de llaves: de acometida, de edificio, de montante, de usuario, de contador, de vivienda, de aparato y de regulador. Quién manda cada llave, dónde va y qué accesibilidad tiene se pregunta muchísimo, y es lo que más usarás en obra para diagnosticar una avería y para poder cerrar en una urgencia. Vamos con ello.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cifras me anclan el vídeo?</a:t>
            </a:r>
          </a:p>
          <a:p>
            <a:r>
              <a:t>N2: Tres números que vas a usar. Uno, la cadena de corte tiene ocho llaves distintas, cada una con su nombre y su sitio: acometida, edificio, montante, usuario, contador, vivienda, aparato y regulador. Dos, el cinco: cinco centímetros cuadrados es la ventilación mínima del armario de regulación y también la del regulador con válvula de alivio por dentro. Y tres, el cuatro coma ocho: por debajo de cuatro coma ocho metros cúbicos por hora, un regulador no se considera conjunto de regulación. Con estos tres números tienes las anclas del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una toma de presión y para qué sirve?</a:t>
            </a:r>
          </a:p>
          <a:p>
            <a:r>
              <a:t>N2: Una toma de presión es el pincho donde el gasista enchufa el manómetro para ver a cuánta presión va el gas en ese punto exacto. Sin tomas trabajarías a ciegas, no sabrías si el gas llega bien o se pierde por el camino. Por eso la norma las coloca en los sitios donde interesa comparar: a la entrada y a la salida de los reguladores, para comprobar que el regulador hace su trabajo; en la entrada de la centralización de contadores; a la salida del contador; y en el tramo interior, justo después de la llave de entrada a la vivienda. El truco para acordarte es sencillo: quieres poder medir a cada lado de los elementos importantes, para ver cuánta presión entra y cuánta sale. Un detalle práctico: los conjuntos de regulación normalizados ya vienen con sus tomas de fábrica, así que ahí no tienes que añadir nada.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regula el gas natural?</a:t>
            </a:r>
          </a:p>
          <a:p>
            <a:r>
              <a:t>N2: Con un sistema que se vuelve más exigente cuanta más presión entra, y esto es puro sentido de la seguridad. La segunda familia es el gas natural. Fíjate en la escalera. En lo más alto, de más de ciento cincuenta milibares hasta cinco bar, pides lo máximo: regulador, más una seguridad por máxima presión, más una seguridad por mínima. En el tramo medio, de más de cincuenta hasta ciento cincuenta milibares, regulador más seguridad por mínima. Y en lo más bajo, hasta cincuenta milibares, pones regulador solo si hace falta bajar la presión, y la seguridad por mínima solo si la presión pasa de veinticinco milibares; por debajo, se consulta a la compañía. ¿Por qué cuanta más presión más aparatos de seguridad? Porque una presión alta que se descontrola hace más daño: puede reventar membranas y estropear aparatos. La seguridad por máxima corta si la presión sube demasiado; la de mínima protege si se cae. Cuanto más arriba, más red de seguridad.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gas natural, cuanta más presión de entrada, más seguridades. Escucha bien. En gas natural, con una máxima presión de operación por encima de ciento cincuenta milibares y hasta cinco bar, ¿qué sistema de regulación exige la norma? Te leo las opciones. Opción A, solo regulador de presión. Opción B, regulador más válvula de seguridad por mínima. Opción C, regulador más válvula de seguridad por máxima y por mínima. Opción D, solo válvula de seguridad por máxima presión. Piénsalo un momento.</a:t>
            </a:r>
          </a:p>
          <a:p>
            <a:r>
              <a:t>N2: Una pista: es el tramo más alto de la escalera, así que se exige el paquete completo. ¿Cuántas seguridades caben además del regulador?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C: regulador más válvula de seguridad por máxima y por mínima. ¿Por qué? Porque en el tramo más alto de presión una avería hace más daño, puede reventar membranas y estropear aparatos, así que se exige el paquete completo. El truco para no fallar: esta es la única banda que lleva la seguridad por máxima; en el tramo medio, de cincuenta a ciento cincuenta milibares, ya solo regulador más mínima, y por debajo de cincuenta, regulador si hace falta y mínima solo si pasa de veinticinco.</a:t>
            </a:r>
          </a:p>
          <a:p>
            <a:r>
              <a:t>N1: Así que arriba del todo, las dos seguridades: máxima y mínima. Descartas la opción A y la D porque se quedan cortas.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¿Dónde se coloca un conjunto de regulación de presión alta?</a:t>
            </a:r>
          </a:p>
          <a:p>
            <a:r>
              <a:t>N2: Los conjuntos que trabajan entre cuatro décimas de bar y cinco bar tienen que ir en un sitio accesible desde zona común, lo que se llama grado de accesibilidad dos, y siempre con salida al exterior. En concreto, en armarios adosados o empotrados en paredes exteriores, en nichos que tengan al menos una pared que dé a la calle, en la centralización de contadores o en salas de máquinas. La razón de que dé al exterior es clara: si el conjunto tiene una fuga o su válvula de alivio suelta gas, que se vaya fuera y no se acumule dentro. Y una cifra que cae fijo: en los armarios y nichos hace falta una ventilación directa al exterior de al menos cinco centímetros cuadrados, y vale incluso la propia rendija entre la puerta y el armario si mide lo suficiente. Grábate el cinco: cinco centímetros cuadrados de ventilación.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los reguladores pequeños de una vivienda?</a:t>
            </a:r>
          </a:p>
          <a:p>
            <a:r>
              <a:t>N2: Aquí hay dos cosas que memorizar. La primera, una frontera: un regulador de hasta cuatro coma ocho metros cúbicos por hora de aire es un regulador de a pie, no se considera conjunto de regulación, y se pincha directo a la entrada del contador o en línea. Por encima de ese caudal, si el regulador no trae seguridad por mínima incorporada, se la tienes que poner tú. La segunda cosa es la ventilación del regulador con válvula de alivio, la uve a ese, cuando va instalado por dentro. Necesita una ventilación permanente con el exterior de cinco centímetros cuadrados, y aquí está el truco de examen: la rejilla se pone arriba si el gas es más ligero que el aire, como el gas natural que sube, y abajo si el gas es más pesado, como el butano o el propano que bajan. Es de lógica: la rejilla se coloca por donde tiende a irse el gas. Otra vez el cinco, y el cuatro coma ocho como frontera.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el gas de bombona o de depósito, el GLP?</a:t>
            </a:r>
          </a:p>
          <a:p>
            <a:r>
              <a:t>N2: El GLP, que es la tercera familia, o sea butano y propano, sale del depósito o de la bombona a mucha presión, así que se baja en dos escalones. Primero una etapa que lo deja entre una décima y dos bar a la entrada de la instalación receptora; esa cifra, de cero coma uno a dos bar, es la clave que cae. Y luego una segunda etapa que lo baja hasta la presión que necesita el aparato. Esa primera reducción se hace con dos reguladores en serie o con uno que lleve seguridad de alta. Si el suministro viene de una batería de bombonas, hay un inversor automático que cambia solo del grupo de bombonas vacío al lleno, para que no te quedes sin gas. Y con dos bombonas trabajando a la vez se ponen válvulas antirretorno, para que el gas no se trasvase de una bombona a la otra. Un apunte: si varias viviendas cuelgan del mismo depósito, cada una lleva su propia seguridad por mínima.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me aprendo todas las llaves sin liarme?</a:t>
            </a:r>
          </a:p>
          <a:p>
            <a:r>
              <a:t>N2: Visualizando el recorrido del gas y las llaves que se va encontrando por el camino, en orden. Entra por la llave de acometida, que es la de la calle y la pone la compañía. Luego, si la acometida es larga, la llave de edificio, a pie de fachada. Después, la de montante colectivo, si hay más de un montante. A continuación, la llave de usuario, que aísla tu vivienda del resto. Luego la llave de contador. Después la llave de vivienda, que es la tuya, dentro de casa. Y al final, la llave de conexión de cada aparato, una por cada caldera, calentador o cocina. Si te aprendes el recorrido de fuera hacia dentro, colocas cada llave en su sitio sin fallar, porque cada una va donde el gas la encuentra. Vamos a verlas una a una.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hace falta llave de edificio?</a:t>
            </a:r>
          </a:p>
          <a:p>
            <a:r>
              <a:t>N2: Empecemos por la de acometida: esa se instala siempre, es la que da inicio a la instalación receptora, y dónde va lo decide la compañía distribuidora, accesible desde la vía pública para ella y para los bomberos o la policía. Ahora, la de edificio no siempre hace falta. Solo se pone cuando la acometida interior, el tramo entre la llave de acometida y la fachada, es larga: veinticinco metros si el tubo va visto, o solo cuatro metros si va enterrado. ¿Por qué tan poco si va enterrado? Porque una fuga enterrada es mucho más difícil de detectar y de cerrar, así que la norma quiere una llave más cerca. También se pone la de edificio cuando la acometida da a más de un edificio. Y si la acometida es corta, no hace falta: la propia llave de acometida ya hace ese papel de cierre general.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llave de edificio no siempre hace falta. Escucha la pregunta entera. ¿Cuándo es obligatorio instalar llave de edificio por la longitud de la acometida interior? Te leo las cuatro opciones. Opción A, con acometida vista de veinticinco metros o más, o enterrada de cuatro metros o más. Opción B, con acometida vista de cuatro metros o más, o enterrada de veinticinco metros o más. Opción C, siempre, sea cual sea la longitud. Opción D, solo si la acometida supera los cincuenta metros. Párala y decide.</a:t>
            </a:r>
          </a:p>
          <a:p>
            <a:r>
              <a:t>N2: Una pista: son dos cifras, veinticinco y cuatro, una para vista y otra para enterrada. Y ojo, la enterrada obliga mucho antes. La duda está entre la opción A y la B: fíjate en qué cifra va con cada una.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vista de veinticinco metros o más, o enterrada de cuatro metros o más. ¿Por qué? Porque una fuga enterrada es mucho más difícil de detectar y de cerrar que una vista, así que la norma quiere una llave de corte más cerca y obliga ya a los cuatro metros. El truco para no fallar es no cruzar las cifras: el número grande, veinticinco, va con lo visto, que se ve y se controla; el pequeño, cuatro, con lo enterrado, que no se ve. Esa es justo la trampa de la opción B, que cruza los números.</a:t>
            </a:r>
          </a:p>
          <a:p>
            <a:r>
              <a:t>N1: Veinticinco visto, cuatro enterrado. Ni la opción C ni la D: no es siempre ni son cincuenta metros.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tiene de especial la llave de montante colectivo?</a:t>
            </a:r>
          </a:p>
          <a:p>
            <a:r>
              <a:t>N2: Se pone cuando hay más de un montante colectivo, para poder cortar cada uno por separado. Pero lo interesante es la llave de montante adicional, que es una previsión de futuro. Imagina un edificio que se monta pensando en que algún día se ampliará con más viviendas: se deja el montante preparado con una llave al final que se queda cerrada, bloqueada y precintada, y con un tapón ciego detrás. El día que se amplíe el edificio, se conecta ahí sin tener que cortar el gas a los vecinos que ya viven. Es dejar la puerta preparada para crecer sin molestar a nadie. Y hay otro elemento: en receptoras nuevas con algún tramo aéreo, se pone una toma Peterson, que es un punto de purga y medición accesible desde la vía pública. Resumen: la llave adicional es para ampliar sin cortes, y va bien cerrada y precintada hasta que llegue ese día.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¿Para qué sirve la llave de usuario?</a:t>
            </a:r>
          </a:p>
          <a:p>
            <a:r>
              <a:t>N2: La llave de usuario sirve para aislar cada instalación individual del resto, o sea para poder cortar el gas de una vivienda concreta sin tocar las demás. Se instala en todos los casos y tiene que ser fácilmente accesible, con grado dos para la distribuidora, desde la zona común o el límite de la propiedad. La llave de contador también se pone siempre, y va en el mismo recinto que el contador, lo más cerca posible de su entrada, para poder cortarle el gas al aparato de medida. Y hay un detalle práctico muy típico: cuando los contadores están centralizados, todos juntos en un cuarto, la propia llave de contador puede asumir la función de llave de usuario, porque cumple lo mismo. Así te ahorras una llave. En resumen, la de usuario aísla tu piso y, en centralizaciones, la del contador puede hacer ese doble papel.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 llave de vivienda en qué se diferencia?</a:t>
            </a:r>
          </a:p>
          <a:p>
            <a:r>
              <a:t>N2: La llave de vivienda es la que tienes tú a mano para cortar el gas de toda tu casa, por ejemplo antes de irte de vacaciones o si hueles a gas. Por eso se instala siempre y con grado de accesibilidad uno, que significa que la puedes manejar tú directamente, sin pedir permiso a nadie. Se coloca normalmente en el exterior de la vivienda pero de forma que se pueda accionar desde dentro; también puede ir por dentro, y entonces se pone de manera que el tramo de tubo antes de ella, ya dentro de casa, sea lo más corto posible, para que quede el mínimo de tubería sin poder cortar. Un matiz que cae en examen: la llave de usuario solo puede hacer de llave de vivienda si es fácilmente accesible desde fuera, desde zona común, y con autorización expresa de la distribuidora. Si no, son llaves distintas.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¿Cada aparato lleva su propia llave?</a:t>
            </a:r>
          </a:p>
          <a:p>
            <a:r>
              <a:t>N2: Sí, cada aparato de gas, la caldera, el calentador, la cocina, lleva su llave de conexión, colocada lo más cerca posible del aparato y en el mismo recinto, con grado uno para el usuario. La idea es poder cortarle el gas a un aparato concreto sin dejar la casa entera sin gas. Hay reglas importantes. Si un aparato está pendiente de instalar o de arrancar, su llave se deja cerrada, bloqueada y precintada, y además taponada si el aparato todavía no está puesto, para que nadie abra gas a un tubo que no va a ningún sitio. Y una seguridad clave en las cocinas domésticas: es obligatorio un limitador de exceso de flujo. ¿Qué hace? Si se suelta el tubo de la cocina y el gas empieza a salir a chorro, el limitador lo corta de golpe. Si la llave no lo trae de serie, se pone uno externo sellado con pasta endurecible. Es la seguridad típica del se ha soltado el tubo de la vitrocerámica.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Me pierdo con los grados de accesibilidad. ¿Cómo los distingo?</a:t>
            </a:r>
          </a:p>
          <a:p>
            <a:r>
              <a:t>N2: Es más fácil de lo que parece si piensas en quién tiene que poder llegar a la llave. El grado uno es a mano del usuario: la manejas tú directamente, como la llave de vivienda o la de cada aparato, que están dentro o justo al alcance. El grado dos es accesible desde la zona común o pública con cierta facilidad, y es el típico de la distribuidora o de los servicios de emergencia, como la llave de usuario. Y el grado tres es el menos accesible, hace falta más para llegar, por ejemplo con una escalera o herramientas. La regla para no fallar es: lo tuyo, lo de dentro de tu casa, grado uno; lo de la compañía, en zonas comunes, grado dos o tres. Piensa siempre quién necesita abrir esa llave y a qué distancia está de él.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¿Puede una misma llave hacer de varias?</a:t>
            </a:r>
          </a:p>
          <a:p>
            <a:r>
              <a:t>N2: Sí, para ahorrar material, una misma llave puede cumplir la función de varias, pero solo si reúne todos los requisitos que se exigen a cada una de ellas. Ahora bien, graba dos prohibiciones que caen fijo en el examen. La primera: la llave de vivienda nunca puede hacer de llave de aparato. ¿Por qué? Porque si fueran la misma, no podrías aislar un solo aparato sin dejar toda la casa sin gas, y se perdería el sentido de tener una llave por aparato. La segunda: la llave que viene incorporada en un regulador no puede hacer de llave de usuario, salvo una excepción muy concreta, la de las instalaciones con envase de gas licuado de hasta quince kilos, donde si el regulador lleva corte incorporado, ese sí puede hacer de llave de usuario. Fuera de esos dos límites, el multiuso está permitido. Dos noes que memorizar: vivienda no es aparato, y regulador no es usuario salvo bombona pequeña.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Dos noes que caen fijo. Escucha con calma. Según la norma, ¿cuál de estas combinaciones de funciones nunca se permite? Te leo las cuatro. Opción A, que la llave de contador haga de llave de usuario. Opción B, que la llave de vivienda haga de llave de aparato. Opción C, que una llave ejerza varias funciones si cumple todos los requisitos. Opción D, que el corte del regulador de un envase de gas licuado de hasta quince kilos haga de llave de usuario. Piénsalo un momento.</a:t>
            </a:r>
          </a:p>
          <a:p>
            <a:r>
              <a:t>N2: Una pista: el multiuso se permite si una llave cumple todo lo exigido, pero hay una pareja concreta que la norma prohíbe en todos los casos.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 que la llave de vivienda haga de llave de aparato. ¿Por qué? Porque si fueran la misma llave, no podrías cortar el gas de un solo aparato sin dejar toda la casa sin gas, y se perdería el sentido de tener una llave por aparato. Las otras tres sí se permiten: el contador puede hacer de usuario en centralizaciones, una llave puede ser multifunción si cumple todo lo exigido, y en envases de gas licuado de hasta quince kilos el corte del regulador sí puede hacer de llave de usuario.</a:t>
            </a:r>
          </a:p>
          <a:p>
            <a:r>
              <a:t>N1: El único no rotundo aquí es vivienda hace de aparato. Ese es el que buscas.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Una vez montado todo esto, ¿cómo se pone en marcha?</a:t>
            </a:r>
          </a:p>
          <a:p>
            <a:r>
              <a:t>N2: Con la instalación terminada, se sigue un circuito de papeles y comprobaciones que no te puedes saltar. Primero, la empresa instaladora habilitada hace las pruebas de estanquidad, para comprobar que no se escapa nada, y firma el certificado de instalación, el modelo I erre ge. Con ese certificado, la empresa distribuidora hace la puesta en servicio, que es dar gas de forma legal. Y la puesta en marcha de cada aparato la certifica quien lo arranca, sea el servicio técnico del fabricante o el instalador habilitado. Un detalle práctico: del certificado, la copia es para el usuario y el original para la distribuidora. Sin ese circuito completo, la instalación no puede recibir gas legalmente, aunque esté perfectamente montada. El papel y la prueba son los que abren la llave.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Último empujón. ¿Cómo lo ato todo y cierro el tema?</a:t>
            </a:r>
          </a:p>
          <a:p>
            <a:r>
              <a:t>N2: Reconstruyamos el hilo de los tres elementos que gobiernan el gas. Primero, dónde medir: las tomas de presión, colocadas a cada lado de los elementos importantes, para no trabajar a ciegas. Segundo, cómo regular: en gas natural, cuanta más presión de entrada, más seguridades, con el regulador más la máxima y la mínima; en GLP, dos etapas y la entrada de la receptora entre una décima y dos bar, con inversor y antirretorno en las bombonas. Y tercero, cómo cortar: la cadena de llaves de fuera hacia dentro, acometida, edificio, montante, usuario, contador, vivienda y aparato, cada una con su grado de accesibilidad, lo tuyo en grado uno y lo de la compañía en dos o tres.</a:t>
            </a:r>
          </a:p>
          <a:p>
            <a:r>
              <a:t>N1: ¿Y cómo se pregunta y para qué me sirve de verdad?</a:t>
            </a:r>
          </a:p>
          <a:p>
            <a:r>
              <a:t>N2: En el examen te clavan las cifras y las prohibiciones: los cinco centímetros cuadrados de ventilación, el cuatro coma ocho de frontera, los veinticinco metros y los cuatro metros de la llave de edificio, y los dos noes, vivienda no es aparato y regulador no es usuario. En la obra, esto es lo que más usarás: para diagnosticar por qué un aparato no rinde vas midiendo con las tomas de presión, y para cortar en una urgencia tienes que saber qué llave cerrar y dónde está. Con esto has cerrado la Parte cuatro entera: sabes dimensionar, sabes llevar el tubo y sabes medir, regular y cortar. Hoy eres mucho más gasista que al empezar el tema. Enhorabuena: ya piensas como un instalador.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3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Tomas de presión, regulación y llaves de corte</a:t>
            </a:r>
          </a:p>
          <a:p>
            <a:r>
              <a:rPr sz="2200" b="0" i="0">
                <a:solidFill>
                  <a:srgbClr val="CADCFC"/>
                </a:solidFill>
                <a:latin typeface="Montserrat"/>
              </a:rPr>
              <a:t>Medir, regular y cortar el gas en la instalación</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11 · UNE 60670-4</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8</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llaves distintas en la cadena de corte</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5</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cm² de ventilación del armario de regulación</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4,8</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m³/h: frontera del conjunto de regulación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Apartado 5</a:t>
            </a:r>
          </a:p>
          <a:p>
            <a:pPr>
              <a:spcAft>
                <a:spcPts val="900"/>
              </a:spcAft>
            </a:pPr>
            <a:r>
              <a:rPr sz="1800" b="1" i="0">
                <a:solidFill>
                  <a:srgbClr val="E8801A"/>
                </a:solidFill>
                <a:latin typeface="Montserrat"/>
              </a:rPr>
              <a:t>02   </a:t>
            </a:r>
            <a:r>
              <a:rPr sz="1700" b="0" i="0">
                <a:solidFill>
                  <a:srgbClr val="1B2330"/>
                </a:solidFill>
                <a:latin typeface="Montserrat"/>
              </a:rPr>
              <a:t>Apartado 6.1</a:t>
            </a:r>
          </a:p>
          <a:p>
            <a:pPr>
              <a:spcAft>
                <a:spcPts val="900"/>
              </a:spcAft>
            </a:pPr>
            <a:r>
              <a:rPr sz="1800" b="1" i="0">
                <a:solidFill>
                  <a:srgbClr val="E8801A"/>
                </a:solidFill>
                <a:latin typeface="Montserrat"/>
              </a:rPr>
              <a:t>03   </a:t>
            </a:r>
            <a:r>
              <a:rPr sz="1700" b="0" i="0">
                <a:solidFill>
                  <a:srgbClr val="1B2330"/>
                </a:solidFill>
                <a:latin typeface="Montserrat"/>
              </a:rPr>
              <a:t>Apartado 6.1.1</a:t>
            </a:r>
          </a:p>
          <a:p>
            <a:pPr>
              <a:spcAft>
                <a:spcPts val="900"/>
              </a:spcAft>
            </a:pPr>
            <a:r>
              <a:rPr sz="1800" b="1" i="0">
                <a:solidFill>
                  <a:srgbClr val="E8801A"/>
                </a:solidFill>
                <a:latin typeface="Montserrat"/>
              </a:rPr>
              <a:t>04   </a:t>
            </a:r>
            <a:r>
              <a:rPr sz="1700" b="0" i="0">
                <a:solidFill>
                  <a:srgbClr val="1B2330"/>
                </a:solidFill>
                <a:latin typeface="Montserrat"/>
              </a:rPr>
              <a:t>Apartado 6.1.2</a:t>
            </a:r>
          </a:p>
          <a:p>
            <a:pPr>
              <a:spcAft>
                <a:spcPts val="900"/>
              </a:spcAft>
            </a:pPr>
            <a:r>
              <a:rPr sz="1800" b="1" i="0">
                <a:solidFill>
                  <a:srgbClr val="E8801A"/>
                </a:solidFill>
                <a:latin typeface="Montserrat"/>
              </a:rPr>
              <a:t>05   </a:t>
            </a:r>
            <a:r>
              <a:rPr sz="1700" b="0" i="0">
                <a:solidFill>
                  <a:srgbClr val="1B2330"/>
                </a:solidFill>
                <a:latin typeface="Montserrat"/>
              </a:rPr>
              <a:t>Apartado 6.2</a:t>
            </a:r>
          </a:p>
          <a:p>
            <a:pPr>
              <a:spcAft>
                <a:spcPts val="900"/>
              </a:spcAft>
            </a:pPr>
            <a:r>
              <a:rPr sz="1800" b="1" i="0">
                <a:solidFill>
                  <a:srgbClr val="E8801A"/>
                </a:solidFill>
                <a:latin typeface="Montserrat"/>
              </a:rPr>
              <a:t>06   </a:t>
            </a:r>
            <a:r>
              <a:rPr sz="1700" b="0" i="0">
                <a:solidFill>
                  <a:srgbClr val="1B2330"/>
                </a:solidFill>
                <a:latin typeface="Montserrat"/>
              </a:rPr>
              <a:t>Apartado 7</a:t>
            </a:r>
          </a:p>
          <a:p>
            <a:pPr>
              <a:spcAft>
                <a:spcPts val="900"/>
              </a:spcAft>
            </a:pPr>
            <a:r>
              <a:rPr sz="1800" b="1" i="0">
                <a:solidFill>
                  <a:srgbClr val="E8801A"/>
                </a:solidFill>
                <a:latin typeface="Montserrat"/>
              </a:rPr>
              <a:t>07   </a:t>
            </a:r>
            <a:r>
              <a:rPr sz="1700" b="0" i="0">
                <a:solidFill>
                  <a:srgbClr val="1B2330"/>
                </a:solidFill>
                <a:latin typeface="Montserrat"/>
              </a:rPr>
              <a:t>Apartados 7.1 y 7.2</a:t>
            </a:r>
          </a:p>
          <a:p>
            <a:pPr>
              <a:spcAft>
                <a:spcPts val="900"/>
              </a:spcAft>
            </a:pPr>
            <a:r>
              <a:rPr sz="1800" b="1" i="0">
                <a:solidFill>
                  <a:srgbClr val="E8801A"/>
                </a:solidFill>
                <a:latin typeface="Montserrat"/>
              </a:rPr>
              <a:t>08   </a:t>
            </a:r>
            <a:r>
              <a:rPr sz="1700" b="0" i="0">
                <a:solidFill>
                  <a:srgbClr val="1B2330"/>
                </a:solidFill>
                <a:latin typeface="Montserrat"/>
              </a:rPr>
              <a:t>Apartado 7.3</a:t>
            </a:r>
          </a:p>
          <a:p>
            <a:pPr>
              <a:spcAft>
                <a:spcPts val="900"/>
              </a:spcAft>
            </a:pPr>
            <a:r>
              <a:rPr sz="1800" b="1" i="0">
                <a:solidFill>
                  <a:srgbClr val="E8801A"/>
                </a:solidFill>
                <a:latin typeface="Montserrat"/>
              </a:rPr>
              <a:t>09   </a:t>
            </a:r>
            <a:r>
              <a:rPr sz="1700" b="0" i="0">
                <a:solidFill>
                  <a:srgbClr val="1B2330"/>
                </a:solidFill>
                <a:latin typeface="Montserrat"/>
              </a:rPr>
              <a:t>Apartados 7.4 y 7.5.1</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 · TOMAS DE PRESIÓN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Los pinchos para medir el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 la entrada y salida del regulador</a:t>
            </a:r>
          </a:p>
          <a:p>
            <a:pPr>
              <a:spcAft>
                <a:spcPts val="1100"/>
              </a:spcAft>
            </a:pPr>
            <a:r>
              <a:rPr sz="1600" b="1" i="0">
                <a:solidFill>
                  <a:srgbClr val="E8801A"/>
                </a:solidFill>
                <a:latin typeface="Montserrat"/>
              </a:rPr>
              <a:t>▸  </a:t>
            </a:r>
            <a:r>
              <a:rPr sz="1600" b="0" i="0">
                <a:solidFill>
                  <a:srgbClr val="1B2330"/>
                </a:solidFill>
                <a:latin typeface="Montserrat"/>
              </a:rPr>
              <a:t>En el contador y tras la llave de vivienda</a:t>
            </a:r>
          </a:p>
          <a:p>
            <a:pPr>
              <a:spcAft>
                <a:spcPts val="1100"/>
              </a:spcAft>
            </a:pPr>
            <a:r>
              <a:rPr sz="1600" b="1" i="0">
                <a:solidFill>
                  <a:srgbClr val="E8801A"/>
                </a:solidFill>
                <a:latin typeface="Montserrat"/>
              </a:rPr>
              <a:t>▸  </a:t>
            </a:r>
            <a:r>
              <a:rPr sz="1600" b="0" i="0">
                <a:solidFill>
                  <a:srgbClr val="1B2330"/>
                </a:solidFill>
                <a:latin typeface="Montserrat"/>
              </a:rPr>
              <a:t>Los conjuntos normalizados ya las traen</a:t>
            </a:r>
          </a:p>
        </p:txBody>
      </p:sp>
      <p:sp>
        <p:nvSpPr>
          <p:cNvPr id="9" name="imgph" descr="IMGQ:pressure gauge manometer on gas installatio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pressure gauge manometer on gas installation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6.1 · GAS NATURAL</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 más presión, más seguridades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Más de 150 mbar: regulador + máxima + mínima</a:t>
            </a:r>
          </a:p>
          <a:p>
            <a:pPr>
              <a:spcAft>
                <a:spcPts val="1100"/>
              </a:spcAft>
            </a:pPr>
            <a:r>
              <a:rPr sz="1600" b="1" i="0">
                <a:solidFill>
                  <a:srgbClr val="E8801A"/>
                </a:solidFill>
                <a:latin typeface="Montserrat"/>
              </a:rPr>
              <a:t>▸  </a:t>
            </a:r>
            <a:r>
              <a:rPr sz="1600" b="0" i="0">
                <a:solidFill>
                  <a:srgbClr val="1B2330"/>
                </a:solidFill>
                <a:latin typeface="Montserrat"/>
              </a:rPr>
              <a:t>De 50 a 150 mbar: regulador + mínima</a:t>
            </a:r>
          </a:p>
          <a:p>
            <a:pPr>
              <a:spcAft>
                <a:spcPts val="1100"/>
              </a:spcAft>
            </a:pPr>
            <a:r>
              <a:rPr sz="1600" b="1" i="0">
                <a:solidFill>
                  <a:srgbClr val="E8801A"/>
                </a:solidFill>
                <a:latin typeface="Montserrat"/>
              </a:rPr>
              <a:t>▸  </a:t>
            </a:r>
            <a:r>
              <a:rPr sz="1600" b="0" i="0">
                <a:solidFill>
                  <a:srgbClr val="1B2330"/>
                </a:solidFill>
                <a:latin typeface="Montserrat"/>
              </a:rPr>
              <a:t>Hasta 50 mbar: mínima si pasa de 25 mbar</a:t>
            </a:r>
          </a:p>
        </p:txBody>
      </p:sp>
      <p:sp>
        <p:nvSpPr>
          <p:cNvPr id="9" name="imgph" descr="IMGQ:gas pressure regulator valv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pressure regulator valve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En gas natural con MOP superior a 150 mbar y hasta 5 bar, ¿qué sistema de regulación exige la norma?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Solo regulador de presión</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Regulador más válvula de seguridad por mínima</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Regulador más válvula de seguridad por máxima y por mínima</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Solo válvula de seguridad por máxima presión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En gas natural con MOP superior a 150 mbar y hasta 5 bar, ¿qué sistema de regulación exige la norma?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Regulador más válvula de seguridad por máxima y por mínima</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En el tramo de mayor presión se exige lo máximo: regulador más seguridad por máxima presión más seguridad por mínima presión.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6.1.1 · UBICACIÓN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Conjuntos de alta: grado 2 y al exterior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Grado de accesibilidad 2</a:t>
            </a:r>
          </a:p>
          <a:p>
            <a:pPr>
              <a:spcAft>
                <a:spcPts val="1100"/>
              </a:spcAft>
            </a:pPr>
            <a:r>
              <a:rPr sz="1600" b="1" i="0">
                <a:solidFill>
                  <a:srgbClr val="E8801A"/>
                </a:solidFill>
                <a:latin typeface="Montserrat"/>
              </a:rPr>
              <a:t>▸  </a:t>
            </a:r>
            <a:r>
              <a:rPr sz="1600" b="0" i="0">
                <a:solidFill>
                  <a:srgbClr val="1B2330"/>
                </a:solidFill>
                <a:latin typeface="Montserrat"/>
              </a:rPr>
              <a:t>Armario o nicho con pared al exterior</a:t>
            </a:r>
          </a:p>
          <a:p>
            <a:pPr>
              <a:spcAft>
                <a:spcPts val="1100"/>
              </a:spcAft>
            </a:pPr>
            <a:r>
              <a:rPr sz="1600" b="1" i="0">
                <a:solidFill>
                  <a:srgbClr val="E8801A"/>
                </a:solidFill>
                <a:latin typeface="Montserrat"/>
              </a:rPr>
              <a:t>▸  </a:t>
            </a:r>
            <a:r>
              <a:rPr sz="1600" b="0" i="0">
                <a:solidFill>
                  <a:srgbClr val="1B2330"/>
                </a:solidFill>
                <a:latin typeface="Montserrat"/>
              </a:rPr>
              <a:t>Ventilación de al menos 5 cm²</a:t>
            </a:r>
          </a:p>
        </p:txBody>
      </p:sp>
      <p:sp>
        <p:nvSpPr>
          <p:cNvPr id="9" name="imgph" descr="IMGQ:gas regulator cabinet on building exterior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regulator cabinet on building exterior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6.1.2 · REGULADORES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4,8 y la rejilla del VAS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Hasta 4,8 m³/h: no es conjunto de regulación</a:t>
            </a:r>
          </a:p>
          <a:p>
            <a:pPr>
              <a:spcAft>
                <a:spcPts val="1100"/>
              </a:spcAft>
            </a:pPr>
            <a:r>
              <a:rPr sz="1600" b="1" i="0">
                <a:solidFill>
                  <a:srgbClr val="E8801A"/>
                </a:solidFill>
                <a:latin typeface="Montserrat"/>
              </a:rPr>
              <a:t>▸  </a:t>
            </a:r>
            <a:r>
              <a:rPr sz="1600" b="0" i="0">
                <a:solidFill>
                  <a:srgbClr val="1B2330"/>
                </a:solidFill>
                <a:latin typeface="Montserrat"/>
              </a:rPr>
              <a:t>VAS por dentro: 5 cm² permanentes</a:t>
            </a:r>
          </a:p>
          <a:p>
            <a:pPr>
              <a:spcAft>
                <a:spcPts val="1100"/>
              </a:spcAft>
            </a:pPr>
            <a:r>
              <a:rPr sz="1600" b="1" i="0">
                <a:solidFill>
                  <a:srgbClr val="E8801A"/>
                </a:solidFill>
                <a:latin typeface="Montserrat"/>
              </a:rPr>
              <a:t>▸  </a:t>
            </a:r>
            <a:r>
              <a:rPr sz="1600" b="0" i="0">
                <a:solidFill>
                  <a:srgbClr val="1B2330"/>
                </a:solidFill>
                <a:latin typeface="Montserrat"/>
              </a:rPr>
              <a:t>Arriba si es ligero, abajo si es pesado</a:t>
            </a:r>
          </a:p>
        </p:txBody>
      </p:sp>
      <p:sp>
        <p:nvSpPr>
          <p:cNvPr id="9" name="imgph" descr="IMGQ:small gas regulator on mete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small gas regulator on meter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6.2 · GLP</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GLP baja en dos escalones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Entrada de la receptora: entre 0,1 y 2 bar</a:t>
            </a:r>
          </a:p>
          <a:p>
            <a:pPr>
              <a:spcAft>
                <a:spcPts val="1100"/>
              </a:spcAft>
            </a:pPr>
            <a:r>
              <a:rPr sz="1600" b="1" i="0">
                <a:solidFill>
                  <a:srgbClr val="E8801A"/>
                </a:solidFill>
                <a:latin typeface="Montserrat"/>
              </a:rPr>
              <a:t>▸  </a:t>
            </a:r>
            <a:r>
              <a:rPr sz="1600" b="0" i="0">
                <a:solidFill>
                  <a:srgbClr val="1B2330"/>
                </a:solidFill>
                <a:latin typeface="Montserrat"/>
              </a:rPr>
              <a:t>Inversor automático en baterías de envases</a:t>
            </a:r>
          </a:p>
          <a:p>
            <a:pPr>
              <a:spcAft>
                <a:spcPts val="1100"/>
              </a:spcAft>
            </a:pPr>
            <a:r>
              <a:rPr sz="1600" b="1" i="0">
                <a:solidFill>
                  <a:srgbClr val="E8801A"/>
                </a:solidFill>
                <a:latin typeface="Montserrat"/>
              </a:rPr>
              <a:t>▸  </a:t>
            </a:r>
            <a:r>
              <a:rPr sz="1600" b="0" i="0">
                <a:solidFill>
                  <a:srgbClr val="1B2330"/>
                </a:solidFill>
                <a:latin typeface="Montserrat"/>
              </a:rPr>
              <a:t>Válvulas antirretorno entre bombonas</a:t>
            </a:r>
          </a:p>
        </p:txBody>
      </p:sp>
      <p:sp>
        <p:nvSpPr>
          <p:cNvPr id="9" name="imgph" descr="IMGQ:propane gas cylinder with regulato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propane gas cylinder with regulator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7 · DISPOSITIVOS DE CORTE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cadena de llaves, en orden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Acometida → edificio → montante</a:t>
            </a:r>
          </a:p>
          <a:p>
            <a:pPr>
              <a:spcAft>
                <a:spcPts val="1100"/>
              </a:spcAft>
            </a:pPr>
            <a:r>
              <a:rPr sz="1600" b="1" i="0">
                <a:solidFill>
                  <a:srgbClr val="E8801A"/>
                </a:solidFill>
                <a:latin typeface="Montserrat"/>
              </a:rPr>
              <a:t>▸  </a:t>
            </a:r>
            <a:r>
              <a:rPr sz="1600" b="0" i="0">
                <a:solidFill>
                  <a:srgbClr val="1B2330"/>
                </a:solidFill>
                <a:latin typeface="Montserrat"/>
              </a:rPr>
              <a:t>Usuario → contador → vivienda</a:t>
            </a:r>
          </a:p>
          <a:p>
            <a:pPr>
              <a:spcAft>
                <a:spcPts val="1100"/>
              </a:spcAft>
            </a:pPr>
            <a:r>
              <a:rPr sz="1600" b="1" i="0">
                <a:solidFill>
                  <a:srgbClr val="E8801A"/>
                </a:solidFill>
                <a:latin typeface="Montserrat"/>
              </a:rPr>
              <a:t>▸  </a:t>
            </a:r>
            <a:r>
              <a:rPr sz="1600" b="0" i="0">
                <a:solidFill>
                  <a:srgbClr val="1B2330"/>
                </a:solidFill>
                <a:latin typeface="Montserrat"/>
              </a:rPr>
              <a:t>Y por último, la de cada aparato</a:t>
            </a:r>
          </a:p>
        </p:txBody>
      </p:sp>
      <p:sp>
        <p:nvSpPr>
          <p:cNvPr id="9" name="imgph" descr="IMGQ:gas shut off valve with yellow handl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shut off valve with yellow handle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APARTADOS 7.1 Y 7.2</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Acometida y edificio: 25 y 4</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Acometida: siempre, la pone la distribuidora</a:t>
            </a:r>
          </a:p>
          <a:p>
            <a:pPr>
              <a:spcAft>
                <a:spcPts val="1100"/>
              </a:spcAft>
            </a:pPr>
            <a:r>
              <a:rPr sz="1600" b="1" i="0">
                <a:solidFill>
                  <a:srgbClr val="E8801A"/>
                </a:solidFill>
                <a:latin typeface="Montserrat"/>
              </a:rPr>
              <a:t>▸  </a:t>
            </a:r>
            <a:r>
              <a:rPr sz="1600" b="0" i="0">
                <a:solidFill>
                  <a:srgbClr val="1B2330"/>
                </a:solidFill>
                <a:latin typeface="Montserrat"/>
              </a:rPr>
              <a:t>Edificio: solo si la acometida es larga</a:t>
            </a:r>
          </a:p>
          <a:p>
            <a:pPr>
              <a:spcAft>
                <a:spcPts val="1100"/>
              </a:spcAft>
            </a:pPr>
            <a:r>
              <a:rPr sz="1600" b="1" i="0">
                <a:solidFill>
                  <a:srgbClr val="E8801A"/>
                </a:solidFill>
                <a:latin typeface="Montserrat"/>
              </a:rPr>
              <a:t>▸  </a:t>
            </a:r>
            <a:r>
              <a:rPr sz="1600" b="0" i="0">
                <a:solidFill>
                  <a:srgbClr val="1B2330"/>
                </a:solidFill>
                <a:latin typeface="Montserrat"/>
              </a:rPr>
              <a:t>25 m si va vista o 4 m si va enterrada</a:t>
            </a:r>
          </a:p>
        </p:txBody>
      </p:sp>
      <p:sp>
        <p:nvSpPr>
          <p:cNvPr id="9" name="imgph" descr="IMGQ:gas service valve on street pavemen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service valve on street pavement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¿Cuándo es obligatorio instalar llave de edificio por longitud de la acometida interior?</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Vista de 25 m o más, o enterrada de 4 m o más</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Vista de 4 m o más, o enterrada de 25 m o más</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Siempre, sea cual sea la longitud</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Solo si la acometida supera los 50 m</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¿Cuándo es obligatorio instalar llave de edificio por longitud de la acometida interior?</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Vista de 25 m o más, o enterrada de 4 m o más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Se exige llave de edificio con acometida interior vista de 25 m o más, o enterrada de 4 m o más; la enterrada obliga antes por ser más difícil de detectar.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7.3 · MONTANTE COLECTIVO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llave para poder crecer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Una si hay más de un montante</a:t>
            </a:r>
          </a:p>
          <a:p>
            <a:pPr>
              <a:spcAft>
                <a:spcPts val="1100"/>
              </a:spcAft>
            </a:pPr>
            <a:r>
              <a:rPr sz="1600" b="1" i="0">
                <a:solidFill>
                  <a:srgbClr val="E8801A"/>
                </a:solidFill>
                <a:latin typeface="Montserrat"/>
              </a:rPr>
              <a:t>▸  </a:t>
            </a:r>
            <a:r>
              <a:rPr sz="1600" b="0" i="0">
                <a:solidFill>
                  <a:srgbClr val="1B2330"/>
                </a:solidFill>
                <a:latin typeface="Montserrat"/>
              </a:rPr>
              <a:t>Adicional: cerrada, bloqueada y precintada</a:t>
            </a:r>
          </a:p>
          <a:p>
            <a:pPr>
              <a:spcAft>
                <a:spcPts val="1100"/>
              </a:spcAft>
            </a:pPr>
            <a:r>
              <a:rPr sz="1600" b="1" i="0">
                <a:solidFill>
                  <a:srgbClr val="E8801A"/>
                </a:solidFill>
                <a:latin typeface="Montserrat"/>
              </a:rPr>
              <a:t>▸  </a:t>
            </a:r>
            <a:r>
              <a:rPr sz="1600" b="0" i="0">
                <a:solidFill>
                  <a:srgbClr val="1B2330"/>
                </a:solidFill>
                <a:latin typeface="Montserrat"/>
              </a:rPr>
              <a:t>Toma Peterson en tramos aéreos</a:t>
            </a:r>
          </a:p>
        </p:txBody>
      </p:sp>
      <p:sp>
        <p:nvSpPr>
          <p:cNvPr id="9" name="imgph" descr="IMGQ:vertical gas riser pipe in stairwe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vertical gas riser pipe in stairwell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APARTADOS 7.4 Y 7.5.1</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Usuario y contador: aislar tu piso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Usuario: aísla cada vivienda, grado 2</a:t>
            </a:r>
          </a:p>
          <a:p>
            <a:pPr>
              <a:spcAft>
                <a:spcPts val="1100"/>
              </a:spcAft>
            </a:pPr>
            <a:r>
              <a:rPr sz="1600" b="1" i="0">
                <a:solidFill>
                  <a:srgbClr val="E8801A"/>
                </a:solidFill>
                <a:latin typeface="Montserrat"/>
              </a:rPr>
              <a:t>▸  </a:t>
            </a:r>
            <a:r>
              <a:rPr sz="1600" b="0" i="0">
                <a:solidFill>
                  <a:srgbClr val="1B2330"/>
                </a:solidFill>
                <a:latin typeface="Montserrat"/>
              </a:rPr>
              <a:t>Contador: siempre, junto a su entrada</a:t>
            </a:r>
          </a:p>
          <a:p>
            <a:pPr>
              <a:spcAft>
                <a:spcPts val="1100"/>
              </a:spcAft>
            </a:pPr>
            <a:r>
              <a:rPr sz="1600" b="1" i="0">
                <a:solidFill>
                  <a:srgbClr val="E8801A"/>
                </a:solidFill>
                <a:latin typeface="Montserrat"/>
              </a:rPr>
              <a:t>▸  </a:t>
            </a:r>
            <a:r>
              <a:rPr sz="1600" b="0" i="0">
                <a:solidFill>
                  <a:srgbClr val="1B2330"/>
                </a:solidFill>
                <a:latin typeface="Montserrat"/>
              </a:rPr>
              <a:t>El contador puede hacer de usuario</a:t>
            </a:r>
          </a:p>
        </p:txBody>
      </p:sp>
      <p:sp>
        <p:nvSpPr>
          <p:cNvPr id="9" name="imgph" descr="IMGQ:gas meter with shut off valv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with shut off valve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7.5.2 · LLAVE DE VIVIENDA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llave de vivienda es la tuya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Siempre, con accesibilidad de grado 1</a:t>
            </a:r>
          </a:p>
          <a:p>
            <a:pPr>
              <a:spcAft>
                <a:spcPts val="1100"/>
              </a:spcAft>
            </a:pPr>
            <a:r>
              <a:rPr sz="1600" b="1" i="0">
                <a:solidFill>
                  <a:srgbClr val="E8801A"/>
                </a:solidFill>
                <a:latin typeface="Montserrat"/>
              </a:rPr>
              <a:t>▸  </a:t>
            </a:r>
            <a:r>
              <a:rPr sz="1600" b="0" i="0">
                <a:solidFill>
                  <a:srgbClr val="1B2330"/>
                </a:solidFill>
                <a:latin typeface="Montserrat"/>
              </a:rPr>
              <a:t>Fuera de la vivienda pero accesible dentro</a:t>
            </a:r>
          </a:p>
          <a:p>
            <a:pPr>
              <a:spcAft>
                <a:spcPts val="1100"/>
              </a:spcAft>
            </a:pPr>
            <a:r>
              <a:rPr sz="1600" b="1" i="0">
                <a:solidFill>
                  <a:srgbClr val="E8801A"/>
                </a:solidFill>
                <a:latin typeface="Montserrat"/>
              </a:rPr>
              <a:t>▸  </a:t>
            </a:r>
            <a:r>
              <a:rPr sz="1600" b="0" i="0">
                <a:solidFill>
                  <a:srgbClr val="1B2330"/>
                </a:solidFill>
                <a:latin typeface="Montserrat"/>
              </a:rPr>
              <a:t>Corta el gas de toda la casa</a:t>
            </a:r>
          </a:p>
        </p:txBody>
      </p:sp>
      <p:sp>
        <p:nvSpPr>
          <p:cNvPr id="9" name="imgph" descr="IMGQ:gas valve inside home hallway"/>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valve inside home hallway</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7.5.3 · LLAVE DE APARATO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Una llave por cada aparato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Junto al aparato, en el mismo recinto</a:t>
            </a:r>
          </a:p>
          <a:p>
            <a:pPr>
              <a:spcAft>
                <a:spcPts val="1100"/>
              </a:spcAft>
            </a:pPr>
            <a:r>
              <a:rPr sz="1600" b="1" i="0">
                <a:solidFill>
                  <a:srgbClr val="E8801A"/>
                </a:solidFill>
                <a:latin typeface="Montserrat"/>
              </a:rPr>
              <a:t>▸  </a:t>
            </a:r>
            <a:r>
              <a:rPr sz="1600" b="0" i="0">
                <a:solidFill>
                  <a:srgbClr val="1B2330"/>
                </a:solidFill>
                <a:latin typeface="Montserrat"/>
              </a:rPr>
              <a:t>Pendientes: cerradas, bloqueadas, precintadas</a:t>
            </a:r>
          </a:p>
          <a:p>
            <a:pPr>
              <a:spcAft>
                <a:spcPts val="1100"/>
              </a:spcAft>
            </a:pPr>
            <a:r>
              <a:rPr sz="1600" b="1" i="0">
                <a:solidFill>
                  <a:srgbClr val="E8801A"/>
                </a:solidFill>
                <a:latin typeface="Montserrat"/>
              </a:rPr>
              <a:t>▸  </a:t>
            </a:r>
            <a:r>
              <a:rPr sz="1600" b="0" i="0">
                <a:solidFill>
                  <a:srgbClr val="1B2330"/>
                </a:solidFill>
                <a:latin typeface="Montserrat"/>
              </a:rPr>
              <a:t>Cocina: limitador de exceso de flujo</a:t>
            </a:r>
          </a:p>
        </p:txBody>
      </p:sp>
      <p:sp>
        <p:nvSpPr>
          <p:cNvPr id="9" name="imgph" descr="IMGQ:gas cooker connection valve in kitche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cooker connection valve in kitchen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GRADOS DE ACCESIBILIDAD</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Quién llega a cada llave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Grado 1: a mano del usuario</a:t>
            </a:r>
          </a:p>
          <a:p>
            <a:pPr>
              <a:spcAft>
                <a:spcPts val="1100"/>
              </a:spcAft>
            </a:pPr>
            <a:r>
              <a:rPr sz="1600" b="1" i="0">
                <a:solidFill>
                  <a:srgbClr val="E8801A"/>
                </a:solidFill>
                <a:latin typeface="Montserrat"/>
              </a:rPr>
              <a:t>▸  </a:t>
            </a:r>
            <a:r>
              <a:rPr sz="1600" b="0" i="0">
                <a:solidFill>
                  <a:srgbClr val="1B2330"/>
                </a:solidFill>
                <a:latin typeface="Montserrat"/>
              </a:rPr>
              <a:t>Grado 2: desde zona común, la distribuidora</a:t>
            </a:r>
          </a:p>
          <a:p>
            <a:pPr>
              <a:spcAft>
                <a:spcPts val="1100"/>
              </a:spcAft>
            </a:pPr>
            <a:r>
              <a:rPr sz="1600" b="1" i="0">
                <a:solidFill>
                  <a:srgbClr val="E8801A"/>
                </a:solidFill>
                <a:latin typeface="Montserrat"/>
              </a:rPr>
              <a:t>▸  </a:t>
            </a:r>
            <a:r>
              <a:rPr sz="1600" b="0" i="0">
                <a:solidFill>
                  <a:srgbClr val="1B2330"/>
                </a:solidFill>
                <a:latin typeface="Montserrat"/>
              </a:rPr>
              <a:t>Grado 3: el menos accesible</a:t>
            </a:r>
          </a:p>
        </p:txBody>
      </p:sp>
      <p:sp>
        <p:nvSpPr>
          <p:cNvPr id="9" name="imgph" descr="IMGQ:gas valve behind access pane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valve behind access panel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7.6 · MULTIFUNCIÓN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Una llave, varios sombreros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Multiuso si cumple todo lo exigido</a:t>
            </a:r>
          </a:p>
          <a:p>
            <a:pPr>
              <a:spcAft>
                <a:spcPts val="1100"/>
              </a:spcAft>
            </a:pPr>
            <a:r>
              <a:rPr sz="1600" b="1" i="0">
                <a:solidFill>
                  <a:srgbClr val="E8801A"/>
                </a:solidFill>
                <a:latin typeface="Montserrat"/>
              </a:rPr>
              <a:t>▸  </a:t>
            </a:r>
            <a:r>
              <a:rPr sz="1600" b="0" i="0">
                <a:solidFill>
                  <a:srgbClr val="1B2330"/>
                </a:solidFill>
                <a:latin typeface="Montserrat"/>
              </a:rPr>
              <a:t>Vivienda NUNCA hace de aparato</a:t>
            </a:r>
          </a:p>
          <a:p>
            <a:pPr>
              <a:spcAft>
                <a:spcPts val="1100"/>
              </a:spcAft>
            </a:pPr>
            <a:r>
              <a:rPr sz="1600" b="1" i="0">
                <a:solidFill>
                  <a:srgbClr val="E8801A"/>
                </a:solidFill>
                <a:latin typeface="Montserrat"/>
              </a:rPr>
              <a:t>▸  </a:t>
            </a:r>
            <a:r>
              <a:rPr sz="1600" b="0" i="0">
                <a:solidFill>
                  <a:srgbClr val="1B2330"/>
                </a:solidFill>
                <a:latin typeface="Montserrat"/>
              </a:rPr>
              <a:t>Regulador no hace de usuario (salvo GLP ≤ 15 kg)</a:t>
            </a:r>
          </a:p>
        </p:txBody>
      </p:sp>
      <p:sp>
        <p:nvSpPr>
          <p:cNvPr id="9" name="imgph" descr="IMGQ:brass gas ball valve close up"/>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brass gas ball valve close up</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Según la norma, ¿cuál de estas combinaciones de funciones NUNCA se permite?</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Que la llave de contador haga de llave de usuario</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Que la llave de vivienda haga de llave de aparato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Que una llave ejerza varias funciones si cumple todos los requisitos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Que el corte del regulador de un envase de GLP ≤ 15 kg haga de llave de usuario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Según la norma, ¿cuál de estas combinaciones de funciones NUNCA se permite?</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Que la llave de vivienda haga de llave de aparato</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norma prohíbe expresamente que la llave de vivienda haga la función de llave de aparato; las otras combinaciones sí se admiten.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024</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DOCUMENTACIÓN Y PUESTA EN SERVICIO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Del certificado al gas abierto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La instaladora firma el certificado (IRG)</a:t>
            </a:r>
          </a:p>
          <a:p>
            <a:pPr>
              <a:spcAft>
                <a:spcPts val="1100"/>
              </a:spcAft>
            </a:pPr>
            <a:r>
              <a:rPr sz="1600" b="1" i="0">
                <a:solidFill>
                  <a:srgbClr val="E8801A"/>
                </a:solidFill>
                <a:latin typeface="Montserrat"/>
              </a:rPr>
              <a:t>▸  </a:t>
            </a:r>
            <a:r>
              <a:rPr sz="1600" b="0" i="0">
                <a:solidFill>
                  <a:srgbClr val="1B2330"/>
                </a:solidFill>
                <a:latin typeface="Montserrat"/>
              </a:rPr>
              <a:t>Pruebas de estanquidad antes de dar gas</a:t>
            </a:r>
          </a:p>
          <a:p>
            <a:pPr>
              <a:spcAft>
                <a:spcPts val="1100"/>
              </a:spcAft>
            </a:pPr>
            <a:r>
              <a:rPr sz="1600" b="1" i="0">
                <a:solidFill>
                  <a:srgbClr val="E8801A"/>
                </a:solidFill>
                <a:latin typeface="Montserrat"/>
              </a:rPr>
              <a:t>▸  </a:t>
            </a:r>
            <a:r>
              <a:rPr sz="1600" b="0" i="0">
                <a:solidFill>
                  <a:srgbClr val="1B2330"/>
                </a:solidFill>
                <a:latin typeface="Montserrat"/>
              </a:rPr>
              <a:t>La distribuidora hace la puesta en servicio</a:t>
            </a:r>
          </a:p>
        </p:txBody>
      </p:sp>
      <p:sp>
        <p:nvSpPr>
          <p:cNvPr id="9" name="imgph" descr="IMGQ:gas installation certificate with signatur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installation certificate with signature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medir, regular y cortar el gas</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Tomas de presión: medir a cada lado del elemento</a:t>
            </a:r>
          </a:p>
          <a:p>
            <a:pPr>
              <a:spcAft>
                <a:spcPts val="1200"/>
              </a:spcAft>
            </a:pPr>
            <a:r>
              <a:rPr sz="2000" b="1" i="0">
                <a:solidFill>
                  <a:srgbClr val="F4A24C"/>
                </a:solidFill>
                <a:latin typeface="Montserrat"/>
              </a:rPr>
              <a:t>✓  </a:t>
            </a:r>
            <a:r>
              <a:rPr sz="1900" b="0" i="0">
                <a:solidFill>
                  <a:srgbClr val="FFFFFF"/>
                </a:solidFill>
                <a:latin typeface="Montserrat"/>
              </a:rPr>
              <a:t>Gas natural: a más MOP, más seguridades</a:t>
            </a:r>
          </a:p>
          <a:p>
            <a:pPr>
              <a:spcAft>
                <a:spcPts val="1200"/>
              </a:spcAft>
            </a:pPr>
            <a:r>
              <a:rPr sz="2000" b="1" i="0">
                <a:solidFill>
                  <a:srgbClr val="F4A24C"/>
                </a:solidFill>
                <a:latin typeface="Montserrat"/>
              </a:rPr>
              <a:t>✓  </a:t>
            </a:r>
            <a:r>
              <a:rPr sz="1900" b="0" i="0">
                <a:solidFill>
                  <a:srgbClr val="FFFFFF"/>
                </a:solidFill>
                <a:latin typeface="Montserrat"/>
              </a:rPr>
              <a:t>GLP: dos etapas y 0,1 a 2 bar a la entrada</a:t>
            </a:r>
          </a:p>
          <a:p>
            <a:pPr>
              <a:spcAft>
                <a:spcPts val="1200"/>
              </a:spcAft>
            </a:pPr>
            <a:r>
              <a:rPr sz="2000" b="1" i="0">
                <a:solidFill>
                  <a:srgbClr val="F4A24C"/>
                </a:solidFill>
                <a:latin typeface="Montserrat"/>
              </a:rPr>
              <a:t>✓  </a:t>
            </a:r>
            <a:r>
              <a:rPr sz="1900" b="0" i="0">
                <a:solidFill>
                  <a:srgbClr val="FFFFFF"/>
                </a:solidFill>
                <a:latin typeface="Montserrat"/>
              </a:rPr>
              <a:t>La cadena de llaves y sus grados de acceso</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Con esto diagnosticas una avería y cierras en una urgencia. Has cerrado la Parte 4 entera.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
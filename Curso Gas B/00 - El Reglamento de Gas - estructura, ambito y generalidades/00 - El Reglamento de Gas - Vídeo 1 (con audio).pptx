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20.mp3" ContentType="audio/mpeg"/>
  <Override PartName="/ppt/media/media21.mp3" ContentType="audio/mpeg"/>
  <Override PartName="/ppt/media/media3.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tocar un solo tubo, ¿qué es lo primero que manda?</a:t>
            </a:r>
          </a:p>
          <a:p>
            <a:r>
              <a:t>N2: Manda un único texto: el Reglamento técnico de distribución y utilización de combustibles gaseosos, el famoso Real Decreto novecientos diecinueve. Todo tu oficio se apoya en él, así que empezamos por la base. En este primer vídeo vemos tres cosas: para qué sirve, a qué instalaciones se aplica y, la más importante, el vocabulario exacto con el que vas a trabajar. Y te adelanto una idea que te va a ahorrar mucho tiempo: quien domina estas definiciones tiene media asignatura ganada, porque son las mismas palabras que luego aparecen en el boletín que firmas, en la pregunta del examen y en cada avería que pises.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me dan el esqueleto del vídeo?</a:t>
            </a:r>
          </a:p>
          <a:p>
            <a:r>
              <a:t>N2: Fíjate en estos tres y no te perderás. Nueve tipos de instalación que el Reglamento mete bajo su paraguas, desde la red de la calle hasta el aparato de tu cocina. Tres partes en las que se divide la instalación receptora, que es tu terreno del día a día. Y veinticuatro definiciones en el artículo tercero, que es, ni más ni menos, el diccionario del oficio. Si retienes estos tres bloques ya sabes qué se regula, cuál es tu zona de trabajo y con qué palabras se nombra todo. El resto del vídeo, y buena parte del curso, cuelga de aquí.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tuviera que resumir en una frase para qué existe este Reglamento, ¿qué diría?</a:t>
            </a:r>
          </a:p>
          <a:p>
            <a:r>
              <a:t>N2: Piénsalo así: su objeto es fijar las condiciones técnicas y las garantías que deben reunir las instalaciones de gas y los aparatos que lo queman, con una única finalidad de fondo, que es proteger la seguridad de las personas y los bienes. Quédate con esa palabra, seguridad, porque es la brújula de todo. Cada distancia, cada prueba y cada certificado que verás en el curso nace de ahí. ¿Por qué importa esto en obra? Porque cuando dudes entre hacer algo de una manera o de otra, la respuesta correcta es casi siempre la más segura para quien vive en esa casa. Un ejemplo del día a día: ante una ventilación justita, el Reglamento nunca tira a lo cómodo, tira a proteger al usuario.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dude de dónde sale una norma, ¿dónde miro?</a:t>
            </a:r>
          </a:p>
          <a:p>
            <a:r>
              <a:t>N2: Usa una imagen que ya conoces: un árbol. El Reglamento es el tronco y las Instrucciones Técnicas Complementarias, que llamamos ITC, son las ramas. El tronco, que es el articulado, dice lo que vale para todos por igual. Cada rama, cada ITC, baja al detalle de un tipo concreto de instalación. Con esto tienes un método: cuando en obra te preguntes 'esto, ¿de dónde sale?', la respuesta casi siempre es lo general del tronco y el detalle de la rama que toque. Y un matiz que cae en el examen: cumplir el Reglamento no te libra de cumplir otras normas que regulan cosas distintas sobre esa misma instalación, por ejemplo las de electricidad o las de protección contra incendios. Esta lógica de tronco y ramas se repite en todo el curso, así que grábatela 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dos leyes por encima del Reglamento?</a:t>
            </a:r>
          </a:p>
          <a:p>
            <a:r>
              <a:t>N2: Porque un reglamento nunca nace solo; siempre desarrolla lo que una ley le ordena. Aquí hay dos leyes por encima. La Ley del sector de hidrocarburos manda en el negocio del gas: quién lo distribuye, quién lo comercializa, quién lo vende. Y la Ley de industria manda en la seguridad industrial. El Reglamento es el manual de instrucciones que baja esas dos leyes al taller, al tubo y a la llave. ¿Cómo se pregunta esto? Directo: 'de qué leyes cuelga el Reglamento', y ya lo tienes, hidrocarburos e industria. Guárdate además un detalle que ató luego: las sanciones tampoco las inventa el Reglamento, te remite a estas dos leyes. Todo empieza y acaba en ellas.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 lo que huele a gas entra aquí?</a:t>
            </a:r>
          </a:p>
          <a:p>
            <a:r>
              <a:t>N2: Prácticamente todo, sí. El Reglamento cubre nueve tipos, pero no te aprendas nueve cosas sueltas, agrúpalas en cinco ideas y las retienes. Una, la red de la calle, o distribución por canalización, con sus tuberías de la compañía hasta dieciséis bar. Dos, todo el mundo del GLP: las bombonas, los depósitos fijos de los chalés y las plantas de gas natural licuado. Tres, las estaciones de servicio para repostar coches a gas. Cuatro, las instalaciones receptoras, que son tu terreno del día a día. Y cinco, los propios aparatos que queman el gas. De esas nueve letras, retén la hache, las receptoras, porque es donde vas a vivir como gasista de categoría B. Las demás las reconoces, pero la tuya es la hache.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¿Cuántos tipos de instalación mete el Reglamento bajo su paraguas y por dónde empieza la lista?</a:t>
            </a:r>
          </a:p>
          <a:p>
            <a:r>
              <a:t>N2: Esta tabla es el campo de aplicación del artículo segundo, la lista de todo lo que el Reglamento vigila, y se lee por letras. La a es la red de la calle, la distribución por canalización, con tuberías de la compañía hasta dieciséis bar. La b es la nave de las bombonas, donde se guardan y reparten los envases de GLP. La c es el depósito fijo, enterrado o de superficie, típico de un chalé sin gas natural. La d es la planta satélite de gas natural licuado, hasta mil metros cúbicos, que abastece una zona. Y la e es la gasolinera de gas, para repostar coches. Un ejemplo de obra: si llegas a un chalé con un depósito enterrado en el jardín, estás en la letra c, y eso ya te dice qué reglas de ese tipo te aplican.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estas cuatro últimas letras, ¿cuál es la que vas a pisar cada día?</a:t>
            </a:r>
          </a:p>
          <a:p>
            <a:r>
              <a:t>N2: Seguimos con la lista. La f son las instalaciones de envases de GLP, el conjunto de bombonas y tuberías hasta la llave de acometida. La g es el GLP doméstico de caravanas y autocaravanas. La h son las instalaciones receptoras, el corazón de tu oficio de categoría B, y por eso es la letra que más te importa. Y la i son los aparatos de gas, los que queman el gas, como la caldera, el calentador o la cocina. Cómo se lee esto en obra: cuando entras en una vivienda a montar la tubería hasta cada aparato, estás trabajando en la letra hache; el aparato en sí es la letra i, una cosa distinta. Retén la hache como tu terreno.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la primera pregunta, y es de tu terreno, así que no deberías fallarla. Escucha bien: ¿qué letra del campo de aplicación corresponde a las instalaciones receptoras? Te leo las cuatro opciones. Opción A, la letra a, distribución por canalización. Opción B, la letra efe, instalaciones de envases de GLP. Opción C, la letra hache, instalaciones receptoras. Opción D, la letra i, aparatos de gas. Párala un momento si quieres y elige tu letra.</a:t>
            </a:r>
          </a:p>
          <a:p>
            <a:r>
              <a:t>N2: Piensa en cuál de las nueve letras es la que vas a pisar cada día dentro de las viviendas; esa es tu respuesta.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la letra hache, instalaciones receptoras. El artículo segundo ordena los tipos por letras y reserva la hache justamente a las receptoras, que son el terreno propio del gasista de categoría B. El truco para no fallar es asociar 'mi terreno' con la hache: la opción A, la letra a, es la red de la calle, y la opción D, la letra i, son los aparatos; ninguna de esas es la receptora.</a:t>
            </a:r>
          </a:p>
          <a:p>
            <a:r>
              <a:t>N1: Hache de 'hogar', si te ayuda a recordarlo.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¿Dónde está la frontera de lo que es tuyo?</a:t>
            </a:r>
          </a:p>
          <a:p>
            <a:r>
              <a:t>N2: El truco del 'incluida' y 'excluida' se entiende con la llave del portal. La llave de acometida es como la llave del portal que pone la compañía: no es tuya, y por eso va excluida, se queda fuera de tu instalación. Desde ahí hacia dentro, hasta las llaves de conexión de cada aparato, sí es tuyo, y por eso esas llaves van incluidas. Resúmelo en una frase que puedas recitar: la receptora empieza donde acaba la acometida y termina en la llave del aparato; el aparato y su tubito flexible, fuera. Y esto no es un tecnicismo de examen: esa frontera marca justo qué tramo pruebas con la estanquidad y qué firmas en el boletín. Si dejas un tramo fuera de la frontera sin probar, ahí es exactamente donde aparece la fuga que no viste.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cae fijo, presta atención. La pregunta es: ¿entre qué elementos está comprendida la instalación receptora? Escucha las cuatro opciones. Opción A, de la llave de acometida incluida a la llave de aparato incluida. Opción B, de la llave de acometida excluida a la llave de conexión de aparato incluida. Opción C, del contador hasta los propios aparatos, ambos incluidos. Opción D, de la llave de aparato excluida hasta el propio aparato. Tómate un segundo y decide.</a:t>
            </a:r>
          </a:p>
          <a:p>
            <a:r>
              <a:t>N2: Acuérdate del truco de la llave del portal: lo que pone la compañía no es tuyo, va fuera.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de la llave de acometida excluida a la llave de conexión de aparato incluida. La acometida va excluida porque la pone la compañía, como la llave del portal; y la llave del aparato va incluida porque es lo último que es tuyo. El fallo típico es la opción A, que mete la acometida dentro, o la opción D, que se queda el aparato; ni una ni otra. La opción C se inventa el contador como frontera, y tampoco.</a:t>
            </a:r>
          </a:p>
          <a:p>
            <a:r>
              <a:t>N1: Acometida fuera, llave del aparato dentro; con eso la clavas.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bombona de camping con su hornillo, ¿es instalación receptora?</a:t>
            </a:r>
          </a:p>
          <a:p>
            <a:r>
              <a:t>N2: No, y ese límite de quince kilos es la línea que separa una instalación de un simple cacharro suelto. La bombona pequeña, de menos de quince kilos, con su tubo flexible conectada a un único aparato móvil, no es instalación receptora: es camping-gas y no hay que legalizarla como tal. Pero atento al cambio: en cuanto pones tubería fija, o varios aparatos, o una bombona más grande, ya es instalación receptora y le entra el Reglamento entero, con su certificado y su prueba de estanquidad. Piénsalo como una regla de dos casilleros: bombona pequeña más un aparato móvil, fuera; todo lo demás, dentro. Muchas chapuzas que te vas a encontrar en campo son exactamente esto: una instalación fija montada como si fuera camping-gas, sin boletín y sin prueba. Ahí tienes la avería esperando a que alguien encienda.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Sale un reglamento nuevo, ¿hay que rehacer lo viejo?</a:t>
            </a:r>
          </a:p>
          <a:p>
            <a:r>
              <a:t>N2: No, y esto tranquiliza a mucha gente. Una instalación antigua no se rehace porque salga normativa nueva; se respeta tal como está, hasta que la tocas. En el momento en que la amplías o la modificas, lo que toques se pone al día con la norma actual. Piensa que actualizas la parte en la que metes mano, no toda la casa. Ahora bien, hay algo de lo que nadie se libra por ser antiguo: los controles periódicos, es decir, las inspecciones y revisiones, le caen igual que a una instalación nueva. Ejemplo claro: una vivienda de hace décadas, mientras no le toques nada, vive con su reglamento de origen; pero su inspección le toca exactamente igual que a la del vecino de al lado. Antigüedad no es excusa para saltarse el control.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coloco los tres tramos sin equivocarme nunca?</a:t>
            </a:r>
          </a:p>
          <a:p>
            <a:r>
              <a:t>N2: Imagínate el gas entrando en un edificio y avanzando por tres tramos encajados, siempre en el mismo orden, como muñecas rusas que salen una de otra. Primero, la acometida interior, que va de la calle al edificio. Después, la instalación común, que es el montante que sube por el edificio y lo comparten los vecinos. Y por último, la instalación individual, lo que entra en cada vivienda y llega hasta cada aparato. La clave es que cada tramo empieza justo donde acaba el anterior, sin huecos ni solapes. Si te imaginas el gas subiendo por la escalera y entrando en tu piso, colocas los tres tramos sin fallar. Y esto sirve para algo muy práctico: saber en qué tramo estás decide quién lo mantiene y quién lo inspecciona, que no siempre es la misma persona.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¿Siempre están los tres tramos?</a:t>
            </a:r>
          </a:p>
          <a:p>
            <a:r>
              <a:t>N2: No siempre, y es normal que falte alguno. Fíjate en que la propia definición dice 'en su caso más general', y esa coletilla es una pista: significa que no todas las instalaciones tienen los tres tramos. En una vivienda unifamiliar, un chalé con el contador en la valla, no hay instalación común ni acometida interior; va casi todo directo a la instalación individual. Así que no te agobies si en una instalación real echas en falta un tramo, no es un error, es un caso más sencillo. Lo importante, y lo que de verdad te van a exigir, es reconocer qué tramo tienes delante para saber qué le corresponde y qué papel te toca firmar a ti.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¿Sabría separar quién hace qué en una instalación?</a:t>
            </a:r>
          </a:p>
          <a:p>
            <a:r>
              <a:t>N2: Aquí está la otra mitad del diccionario y la trampa clásica del examen: hasta ahora hablábamos de tuberías, ahora hablamos de personas, los agentes. Vamos a atar cabos uno a uno. El fabricante hace el producto. La empresa instaladora, que es la razón social, la empresa, monta y certifica. El instalador, que es la persona con carné, es quien ejecuta el trabajo. El distribuidor lleva el gas por la red de la calle. El comercializador es quien te lo vende, con quien tienes el contrato. El titular es el dueño, que responde del mantenimiento, y el usuario es simplemente quien lo gasta. El truco para no fallar es mental: separa siempre 'tuberías' de 'personas'. Cuando el examen te cruce una parte con un agente para liarte, tú ya sabes que son dos listas distintas. Y en obra esto es oro: sabes exactamente a quién firmas y a quién tienes que avisar.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son las tres familias de la norma UNE-EN cuatrocientos treinta y siete?</a:t>
            </a:r>
          </a:p>
          <a:p>
            <a:r>
              <a:t>N2: Es la forma de clasificar los combustibles gaseosos según cómo queman, y son tres familias. La primera son los gases manufacturados y el aire propanado, que hoy están casi en desuso. La segunda es el gas natural, el de la ciudad, el que llega por la tubería de la calle. Y la tercera es el GLP, es decir butano y propano. Esto no es un dato de relleno, atento a por qué importa: cada aparato viene tarado, ajustado, para su gas y su presión. Si le metes un gas de otra familia, o a otra presión, la combustión se estropea y aparece la llama amarilla, el ennegrecido y, lo peligroso, el monóxido de carbono. Aquí solo aprendes a clasificarlos; el ajuste fino vendrá más adelante en el curso. Pero grábate la idea: la causa de media avería de combustión empieza por confundir la familia de gas.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con un repaso rápido. ¿Me suenan ya los cuatro pilares?</a:t>
            </a:r>
          </a:p>
          <a:p>
            <a:r>
              <a:t>N2: Vamos a fijarlos en treinta segundos, y te propongo que los repitas en voz alta conmigo. Uno, tronco y ramas: lo general vive en el Reglamento, el detalle en cada ITC. Dos, nueve tipos de instalación, y la letra hache, las receptoras, es tu terreno. Tres, la receptora va de la llave de acometida, que va excluida, a la llave del aparato, que va incluida. Y cuatro, el artículo tercero es tu diccionario, y tiene dos mitades: las tres partes encajadas por un lado y las personas del oficio por otro. Si eres capaz de recitar estos cuatro puntos de carrerilla, tienes el vídeo dominado. Hazlo una vez en voz alta antes de seguir, que lo que se dice se recuerda mejor que lo que solo se lee.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me quedo con lo esencial, ¿qué he conquistado hoy?</a:t>
            </a:r>
          </a:p>
          <a:p>
            <a:r>
              <a:t>N2: Reconstruyamos el hilo, porque cada pieza encaja con la anterior. Empezaste sabiendo para qué existe el Reglamento: proteger a las personas, y por eso todo se decide hacia el lado más seguro. De ahí saliste con tu primer logro: colocar cualquier norma en su sitio, lo general en el tronco y el detalle en la rama de su ITC. Luego marcaste la frontera de tu instalación receptora con una sola frase, de la llave de acometida excluida a la llave del aparato incluida, y con esa frontera ya sabes qué pruebas y qué firmas. Y por último convertiste el artículo tercero en tu diccionario, separando las tres partes encajadas de las personas del oficio.</a:t>
            </a:r>
          </a:p>
          <a:p>
            <a:r>
              <a:t>N1: ¿Y por qué esto vale oro en el examen y en la obra?</a:t>
            </a:r>
          </a:p>
          <a:p>
            <a:r>
              <a:t>N2: En el examen te lo van a preguntar cruzado, a mala idea: te mezclan una parte con un agente, o te cuelan una bombona de camping a ver si la clasificas como receptora. Como tú ya separas tuberías de personas y conoces el límite de los quince kilos, no caes. Y en la obra decide cosas serias: quién firma el boletín y de qué tramo respondes tú. Equivocarte de frontera es dejar un tramo sin probar, y ahí es donde aparece la fuga. Así que hoy no has memorizado, has entendido, y eso ya te hace más gasista que ayer. En el siguiente vídeo damos el salto al día a día de verdad: los materiales que puedes usar y el camino completo desde que terminas una instalación hasta que tiene gas.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microsoft.com/office/2007/relationships/media" Target="../media/media8.mp3"/><Relationship Id="rId4" Type="http://schemas.openxmlformats.org/officeDocument/2006/relationships/video" Target="../media/media8.mp3"/><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microsoft.com/office/2007/relationships/media" Target="../media/media10.mp3"/><Relationship Id="rId4" Type="http://schemas.openxmlformats.org/officeDocument/2006/relationships/video" Target="../media/media10.mp3"/><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microsoft.com/office/2007/relationships/media" Target="../media/media12.mp3"/><Relationship Id="rId4" Type="http://schemas.openxmlformats.org/officeDocument/2006/relationships/video" Target="../media/media12.mp3"/><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microsoft.com/office/2007/relationships/media" Target="../media/media13.mp3"/><Relationship Id="rId4" Type="http://schemas.openxmlformats.org/officeDocument/2006/relationships/video" Target="../media/media13.mp3"/><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microsoft.com/office/2007/relationships/media" Target="../media/media14.mp3"/><Relationship Id="rId4" Type="http://schemas.openxmlformats.org/officeDocument/2006/relationships/video" Target="../media/media14.mp3"/><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microsoft.com/office/2007/relationships/media" Target="../media/media16.mp3"/><Relationship Id="rId4" Type="http://schemas.openxmlformats.org/officeDocument/2006/relationships/video" Target="../media/media16.mp3"/><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microsoft.com/office/2007/relationships/media" Target="../media/media20.mp3"/><Relationship Id="rId4" Type="http://schemas.openxmlformats.org/officeDocument/2006/relationships/video" Target="../media/media20.mp3"/><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microsoft.com/office/2007/relationships/media" Target="../media/media21.mp3"/><Relationship Id="rId4" Type="http://schemas.openxmlformats.org/officeDocument/2006/relationships/video" Target="../media/media21.mp3"/><Relationship Id="rId5"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El Reglamento de Gas</a:t>
            </a:r>
          </a:p>
          <a:p>
            <a:r>
              <a:rPr sz="2200" b="0" i="0">
                <a:solidFill>
                  <a:srgbClr val="CADCFC"/>
                </a:solidFill>
                <a:latin typeface="Montserrat"/>
              </a:rPr>
              <a:t>Objeto, campo de aplicación y definiciones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00 · Marco normativo</a:t>
            </a:r>
          </a:p>
        </p:txBody>
      </p:sp>
      <p:pic>
        <p:nvPicPr>
          <p:cNvPr id="7" name="t00v1_00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3911" advClick="0">
        <p14:cube dir="l"/>
      </p:transition>
    </mc:Choice>
    <mc:Fallback>
      <p:transition spd="med" advTm="4391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7</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7</p:spid>
                </p:tgtEl>
              </p:cMediaNode>
            </p:audi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9</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tipos de instalación regulados</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partes de la instalación receptora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24</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definiciones del artículo tercero</a:t>
            </a:r>
          </a:p>
        </p:txBody>
      </p:sp>
      <p:pic>
        <p:nvPicPr>
          <p:cNvPr id="19" name="t00v1_00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6991" advClick="0">
        <p14:cube dir="r"/>
      </p:transition>
    </mc:Choice>
    <mc:Fallback>
      <p:transition spd="med" advTm="3699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19</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19</p:spid>
                </p:tgtEl>
              </p:cMediaNode>
            </p:audi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Artículo 1</a:t>
            </a:r>
          </a:p>
          <a:p>
            <a:pPr>
              <a:spcAft>
                <a:spcPts val="900"/>
              </a:spcAft>
            </a:pPr>
            <a:r>
              <a:rPr sz="1800" b="1" i="0">
                <a:solidFill>
                  <a:srgbClr val="E8801A"/>
                </a:solidFill>
                <a:latin typeface="Montserrat"/>
              </a:rPr>
              <a:t>02   </a:t>
            </a:r>
            <a:r>
              <a:rPr sz="1700" b="0" i="0">
                <a:solidFill>
                  <a:srgbClr val="1B2330"/>
                </a:solidFill>
                <a:latin typeface="Montserrat"/>
              </a:rPr>
              <a:t>Artículo 2</a:t>
            </a:r>
          </a:p>
          <a:p>
            <a:pPr>
              <a:spcAft>
                <a:spcPts val="900"/>
              </a:spcAft>
            </a:pPr>
            <a:r>
              <a:rPr sz="1800" b="1" i="0">
                <a:solidFill>
                  <a:srgbClr val="E8801A"/>
                </a:solidFill>
                <a:latin typeface="Montserrat"/>
              </a:rPr>
              <a:t>03   </a:t>
            </a:r>
            <a:r>
              <a:rPr sz="1700" b="0" i="0">
                <a:solidFill>
                  <a:srgbClr val="1B2330"/>
                </a:solidFill>
                <a:latin typeface="Montserrat"/>
              </a:rPr>
              <a:t>Artículo 3</a:t>
            </a:r>
          </a:p>
          <a:p>
            <a:pPr>
              <a:spcAft>
                <a:spcPts val="900"/>
              </a:spcAft>
            </a:pPr>
            <a:r>
              <a:rPr sz="1800" b="1" i="0">
                <a:solidFill>
                  <a:srgbClr val="E8801A"/>
                </a:solidFill>
                <a:latin typeface="Montserrat"/>
              </a:rPr>
              <a:t>04   </a:t>
            </a:r>
            <a:r>
              <a:rPr sz="1700" b="0" i="0">
                <a:solidFill>
                  <a:srgbClr val="1B2330"/>
                </a:solidFill>
                <a:latin typeface="Montserrat"/>
              </a:rPr>
              <a:t>Repaso relámpago</a:t>
            </a:r>
          </a:p>
        </p:txBody>
      </p:sp>
    </p:spTree>
  </p:cSld>
  <p:clrMapOvr>
    <a:masterClrMapping/>
  </p:clrMapOvr>
  <mc:AlternateContent xmlns:mc="http://schemas.openxmlformats.org/markup-compatibility/2006">
    <mc:Choice xmlns:p14="http://schemas.microsoft.com/office/powerpoint/2010/main" Requires="p14">
      <p:transition spd="med" p14:dur="700" advTm="4000" advClick="0">
        <p14:cube dir="l"/>
      </p:transition>
    </mc:Choice>
    <mc:Fallback>
      <p:transition spd="med" advTm="4000" advClick="0">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¿Para qué existe el Reglamento?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Fija condiciones técnicas y garantías</a:t>
            </a:r>
          </a:p>
          <a:p>
            <a:pPr>
              <a:spcAft>
                <a:spcPts val="1100"/>
              </a:spcAft>
            </a:pPr>
            <a:r>
              <a:rPr sz="1600" b="1" i="0">
                <a:solidFill>
                  <a:srgbClr val="E8801A"/>
                </a:solidFill>
                <a:latin typeface="Montserrat"/>
              </a:rPr>
              <a:t>▸  </a:t>
            </a:r>
            <a:r>
              <a:rPr sz="1600" b="0" i="0">
                <a:solidFill>
                  <a:srgbClr val="1B2330"/>
                </a:solidFill>
                <a:latin typeface="Montserrat"/>
              </a:rPr>
              <a:t>Sobre instalaciones y aparatos de gas</a:t>
            </a:r>
          </a:p>
          <a:p>
            <a:pPr>
              <a:spcAft>
                <a:spcPts val="1100"/>
              </a:spcAft>
            </a:pPr>
            <a:r>
              <a:rPr sz="1600" b="1" i="0">
                <a:solidFill>
                  <a:srgbClr val="E8801A"/>
                </a:solidFill>
                <a:latin typeface="Montserrat"/>
              </a:rPr>
              <a:t>▸  </a:t>
            </a:r>
            <a:r>
              <a:rPr sz="1600" b="0" i="0">
                <a:solidFill>
                  <a:srgbClr val="1B2330"/>
                </a:solidFill>
                <a:latin typeface="Montserrat"/>
              </a:rPr>
              <a:t>Fin único: seguridad de personas y bienes</a:t>
            </a:r>
          </a:p>
        </p:txBody>
      </p:sp>
      <p:sp>
        <p:nvSpPr>
          <p:cNvPr id="9" name="imgph" descr="IMGQ:gas boiler installation kitche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installation kitchen wall</a:t>
            </a:r>
          </a:p>
        </p:txBody>
      </p:sp>
      <p:pic>
        <p:nvPicPr>
          <p:cNvPr id="11" name="t00v1_00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8471" advClick="0">
        <p14:cube dir="r"/>
      </p:transition>
    </mc:Choice>
    <mc:Fallback>
      <p:transition spd="med" advTm="4847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1 · ESTRUCTURA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tronco y las ramas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Reglamento: lo general, para todos</a:t>
            </a:r>
          </a:p>
          <a:p>
            <a:pPr>
              <a:spcAft>
                <a:spcPts val="1100"/>
              </a:spcAft>
            </a:pPr>
            <a:r>
              <a:rPr sz="1600" b="1" i="0">
                <a:solidFill>
                  <a:srgbClr val="E8801A"/>
                </a:solidFill>
                <a:latin typeface="Montserrat"/>
              </a:rPr>
              <a:t>▸  </a:t>
            </a:r>
            <a:r>
              <a:rPr sz="1600" b="0" i="0">
                <a:solidFill>
                  <a:srgbClr val="1B2330"/>
                </a:solidFill>
                <a:latin typeface="Montserrat"/>
              </a:rPr>
              <a:t>ITC: el detalle de cada instalación</a:t>
            </a:r>
          </a:p>
          <a:p>
            <a:pPr>
              <a:spcAft>
                <a:spcPts val="1100"/>
              </a:spcAft>
            </a:pPr>
            <a:r>
              <a:rPr sz="1600" b="1" i="0">
                <a:solidFill>
                  <a:srgbClr val="E8801A"/>
                </a:solidFill>
                <a:latin typeface="Montserrat"/>
              </a:rPr>
              <a:t>▸  </a:t>
            </a:r>
            <a:r>
              <a:rPr sz="1600" b="0" i="0">
                <a:solidFill>
                  <a:srgbClr val="1B2330"/>
                </a:solidFill>
                <a:latin typeface="Montserrat"/>
              </a:rPr>
              <a:t>Cumplirlo no exime de otras normas</a:t>
            </a:r>
          </a:p>
        </p:txBody>
      </p:sp>
      <p:sp>
        <p:nvSpPr>
          <p:cNvPr id="9" name="imgph" descr="IMGQ:large tree trunk branches sky"/>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large tree trunk branches sky</a:t>
            </a:r>
          </a:p>
        </p:txBody>
      </p:sp>
      <p:pic>
        <p:nvPicPr>
          <p:cNvPr id="11" name="t00v1_00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50111" advClick="0">
        <p14:cube dir="l"/>
      </p:transition>
    </mc:Choice>
    <mc:Fallback>
      <p:transition spd="med" advTm="5011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1 · MARCO LEGAL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qué leyes cuelga?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Ley de hidrocarburos: el negocio del gas</a:t>
            </a:r>
          </a:p>
          <a:p>
            <a:pPr>
              <a:spcAft>
                <a:spcPts val="1100"/>
              </a:spcAft>
            </a:pPr>
            <a:r>
              <a:rPr sz="1600" b="1" i="0">
                <a:solidFill>
                  <a:srgbClr val="E8801A"/>
                </a:solidFill>
                <a:latin typeface="Montserrat"/>
              </a:rPr>
              <a:t>▸  </a:t>
            </a:r>
            <a:r>
              <a:rPr sz="1600" b="0" i="0">
                <a:solidFill>
                  <a:srgbClr val="1B2330"/>
                </a:solidFill>
                <a:latin typeface="Montserrat"/>
              </a:rPr>
              <a:t>Ley de industria: la seguridad industrial</a:t>
            </a:r>
          </a:p>
          <a:p>
            <a:pPr>
              <a:spcAft>
                <a:spcPts val="1100"/>
              </a:spcAft>
            </a:pPr>
            <a:r>
              <a:rPr sz="1600" b="1" i="0">
                <a:solidFill>
                  <a:srgbClr val="E8801A"/>
                </a:solidFill>
                <a:latin typeface="Montserrat"/>
              </a:rPr>
              <a:t>▸  </a:t>
            </a:r>
            <a:r>
              <a:rPr sz="1600" b="0" i="0">
                <a:solidFill>
                  <a:srgbClr val="1B2330"/>
                </a:solidFill>
                <a:latin typeface="Montserrat"/>
              </a:rPr>
              <a:t>El Reglamento las baja al taller</a:t>
            </a:r>
          </a:p>
        </p:txBody>
      </p:sp>
      <p:sp>
        <p:nvSpPr>
          <p:cNvPr id="9" name="imgph" descr="IMGQ:law books stacked wooden des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law books stacked wooden desk</a:t>
            </a:r>
          </a:p>
        </p:txBody>
      </p:sp>
      <p:pic>
        <p:nvPicPr>
          <p:cNvPr id="11" name="t00v1_00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4991" advClick="0">
        <p14:cube dir="r"/>
      </p:transition>
    </mc:Choice>
    <mc:Fallback>
      <p:transition spd="med" advTm="4499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CAMPO DE APLICACIÓN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 qué se aplica?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Distribución por canalización (red de calle)</a:t>
            </a:r>
          </a:p>
          <a:p>
            <a:pPr>
              <a:spcAft>
                <a:spcPts val="1100"/>
              </a:spcAft>
            </a:pPr>
            <a:r>
              <a:rPr sz="1600" b="1" i="0">
                <a:solidFill>
                  <a:srgbClr val="E8801A"/>
                </a:solidFill>
                <a:latin typeface="Montserrat"/>
              </a:rPr>
              <a:t>▸  </a:t>
            </a:r>
            <a:r>
              <a:rPr sz="1600" b="0" i="0">
                <a:solidFill>
                  <a:srgbClr val="1B2330"/>
                </a:solidFill>
                <a:latin typeface="Montserrat"/>
              </a:rPr>
              <a:t>GLP: envases, depósitos fijos, GNL</a:t>
            </a:r>
          </a:p>
          <a:p>
            <a:pPr>
              <a:spcAft>
                <a:spcPts val="1100"/>
              </a:spcAft>
            </a:pPr>
            <a:r>
              <a:rPr sz="1600" b="1" i="0">
                <a:solidFill>
                  <a:srgbClr val="E8801A"/>
                </a:solidFill>
                <a:latin typeface="Montserrat"/>
              </a:rPr>
              <a:t>▸  </a:t>
            </a:r>
            <a:r>
              <a:rPr sz="1600" b="0" i="0">
                <a:solidFill>
                  <a:srgbClr val="1B2330"/>
                </a:solidFill>
                <a:latin typeface="Montserrat"/>
              </a:rPr>
              <a:t>Estaciones de servicio de gas</a:t>
            </a:r>
          </a:p>
          <a:p>
            <a:pPr>
              <a:spcAft>
                <a:spcPts val="1100"/>
              </a:spcAft>
            </a:pPr>
            <a:r>
              <a:rPr sz="1600" b="1" i="0">
                <a:solidFill>
                  <a:srgbClr val="E8801A"/>
                </a:solidFill>
                <a:latin typeface="Montserrat"/>
              </a:rPr>
              <a:t>▸  </a:t>
            </a:r>
            <a:r>
              <a:rPr sz="1600" b="0" i="0">
                <a:solidFill>
                  <a:srgbClr val="1B2330"/>
                </a:solidFill>
                <a:latin typeface="Montserrat"/>
              </a:rPr>
              <a:t>Instalaciones receptoras: tu terreno</a:t>
            </a:r>
          </a:p>
          <a:p>
            <a:pPr>
              <a:spcAft>
                <a:spcPts val="1100"/>
              </a:spcAft>
            </a:pPr>
            <a:r>
              <a:rPr sz="1600" b="1" i="0">
                <a:solidFill>
                  <a:srgbClr val="E8801A"/>
                </a:solidFill>
                <a:latin typeface="Montserrat"/>
              </a:rPr>
              <a:t>▸  </a:t>
            </a:r>
            <a:r>
              <a:rPr sz="1600" b="0" i="0">
                <a:solidFill>
                  <a:srgbClr val="1B2330"/>
                </a:solidFill>
                <a:latin typeface="Montserrat"/>
              </a:rPr>
              <a:t>Aparatos de gas</a:t>
            </a:r>
          </a:p>
        </p:txBody>
      </p:sp>
      <p:sp>
        <p:nvSpPr>
          <p:cNvPr id="9" name="imgph" descr="IMGQ:gas meter cabinet building facad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building facade</a:t>
            </a:r>
          </a:p>
        </p:txBody>
      </p:sp>
      <p:pic>
        <p:nvPicPr>
          <p:cNvPr id="11" name="t00v1_00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8991" advClick="0">
        <p14:cube dir="l"/>
      </p:transition>
    </mc:Choice>
    <mc:Fallback>
      <p:transition spd="med" advTm="4899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ARTÍCULO 2 · CAMPO DE APLICACIÓN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A qué se aplica (letras a a e)</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670560">
                <a:tc>
                  <a:txBody>
                    <a:bodyPr/>
                    <a:lstStyle/>
                    <a:p>
                      <a:r>
                        <a:rPr sz="1200" b="1" i="0">
                          <a:solidFill>
                            <a:srgbClr val="FFFFFF"/>
                          </a:solidFill>
                          <a:latin typeface="Montserrat"/>
                        </a:rPr>
                        <a:t>Letra</a:t>
                      </a:r>
                    </a:p>
                  </a:txBody>
                  <a:tcPr>
                    <a:solidFill>
                      <a:srgbClr val="1E2761"/>
                    </a:solidFill>
                  </a:tcPr>
                </a:tc>
                <a:tc>
                  <a:txBody>
                    <a:bodyPr/>
                    <a:lstStyle/>
                    <a:p>
                      <a:r>
                        <a:rPr sz="1200" b="1" i="0">
                          <a:solidFill>
                            <a:srgbClr val="FFFFFF"/>
                          </a:solidFill>
                          <a:latin typeface="Montserrat"/>
                        </a:rPr>
                        <a:t>Instalación / aparato</a:t>
                      </a:r>
                    </a:p>
                  </a:txBody>
                  <a:tcPr>
                    <a:solidFill>
                      <a:srgbClr val="1E2761"/>
                    </a:solidFill>
                  </a:tcPr>
                </a:tc>
                <a:tc>
                  <a:txBody>
                    <a:bodyPr/>
                    <a:lstStyle/>
                    <a:p>
                      <a:r>
                        <a:rPr sz="1200" b="1" i="0">
                          <a:solidFill>
                            <a:srgbClr val="FFFFFF"/>
                          </a:solidFill>
                          <a:latin typeface="Montserrat"/>
                        </a:rPr>
                        <a:t>En cristiano</a:t>
                      </a:r>
                    </a:p>
                  </a:txBody>
                  <a:tcPr>
                    <a:solidFill>
                      <a:srgbClr val="1E2761"/>
                    </a:solidFill>
                  </a:tcPr>
                </a:tc>
              </a:tr>
              <a:tr h="670560">
                <a:tc>
                  <a:txBody>
                    <a:bodyPr/>
                    <a:lstStyle/>
                    <a:p>
                      <a:r>
                        <a:rPr sz="1200" b="0" i="0">
                          <a:solidFill>
                            <a:srgbClr val="1B2330"/>
                          </a:solidFill>
                          <a:latin typeface="Montserrat"/>
                        </a:rPr>
                        <a:t>a</a:t>
                      </a:r>
                    </a:p>
                  </a:txBody>
                  <a:tcPr>
                    <a:solidFill>
                      <a:srgbClr val="F6F8FC"/>
                    </a:solidFill>
                  </a:tcPr>
                </a:tc>
                <a:tc>
                  <a:txBody>
                    <a:bodyPr/>
                    <a:lstStyle/>
                    <a:p>
                      <a:r>
                        <a:rPr sz="1200" b="0" i="0">
                          <a:solidFill>
                            <a:srgbClr val="1B2330"/>
                          </a:solidFill>
                          <a:latin typeface="Montserrat"/>
                        </a:rPr>
                        <a:t>Distribución por canalización</a:t>
                      </a:r>
                    </a:p>
                  </a:txBody>
                  <a:tcPr>
                    <a:solidFill>
                      <a:srgbClr val="F6F8FC"/>
                    </a:solidFill>
                  </a:tcPr>
                </a:tc>
                <a:tc>
                  <a:txBody>
                    <a:bodyPr/>
                    <a:lstStyle/>
                    <a:p>
                      <a:r>
                        <a:rPr sz="1200" b="0" i="0">
                          <a:solidFill>
                            <a:srgbClr val="1B2330"/>
                          </a:solidFill>
                          <a:latin typeface="Montserrat"/>
                        </a:rPr>
                        <a:t>La red de la calle: tuberías de la compañía, presión máxima de diseño ≤ 16 bar, con estaciones de regulación y acometidas.</a:t>
                      </a:r>
                    </a:p>
                  </a:txBody>
                  <a:tcPr>
                    <a:solidFill>
                      <a:srgbClr val="F6F8FC"/>
                    </a:solidFill>
                  </a:tcPr>
                </a:tc>
              </a:tr>
              <a:tr h="670560">
                <a:tc>
                  <a:txBody>
                    <a:bodyPr/>
                    <a:lstStyle/>
                    <a:p>
                      <a:r>
                        <a:rPr sz="1200" b="0" i="0">
                          <a:solidFill>
                            <a:srgbClr val="1B2330"/>
                          </a:solidFill>
                          <a:latin typeface="Montserrat"/>
                        </a:rPr>
                        <a:t>b</a:t>
                      </a:r>
                    </a:p>
                  </a:txBody>
                  <a:tcPr>
                    <a:solidFill>
                      <a:srgbClr val="FFFFFF"/>
                    </a:solidFill>
                  </a:tcPr>
                </a:tc>
                <a:tc>
                  <a:txBody>
                    <a:bodyPr/>
                    <a:lstStyle/>
                    <a:p>
                      <a:r>
                        <a:rPr sz="1200" b="0" i="0">
                          <a:solidFill>
                            <a:srgbClr val="1B2330"/>
                          </a:solidFill>
                          <a:latin typeface="Montserrat"/>
                        </a:rPr>
                        <a:t>Centros de almacenamiento y distribución de envases de GLP</a:t>
                      </a:r>
                    </a:p>
                  </a:txBody>
                  <a:tcPr>
                    <a:solidFill>
                      <a:srgbClr val="FFFFFF"/>
                    </a:solidFill>
                  </a:tcPr>
                </a:tc>
                <a:tc>
                  <a:txBody>
                    <a:bodyPr/>
                    <a:lstStyle/>
                    <a:p>
                      <a:r>
                        <a:rPr sz="1200" b="0" i="0">
                          <a:solidFill>
                            <a:srgbClr val="1B2330"/>
                          </a:solidFill>
                          <a:latin typeface="Montserrat"/>
                        </a:rPr>
                        <a:t>La «nave de las bombonas»: donde se guardan y reparten los envases de GLP.</a:t>
                      </a:r>
                    </a:p>
                  </a:txBody>
                  <a:tcPr>
                    <a:solidFill>
                      <a:srgbClr val="FFFFFF"/>
                    </a:solidFill>
                  </a:tcPr>
                </a:tc>
              </a:tr>
              <a:tr h="670560">
                <a:tc>
                  <a:txBody>
                    <a:bodyPr/>
                    <a:lstStyle/>
                    <a:p>
                      <a:r>
                        <a:rPr sz="1200" b="0" i="0">
                          <a:solidFill>
                            <a:srgbClr val="1B2330"/>
                          </a:solidFill>
                          <a:latin typeface="Montserrat"/>
                        </a:rPr>
                        <a:t>c</a:t>
                      </a:r>
                    </a:p>
                  </a:txBody>
                  <a:tcPr>
                    <a:solidFill>
                      <a:srgbClr val="F6F8FC"/>
                    </a:solidFill>
                  </a:tcPr>
                </a:tc>
                <a:tc>
                  <a:txBody>
                    <a:bodyPr/>
                    <a:lstStyle/>
                    <a:p>
                      <a:r>
                        <a:rPr sz="1200" b="0" i="0">
                          <a:solidFill>
                            <a:srgbClr val="1B2330"/>
                          </a:solidFill>
                          <a:latin typeface="Montserrat"/>
                        </a:rPr>
                        <a:t>Almacenamiento de GLP en depósitos fijos</a:t>
                      </a:r>
                    </a:p>
                  </a:txBody>
                  <a:tcPr>
                    <a:solidFill>
                      <a:srgbClr val="F6F8FC"/>
                    </a:solidFill>
                  </a:tcPr>
                </a:tc>
                <a:tc>
                  <a:txBody>
                    <a:bodyPr/>
                    <a:lstStyle/>
                    <a:p>
                      <a:r>
                        <a:rPr sz="1200" b="0" i="0">
                          <a:solidFill>
                            <a:srgbClr val="1B2330"/>
                          </a:solidFill>
                          <a:latin typeface="Montserrat"/>
                        </a:rPr>
                        <a:t>El depósito enterrado o de superficie (típico de chalés sin gas natural).</a:t>
                      </a:r>
                    </a:p>
                  </a:txBody>
                  <a:tcPr>
                    <a:solidFill>
                      <a:srgbClr val="F6F8FC"/>
                    </a:solidFill>
                  </a:tcPr>
                </a:tc>
              </a:tr>
              <a:tr h="670560">
                <a:tc>
                  <a:txBody>
                    <a:bodyPr/>
                    <a:lstStyle/>
                    <a:p>
                      <a:r>
                        <a:rPr sz="1200" b="0" i="0">
                          <a:solidFill>
                            <a:srgbClr val="1B2330"/>
                          </a:solidFill>
                          <a:latin typeface="Montserrat"/>
                        </a:rPr>
                        <a:t>d</a:t>
                      </a:r>
                    </a:p>
                  </a:txBody>
                  <a:tcPr>
                    <a:solidFill>
                      <a:srgbClr val="FFFFFF"/>
                    </a:solidFill>
                  </a:tcPr>
                </a:tc>
                <a:tc>
                  <a:txBody>
                    <a:bodyPr/>
                    <a:lstStyle/>
                    <a:p>
                      <a:r>
                        <a:rPr sz="1200" b="0" i="0">
                          <a:solidFill>
                            <a:srgbClr val="1B2330"/>
                          </a:solidFill>
                          <a:latin typeface="Montserrat"/>
                        </a:rPr>
                        <a:t>Plantas satélite de GNL</a:t>
                      </a:r>
                    </a:p>
                  </a:txBody>
                  <a:tcPr>
                    <a:solidFill>
                      <a:srgbClr val="FFFFFF"/>
                    </a:solidFill>
                  </a:tcPr>
                </a:tc>
                <a:tc>
                  <a:txBody>
                    <a:bodyPr/>
                    <a:lstStyle/>
                    <a:p>
                      <a:r>
                        <a:rPr sz="1200" b="0" i="0">
                          <a:solidFill>
                            <a:srgbClr val="1B2330"/>
                          </a:solidFill>
                          <a:latin typeface="Montserrat"/>
                        </a:rPr>
                        <a:t>Depósito de gas natural licuado (hasta 1.000 m³, presión de operación &gt; 1 bar) que abastece una zona.</a:t>
                      </a:r>
                    </a:p>
                  </a:txBody>
                  <a:tcPr>
                    <a:solidFill>
                      <a:srgbClr val="FFFFFF"/>
                    </a:solidFill>
                  </a:tcPr>
                </a:tc>
              </a:tr>
              <a:tr h="670560">
                <a:tc>
                  <a:txBody>
                    <a:bodyPr/>
                    <a:lstStyle/>
                    <a:p>
                      <a:r>
                        <a:rPr sz="1200" b="0" i="0">
                          <a:solidFill>
                            <a:srgbClr val="1B2330"/>
                          </a:solidFill>
                          <a:latin typeface="Montserrat"/>
                        </a:rPr>
                        <a:t>e</a:t>
                      </a:r>
                    </a:p>
                  </a:txBody>
                  <a:tcPr>
                    <a:solidFill>
                      <a:srgbClr val="F6F8FC"/>
                    </a:solidFill>
                  </a:tcPr>
                </a:tc>
                <a:tc>
                  <a:txBody>
                    <a:bodyPr/>
                    <a:lstStyle/>
                    <a:p>
                      <a:r>
                        <a:rPr sz="1200" b="0" i="0">
                          <a:solidFill>
                            <a:srgbClr val="1B2330"/>
                          </a:solidFill>
                          <a:latin typeface="Montserrat"/>
                        </a:rPr>
                        <a:t>Estaciones de servicio para vehículos a gas</a:t>
                      </a:r>
                    </a:p>
                  </a:txBody>
                  <a:tcPr>
                    <a:solidFill>
                      <a:srgbClr val="F6F8FC"/>
                    </a:solidFill>
                  </a:tcPr>
                </a:tc>
                <a:tc>
                  <a:txBody>
                    <a:bodyPr/>
                    <a:lstStyle/>
                    <a:p>
                      <a:r>
                        <a:rPr sz="1200" b="0" i="0">
                          <a:solidFill>
                            <a:srgbClr val="1B2330"/>
                          </a:solidFill>
                          <a:latin typeface="Montserrat"/>
                        </a:rPr>
                        <a:t>La «gasolinera de gas»: GLP a granel, GNC, GNL o hidrógeno para repostar coches.</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El Reglamento cubre nueve tipos; la lista completa es el artículo segundo (letras a a i).</a:t>
            </a:r>
          </a:p>
        </p:txBody>
      </p:sp>
      <p:pic>
        <p:nvPicPr>
          <p:cNvPr id="11" name="t00v1_00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8671" advClick="0">
        <p14:cube dir="r"/>
      </p:transition>
    </mc:Choice>
    <mc:Fallback>
      <p:transition spd="med" advTm="4867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ARTÍCULO 2 · CAMPO DE APLICACIÓN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A qué se aplica (letras f a i)</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804672">
                <a:tc>
                  <a:txBody>
                    <a:bodyPr/>
                    <a:lstStyle/>
                    <a:p>
                      <a:r>
                        <a:rPr sz="1200" b="1" i="0">
                          <a:solidFill>
                            <a:srgbClr val="FFFFFF"/>
                          </a:solidFill>
                          <a:latin typeface="Montserrat"/>
                        </a:rPr>
                        <a:t>Letra</a:t>
                      </a:r>
                    </a:p>
                  </a:txBody>
                  <a:tcPr>
                    <a:solidFill>
                      <a:srgbClr val="1E2761"/>
                    </a:solidFill>
                  </a:tcPr>
                </a:tc>
                <a:tc>
                  <a:txBody>
                    <a:bodyPr/>
                    <a:lstStyle/>
                    <a:p>
                      <a:r>
                        <a:rPr sz="1200" b="1" i="0">
                          <a:solidFill>
                            <a:srgbClr val="FFFFFF"/>
                          </a:solidFill>
                          <a:latin typeface="Montserrat"/>
                        </a:rPr>
                        <a:t>Instalación / aparato</a:t>
                      </a:r>
                    </a:p>
                  </a:txBody>
                  <a:tcPr>
                    <a:solidFill>
                      <a:srgbClr val="1E2761"/>
                    </a:solidFill>
                  </a:tcPr>
                </a:tc>
                <a:tc>
                  <a:txBody>
                    <a:bodyPr/>
                    <a:lstStyle/>
                    <a:p>
                      <a:r>
                        <a:rPr sz="1200" b="1" i="0">
                          <a:solidFill>
                            <a:srgbClr val="FFFFFF"/>
                          </a:solidFill>
                          <a:latin typeface="Montserrat"/>
                        </a:rPr>
                        <a:t>En cristiano</a:t>
                      </a:r>
                    </a:p>
                  </a:txBody>
                  <a:tcPr>
                    <a:solidFill>
                      <a:srgbClr val="1E2761"/>
                    </a:solidFill>
                  </a:tcPr>
                </a:tc>
              </a:tr>
              <a:tr h="804672">
                <a:tc>
                  <a:txBody>
                    <a:bodyPr/>
                    <a:lstStyle/>
                    <a:p>
                      <a:r>
                        <a:rPr sz="1200" b="0" i="0">
                          <a:solidFill>
                            <a:srgbClr val="1B2330"/>
                          </a:solidFill>
                          <a:latin typeface="Montserrat"/>
                        </a:rPr>
                        <a:t>f</a:t>
                      </a:r>
                    </a:p>
                  </a:txBody>
                  <a:tcPr>
                    <a:solidFill>
                      <a:srgbClr val="F6F8FC"/>
                    </a:solidFill>
                  </a:tcPr>
                </a:tc>
                <a:tc>
                  <a:txBody>
                    <a:bodyPr/>
                    <a:lstStyle/>
                    <a:p>
                      <a:r>
                        <a:rPr sz="1200" b="0" i="0">
                          <a:solidFill>
                            <a:srgbClr val="1B2330"/>
                          </a:solidFill>
                          <a:latin typeface="Montserrat"/>
                        </a:rPr>
                        <a:t>Instalaciones de envases de GLP</a:t>
                      </a:r>
                    </a:p>
                  </a:txBody>
                  <a:tcPr>
                    <a:solidFill>
                      <a:srgbClr val="F6F8FC"/>
                    </a:solidFill>
                  </a:tcPr>
                </a:tc>
                <a:tc>
                  <a:txBody>
                    <a:bodyPr/>
                    <a:lstStyle/>
                    <a:p>
                      <a:r>
                        <a:rPr sz="1200" b="0" i="0">
                          <a:solidFill>
                            <a:srgbClr val="1B2330"/>
                          </a:solidFill>
                          <a:latin typeface="Montserrat"/>
                        </a:rPr>
                        <a:t>El conjunto de bombonas y tuberías hasta la llave de acometida (incluida).</a:t>
                      </a:r>
                    </a:p>
                  </a:txBody>
                  <a:tcPr>
                    <a:solidFill>
                      <a:srgbClr val="F6F8FC"/>
                    </a:solidFill>
                  </a:tcPr>
                </a:tc>
              </a:tr>
              <a:tr h="804672">
                <a:tc>
                  <a:txBody>
                    <a:bodyPr/>
                    <a:lstStyle/>
                    <a:p>
                      <a:r>
                        <a:rPr sz="1200" b="0" i="0">
                          <a:solidFill>
                            <a:srgbClr val="1B2330"/>
                          </a:solidFill>
                          <a:latin typeface="Montserrat"/>
                        </a:rPr>
                        <a:t>g</a:t>
                      </a:r>
                    </a:p>
                  </a:txBody>
                  <a:tcPr>
                    <a:solidFill>
                      <a:srgbClr val="FFFFFF"/>
                    </a:solidFill>
                  </a:tcPr>
                </a:tc>
                <a:tc>
                  <a:txBody>
                    <a:bodyPr/>
                    <a:lstStyle/>
                    <a:p>
                      <a:r>
                        <a:rPr sz="1200" b="0" i="0">
                          <a:solidFill>
                            <a:srgbClr val="1B2330"/>
                          </a:solidFill>
                          <a:latin typeface="Montserrat"/>
                        </a:rPr>
                        <a:t>GLP de uso doméstico en caravanas y autocaravanas</a:t>
                      </a:r>
                    </a:p>
                  </a:txBody>
                  <a:tcPr>
                    <a:solidFill>
                      <a:srgbClr val="FFFFFF"/>
                    </a:solidFill>
                  </a:tcPr>
                </a:tc>
                <a:tc>
                  <a:txBody>
                    <a:bodyPr/>
                    <a:lstStyle/>
                    <a:p>
                      <a:r>
                        <a:rPr sz="1200" b="0" i="0">
                          <a:solidFill>
                            <a:srgbClr val="1B2330"/>
                          </a:solidFill>
                          <a:latin typeface="Montserrat"/>
                        </a:rPr>
                        <a:t>La instalación de gas de la caravana o autocaravana.</a:t>
                      </a:r>
                    </a:p>
                  </a:txBody>
                  <a:tcPr>
                    <a:solidFill>
                      <a:srgbClr val="FFFFFF"/>
                    </a:solidFill>
                  </a:tcPr>
                </a:tc>
              </a:tr>
              <a:tr h="804672">
                <a:tc>
                  <a:txBody>
                    <a:bodyPr/>
                    <a:lstStyle/>
                    <a:p>
                      <a:r>
                        <a:rPr sz="1200" b="0" i="0">
                          <a:solidFill>
                            <a:srgbClr val="1B2330"/>
                          </a:solidFill>
                          <a:latin typeface="Montserrat"/>
                        </a:rPr>
                        <a:t>h</a:t>
                      </a:r>
                    </a:p>
                  </a:txBody>
                  <a:tcPr>
                    <a:solidFill>
                      <a:srgbClr val="F6F8FC"/>
                    </a:solidFill>
                  </a:tcPr>
                </a:tc>
                <a:tc>
                  <a:txBody>
                    <a:bodyPr/>
                    <a:lstStyle/>
                    <a:p>
                      <a:r>
                        <a:rPr sz="1200" b="0" i="0">
                          <a:solidFill>
                            <a:srgbClr val="1B2330"/>
                          </a:solidFill>
                          <a:latin typeface="Montserrat"/>
                        </a:rPr>
                        <a:t>Instalaciones receptoras de combustibles gaseosos</a:t>
                      </a:r>
                    </a:p>
                  </a:txBody>
                  <a:tcPr>
                    <a:solidFill>
                      <a:srgbClr val="F6F8FC"/>
                    </a:solidFill>
                  </a:tcPr>
                </a:tc>
                <a:tc>
                  <a:txBody>
                    <a:bodyPr/>
                    <a:lstStyle/>
                    <a:p>
                      <a:r>
                        <a:rPr sz="1200" b="0" i="0">
                          <a:solidFill>
                            <a:srgbClr val="1B2330"/>
                          </a:solidFill>
                          <a:latin typeface="Montserrat"/>
                        </a:rPr>
                        <a:t>El corazón de Gas B (la instalación receptora; su definición exacta va aparte).</a:t>
                      </a:r>
                    </a:p>
                  </a:txBody>
                  <a:tcPr>
                    <a:solidFill>
                      <a:srgbClr val="F6F8FC"/>
                    </a:solidFill>
                  </a:tcPr>
                </a:tc>
              </a:tr>
              <a:tr h="804672">
                <a:tc>
                  <a:txBody>
                    <a:bodyPr/>
                    <a:lstStyle/>
                    <a:p>
                      <a:r>
                        <a:rPr sz="1200" b="0" i="0">
                          <a:solidFill>
                            <a:srgbClr val="1B2330"/>
                          </a:solidFill>
                          <a:latin typeface="Montserrat"/>
                        </a:rPr>
                        <a:t>i</a:t>
                      </a:r>
                    </a:p>
                  </a:txBody>
                  <a:tcPr>
                    <a:solidFill>
                      <a:srgbClr val="FFFFFF"/>
                    </a:solidFill>
                  </a:tcPr>
                </a:tc>
                <a:tc>
                  <a:txBody>
                    <a:bodyPr/>
                    <a:lstStyle/>
                    <a:p>
                      <a:r>
                        <a:rPr sz="1200" b="0" i="0">
                          <a:solidFill>
                            <a:srgbClr val="1B2330"/>
                          </a:solidFill>
                          <a:latin typeface="Montserrat"/>
                        </a:rPr>
                        <a:t>Aparatos de gas</a:t>
                      </a:r>
                    </a:p>
                  </a:txBody>
                  <a:tcPr>
                    <a:solidFill>
                      <a:srgbClr val="FFFFFF"/>
                    </a:solidFill>
                  </a:tcPr>
                </a:tc>
                <a:tc>
                  <a:txBody>
                    <a:bodyPr/>
                    <a:lstStyle/>
                    <a:p>
                      <a:r>
                        <a:rPr sz="1200" b="0" i="0">
                          <a:solidFill>
                            <a:srgbClr val="1B2330"/>
                          </a:solidFill>
                          <a:latin typeface="Montserrat"/>
                        </a:rPr>
                        <a:t>Los que queman el gas: caldera, calentador, cocina, etc.</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La letra h, las instalaciones receptoras, es tu terreno como gasista de categoría B.</a:t>
            </a:r>
          </a:p>
        </p:txBody>
      </p:sp>
      <p:pic>
        <p:nvPicPr>
          <p:cNvPr id="11" name="t00v1_00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50991" advClick="0">
        <p14:cube dir="l"/>
      </p:transition>
    </mc:Choice>
    <mc:Fallback>
      <p:transition spd="med" advTm="5099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letra del campo de aplicación corresponde a las instalaciones receptoras?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La letra a, distribución por canalización</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La letra f, instalaciones de envases de GLP</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La letra h, instalaciones receptoras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La letra i, aparatos de gas</a:t>
            </a:r>
          </a:p>
        </p:txBody>
      </p:sp>
      <p:pic>
        <p:nvPicPr>
          <p:cNvPr id="24" name="t00v1_01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2751" advClick="0">
        <p14:cube dir="r"/>
      </p:transition>
    </mc:Choice>
    <mc:Fallback>
      <p:transition spd="med" advTm="4275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24</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24</p:spid>
                </p:tgtEl>
              </p:cMediaNode>
            </p:audi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letra del campo de aplicación corresponde a las instalaciones receptoras?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La letra h, instalaciones receptoras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Las instalaciones receptoras son la letra h del artículo segundo y son el terreno propio del gasista de categoría B.</a:t>
            </a:r>
          </a:p>
        </p:txBody>
      </p:sp>
      <p:pic>
        <p:nvPicPr>
          <p:cNvPr id="11" name="t00v1_01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1591" advClick="0">
        <p14:cube dir="l"/>
      </p:transition>
    </mc:Choice>
    <mc:Fallback>
      <p:transition spd="med" advTm="3159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INSTALACIÓN RECEPTORA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empieza y dónde acaba?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Desde la llave de acometida (excluida)</a:t>
            </a:r>
          </a:p>
          <a:p>
            <a:pPr>
              <a:spcAft>
                <a:spcPts val="1100"/>
              </a:spcAft>
            </a:pPr>
            <a:r>
              <a:rPr sz="1600" b="1" i="0">
                <a:solidFill>
                  <a:srgbClr val="E8801A"/>
                </a:solidFill>
                <a:latin typeface="Montserrat"/>
              </a:rPr>
              <a:t>▸  </a:t>
            </a:r>
            <a:r>
              <a:rPr sz="1600" b="0" i="0">
                <a:solidFill>
                  <a:srgbClr val="1B2330"/>
                </a:solidFill>
                <a:latin typeface="Montserrat"/>
              </a:rPr>
              <a:t>Hasta la llave de aparato (incluida)</a:t>
            </a:r>
          </a:p>
          <a:p>
            <a:pPr>
              <a:spcAft>
                <a:spcPts val="1100"/>
              </a:spcAft>
            </a:pPr>
            <a:r>
              <a:rPr sz="1600" b="1" i="0">
                <a:solidFill>
                  <a:srgbClr val="E8801A"/>
                </a:solidFill>
                <a:latin typeface="Montserrat"/>
              </a:rPr>
              <a:t>▸  </a:t>
            </a:r>
            <a:r>
              <a:rPr sz="1600" b="0" i="0">
                <a:solidFill>
                  <a:srgbClr val="1B2330"/>
                </a:solidFill>
                <a:latin typeface="Montserrat"/>
              </a:rPr>
              <a:t>El aparato y su latiguillo quedan fuera</a:t>
            </a:r>
          </a:p>
          <a:p>
            <a:pPr>
              <a:spcAft>
                <a:spcPts val="1100"/>
              </a:spcAft>
            </a:pPr>
            <a:r>
              <a:rPr sz="1600" b="1" i="0">
                <a:solidFill>
                  <a:srgbClr val="E8801A"/>
                </a:solidFill>
                <a:latin typeface="Montserrat"/>
              </a:rPr>
              <a:t>▸  </a:t>
            </a:r>
            <a:r>
              <a:rPr sz="1600" b="0" i="0">
                <a:solidFill>
                  <a:srgbClr val="1B2330"/>
                </a:solidFill>
                <a:latin typeface="Montserrat"/>
              </a:rPr>
              <a:t>Esa frontera decide de qué respondes</a:t>
            </a:r>
          </a:p>
        </p:txBody>
      </p:sp>
      <p:sp>
        <p:nvSpPr>
          <p:cNvPr id="9" name="imgph" descr="IMGQ:gas shut off valve copper pipe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shut off valve copper pipe wall</a:t>
            </a:r>
          </a:p>
        </p:txBody>
      </p:sp>
      <p:pic>
        <p:nvPicPr>
          <p:cNvPr id="11" name="t00v1_01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50271" advClick="0">
        <p14:cube dir="r"/>
      </p:transition>
    </mc:Choice>
    <mc:Fallback>
      <p:transition spd="med" advTm="5027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¿Entre qué elementos está comprendida la instalación receptora?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De la llave de acometida incluida a la llave de aparato incluida</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De la llave de acometida excluida a la llave de conexión de aparato incluida</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Del contador hasta los propios aparatos, ambos incluidos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De la llave de aparato excluida hasta el propio aparato</a:t>
            </a:r>
          </a:p>
        </p:txBody>
      </p:sp>
      <p:pic>
        <p:nvPicPr>
          <p:cNvPr id="24" name="t00v1_01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9831" advClick="0">
        <p14:cube dir="l"/>
      </p:transition>
    </mc:Choice>
    <mc:Fallback>
      <p:transition spd="med" advTm="3983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24</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24</p:spid>
                </p:tgtEl>
              </p:cMediaNode>
            </p:audi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¿Entre qué elementos está comprendida la instalación receptora?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De la llave de acometida excluida a la llave de conexión de aparato incluida</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receptora va de la llave de acometida, que queda excluida, a las llaves de conexión de aparato, que quedan incluidas; el aparato y su latiguillo quedan fuera.</a:t>
            </a:r>
          </a:p>
        </p:txBody>
      </p:sp>
      <p:pic>
        <p:nvPicPr>
          <p:cNvPr id="11" name="t00v1_01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3111" advClick="0">
        <p14:cube dir="r"/>
      </p:transition>
    </mc:Choice>
    <mc:Fallback>
      <p:transition spd="med" advTm="3311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EL LÍMITE DE 15 KG</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¿Instalación o cacharro suelto?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Bombona &lt;15 kg + un aparato móvil: fuera</a:t>
            </a:r>
          </a:p>
          <a:p>
            <a:pPr>
              <a:spcAft>
                <a:spcPts val="1100"/>
              </a:spcAft>
            </a:pPr>
            <a:r>
              <a:rPr sz="1600" b="1" i="0">
                <a:solidFill>
                  <a:srgbClr val="E8801A"/>
                </a:solidFill>
                <a:latin typeface="Montserrat"/>
              </a:rPr>
              <a:t>▸  </a:t>
            </a:r>
            <a:r>
              <a:rPr sz="1600" b="0" i="0">
                <a:solidFill>
                  <a:srgbClr val="1B2330"/>
                </a:solidFill>
                <a:latin typeface="Montserrat"/>
              </a:rPr>
              <a:t>Tubería fija o varios aparatos: dentro</a:t>
            </a:r>
          </a:p>
          <a:p>
            <a:pPr>
              <a:spcAft>
                <a:spcPts val="1100"/>
              </a:spcAft>
            </a:pPr>
            <a:r>
              <a:rPr sz="1600" b="1" i="0">
                <a:solidFill>
                  <a:srgbClr val="E8801A"/>
                </a:solidFill>
                <a:latin typeface="Montserrat"/>
              </a:rPr>
              <a:t>▸  </a:t>
            </a:r>
            <a:r>
              <a:rPr sz="1600" b="0" i="0">
                <a:solidFill>
                  <a:srgbClr val="1B2330"/>
                </a:solidFill>
                <a:latin typeface="Montserrat"/>
              </a:rPr>
              <a:t>Dentro = boletín y prueba de estanquidad</a:t>
            </a:r>
          </a:p>
        </p:txBody>
      </p:sp>
      <p:sp>
        <p:nvSpPr>
          <p:cNvPr id="9" name="imgph" descr="IMGQ:small gas cylinder camping sto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small gas cylinder camping stove</a:t>
            </a:r>
          </a:p>
        </p:txBody>
      </p:sp>
      <p:pic>
        <p:nvPicPr>
          <p:cNvPr id="11" name="t00v1_01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57191" advClick="0">
        <p14:cube dir="l"/>
      </p:transition>
    </mc:Choice>
    <mc:Fallback>
      <p:transition spd="med" advTm="5719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APLICACIÓN EN EL TIEMPO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¿Y las instalaciones viejas?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Nuevas, modificaciones y ampliaciones</a:t>
            </a:r>
          </a:p>
          <a:p>
            <a:pPr>
              <a:spcAft>
                <a:spcPts val="1100"/>
              </a:spcAft>
            </a:pPr>
            <a:r>
              <a:rPr sz="1600" b="1" i="0">
                <a:solidFill>
                  <a:srgbClr val="E8801A"/>
                </a:solidFill>
                <a:latin typeface="Montserrat"/>
              </a:rPr>
              <a:t>▸  </a:t>
            </a:r>
            <a:r>
              <a:rPr sz="1600" b="0" i="0">
                <a:solidFill>
                  <a:srgbClr val="1B2330"/>
                </a:solidFill>
                <a:latin typeface="Montserrat"/>
              </a:rPr>
              <a:t>Existentes: solo lo que tocas se actualiza</a:t>
            </a:r>
          </a:p>
          <a:p>
            <a:pPr>
              <a:spcAft>
                <a:spcPts val="1100"/>
              </a:spcAft>
            </a:pPr>
            <a:r>
              <a:rPr sz="1600" b="1" i="0">
                <a:solidFill>
                  <a:srgbClr val="E8801A"/>
                </a:solidFill>
                <a:latin typeface="Montserrat"/>
              </a:rPr>
              <a:t>▸  </a:t>
            </a:r>
            <a:r>
              <a:rPr sz="1600" b="0" i="0">
                <a:solidFill>
                  <a:srgbClr val="1B2330"/>
                </a:solidFill>
                <a:latin typeface="Montserrat"/>
              </a:rPr>
              <a:t>Controles periódicos: a todas, sin excepción</a:t>
            </a:r>
          </a:p>
        </p:txBody>
      </p:sp>
      <p:sp>
        <p:nvSpPr>
          <p:cNvPr id="9" name="imgph" descr="IMGQ:old gas pipe brick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old gas pipe brick wall</a:t>
            </a:r>
          </a:p>
        </p:txBody>
      </p:sp>
      <p:pic>
        <p:nvPicPr>
          <p:cNvPr id="11" name="t00v1_01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8751" advClick="0">
        <p14:cube dir="r"/>
      </p:transition>
    </mc:Choice>
    <mc:Fallback>
      <p:transition spd="med" advTm="4875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LAS TRES PARTES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muñecas rusas del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interior: de la calle al edificio</a:t>
            </a:r>
          </a:p>
          <a:p>
            <a:pPr>
              <a:spcAft>
                <a:spcPts val="1100"/>
              </a:spcAft>
            </a:pPr>
            <a:r>
              <a:rPr sz="1600" b="1" i="0">
                <a:solidFill>
                  <a:srgbClr val="E8801A"/>
                </a:solidFill>
                <a:latin typeface="Montserrat"/>
              </a:rPr>
              <a:t>▸  </a:t>
            </a:r>
            <a:r>
              <a:rPr sz="1600" b="0" i="0">
                <a:solidFill>
                  <a:srgbClr val="1B2330"/>
                </a:solidFill>
                <a:latin typeface="Montserrat"/>
              </a:rPr>
              <a:t>Instalación común: el montante compartido</a:t>
            </a:r>
          </a:p>
          <a:p>
            <a:pPr>
              <a:spcAft>
                <a:spcPts val="1100"/>
              </a:spcAft>
            </a:pPr>
            <a:r>
              <a:rPr sz="1600" b="1" i="0">
                <a:solidFill>
                  <a:srgbClr val="E8801A"/>
                </a:solidFill>
                <a:latin typeface="Montserrat"/>
              </a:rPr>
              <a:t>▸  </a:t>
            </a:r>
            <a:r>
              <a:rPr sz="1600" b="0" i="0">
                <a:solidFill>
                  <a:srgbClr val="1B2330"/>
                </a:solidFill>
                <a:latin typeface="Montserrat"/>
              </a:rPr>
              <a:t>Instalación individual: hasta cada aparato</a:t>
            </a:r>
          </a:p>
          <a:p>
            <a:pPr>
              <a:spcAft>
                <a:spcPts val="1100"/>
              </a:spcAft>
            </a:pPr>
            <a:r>
              <a:rPr sz="1600" b="1" i="0">
                <a:solidFill>
                  <a:srgbClr val="E8801A"/>
                </a:solidFill>
                <a:latin typeface="Montserrat"/>
              </a:rPr>
              <a:t>▸  </a:t>
            </a:r>
            <a:r>
              <a:rPr sz="1600" b="0" i="0">
                <a:solidFill>
                  <a:srgbClr val="1B2330"/>
                </a:solidFill>
                <a:latin typeface="Montserrat"/>
              </a:rPr>
              <a:t>Cada tramo empieza donde acaba el anterior</a:t>
            </a:r>
          </a:p>
        </p:txBody>
      </p:sp>
      <p:sp>
        <p:nvSpPr>
          <p:cNvPr id="9" name="imgph" descr="IMGQ:gas riser pipes building staircas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riser pipes building staircase</a:t>
            </a:r>
          </a:p>
        </p:txBody>
      </p:sp>
      <p:pic>
        <p:nvPicPr>
          <p:cNvPr id="11" name="t00v1_01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52711" advClick="0">
        <p14:cube dir="l"/>
      </p:transition>
    </mc:Choice>
    <mc:Fallback>
      <p:transition spd="med" advTm="5271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CASOS REALES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¿Y si es un chalé?</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siempre existen los tres tramos</a:t>
            </a:r>
          </a:p>
          <a:p>
            <a:pPr>
              <a:spcAft>
                <a:spcPts val="1100"/>
              </a:spcAft>
            </a:pPr>
            <a:r>
              <a:rPr sz="1600" b="1" i="0">
                <a:solidFill>
                  <a:srgbClr val="E8801A"/>
                </a:solidFill>
                <a:latin typeface="Montserrat"/>
              </a:rPr>
              <a:t>▸  </a:t>
            </a:r>
            <a:r>
              <a:rPr sz="1600" b="0" i="0">
                <a:solidFill>
                  <a:srgbClr val="1B2330"/>
                </a:solidFill>
                <a:latin typeface="Montserrat"/>
              </a:rPr>
              <a:t>Contador en la valla: sin común</a:t>
            </a:r>
          </a:p>
          <a:p>
            <a:pPr>
              <a:spcAft>
                <a:spcPts val="1100"/>
              </a:spcAft>
            </a:pPr>
            <a:r>
              <a:rPr sz="1600" b="1" i="0">
                <a:solidFill>
                  <a:srgbClr val="E8801A"/>
                </a:solidFill>
                <a:latin typeface="Montserrat"/>
              </a:rPr>
              <a:t>▸  </a:t>
            </a:r>
            <a:r>
              <a:rPr sz="1600" b="0" i="0">
                <a:solidFill>
                  <a:srgbClr val="1B2330"/>
                </a:solidFill>
                <a:latin typeface="Montserrat"/>
              </a:rPr>
              <a:t>Casi todo va a la individual</a:t>
            </a:r>
          </a:p>
        </p:txBody>
      </p:sp>
      <p:sp>
        <p:nvSpPr>
          <p:cNvPr id="9" name="imgph" descr="IMGQ:single family house gas meter box gard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single family house gas meter box garden</a:t>
            </a:r>
          </a:p>
        </p:txBody>
      </p:sp>
      <p:pic>
        <p:nvPicPr>
          <p:cNvPr id="11" name="t00v1_01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8671" advClick="0">
        <p14:cube dir="r"/>
      </p:transition>
    </mc:Choice>
    <mc:Fallback>
      <p:transition spd="med" advTm="3867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QUIÉN ES QUIÉN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Personas, no tuberías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Fabricante: hace el producto</a:t>
            </a:r>
          </a:p>
          <a:p>
            <a:pPr>
              <a:spcAft>
                <a:spcPts val="1100"/>
              </a:spcAft>
            </a:pPr>
            <a:r>
              <a:rPr sz="1600" b="1" i="0">
                <a:solidFill>
                  <a:srgbClr val="E8801A"/>
                </a:solidFill>
                <a:latin typeface="Montserrat"/>
              </a:rPr>
              <a:t>▸  </a:t>
            </a:r>
            <a:r>
              <a:rPr sz="1600" b="0" i="0">
                <a:solidFill>
                  <a:srgbClr val="1B2330"/>
                </a:solidFill>
                <a:latin typeface="Montserrat"/>
              </a:rPr>
              <a:t>Empresa instaladora: monta y certifica</a:t>
            </a:r>
          </a:p>
          <a:p>
            <a:pPr>
              <a:spcAft>
                <a:spcPts val="1100"/>
              </a:spcAft>
            </a:pPr>
            <a:r>
              <a:rPr sz="1600" b="1" i="0">
                <a:solidFill>
                  <a:srgbClr val="E8801A"/>
                </a:solidFill>
                <a:latin typeface="Montserrat"/>
              </a:rPr>
              <a:t>▸  </a:t>
            </a:r>
            <a:r>
              <a:rPr sz="1600" b="0" i="0">
                <a:solidFill>
                  <a:srgbClr val="1B2330"/>
                </a:solidFill>
                <a:latin typeface="Montserrat"/>
              </a:rPr>
              <a:t>Instalador: la persona con carné</a:t>
            </a:r>
          </a:p>
          <a:p>
            <a:pPr>
              <a:spcAft>
                <a:spcPts val="1100"/>
              </a:spcAft>
            </a:pPr>
            <a:r>
              <a:rPr sz="1600" b="1" i="0">
                <a:solidFill>
                  <a:srgbClr val="E8801A"/>
                </a:solidFill>
                <a:latin typeface="Montserrat"/>
              </a:rPr>
              <a:t>▸  </a:t>
            </a:r>
            <a:r>
              <a:rPr sz="1600" b="0" i="0">
                <a:solidFill>
                  <a:srgbClr val="1B2330"/>
                </a:solidFill>
                <a:latin typeface="Montserrat"/>
              </a:rPr>
              <a:t>Distribuidor da el gas; comercializador lo vende</a:t>
            </a:r>
          </a:p>
          <a:p>
            <a:pPr>
              <a:spcAft>
                <a:spcPts val="1100"/>
              </a:spcAft>
            </a:pPr>
            <a:r>
              <a:rPr sz="1600" b="1" i="0">
                <a:solidFill>
                  <a:srgbClr val="E8801A"/>
                </a:solidFill>
                <a:latin typeface="Montserrat"/>
              </a:rPr>
              <a:t>▸  </a:t>
            </a:r>
            <a:r>
              <a:rPr sz="1600" b="0" i="0">
                <a:solidFill>
                  <a:srgbClr val="1B2330"/>
                </a:solidFill>
                <a:latin typeface="Montserrat"/>
              </a:rPr>
              <a:t>Titular es el dueño; usuario lo consume</a:t>
            </a:r>
          </a:p>
        </p:txBody>
      </p:sp>
      <p:sp>
        <p:nvSpPr>
          <p:cNvPr id="9" name="imgph" descr="IMGQ:gas technician uniform clipboar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technician uniform clipboard</a:t>
            </a:r>
          </a:p>
        </p:txBody>
      </p:sp>
      <p:pic>
        <p:nvPicPr>
          <p:cNvPr id="11" name="t00v1_01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56351" advClick="0">
        <p14:cube dir="l"/>
      </p:transition>
    </mc:Choice>
    <mc:Fallback>
      <p:transition spd="med" advTm="5635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COMBUSTIBLES GASEOSOS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tres familias de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1.ª familia: manufacturados (en desuso)</a:t>
            </a:r>
          </a:p>
          <a:p>
            <a:pPr>
              <a:spcAft>
                <a:spcPts val="1100"/>
              </a:spcAft>
            </a:pPr>
            <a:r>
              <a:rPr sz="1600" b="1" i="0">
                <a:solidFill>
                  <a:srgbClr val="E8801A"/>
                </a:solidFill>
                <a:latin typeface="Montserrat"/>
              </a:rPr>
              <a:t>▸  </a:t>
            </a:r>
            <a:r>
              <a:rPr sz="1600" b="0" i="0">
                <a:solidFill>
                  <a:srgbClr val="1B2330"/>
                </a:solidFill>
                <a:latin typeface="Montserrat"/>
              </a:rPr>
              <a:t>2.ª familia: gas natural</a:t>
            </a:r>
          </a:p>
          <a:p>
            <a:pPr>
              <a:spcAft>
                <a:spcPts val="1100"/>
              </a:spcAft>
            </a:pPr>
            <a:r>
              <a:rPr sz="1600" b="1" i="0">
                <a:solidFill>
                  <a:srgbClr val="E8801A"/>
                </a:solidFill>
                <a:latin typeface="Montserrat"/>
              </a:rPr>
              <a:t>▸  </a:t>
            </a:r>
            <a:r>
              <a:rPr sz="1600" b="0" i="0">
                <a:solidFill>
                  <a:srgbClr val="1B2330"/>
                </a:solidFill>
                <a:latin typeface="Montserrat"/>
              </a:rPr>
              <a:t>3.ª familia: GLP, butano y propano</a:t>
            </a:r>
          </a:p>
          <a:p>
            <a:pPr>
              <a:spcAft>
                <a:spcPts val="1100"/>
              </a:spcAft>
            </a:pPr>
            <a:r>
              <a:rPr sz="1600" b="1" i="0">
                <a:solidFill>
                  <a:srgbClr val="E8801A"/>
                </a:solidFill>
                <a:latin typeface="Montserrat"/>
              </a:rPr>
              <a:t>▸  </a:t>
            </a:r>
            <a:r>
              <a:rPr sz="1600" b="0" i="0">
                <a:solidFill>
                  <a:srgbClr val="1B2330"/>
                </a:solidFill>
                <a:latin typeface="Montserrat"/>
              </a:rPr>
              <a:t>Cada aparato, tarado para su gas</a:t>
            </a:r>
          </a:p>
        </p:txBody>
      </p:sp>
      <p:sp>
        <p:nvSpPr>
          <p:cNvPr id="9" name="imgph" descr="IMGQ:blue gas flame stove burn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blue gas flame stove burner</a:t>
            </a:r>
          </a:p>
        </p:txBody>
      </p:sp>
      <p:pic>
        <p:nvPicPr>
          <p:cNvPr id="11" name="t00v1_02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54551" advClick="0">
        <p14:cube dir="r"/>
      </p:transition>
    </mc:Choice>
    <mc:Fallback>
      <p:transition spd="med" advTm="5455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Fíjalo en treinta segundos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Reglamento = tronco; ITC = ramas</a:t>
            </a:r>
          </a:p>
          <a:p>
            <a:pPr>
              <a:spcAft>
                <a:spcPts val="1100"/>
              </a:spcAft>
            </a:pPr>
            <a:r>
              <a:rPr sz="1600" b="1" i="0">
                <a:solidFill>
                  <a:srgbClr val="E8801A"/>
                </a:solidFill>
                <a:latin typeface="Montserrat"/>
              </a:rPr>
              <a:t>▸  </a:t>
            </a:r>
            <a:r>
              <a:rPr sz="1600" b="0" i="0">
                <a:solidFill>
                  <a:srgbClr val="1B2330"/>
                </a:solidFill>
                <a:latin typeface="Montserrat"/>
              </a:rPr>
              <a:t>Nueve tipos; la h son tus receptoras</a:t>
            </a:r>
          </a:p>
          <a:p>
            <a:pPr>
              <a:spcAft>
                <a:spcPts val="1100"/>
              </a:spcAft>
            </a:pPr>
            <a:r>
              <a:rPr sz="1600" b="1" i="0">
                <a:solidFill>
                  <a:srgbClr val="E8801A"/>
                </a:solidFill>
                <a:latin typeface="Montserrat"/>
              </a:rPr>
              <a:t>▸  </a:t>
            </a:r>
            <a:r>
              <a:rPr sz="1600" b="0" i="0">
                <a:solidFill>
                  <a:srgbClr val="1B2330"/>
                </a:solidFill>
                <a:latin typeface="Montserrat"/>
              </a:rPr>
              <a:t>Receptora: de acometida a llave de aparato</a:t>
            </a:r>
          </a:p>
          <a:p>
            <a:pPr>
              <a:spcAft>
                <a:spcPts val="1100"/>
              </a:spcAft>
            </a:pPr>
            <a:r>
              <a:rPr sz="1600" b="1" i="0">
                <a:solidFill>
                  <a:srgbClr val="E8801A"/>
                </a:solidFill>
                <a:latin typeface="Montserrat"/>
              </a:rPr>
              <a:t>▸  </a:t>
            </a:r>
            <a:r>
              <a:rPr sz="1600" b="0" i="0">
                <a:solidFill>
                  <a:srgbClr val="1B2330"/>
                </a:solidFill>
                <a:latin typeface="Montserrat"/>
              </a:rPr>
              <a:t>Artículo 3: tres partes + los agentes</a:t>
            </a:r>
          </a:p>
        </p:txBody>
      </p:sp>
      <p:sp>
        <p:nvSpPr>
          <p:cNvPr id="9" name="imgph" descr="IMGQ:gas pipe wall bracket detai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pipe wall bracket detail</a:t>
            </a:r>
          </a:p>
        </p:txBody>
      </p:sp>
      <p:pic>
        <p:nvPicPr>
          <p:cNvPr id="11" name="t00v1_02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3711" advClick="0">
        <p14:cube dir="l"/>
      </p:transition>
    </mc:Choice>
    <mc:Fallback>
      <p:transition spd="med" advTm="43711" advClick="0">
        <p:push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11</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11</p:spid>
                </p:tgtEl>
              </p:cMediaNode>
            </p:audi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de dónde sale cada norma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Colocas cualquier norma: tronco o rama</a:t>
            </a:r>
          </a:p>
          <a:p>
            <a:pPr>
              <a:spcAft>
                <a:spcPts val="1200"/>
              </a:spcAft>
            </a:pPr>
            <a:r>
              <a:rPr sz="2000" b="1" i="0">
                <a:solidFill>
                  <a:srgbClr val="F4A24C"/>
                </a:solidFill>
                <a:latin typeface="Montserrat"/>
              </a:rPr>
              <a:t>✓  </a:t>
            </a:r>
            <a:r>
              <a:rPr sz="1900" b="0" i="0">
                <a:solidFill>
                  <a:srgbClr val="FFFFFF"/>
                </a:solidFill>
                <a:latin typeface="Montserrat"/>
              </a:rPr>
              <a:t>Marcas tu receptora con una sola frontera</a:t>
            </a:r>
          </a:p>
          <a:p>
            <a:pPr>
              <a:spcAft>
                <a:spcPts val="1200"/>
              </a:spcAft>
            </a:pPr>
            <a:r>
              <a:rPr sz="2000" b="1" i="0">
                <a:solidFill>
                  <a:srgbClr val="F4A24C"/>
                </a:solidFill>
                <a:latin typeface="Montserrat"/>
              </a:rPr>
              <a:t>✓  </a:t>
            </a:r>
            <a:r>
              <a:rPr sz="1900" b="0" i="0">
                <a:solidFill>
                  <a:srgbClr val="FFFFFF"/>
                </a:solidFill>
                <a:latin typeface="Montserrat"/>
              </a:rPr>
              <a:t>Separas tuberías de personas sin trampa</a:t>
            </a:r>
          </a:p>
          <a:p>
            <a:pPr>
              <a:spcAft>
                <a:spcPts val="1200"/>
              </a:spcAft>
            </a:pPr>
            <a:r>
              <a:rPr sz="2000" b="1" i="0">
                <a:solidFill>
                  <a:srgbClr val="F4A24C"/>
                </a:solidFill>
                <a:latin typeface="Montserrat"/>
              </a:rPr>
              <a:t>✓  </a:t>
            </a:r>
            <a:r>
              <a:rPr sz="1900" b="0" i="0">
                <a:solidFill>
                  <a:srgbClr val="FFFFFF"/>
                </a:solidFill>
                <a:latin typeface="Montserrat"/>
              </a:rPr>
              <a:t>El artículo tercero ya es tu diccionario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eres más gasista que ayer. Vamos a por los materiales y el gas.</a:t>
            </a:r>
          </a:p>
        </p:txBody>
      </p:sp>
      <p:pic>
        <p:nvPicPr>
          <p:cNvPr id="9" name="t00v1_02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3000000" y="-3000000"/>
            <a:ext cx="900000" cy="9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86071" advClick="0">
        <p14:cube dir="r"/>
      </p:transition>
    </mc:Choice>
    <mc:Fallback>
      <p:transition spd="med" advTm="86071" advClick="0">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mediaCall" presetID="0" fill="hold">
                                  <p:stCondLst>
                                    <p:cond delay="0"/>
                                  </p:stCondLst>
                                  <p:childTnLst>
                                    <p:cmd type="call" cmd="playFrom(0.0)">
                                      <p:cBhvr>
                                        <p:cTn id="6" dur="indefinite" fill="hold"/>
                                        <p:tgtEl>
                                          <p:spid>9</p:spid>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0"/>
                  </p:stCondLst>
                </p:cTn>
                <p:tgtEl>
                  <p:spid>9</p:spid>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
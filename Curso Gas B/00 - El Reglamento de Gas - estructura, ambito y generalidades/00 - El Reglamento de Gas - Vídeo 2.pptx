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Ya sabemos qué regula el Reglamento; ahora, ¿cómo se lleva a la obra?</a:t>
            </a:r>
          </a:p>
          <a:p>
            <a:r>
              <a:t>N2: En este vídeo vemos lo que más se parece al día a día del gasista: qué materiales puedes usar y, sobre todo, el camino completo desde que terminas una instalación hasta que tiene gas. Diseño, ejecución, pruebas, certificados, puesta en servicio y comunicación a la Administración. Es el itinerario que vas a repetir en cada obra, así que conviene tenerlo grabado en orden, porque saltarte un paso casi siempre significa quedarte sin gas hasta arreglarlo.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números vertebran este vídeo?</a:t>
            </a:r>
          </a:p>
          <a:p>
            <a:r>
              <a:t>N2: Ocho pasos en el artículo quinto, de diseño a puesta en marcha, que son la película completa de una instalación; tres certificados de arranque que no debes confundir, porque cada uno lo firma alguien distinto; y treinta días, el plazo que tiene el titular para comunicar la instalación a la Administración desde la puesta en servicio. Estos tres números son de los que más se preguntan y de los que más se usan en obra.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tiene que llevar cualquier material que montas?</a:t>
            </a:r>
          </a:p>
          <a:p>
            <a:r>
              <a:t>N2: Los materiales, equipos y aparatos deben cumplir las directivas europeas o, en su defecto, el Reglamento y sus ITC. Y tienen que llevar un marcado visible e indeleble. 'Indeleble' significa que no se borra: piénsalo como el DNI del material, grabado y permanente. ¿Por qué? Porque dentro de diez años, cuando alguien revise ese tubo o esa válvula, tiene que poder leer todavía de qué es y quién lo fabricó; una pegatina que se cae no vale. Ese marcado incluye fabricante, marca y modelo, y las instrucciones deben estar al menos en castellano. Si en el examen ves 'las instrucciones pueden venir solo en inglés', es falso: el castellano es el mínimo obligatorio.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no perderte entre tantos subapartados?</a:t>
            </a:r>
          </a:p>
          <a:p>
            <a:r>
              <a:t>N2: El artículo quinto es una sola historia con ocho capítulos, en orden. Primero el diseño, los papeles; luego la autorización, por si hace falta permiso; después la ejecución, el montaje; las pruebas, para ver si aguanta; los certificados, las firmas; la puesta en servicio, que es cuando por fin hay gas; la comunicación, avisar a la Administración; y la puesta en marcha, arrancar los aparatos. Si te sabes la película en orden, los detalles caen solos. Vamos capítulo a capítulo.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¿Quién firma los papeles de una instalación?</a:t>
            </a:r>
          </a:p>
          <a:p>
            <a:r>
              <a:t>N2: Cada instalación necesita una documentación técnica que acredite que cumple. Regla mental: instalación grande o complicada, proyecto, que lo firma un técnico titulado, un ingeniero; instalación normal o pequeña, memoria técnica, que la puede firmar el propio instalador en su categoría. Es como ir al médico: un catarro lo ve el de cabecera, memoria; una operación seria, el especialista, proyecto. Y cuidado con la frase clave: quien firma es directamente responsable. En gas la firma no es un trámite; si firmas la memoria y algo está mal, respondes tú. Por eso no se firma nada que no hayas comprobado.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¿Toda instalación necesita permiso previo?</a:t>
            </a:r>
          </a:p>
          <a:p>
            <a:r>
              <a:t>N2: No confundas autorización con comunicación. La autorización administrativa, el permiso previo, solo se pide cuando lo exige la Ley del sector de hidrocarburos y así lo dice la ITC; se reserva a casos gordos. La mayoría de instalaciones no necesitan que la Administración les dé permiso antes: basta con avisar después, que es la comunicación del apartado cinco punto siete. En categoría B lo normal es hacer y comunicar, no pedir permiso y quedarte esperando.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Al montar, ¿qué hay que vigilar con las demás instalaciones?</a:t>
            </a:r>
          </a:p>
          <a:p>
            <a:r>
              <a:t>N2: Las instalaciones las realizan las empresas que determine cada ITC. Y cuando tu tubo de gas convive con otras energías o servicios, hay que tomar medidas de precaución. 'Cruces y paralelismos' es un tema que volverás a ver en la norma UNE: cuando el gas se cruza o va en paralelo con la luz, el agua o el saneamiento, hay que respetar distancias mínimas de seguridad para que no se toquen ni se afecten. Aquí el Reglamento solo lo enuncia; el 'cuántos centímetros' está en la norma técnica.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¿Quién comprueba que la instalación aguanta?</a:t>
            </a:r>
          </a:p>
          <a:p>
            <a:r>
              <a:t>N2: Distingue dos figuras que suenan parecido. La prueba la hace el que monta: compruebas tu propio trabajo, por ejemplo la prueba de estanquidad, antes de meter gas. La inspección la hace un tercero independiente, el organismo de control, y solo cuando la ITC lo exige. Uno es 'revisar lo mío', el otro es 'que me revise un árbitro'. Y ojo con la estanquidad: darla por buena sin hacerla es dejar que la fuga aparezca con el gas ya dentro y el cliente en casa. Esa prueba es tu red contra la fuga.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papeles salen al terminar la instalación?</a:t>
            </a:r>
          </a:p>
          <a:p>
            <a:r>
              <a:t>N2: Con las pruebas favorables, la empresa que ejecutó emite el certificado de instalación, el famoso boletín: es el documento estrella, sin él no hay gas, y lo firma quien montó. Si la instalación necesitó proyecto, aparece además el certificado de dirección de obra, que firma el director de obra. Y si la ITC obligó a que viniera el organismo de control, este emite su certificado de inspección. Idea clara: certificado de instalación siempre; los otros dos, solo a veces.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Una casa lleva años cerrada, ¿se reengancha sin más?</a:t>
            </a:r>
          </a:p>
          <a:p>
            <a:r>
              <a:t>N2: Para poner en servicio, el responsable debe recibir copia de los certificados. Puede pedirse un suministro de gas provisional para las pruebas de funcionamiento, y la responsabilidad de esas pruebas recae en la empresa instaladora. Pero retén esto, que cae fijo: si una instalación lleva más de un año sin gas, una casa cerrada, una herencia parada, no se reengancha sin más; se trata como si fuera nueva, con papeles y pruebas incluidos. Menos de un año y con su certificado de control periódico en vigor, sí se puede restablecer el suministro. El año es tu fecha de caducidad mental.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¿Quién avisa a la Administración y en cuánto tiempo?</a:t>
            </a:r>
          </a:p>
          <a:p>
            <a:r>
              <a:t>N2: Salvo excepciones de las ITC, el titular presenta la documentación antes de que pasen treinta días desde la puesta en servicio, ante el órgano competente de la Comunidad Autónoma. Ojo a dos datos que se preguntan juntos: quién comunica es el titular, el dueño, no la empresa instaladora, aunque en la práctica lo tramite la instaladora en su nombre; y el plazo cuenta desde la puesta en servicio, no desde que acabaste el montaje. Se acompaña la identificación de la instalación, la documentación técnica y los certificados que correspondan.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puesta en marcha es solo encender y ya?</a:t>
            </a:r>
          </a:p>
          <a:p>
            <a:r>
              <a:t>N2: No. La puesta en marcha de los aparatos se hace según la ITC-ICG cero ocho, y no es 'darle al botón': es verificar que la caldera o el calentador funcionan con su gas y su presión, y que la combustión cae dentro de lo que marca el fabricante. Hacerla mal o saltártela es la puerta directa a mala combustión, llama amarilla, ennegrecido, aparato que se apaga y monóxido de carbono. Quien la realiza emite y entrega al usuario un certificado de puesta en marcha. Ese papel es la prueba de que el aparato arrancó bien.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¿Quién firma cada certificado?</a:t>
            </a:r>
          </a:p>
          <a:p>
            <a:r>
              <a:t>N2: Aquí está una de las preguntas más repetidas del examen, así que no la mezcles. El certificado de instalación lo firma la empresa que ejecutó. El de dirección de obra lo firma el director de obra, y solo aparece si hubo proyecto, es decir, obra grande. Y el de puesta en marcha del aparato lo firma el agente de puesta en marcha, según la ITC-ICG cero ocho, y se entrega al usuario. Asocia cada papel con quién lo firma y no fallarás: ejecutas, diriges, arrancas.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tiene derecho a recibir el cliente?</a:t>
            </a:r>
          </a:p>
          <a:p>
            <a:r>
              <a:t>N2: En las receptoras, como anexo al certificado de instalación que entregas al titular, la empresa instaladora prepara unas instrucciones de correcto uso y mantenimiento. Y algo que no puedes olvidar: incluyen un croquis del trazado, con materiales, uniones y válvulas. El cliente tiene derecho a saber por dónde van sus tubos, y se lo entregas tú. Además, el suministrador facilita a sus clientes, por escrito y con periodicidad al menos bienal, recomendaciones de uso y seguridad. 'Bienal' es cada dos años; no lo confundas con 'bianual', que sería dos veces al año.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te llevas de este vídeo?</a:t>
            </a:r>
          </a:p>
          <a:p>
            <a:r>
              <a:t>N2: Primero, el itinerario completo que repites en cada obra: diseño, autorización si aplica, ejecución, pruebas, certificados, puesta en servicio, comunicación y puesta en marcha; saltarte un paso deja la obra coja y sin gas. Segundo, el certificado de instalación, el boletín, es tu documento estrella: lo firma quien ejecuta, copia al titular, y el titular lo comunica a la Comunidad Autónoma antes de treinta días. Y tercero, dos reglas de oro: la del año, una instalación parada más de un año se trata como nueva; y no confundas los tres certificados de arranque, cada uno lo firma alguien. En el último vídeo cerramos el articulado: mantenimiento, inspección frente a revisión y las reglas finales.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CADCFC"/>
                </a:solidFill>
                <a:latin typeface="Montserrat"/>
              </a:rPr>
              <a:t>VÍDEO 2 DE 3</a:t>
            </a:r>
          </a:p>
        </p:txBody>
      </p:sp>
      <p:sp>
        <p:nvSpPr>
          <p:cNvPr id="4" name="TextBox 3"/>
          <p:cNvSpPr txBox="1"/>
          <p:nvPr/>
        </p:nvSpPr>
        <p:spPr>
          <a:xfrm>
            <a:off x="822960" y="2194560"/>
            <a:ext cx="10515600" cy="2011680"/>
          </a:xfrm>
          <a:prstGeom prst="rect">
            <a:avLst/>
          </a:prstGeom>
          <a:noFill/>
        </p:spPr>
        <p:txBody>
          <a:bodyPr wrap="square">
            <a:spAutoFit/>
          </a:bodyPr>
          <a:lstStyle/>
          <a:p>
            <a:r>
              <a:rPr sz="4000" b="1" i="0">
                <a:solidFill>
                  <a:srgbClr val="FFFFFF"/>
                </a:solidFill>
                <a:latin typeface="Montserrat"/>
              </a:rPr>
              <a:t>El Reglamento de Gas</a:t>
            </a:r>
          </a:p>
          <a:p>
            <a:r>
              <a:rPr sz="2200" b="0" i="0">
                <a:solidFill>
                  <a:srgbClr val="CADCFC"/>
                </a:solidFill>
                <a:latin typeface="Montserrat"/>
              </a:rPr>
              <a:t>Materiales y puesta en servicio</a:t>
            </a:r>
          </a:p>
        </p:txBody>
      </p:sp>
      <p:sp>
        <p:nvSpPr>
          <p:cNvPr id="5" name="TextBox 4"/>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00 · Marco normativo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1E2761"/>
                </a:solidFill>
                <a:latin typeface="Montserrat"/>
              </a:rPr>
              <a:t>Sobre este vídeo</a:t>
            </a:r>
          </a:p>
        </p:txBody>
      </p:sp>
      <p:sp>
        <p:nvSpPr>
          <p:cNvPr id="6" name="Rounded Rectangle 5"/>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8</a:t>
            </a:r>
          </a:p>
        </p:txBody>
      </p:sp>
      <p:sp>
        <p:nvSpPr>
          <p:cNvPr id="8" name="TextBox 7"/>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pasos de la puesta en servicio</a:t>
            </a:r>
          </a:p>
        </p:txBody>
      </p:sp>
      <p:sp>
        <p:nvSpPr>
          <p:cNvPr id="9" name="Rounded Rectangle 8"/>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3</a:t>
            </a:r>
          </a:p>
        </p:txBody>
      </p:sp>
      <p:sp>
        <p:nvSpPr>
          <p:cNvPr id="11" name="TextBox 10"/>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certificados de arranque</a:t>
            </a:r>
          </a:p>
        </p:txBody>
      </p:sp>
      <p:sp>
        <p:nvSpPr>
          <p:cNvPr id="12" name="Rounded Rectangle 11"/>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30</a:t>
            </a:r>
          </a:p>
        </p:txBody>
      </p:sp>
      <p:sp>
        <p:nvSpPr>
          <p:cNvPr id="14" name="TextBox 13"/>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días para comunicar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4 · MATERIALES Y APARATOS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DNI del material</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Cumplen directivas europeas o el Reglamento</a:t>
            </a:r>
          </a:p>
          <a:p>
            <a:pPr>
              <a:spcAft>
                <a:spcPts val="1000"/>
              </a:spcAft>
            </a:pPr>
            <a:r>
              <a:rPr sz="1600" b="1" i="0">
                <a:solidFill>
                  <a:srgbClr val="2E3A80"/>
                </a:solidFill>
                <a:latin typeface="Montserrat"/>
              </a:rPr>
              <a:t>•  </a:t>
            </a:r>
            <a:r>
              <a:rPr sz="1600" b="0" i="0">
                <a:solidFill>
                  <a:srgbClr val="1B2330"/>
                </a:solidFill>
                <a:latin typeface="Montserrat"/>
              </a:rPr>
              <a:t>Marcado visible e indeleble</a:t>
            </a:r>
          </a:p>
          <a:p>
            <a:pPr>
              <a:spcAft>
                <a:spcPts val="1000"/>
              </a:spcAft>
            </a:pPr>
            <a:r>
              <a:rPr sz="1600" b="1" i="0">
                <a:solidFill>
                  <a:srgbClr val="2E3A80"/>
                </a:solidFill>
                <a:latin typeface="Montserrat"/>
              </a:rPr>
              <a:t>•  </a:t>
            </a:r>
            <a:r>
              <a:rPr sz="1600" b="0" i="0">
                <a:solidFill>
                  <a:srgbClr val="1B2330"/>
                </a:solidFill>
                <a:latin typeface="Montserrat"/>
              </a:rPr>
              <a:t>Fabricante, marca y modelo</a:t>
            </a:r>
          </a:p>
          <a:p>
            <a:pPr>
              <a:spcAft>
                <a:spcPts val="1000"/>
              </a:spcAft>
            </a:pPr>
            <a:r>
              <a:rPr sz="1600" b="1" i="0">
                <a:solidFill>
                  <a:srgbClr val="2E3A80"/>
                </a:solidFill>
                <a:latin typeface="Montserrat"/>
              </a:rPr>
              <a:t>•  </a:t>
            </a:r>
            <a:r>
              <a:rPr sz="1600" b="0" i="0">
                <a:solidFill>
                  <a:srgbClr val="1B2330"/>
                </a:solidFill>
                <a:latin typeface="Montserrat"/>
              </a:rPr>
              <a:t>Instrucciones al menos en castellano</a:t>
            </a:r>
          </a:p>
        </p:txBody>
      </p:sp>
      <p:sp>
        <p:nvSpPr>
          <p:cNvPr id="8" name="imgph" descr="IMGQ:copper pipe fittings label marking"/>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copper pipe fittings label marking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5 · PUESTA EN SERVICIO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película, en ocho capítulos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Diseño → autorización → ejecución</a:t>
            </a:r>
          </a:p>
          <a:p>
            <a:pPr>
              <a:spcAft>
                <a:spcPts val="1000"/>
              </a:spcAft>
            </a:pPr>
            <a:r>
              <a:rPr sz="1600" b="1" i="0">
                <a:solidFill>
                  <a:srgbClr val="2E3A80"/>
                </a:solidFill>
                <a:latin typeface="Montserrat"/>
              </a:rPr>
              <a:t>•  </a:t>
            </a:r>
            <a:r>
              <a:rPr sz="1600" b="0" i="0">
                <a:solidFill>
                  <a:srgbClr val="1B2330"/>
                </a:solidFill>
                <a:latin typeface="Montserrat"/>
              </a:rPr>
              <a:t>Pruebas → certificados → puesta en servicio</a:t>
            </a:r>
          </a:p>
          <a:p>
            <a:pPr>
              <a:spcAft>
                <a:spcPts val="1000"/>
              </a:spcAft>
            </a:pPr>
            <a:r>
              <a:rPr sz="1600" b="1" i="0">
                <a:solidFill>
                  <a:srgbClr val="2E3A80"/>
                </a:solidFill>
                <a:latin typeface="Montserrat"/>
              </a:rPr>
              <a:t>•  </a:t>
            </a:r>
            <a:r>
              <a:rPr sz="1600" b="0" i="0">
                <a:solidFill>
                  <a:srgbClr val="1B2330"/>
                </a:solidFill>
                <a:latin typeface="Montserrat"/>
              </a:rPr>
              <a:t>Comunicación → puesta en marcha</a:t>
            </a:r>
          </a:p>
          <a:p>
            <a:pPr>
              <a:spcAft>
                <a:spcPts val="1000"/>
              </a:spcAft>
            </a:pPr>
            <a:r>
              <a:rPr sz="1600" b="1" i="0">
                <a:solidFill>
                  <a:srgbClr val="2E3A80"/>
                </a:solidFill>
                <a:latin typeface="Montserrat"/>
              </a:rPr>
              <a:t>•  </a:t>
            </a:r>
            <a:r>
              <a:rPr sz="1600" b="0" i="0">
                <a:solidFill>
                  <a:srgbClr val="1B2330"/>
                </a:solidFill>
                <a:latin typeface="Montserrat"/>
              </a:rPr>
              <a:t>Siempre en este orden</a:t>
            </a:r>
          </a:p>
        </p:txBody>
      </p:sp>
      <p:sp>
        <p:nvSpPr>
          <p:cNvPr id="8" name="imgph" descr="IMGQ:gas installation checklist clipboard"/>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installation checklist clipboard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5.1 · DISEÑO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¿Proyecto o memoria técnica?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Proyecto: técnico facultativo competente</a:t>
            </a:r>
          </a:p>
          <a:p>
            <a:pPr>
              <a:spcAft>
                <a:spcPts val="1000"/>
              </a:spcAft>
            </a:pPr>
            <a:r>
              <a:rPr sz="1600" b="1" i="0">
                <a:solidFill>
                  <a:srgbClr val="2E3A80"/>
                </a:solidFill>
                <a:latin typeface="Montserrat"/>
              </a:rPr>
              <a:t>•  </a:t>
            </a:r>
            <a:r>
              <a:rPr sz="1600" b="0" i="0">
                <a:solidFill>
                  <a:srgbClr val="1B2330"/>
                </a:solidFill>
                <a:latin typeface="Montserrat"/>
              </a:rPr>
              <a:t>Memoria técnica: la firma el instalador</a:t>
            </a:r>
          </a:p>
          <a:p>
            <a:pPr>
              <a:spcAft>
                <a:spcPts val="1000"/>
              </a:spcAft>
            </a:pPr>
            <a:r>
              <a:rPr sz="1600" b="1" i="0">
                <a:solidFill>
                  <a:srgbClr val="2E3A80"/>
                </a:solidFill>
                <a:latin typeface="Montserrat"/>
              </a:rPr>
              <a:t>•  </a:t>
            </a:r>
            <a:r>
              <a:rPr sz="1600" b="0" i="0">
                <a:solidFill>
                  <a:srgbClr val="1B2330"/>
                </a:solidFill>
                <a:latin typeface="Montserrat"/>
              </a:rPr>
              <a:t>El tamaño lo marca cada ITC</a:t>
            </a:r>
          </a:p>
          <a:p>
            <a:pPr>
              <a:spcAft>
                <a:spcPts val="1000"/>
              </a:spcAft>
            </a:pPr>
            <a:r>
              <a:rPr sz="1600" b="1" i="0">
                <a:solidFill>
                  <a:srgbClr val="2E3A80"/>
                </a:solidFill>
                <a:latin typeface="Montserrat"/>
              </a:rPr>
              <a:t>•  </a:t>
            </a:r>
            <a:r>
              <a:rPr sz="1600" b="0" i="0">
                <a:solidFill>
                  <a:srgbClr val="1B2330"/>
                </a:solidFill>
                <a:latin typeface="Montserrat"/>
              </a:rPr>
              <a:t>Quien firma, responde</a:t>
            </a:r>
          </a:p>
        </p:txBody>
      </p:sp>
      <p:sp>
        <p:nvSpPr>
          <p:cNvPr id="8" name="imgph" descr="IMGQ:engineer reviewing technical drawing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engineer reviewing technical drawings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5.2 · AUTORIZACIÓN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Autorización no es comunicación</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Autorización: solo si lo exige la ley</a:t>
            </a:r>
          </a:p>
          <a:p>
            <a:pPr>
              <a:spcAft>
                <a:spcPts val="1000"/>
              </a:spcAft>
            </a:pPr>
            <a:r>
              <a:rPr sz="1600" b="1" i="0">
                <a:solidFill>
                  <a:srgbClr val="2E3A80"/>
                </a:solidFill>
                <a:latin typeface="Montserrat"/>
              </a:rPr>
              <a:t>•  </a:t>
            </a:r>
            <a:r>
              <a:rPr sz="1600" b="0" i="0">
                <a:solidFill>
                  <a:srgbClr val="1B2330"/>
                </a:solidFill>
                <a:latin typeface="Montserrat"/>
              </a:rPr>
              <a:t>Lo normal: hacer y comunicar después</a:t>
            </a:r>
          </a:p>
          <a:p>
            <a:pPr>
              <a:spcAft>
                <a:spcPts val="1000"/>
              </a:spcAft>
            </a:pPr>
            <a:r>
              <a:rPr sz="1600" b="1" i="0">
                <a:solidFill>
                  <a:srgbClr val="2E3A80"/>
                </a:solidFill>
                <a:latin typeface="Montserrat"/>
              </a:rPr>
              <a:t>•  </a:t>
            </a:r>
            <a:r>
              <a:rPr sz="1600" b="0" i="0">
                <a:solidFill>
                  <a:srgbClr val="1B2330"/>
                </a:solidFill>
                <a:latin typeface="Montserrat"/>
              </a:rPr>
              <a:t>No pedir permiso y esperar</a:t>
            </a:r>
          </a:p>
        </p:txBody>
      </p:sp>
      <p:sp>
        <p:nvSpPr>
          <p:cNvPr id="8" name="imgph" descr="IMGQ:government office permit stamp"/>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government office permit stamp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5.3 · EJECUCIÓN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montaje</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La ejecutan las empresas que fije la ITC</a:t>
            </a:r>
          </a:p>
          <a:p>
            <a:pPr>
              <a:spcAft>
                <a:spcPts val="1000"/>
              </a:spcAft>
            </a:pPr>
            <a:r>
              <a:rPr sz="1600" b="1" i="0">
                <a:solidFill>
                  <a:srgbClr val="2E3A80"/>
                </a:solidFill>
                <a:latin typeface="Montserrat"/>
              </a:rPr>
              <a:t>•  </a:t>
            </a:r>
            <a:r>
              <a:rPr sz="1600" b="0" i="0">
                <a:solidFill>
                  <a:srgbClr val="1B2330"/>
                </a:solidFill>
                <a:latin typeface="Montserrat"/>
              </a:rPr>
              <a:t>Cuidado con otras energías</a:t>
            </a:r>
          </a:p>
          <a:p>
            <a:pPr>
              <a:spcAft>
                <a:spcPts val="1000"/>
              </a:spcAft>
            </a:pPr>
            <a:r>
              <a:rPr sz="1600" b="1" i="0">
                <a:solidFill>
                  <a:srgbClr val="2E3A80"/>
                </a:solidFill>
                <a:latin typeface="Montserrat"/>
              </a:rPr>
              <a:t>•  </a:t>
            </a:r>
            <a:r>
              <a:rPr sz="1600" b="0" i="0">
                <a:solidFill>
                  <a:srgbClr val="1B2330"/>
                </a:solidFill>
                <a:latin typeface="Montserrat"/>
              </a:rPr>
              <a:t>Cruces y paralelismos: distancias mínimas</a:t>
            </a:r>
          </a:p>
        </p:txBody>
      </p:sp>
      <p:sp>
        <p:nvSpPr>
          <p:cNvPr id="8" name="imgph" descr="IMGQ:plumber installing gas pipe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plumber installing gas pipe wall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5.4 · PRUEBAS E INSPECCIONES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Prueba no es inspección</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Prueba: la hace quien monta</a:t>
            </a:r>
          </a:p>
          <a:p>
            <a:pPr>
              <a:spcAft>
                <a:spcPts val="1000"/>
              </a:spcAft>
            </a:pPr>
            <a:r>
              <a:rPr sz="1600" b="1" i="0">
                <a:solidFill>
                  <a:srgbClr val="2E3A80"/>
                </a:solidFill>
                <a:latin typeface="Montserrat"/>
              </a:rPr>
              <a:t>•  </a:t>
            </a:r>
            <a:r>
              <a:rPr sz="1600" b="0" i="0">
                <a:solidFill>
                  <a:srgbClr val="1B2330"/>
                </a:solidFill>
                <a:latin typeface="Montserrat"/>
              </a:rPr>
              <a:t>Estanquidad antes de meter gas</a:t>
            </a:r>
          </a:p>
          <a:p>
            <a:pPr>
              <a:spcAft>
                <a:spcPts val="1000"/>
              </a:spcAft>
            </a:pPr>
            <a:r>
              <a:rPr sz="1600" b="1" i="0">
                <a:solidFill>
                  <a:srgbClr val="2E3A80"/>
                </a:solidFill>
                <a:latin typeface="Montserrat"/>
              </a:rPr>
              <a:t>•  </a:t>
            </a:r>
            <a:r>
              <a:rPr sz="1600" b="0" i="0">
                <a:solidFill>
                  <a:srgbClr val="1B2330"/>
                </a:solidFill>
                <a:latin typeface="Montserrat"/>
              </a:rPr>
              <a:t>Inspección: un tercero independiente</a:t>
            </a:r>
          </a:p>
          <a:p>
            <a:pPr>
              <a:spcAft>
                <a:spcPts val="1000"/>
              </a:spcAft>
            </a:pPr>
            <a:r>
              <a:rPr sz="1600" b="1" i="0">
                <a:solidFill>
                  <a:srgbClr val="2E3A80"/>
                </a:solidFill>
                <a:latin typeface="Montserrat"/>
              </a:rPr>
              <a:t>•  </a:t>
            </a:r>
            <a:r>
              <a:rPr sz="1600" b="0" i="0">
                <a:solidFill>
                  <a:srgbClr val="1B2330"/>
                </a:solidFill>
                <a:latin typeface="Montserrat"/>
              </a:rPr>
              <a:t>Solo si la ITC la pide</a:t>
            </a:r>
          </a:p>
        </p:txBody>
      </p:sp>
      <p:sp>
        <p:nvSpPr>
          <p:cNvPr id="8" name="imgph" descr="IMGQ:pressure gauge testing gas pip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pressure gauge testing gas pipe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5.5 · CERTIFICADOS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boletín manda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Instalación: SIEMPRE, lo firma quien ejecuta</a:t>
            </a:r>
          </a:p>
          <a:p>
            <a:pPr>
              <a:spcAft>
                <a:spcPts val="1000"/>
              </a:spcAft>
            </a:pPr>
            <a:r>
              <a:rPr sz="1600" b="1" i="0">
                <a:solidFill>
                  <a:srgbClr val="2E3A80"/>
                </a:solidFill>
                <a:latin typeface="Montserrat"/>
              </a:rPr>
              <a:t>•  </a:t>
            </a:r>
            <a:r>
              <a:rPr sz="1600" b="0" i="0">
                <a:solidFill>
                  <a:srgbClr val="1B2330"/>
                </a:solidFill>
                <a:latin typeface="Montserrat"/>
              </a:rPr>
              <a:t>Dirección de obra: solo si hubo proyecto</a:t>
            </a:r>
          </a:p>
          <a:p>
            <a:pPr>
              <a:spcAft>
                <a:spcPts val="1000"/>
              </a:spcAft>
            </a:pPr>
            <a:r>
              <a:rPr sz="1600" b="1" i="0">
                <a:solidFill>
                  <a:srgbClr val="2E3A80"/>
                </a:solidFill>
                <a:latin typeface="Montserrat"/>
              </a:rPr>
              <a:t>•  </a:t>
            </a:r>
            <a:r>
              <a:rPr sz="1600" b="0" i="0">
                <a:solidFill>
                  <a:srgbClr val="1B2330"/>
                </a:solidFill>
                <a:latin typeface="Montserrat"/>
              </a:rPr>
              <a:t>Inspección: solo si la ITC lo exige</a:t>
            </a:r>
          </a:p>
          <a:p>
            <a:pPr>
              <a:spcAft>
                <a:spcPts val="1000"/>
              </a:spcAft>
            </a:pPr>
            <a:r>
              <a:rPr sz="1600" b="1" i="0">
                <a:solidFill>
                  <a:srgbClr val="2E3A80"/>
                </a:solidFill>
                <a:latin typeface="Montserrat"/>
              </a:rPr>
              <a:t>•  </a:t>
            </a:r>
            <a:r>
              <a:rPr sz="1600" b="0" i="0">
                <a:solidFill>
                  <a:srgbClr val="1B2330"/>
                </a:solidFill>
                <a:latin typeface="Montserrat"/>
              </a:rPr>
              <a:t>Sin certificado no hay gas</a:t>
            </a:r>
          </a:p>
        </p:txBody>
      </p:sp>
      <p:sp>
        <p:nvSpPr>
          <p:cNvPr id="8" name="imgph" descr="IMGQ:signing installation certificate documen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signing installation certificate document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5.6 · PUESTA EN SERVICIO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regla del año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El responsable recibe copia de certificados</a:t>
            </a:r>
          </a:p>
          <a:p>
            <a:pPr>
              <a:spcAft>
                <a:spcPts val="1000"/>
              </a:spcAft>
            </a:pPr>
            <a:r>
              <a:rPr sz="1600" b="1" i="0">
                <a:solidFill>
                  <a:srgbClr val="2E3A80"/>
                </a:solidFill>
                <a:latin typeface="Montserrat"/>
              </a:rPr>
              <a:t>•  </a:t>
            </a:r>
            <a:r>
              <a:rPr sz="1600" b="0" i="0">
                <a:solidFill>
                  <a:srgbClr val="1B2330"/>
                </a:solidFill>
                <a:latin typeface="Montserrat"/>
              </a:rPr>
              <a:t>Suministro provisional para pruebas</a:t>
            </a:r>
          </a:p>
          <a:p>
            <a:pPr>
              <a:spcAft>
                <a:spcPts val="1000"/>
              </a:spcAft>
            </a:pPr>
            <a:r>
              <a:rPr sz="1600" b="1" i="0">
                <a:solidFill>
                  <a:srgbClr val="2E3A80"/>
                </a:solidFill>
                <a:latin typeface="Montserrat"/>
              </a:rPr>
              <a:t>•  </a:t>
            </a:r>
            <a:r>
              <a:rPr sz="1600" b="0" i="0">
                <a:solidFill>
                  <a:srgbClr val="1B2330"/>
                </a:solidFill>
                <a:latin typeface="Montserrat"/>
              </a:rPr>
              <a:t>Parada +1 año: se trata como nueva</a:t>
            </a:r>
          </a:p>
          <a:p>
            <a:pPr>
              <a:spcAft>
                <a:spcPts val="1000"/>
              </a:spcAft>
            </a:pPr>
            <a:r>
              <a:rPr sz="1600" b="1" i="0">
                <a:solidFill>
                  <a:srgbClr val="2E3A80"/>
                </a:solidFill>
                <a:latin typeface="Montserrat"/>
              </a:rPr>
              <a:t>•  </a:t>
            </a:r>
            <a:r>
              <a:rPr sz="1600" b="0" i="0">
                <a:solidFill>
                  <a:srgbClr val="1B2330"/>
                </a:solidFill>
                <a:latin typeface="Montserrat"/>
              </a:rPr>
              <a:t>Menos de un año y control en vigor: se restablece</a:t>
            </a:r>
          </a:p>
        </p:txBody>
      </p:sp>
      <p:sp>
        <p:nvSpPr>
          <p:cNvPr id="8" name="imgph" descr="IMGQ:closed empty house interio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closed empty house interior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5.7 · COMUNICACIÓN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Avisar a la Administración</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Lo presenta el titular</a:t>
            </a:r>
          </a:p>
          <a:p>
            <a:pPr>
              <a:spcAft>
                <a:spcPts val="1000"/>
              </a:spcAft>
            </a:pPr>
            <a:r>
              <a:rPr sz="1600" b="1" i="0">
                <a:solidFill>
                  <a:srgbClr val="2E3A80"/>
                </a:solidFill>
                <a:latin typeface="Montserrat"/>
              </a:rPr>
              <a:t>•  </a:t>
            </a:r>
            <a:r>
              <a:rPr sz="1600" b="0" i="0">
                <a:solidFill>
                  <a:srgbClr val="1B2330"/>
                </a:solidFill>
                <a:latin typeface="Montserrat"/>
              </a:rPr>
              <a:t>Antes de 30 días desde la puesta en servicio</a:t>
            </a:r>
          </a:p>
          <a:p>
            <a:pPr>
              <a:spcAft>
                <a:spcPts val="1000"/>
              </a:spcAft>
            </a:pPr>
            <a:r>
              <a:rPr sz="1600" b="1" i="0">
                <a:solidFill>
                  <a:srgbClr val="2E3A80"/>
                </a:solidFill>
                <a:latin typeface="Montserrat"/>
              </a:rPr>
              <a:t>•  </a:t>
            </a:r>
            <a:r>
              <a:rPr sz="1600" b="0" i="0">
                <a:solidFill>
                  <a:srgbClr val="1B2330"/>
                </a:solidFill>
                <a:latin typeface="Montserrat"/>
              </a:rPr>
              <a:t>Ante la Comunidad Autónoma</a:t>
            </a:r>
          </a:p>
          <a:p>
            <a:pPr>
              <a:spcAft>
                <a:spcPts val="1000"/>
              </a:spcAft>
            </a:pPr>
            <a:r>
              <a:rPr sz="1600" b="1" i="0">
                <a:solidFill>
                  <a:srgbClr val="2E3A80"/>
                </a:solidFill>
                <a:latin typeface="Montserrat"/>
              </a:rPr>
              <a:t>•  </a:t>
            </a:r>
            <a:r>
              <a:rPr sz="1600" b="0" i="0">
                <a:solidFill>
                  <a:srgbClr val="1B2330"/>
                </a:solidFill>
                <a:latin typeface="Montserrat"/>
              </a:rPr>
              <a:t>Con documentación y certificados</a:t>
            </a:r>
          </a:p>
        </p:txBody>
      </p:sp>
      <p:sp>
        <p:nvSpPr>
          <p:cNvPr id="8" name="imgph" descr="IMGQ:person filing paperwork office desk"/>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person filing paperwork office desk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5.8 · PUESTA EN MARCHA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Arrancar los aparatos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Según la ITC-ICG 08</a:t>
            </a:r>
          </a:p>
          <a:p>
            <a:pPr>
              <a:spcAft>
                <a:spcPts val="1000"/>
              </a:spcAft>
            </a:pPr>
            <a:r>
              <a:rPr sz="1600" b="1" i="0">
                <a:solidFill>
                  <a:srgbClr val="2E3A80"/>
                </a:solidFill>
                <a:latin typeface="Montserrat"/>
              </a:rPr>
              <a:t>•  </a:t>
            </a:r>
            <a:r>
              <a:rPr sz="1600" b="0" i="0">
                <a:solidFill>
                  <a:srgbClr val="1B2330"/>
                </a:solidFill>
                <a:latin typeface="Montserrat"/>
              </a:rPr>
              <a:t>Verifica gas, presión y combustión</a:t>
            </a:r>
          </a:p>
          <a:p>
            <a:pPr>
              <a:spcAft>
                <a:spcPts val="1000"/>
              </a:spcAft>
            </a:pPr>
            <a:r>
              <a:rPr sz="1600" b="1" i="0">
                <a:solidFill>
                  <a:srgbClr val="2E3A80"/>
                </a:solidFill>
                <a:latin typeface="Montserrat"/>
              </a:rPr>
              <a:t>•  </a:t>
            </a:r>
            <a:r>
              <a:rPr sz="1600" b="0" i="0">
                <a:solidFill>
                  <a:srgbClr val="1B2330"/>
                </a:solidFill>
                <a:latin typeface="Montserrat"/>
              </a:rPr>
              <a:t>Certificado de puesta en marcha</a:t>
            </a:r>
          </a:p>
          <a:p>
            <a:pPr>
              <a:spcAft>
                <a:spcPts val="1000"/>
              </a:spcAft>
            </a:pPr>
            <a:r>
              <a:rPr sz="1600" b="1" i="0">
                <a:solidFill>
                  <a:srgbClr val="2E3A80"/>
                </a:solidFill>
                <a:latin typeface="Montserrat"/>
              </a:rPr>
              <a:t>•  </a:t>
            </a:r>
            <a:r>
              <a:rPr sz="1600" b="0" i="0">
                <a:solidFill>
                  <a:srgbClr val="1B2330"/>
                </a:solidFill>
                <a:latin typeface="Montserrat"/>
              </a:rPr>
              <a:t>Se entrega al usuario</a:t>
            </a:r>
          </a:p>
        </p:txBody>
      </p:sp>
      <p:sp>
        <p:nvSpPr>
          <p:cNvPr id="8" name="imgph" descr="IMGQ:technician checking boiler flam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technician checking boiler flame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5 · NO LOS CONFUNDAS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Tres certificados, tres firmas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Instalación: la empresa que ejecutó</a:t>
            </a:r>
          </a:p>
          <a:p>
            <a:pPr>
              <a:spcAft>
                <a:spcPts val="1000"/>
              </a:spcAft>
            </a:pPr>
            <a:r>
              <a:rPr sz="1600" b="1" i="0">
                <a:solidFill>
                  <a:srgbClr val="2E3A80"/>
                </a:solidFill>
                <a:latin typeface="Montserrat"/>
              </a:rPr>
              <a:t>•  </a:t>
            </a:r>
            <a:r>
              <a:rPr sz="1600" b="0" i="0">
                <a:solidFill>
                  <a:srgbClr val="1B2330"/>
                </a:solidFill>
                <a:latin typeface="Montserrat"/>
              </a:rPr>
              <a:t>Dirección de obra: el director (si hay proyecto)</a:t>
            </a:r>
          </a:p>
          <a:p>
            <a:pPr>
              <a:spcAft>
                <a:spcPts val="1000"/>
              </a:spcAft>
            </a:pPr>
            <a:r>
              <a:rPr sz="1600" b="1" i="0">
                <a:solidFill>
                  <a:srgbClr val="2E3A80"/>
                </a:solidFill>
                <a:latin typeface="Montserrat"/>
              </a:rPr>
              <a:t>•  </a:t>
            </a:r>
            <a:r>
              <a:rPr sz="1600" b="0" i="0">
                <a:solidFill>
                  <a:srgbClr val="1B2330"/>
                </a:solidFill>
                <a:latin typeface="Montserrat"/>
              </a:rPr>
              <a:t>Puesta en marcha: el agente (ICG 08)</a:t>
            </a:r>
          </a:p>
          <a:p>
            <a:pPr>
              <a:spcAft>
                <a:spcPts val="1000"/>
              </a:spcAft>
            </a:pPr>
            <a:r>
              <a:rPr sz="1600" b="1" i="0">
                <a:solidFill>
                  <a:srgbClr val="2E3A80"/>
                </a:solidFill>
                <a:latin typeface="Montserrat"/>
              </a:rPr>
              <a:t>•  </a:t>
            </a:r>
            <a:r>
              <a:rPr sz="1600" b="0" i="0">
                <a:solidFill>
                  <a:srgbClr val="1B2330"/>
                </a:solidFill>
                <a:latin typeface="Montserrat"/>
              </a:rPr>
              <a:t>Cada uno lo firma alguien distinto</a:t>
            </a:r>
          </a:p>
        </p:txBody>
      </p:sp>
      <p:sp>
        <p:nvSpPr>
          <p:cNvPr id="8" name="imgph" descr="IMGQ:three documents stack signature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three documents stack signatures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ARTÍCULO 6 · INFORMACIÓN A USUARIOS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Lo que recibe el cliente</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Instrucciones de uso y mantenimiento</a:t>
            </a:r>
          </a:p>
          <a:p>
            <a:pPr>
              <a:spcAft>
                <a:spcPts val="1000"/>
              </a:spcAft>
            </a:pPr>
            <a:r>
              <a:rPr sz="1600" b="1" i="0">
                <a:solidFill>
                  <a:srgbClr val="2E3A80"/>
                </a:solidFill>
                <a:latin typeface="Montserrat"/>
              </a:rPr>
              <a:t>•  </a:t>
            </a:r>
            <a:r>
              <a:rPr sz="1600" b="0" i="0">
                <a:solidFill>
                  <a:srgbClr val="1B2330"/>
                </a:solidFill>
                <a:latin typeface="Montserrat"/>
              </a:rPr>
              <a:t>Croquis del trazado obligatorio</a:t>
            </a:r>
          </a:p>
          <a:p>
            <a:pPr>
              <a:spcAft>
                <a:spcPts val="1000"/>
              </a:spcAft>
            </a:pPr>
            <a:r>
              <a:rPr sz="1600" b="1" i="0">
                <a:solidFill>
                  <a:srgbClr val="2E3A80"/>
                </a:solidFill>
                <a:latin typeface="Montserrat"/>
              </a:rPr>
              <a:t>•  </a:t>
            </a:r>
            <a:r>
              <a:rPr sz="1600" b="0" i="0">
                <a:solidFill>
                  <a:srgbClr val="1B2330"/>
                </a:solidFill>
                <a:latin typeface="Montserrat"/>
              </a:rPr>
              <a:t>Anexo al certificado de instalación</a:t>
            </a:r>
          </a:p>
          <a:p>
            <a:pPr>
              <a:spcAft>
                <a:spcPts val="1000"/>
              </a:spcAft>
            </a:pPr>
            <a:r>
              <a:rPr sz="1600" b="1" i="0">
                <a:solidFill>
                  <a:srgbClr val="2E3A80"/>
                </a:solidFill>
                <a:latin typeface="Montserrat"/>
              </a:rPr>
              <a:t>•  </a:t>
            </a:r>
            <a:r>
              <a:rPr sz="1600" b="0" i="0">
                <a:solidFill>
                  <a:srgbClr val="1B2330"/>
                </a:solidFill>
                <a:latin typeface="Montserrat"/>
              </a:rPr>
              <a:t>Suministrador: recordatorio bienal</a:t>
            </a:r>
          </a:p>
        </p:txBody>
      </p:sp>
      <p:sp>
        <p:nvSpPr>
          <p:cNvPr id="8" name="imgph" descr="IMGQ:hand drawn pipe layout sketch"/>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hand drawn pipe layout sketch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640080"/>
            <a:ext cx="10058400" cy="914400"/>
          </a:xfrm>
          <a:prstGeom prst="rect">
            <a:avLst/>
          </a:prstGeom>
          <a:noFill/>
        </p:spPr>
        <p:txBody>
          <a:bodyPr wrap="square">
            <a:spAutoFit/>
          </a:bodyPr>
          <a:lstStyle/>
          <a:p>
            <a:r>
              <a:rPr sz="3000" b="1" i="0">
                <a:solidFill>
                  <a:srgbClr val="1E2761"/>
                </a:solidFill>
                <a:latin typeface="Montserrat"/>
              </a:rPr>
              <a:t>Qué me llevo</a:t>
            </a:r>
          </a:p>
        </p:txBody>
      </p:sp>
      <p:sp>
        <p:nvSpPr>
          <p:cNvPr id="6" name="TextBox 5"/>
          <p:cNvSpPr txBox="1"/>
          <p:nvPr/>
        </p:nvSpPr>
        <p:spPr>
          <a:xfrm>
            <a:off x="822960" y="2011680"/>
            <a:ext cx="10058400" cy="3657600"/>
          </a:xfrm>
          <a:prstGeom prst="rect">
            <a:avLst/>
          </a:prstGeom>
          <a:noFill/>
        </p:spPr>
        <p:txBody>
          <a:bodyPr wrap="square">
            <a:spAutoFit/>
          </a:bodyPr>
          <a:lstStyle/>
          <a:p>
            <a:pPr>
              <a:spcAft>
                <a:spcPts val="1400"/>
              </a:spcAft>
            </a:pPr>
            <a:r>
              <a:rPr sz="2000" b="1" i="0">
                <a:solidFill>
                  <a:srgbClr val="2E3A80"/>
                </a:solidFill>
                <a:latin typeface="Montserrat"/>
              </a:rPr>
              <a:t>✓  </a:t>
            </a:r>
            <a:r>
              <a:rPr sz="2000" b="0" i="0">
                <a:solidFill>
                  <a:srgbClr val="1B2330"/>
                </a:solidFill>
                <a:latin typeface="Montserrat"/>
              </a:rPr>
              <a:t>El itinerario: diseño → … → puesta en marcha</a:t>
            </a:r>
          </a:p>
          <a:p>
            <a:pPr>
              <a:spcAft>
                <a:spcPts val="1400"/>
              </a:spcAft>
            </a:pPr>
            <a:r>
              <a:rPr sz="2000" b="1" i="0">
                <a:solidFill>
                  <a:srgbClr val="2E3A80"/>
                </a:solidFill>
                <a:latin typeface="Montserrat"/>
              </a:rPr>
              <a:t>✓  </a:t>
            </a:r>
            <a:r>
              <a:rPr sz="2000" b="0" i="0">
                <a:solidFill>
                  <a:srgbClr val="1B2330"/>
                </a:solidFill>
                <a:latin typeface="Montserrat"/>
              </a:rPr>
              <a:t>El boletín manda: sin él no hay gas</a:t>
            </a:r>
          </a:p>
          <a:p>
            <a:pPr>
              <a:spcAft>
                <a:spcPts val="1400"/>
              </a:spcAft>
            </a:pPr>
            <a:r>
              <a:rPr sz="2000" b="1" i="0">
                <a:solidFill>
                  <a:srgbClr val="2E3A80"/>
                </a:solidFill>
                <a:latin typeface="Montserrat"/>
              </a:rPr>
              <a:t>✓  </a:t>
            </a:r>
            <a:r>
              <a:rPr sz="2000" b="0" i="0">
                <a:solidFill>
                  <a:srgbClr val="1B2330"/>
                </a:solidFill>
                <a:latin typeface="Montserrat"/>
              </a:rPr>
              <a:t>La regla del año y los 30 días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
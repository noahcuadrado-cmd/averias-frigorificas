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sabemos qué regula el Reglamento y con qué palabras. ¿Y ahora?</a:t>
            </a:r>
          </a:p>
          <a:p>
            <a:r>
              <a:t>N2: Ahora toca lo que más se parece a tu día a día: qué materiales puedes usar y, sobre todo, el camino completo desde que terminas una instalación hasta que tiene gas. Diseño, ejecución, pruebas, certificados, puesta en servicio y comunicación a la Administración. Es el itinerario que vas a repetir en cada obra, así que conviene tenerlo grabado en orden, porque saltarte un paso deja la instalación coja y casi siempre sin gas hasta que lo arreglas.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marcan este vídeo?</a:t>
            </a:r>
          </a:p>
          <a:p>
            <a:r>
              <a:t>N2: Ocho pasos ordenados en el artículo quinto, desde el diseño hasta el arranque de los aparatos: esa es la película de toda obra. Treinta días es el plazo que tiene el titular para comunicar la instalación a la Comunidad Autónoma después de la puesta en servicio. Y tres certificados de arranque que no debes confundir jamás: el de instalación, el de dirección de obra y el de puesta en marcha del aparato. Con estos tres números tienes el mapa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material tiene que llevar un marcado que no se borre?</a:t>
            </a:r>
          </a:p>
          <a:p>
            <a:r>
              <a:t>N2: Indeleble significa que no se borra. El Reglamento lo exige porque dentro de diez años, cuando alguien revise ese tubo o esa válvula, tiene que poder leer todavía de qué es y quién lo hizo. Una pegatina que se cae no vale. Piensa en el marcado como el documento de identidad del material: grabado, permanente y legible, con el fabricante, la marca y el modelo. Y se consideran conformes los materiales amparados por certificados y marcas de conformidad a normas. En obra, si la etiqueta ya no se lee, ese material te va a dar problemas el día que haya que reclamar.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idioma tienen que venir las instrucciones del material?</a:t>
            </a:r>
          </a:p>
          <a:p>
            <a:r>
              <a:t>N2: Al menos en castellano. Esta frase cae tal cual en el examen. Si ves una opción que dice que las instrucciones pueden venir solo en inglés, es falsa: el castellano es el mínimo obligatorio. Pueden venir además en otros idiomas, sin problema, pero en castellano siempre. Y esas instrucciones deben incluir lo necesario para el uso específico del equipo. Es una de esas preguntas cortas que regalan un punto si la tienes clara.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artículo quinto tiene muchos subapartados. ¿Cómo no perderse?</a:t>
            </a:r>
          </a:p>
          <a:p>
            <a:r>
              <a:t>N2: No lo veas como una lista suelta, velo como una historia con ocho capítulos en orden. Primero el diseño, los papeles. Segundo la autorización, por si hace falta permiso. Tercero la ejecución, el montaje. Cuarto las pruebas, a ver si aguanta. Quinto los certificados, las firmas. Sexto la puesta en servicio, es decir, ya entra el gas. Séptimo la comunicación, avisar a la Administración. Y octavo la puesta en marcha, arrancar los aparatos. Si te sabes la película en orden, los detalles caen solos. Grábate esta secuencia porque es el guion de todas tus obras.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instalación necesita papeles, pero ¿proyecto o memoria técnica?</a:t>
            </a:r>
          </a:p>
          <a:p>
            <a:r>
              <a:t>N2: Regla mental sencilla: instalación grande o complicada, proyecto, que lo firma un técnico titulado, un ingeniero. Instalación normal o pequeña, memoria técnica, que la puede firmar el instalador en la categoría que marque la ITC-ICG cero nueve. Es como ir al médico: un catarro lo ve tu médico de cabecera, que sería la memoria; una operación seria, el especialista, que sería el proyecto. Y retén esto: quien firma es directamente responsable de que todo se ajuste al Reglamento. En gas la firma no es un trámite; si firmas y algo está mal, respondes tú. Por eso no se firma nada que no hayas comprobado.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¿Toda instalación necesita que la Administración dé permiso antes?</a:t>
            </a:r>
          </a:p>
          <a:p>
            <a:r>
              <a:t>N2: No, y aquí está una confusión muy típica. No mezcles autorización con comunicación. La autorización es un permiso previo, y solo se pide cuando lo exige la Ley de hidrocarburos y así lo dice la ITC: se reserva a los casos gordos. La mayoría de instalaciones no necesitan que nadie les dé permiso antes; basta con avisar después, que es la comunicación del apartado siete. En Gas B lo normal es hacer y comunicar, no pedir permiso y esperar. Si te lo preguntan, la autorización previa es la excepción, no la regla.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tu tubo se cruza con la luz o el agua, ¿qué manda?</a:t>
            </a:r>
          </a:p>
          <a:p>
            <a:r>
              <a:t>N2: Las instalaciones las ejecutan las empresas que determine cada ITC. Y cuando tu tubo de gas se cruza o va en paralelo con otros servicios, la electricidad, el agua, el saneamiento, hay que respetar distancias mínimas de seguridad para que no se toquen ni se afecten entre ellos. Eso son los cruces y paralelismos, un tema que volverás a ver a fondo en las normas UNE. Aquí el Reglamento solo lo enuncia; el cuántos centímetros exactos está en la norma técnica. De momento quédate con la idea de que el gas nunca va pegado a otro servicio sin respetar su distancia.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comprueba que la instalación está bien antes de dar gas?</a:t>
            </a:r>
          </a:p>
          <a:p>
            <a:r>
              <a:t>N2: Distingue dos figuras que suenan parecido pero no lo son. La prueba la hace el que monta: compruebas tu propio trabajo, por ejemplo la prueba de estanquidad, antes de meter gas. La inspección la hace un tercero independiente, el organismo de control, y solo cuando la ITC lo pide. Uno es revisar lo mío, el otro es que me revise un árbitro. Y ojo con la estanquidad: darla por buena sin hacerla de verdad es dejar que la fuga aparezca con el gas ya dentro y el cliente en casa. Esa prueba es tu red de seguridad; no te la saltes nunca.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¿Cuántos certificados salen al terminar y quién firma cada uno?</a:t>
            </a:r>
          </a:p>
          <a:p>
            <a:r>
              <a:t>N2: El certificado de instalación es tu factura de que está bien hecho, el documento estrella: sin él no hay gas. Lo firma quien ejecutó la instalación, con las pruebas favorables. Luego, solo en instalaciones que necesitan proyecto, aparece el certificado de dirección de obra, que lo firma el director de obra. Y solo cuando la ITC obligó a que viniera el organismo de control, aparece el certificado de inspección. Idea clave: siempre hay certificado de instalación; los otros dos, solo a veces. En obra, sin ese boletín no puedes pedir el gas.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casa lleva mucho tiempo cerrada. ¿Se reengancha el gas sin más?</a:t>
            </a:r>
          </a:p>
          <a:p>
            <a:r>
              <a:t>N2: Para poner en servicio, el responsable recibe copia de los certificados. Y para pruebas de funcionamiento, la empresa instaladora puede pedir al distribuidor un suministro provisional, siempre con la responsabilidad de la instalación en sus manos. Pero retén esta regla porque cae fijo: si una instalación lleva más de un año sin gas, una casa cerrada, una herencia parada, no se reengancha sin más; se trata como si fuera nueva, con sus papeles y sus pruebas. Si lleva menos de un año y tiene su certificado de control periódico en vigor, se puede restablecer. El año es tu fecha de caducidad mental.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avisa a la Administración y en cuánto tiempo?</a:t>
            </a:r>
          </a:p>
          <a:p>
            <a:r>
              <a:t>N2: Aquí van dos datos que se preguntan juntos: quién y cuándo. Quién comunica es el titular, el dueño, no la empresa instaladora. En la práctica lo suele tramitar la instaladora en nombre del titular, pero la responsabilidad de comunicar es del titular. Y cuándo: antes de que pasen treinta días desde la puesta en servicio, ante el órgano competente de la Comunidad Autónoma. Ojo, el plazo se cuenta desde la puesta en servicio, desde que entra el gas, no desde que acabaste el montaje. Con la comunicación entrega la documentación técnica y el certificado de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puesta en marcha del aparato, ¿es encender y ya está?</a:t>
            </a:r>
          </a:p>
          <a:p>
            <a:r>
              <a:t>N2: No. La puesta en marcha se hace según la ITC-ICG cero ocho, y no es solo darle al botón. Es verificar que la caldera o el calentador funcionan con su gas y su presión, y que la combustión cae dentro de lo que marca el fabricante. Hacerla mal o saltártela es la puerta directa a mala combustión, llama amarilla, ennegrecido, aparato que se apaga y monóxido de carbono. Quien la realiza emite y entrega al usuario un certificado de puesta en marcha. Ese papel es la prueba de que el aparato arrancó bien y en condiciones seguras.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información tiene derecho a recibir el cliente?</a:t>
            </a:r>
          </a:p>
          <a:p>
            <a:r>
              <a:t>N2: Como anexo al certificado de instalación que entregas al titular, la empresa instaladora confecciona unas instrucciones de uso y mantenimiento. Y en todo caso incluyen un croquis del trazado, con materiales, uniones y válvulas: el cliente tiene derecho a saber por dónde van sus tubos, y ese plano se lo entregas tú con la instalación. Además, el suministrador facilita a sus clientes, por escrito y con periodicidad al menos bienal, recomendaciones de seguridad. Bienal significa cada dos años, no lo confundas con bianual, que sería dos veces al año. Aquí es cada dos años como mínimo.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Repaso rápido antes de cerrar. ¿Tienes los cuatro pilares?</a:t>
            </a:r>
          </a:p>
          <a:p>
            <a:r>
              <a:t>N2: Uno, la película de ocho pasos: diseño, autorización, ejecución, pruebas, certificados, puesta en servicio, comunicación y puesta en marcha, en ese orden. Dos, de los tres certificados de arranque, el de instalación siempre; el de dirección de obra solo si hubo proyecto, y el de inspección solo si la ITC lo exige. Tres, el titular comunica a la Comunidad Autónoma antes de treinta días. Y cuatro, la regla del año: parada de más de un año se trata como instalación nueva. Recítalos en voz alta y sigue.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Gran final. ¿Qué eres capaz de hacer hoy que ayer no?</a:t>
            </a:r>
          </a:p>
          <a:p>
            <a:r>
              <a:t>N2: Hoy ya sabes llevar una instalación de cero a tener gas sin perderte. Primer logro: recorres los ocho pasos del artículo quinto en orden, del diseño a la puesta en marcha, y sabes que saltarte uno deja la obra sin gas. Segundo: no confundes los tres certificados de arranque; el de instalación lo firma quien ejecuta y no falta nunca, el de dirección de obra solo si hubo proyecto, y el de puesta en marcha va del aparato y se entrega al usuario. Tercero: distingues la prueba, que haces tú, de la inspección, que hace un árbitro independiente.</a:t>
            </a:r>
          </a:p>
          <a:p>
            <a:r>
              <a:t>N1: ¿Y dónde se nota todo esto de verdad?</a:t>
            </a:r>
          </a:p>
          <a:p>
            <a:r>
              <a:t>N2: En el examen te preguntan quién firma cada certificado y en cuántos días comunica el titular; ahora lo respondes sin dudar, treinta días y el titular. Y en la obra se nota cuando entregas un boletín limpio con su croquis, o cuando te llega una casa cerrada más de un año y, en vez de reenganchar sin más, la tratas como nueva y te ahorras un disgusto. Recuerda: firmar es responsabilizarse, y hoy ya sabes exactamente de qué respondes. En el último vídeo del tema cerramos el articulado: mantenimiento, la diferencia estrella entre inspección y revisión, y las reglas finales. Te espero para el gran cierre.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Materiales y puesta en servicio</a:t>
            </a:r>
          </a:p>
          <a:p>
            <a:r>
              <a:rPr sz="2200" b="0" i="0">
                <a:solidFill>
                  <a:srgbClr val="CADCFC"/>
                </a:solidFill>
                <a:latin typeface="Montserrat"/>
              </a:rPr>
              <a:t>Del montaje terminado a la instalación con gas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00 · Marco normativo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8</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pasos de la puesta en servicio</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30</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días para comunicar (titular)</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certificados de arranque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4 · MATERIALES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DNI del material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Marcado visible e indeleble</a:t>
            </a:r>
          </a:p>
          <a:p>
            <a:pPr>
              <a:spcAft>
                <a:spcPts val="1000"/>
              </a:spcAft>
            </a:pPr>
            <a:r>
              <a:rPr sz="1600" b="1" i="0">
                <a:solidFill>
                  <a:srgbClr val="2E3A80"/>
                </a:solidFill>
                <a:latin typeface="Montserrat"/>
              </a:rPr>
              <a:t>•  </a:t>
            </a:r>
            <a:r>
              <a:rPr sz="1600" b="0" i="0">
                <a:solidFill>
                  <a:srgbClr val="1B2330"/>
                </a:solidFill>
                <a:latin typeface="Montserrat"/>
              </a:rPr>
              <a:t>Fabricante, marca y modelo</a:t>
            </a:r>
          </a:p>
          <a:p>
            <a:pPr>
              <a:spcAft>
                <a:spcPts val="1000"/>
              </a:spcAft>
            </a:pPr>
            <a:r>
              <a:rPr sz="1600" b="1" i="0">
                <a:solidFill>
                  <a:srgbClr val="2E3A80"/>
                </a:solidFill>
                <a:latin typeface="Montserrat"/>
              </a:rPr>
              <a:t>•  </a:t>
            </a:r>
            <a:r>
              <a:rPr sz="1600" b="0" i="0">
                <a:solidFill>
                  <a:srgbClr val="1B2330"/>
                </a:solidFill>
                <a:latin typeface="Montserrat"/>
              </a:rPr>
              <a:t>Certificados y marcas de conformidad</a:t>
            </a:r>
          </a:p>
        </p:txBody>
      </p:sp>
      <p:sp>
        <p:nvSpPr>
          <p:cNvPr id="8" name="imgph" descr="IMGQ:gas valve stamped marking met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stamped marking metal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4 · INSTRUCCIONES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Al menos en castellano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Instrucciones mínimo en castellano</a:t>
            </a:r>
          </a:p>
          <a:p>
            <a:pPr>
              <a:spcAft>
                <a:spcPts val="1000"/>
              </a:spcAft>
            </a:pPr>
            <a:r>
              <a:rPr sz="1600" b="1" i="0">
                <a:solidFill>
                  <a:srgbClr val="2E3A80"/>
                </a:solidFill>
                <a:latin typeface="Montserrat"/>
              </a:rPr>
              <a:t>•  </a:t>
            </a:r>
            <a:r>
              <a:rPr sz="1600" b="0" i="0">
                <a:solidFill>
                  <a:srgbClr val="1B2330"/>
                </a:solidFill>
                <a:latin typeface="Montserrat"/>
              </a:rPr>
              <a:t>Otros idiomas: permitidos como extra</a:t>
            </a:r>
          </a:p>
          <a:p>
            <a:pPr>
              <a:spcAft>
                <a:spcPts val="1000"/>
              </a:spcAft>
            </a:pPr>
            <a:r>
              <a:rPr sz="1600" b="1" i="0">
                <a:solidFill>
                  <a:srgbClr val="2E3A80"/>
                </a:solidFill>
                <a:latin typeface="Montserrat"/>
              </a:rPr>
              <a:t>•  </a:t>
            </a:r>
            <a:r>
              <a:rPr sz="1600" b="0" i="0">
                <a:solidFill>
                  <a:srgbClr val="1B2330"/>
                </a:solidFill>
                <a:latin typeface="Montserrat"/>
              </a:rPr>
              <a:t>Indicaciones para el uso específico</a:t>
            </a:r>
          </a:p>
        </p:txBody>
      </p:sp>
      <p:sp>
        <p:nvSpPr>
          <p:cNvPr id="8" name="imgph" descr="IMGQ:appliance instruction manual bookl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appliance instruction manual booklet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película en ocho capítulos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Diseño → autorización → ejecución</a:t>
            </a:r>
          </a:p>
          <a:p>
            <a:pPr>
              <a:spcAft>
                <a:spcPts val="1000"/>
              </a:spcAft>
            </a:pPr>
            <a:r>
              <a:rPr sz="1600" b="1" i="0">
                <a:solidFill>
                  <a:srgbClr val="2E3A80"/>
                </a:solidFill>
                <a:latin typeface="Montserrat"/>
              </a:rPr>
              <a:t>•  </a:t>
            </a:r>
            <a:r>
              <a:rPr sz="1600" b="0" i="0">
                <a:solidFill>
                  <a:srgbClr val="1B2330"/>
                </a:solidFill>
                <a:latin typeface="Montserrat"/>
              </a:rPr>
              <a:t>Pruebas → certificados → puesta en servicio</a:t>
            </a:r>
          </a:p>
          <a:p>
            <a:pPr>
              <a:spcAft>
                <a:spcPts val="1000"/>
              </a:spcAft>
            </a:pPr>
            <a:r>
              <a:rPr sz="1600" b="1" i="0">
                <a:solidFill>
                  <a:srgbClr val="2E3A80"/>
                </a:solidFill>
                <a:latin typeface="Montserrat"/>
              </a:rPr>
              <a:t>•  </a:t>
            </a:r>
            <a:r>
              <a:rPr sz="1600" b="0" i="0">
                <a:solidFill>
                  <a:srgbClr val="1B2330"/>
                </a:solidFill>
                <a:latin typeface="Montserrat"/>
              </a:rPr>
              <a:t>Comunicación → puesta en marcha</a:t>
            </a:r>
          </a:p>
          <a:p>
            <a:pPr>
              <a:spcAft>
                <a:spcPts val="1000"/>
              </a:spcAft>
            </a:pPr>
            <a:r>
              <a:rPr sz="1600" b="1" i="0">
                <a:solidFill>
                  <a:srgbClr val="2E3A80"/>
                </a:solidFill>
                <a:latin typeface="Montserrat"/>
              </a:rPr>
              <a:t>•  </a:t>
            </a:r>
            <a:r>
              <a:rPr sz="1600" b="0" i="0">
                <a:solidFill>
                  <a:srgbClr val="1B2330"/>
                </a:solidFill>
                <a:latin typeface="Montserrat"/>
              </a:rPr>
              <a:t>En orden, sin saltarse pasos</a:t>
            </a:r>
          </a:p>
        </p:txBody>
      </p:sp>
      <p:sp>
        <p:nvSpPr>
          <p:cNvPr id="8" name="imgph" descr="IMGQ:gas installation pipework new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pipework new building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5.1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¿Proyecto o memoria técnica?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Proyecto: técnico facultativo competente</a:t>
            </a:r>
          </a:p>
          <a:p>
            <a:pPr>
              <a:spcAft>
                <a:spcPts val="1000"/>
              </a:spcAft>
            </a:pPr>
            <a:r>
              <a:rPr sz="1600" b="1" i="0">
                <a:solidFill>
                  <a:srgbClr val="2E3A80"/>
                </a:solidFill>
                <a:latin typeface="Montserrat"/>
              </a:rPr>
              <a:t>•  </a:t>
            </a:r>
            <a:r>
              <a:rPr sz="1600" b="0" i="0">
                <a:solidFill>
                  <a:srgbClr val="1B2330"/>
                </a:solidFill>
                <a:latin typeface="Montserrat"/>
              </a:rPr>
              <a:t>Memoria técnica: puede firmarla el instalador</a:t>
            </a:r>
          </a:p>
          <a:p>
            <a:pPr>
              <a:spcAft>
                <a:spcPts val="1000"/>
              </a:spcAft>
            </a:pPr>
            <a:r>
              <a:rPr sz="1600" b="1" i="0">
                <a:solidFill>
                  <a:srgbClr val="2E3A80"/>
                </a:solidFill>
                <a:latin typeface="Montserrat"/>
              </a:rPr>
              <a:t>•  </a:t>
            </a:r>
            <a:r>
              <a:rPr sz="1600" b="0" i="0">
                <a:solidFill>
                  <a:srgbClr val="1B2330"/>
                </a:solidFill>
                <a:latin typeface="Montserrat"/>
              </a:rPr>
              <a:t>Quien firma es directamente responsable</a:t>
            </a:r>
          </a:p>
        </p:txBody>
      </p:sp>
      <p:sp>
        <p:nvSpPr>
          <p:cNvPr id="8" name="imgph" descr="IMGQ:engineer reviewing technical drawing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reviewing technical drawings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5.2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Autorización no es comunicación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Autorización: permiso previo, casos gordos</a:t>
            </a:r>
          </a:p>
          <a:p>
            <a:pPr>
              <a:spcAft>
                <a:spcPts val="1000"/>
              </a:spcAft>
            </a:pPr>
            <a:r>
              <a:rPr sz="1600" b="1" i="0">
                <a:solidFill>
                  <a:srgbClr val="2E3A80"/>
                </a:solidFill>
                <a:latin typeface="Montserrat"/>
              </a:rPr>
              <a:t>•  </a:t>
            </a:r>
            <a:r>
              <a:rPr sz="1600" b="0" i="0">
                <a:solidFill>
                  <a:srgbClr val="1B2330"/>
                </a:solidFill>
                <a:latin typeface="Montserrat"/>
              </a:rPr>
              <a:t>Solo si lo exige la ley</a:t>
            </a:r>
          </a:p>
          <a:p>
            <a:pPr>
              <a:spcAft>
                <a:spcPts val="1000"/>
              </a:spcAft>
            </a:pPr>
            <a:r>
              <a:rPr sz="1600" b="1" i="0">
                <a:solidFill>
                  <a:srgbClr val="2E3A80"/>
                </a:solidFill>
                <a:latin typeface="Montserrat"/>
              </a:rPr>
              <a:t>•  </a:t>
            </a:r>
            <a:r>
              <a:rPr sz="1600" b="0" i="0">
                <a:solidFill>
                  <a:srgbClr val="1B2330"/>
                </a:solidFill>
                <a:latin typeface="Montserrat"/>
              </a:rPr>
              <a:t>En Gas B lo normal: hacer y comunicar</a:t>
            </a:r>
          </a:p>
        </p:txBody>
      </p:sp>
      <p:sp>
        <p:nvSpPr>
          <p:cNvPr id="8" name="imgph" descr="IMGQ:official government stamp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official government stamp document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5.3 ·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Cruces y paralelismos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Ejecutan las empresas que marque la ITC</a:t>
            </a:r>
          </a:p>
          <a:p>
            <a:pPr>
              <a:spcAft>
                <a:spcPts val="1000"/>
              </a:spcAft>
            </a:pPr>
            <a:r>
              <a:rPr sz="1600" b="1" i="0">
                <a:solidFill>
                  <a:srgbClr val="2E3A80"/>
                </a:solidFill>
                <a:latin typeface="Montserrat"/>
              </a:rPr>
              <a:t>•  </a:t>
            </a:r>
            <a:r>
              <a:rPr sz="1600" b="0" i="0">
                <a:solidFill>
                  <a:srgbClr val="1B2330"/>
                </a:solidFill>
                <a:latin typeface="Montserrat"/>
              </a:rPr>
              <a:t>Distancias con luz, agua y saneamiento</a:t>
            </a:r>
          </a:p>
          <a:p>
            <a:pPr>
              <a:spcAft>
                <a:spcPts val="1000"/>
              </a:spcAft>
            </a:pPr>
            <a:r>
              <a:rPr sz="1600" b="1" i="0">
                <a:solidFill>
                  <a:srgbClr val="2E3A80"/>
                </a:solidFill>
                <a:latin typeface="Montserrat"/>
              </a:rPr>
              <a:t>•  </a:t>
            </a:r>
            <a:r>
              <a:rPr sz="1600" b="0" i="0">
                <a:solidFill>
                  <a:srgbClr val="1B2330"/>
                </a:solidFill>
                <a:latin typeface="Montserrat"/>
              </a:rPr>
              <a:t>El Reglamento lo enuncia; la UNE da los cm</a:t>
            </a:r>
          </a:p>
        </p:txBody>
      </p:sp>
      <p:sp>
        <p:nvSpPr>
          <p:cNvPr id="8" name="imgph" descr="IMGQ:underground utility pipes t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underground utility pipes trench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5.4 · PRUEBAS E INSPECCIONES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Prueba tuya, inspección de un tercero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Prueba: la hace quien monta</a:t>
            </a:r>
          </a:p>
          <a:p>
            <a:pPr>
              <a:spcAft>
                <a:spcPts val="1000"/>
              </a:spcAft>
            </a:pPr>
            <a:r>
              <a:rPr sz="1600" b="1" i="0">
                <a:solidFill>
                  <a:srgbClr val="2E3A80"/>
                </a:solidFill>
                <a:latin typeface="Montserrat"/>
              </a:rPr>
              <a:t>•  </a:t>
            </a:r>
            <a:r>
              <a:rPr sz="1600" b="0" i="0">
                <a:solidFill>
                  <a:srgbClr val="1B2330"/>
                </a:solidFill>
                <a:latin typeface="Montserrat"/>
              </a:rPr>
              <a:t>Estanquidad antes de meter gas</a:t>
            </a:r>
          </a:p>
          <a:p>
            <a:pPr>
              <a:spcAft>
                <a:spcPts val="1000"/>
              </a:spcAft>
            </a:pPr>
            <a:r>
              <a:rPr sz="1600" b="1" i="0">
                <a:solidFill>
                  <a:srgbClr val="2E3A80"/>
                </a:solidFill>
                <a:latin typeface="Montserrat"/>
              </a:rPr>
              <a:t>•  </a:t>
            </a:r>
            <a:r>
              <a:rPr sz="1600" b="0" i="0">
                <a:solidFill>
                  <a:srgbClr val="1B2330"/>
                </a:solidFill>
                <a:latin typeface="Montserrat"/>
              </a:rPr>
              <a:t>Inspección: organismo de control, si la ITC lo pide</a:t>
            </a:r>
          </a:p>
        </p:txBody>
      </p:sp>
      <p:sp>
        <p:nvSpPr>
          <p:cNvPr id="8" name="imgph" descr="IMGQ:pressure gauge gas pipe test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gas pipe testing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5.5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boletín es tu documento estrella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Instalación: siempre, lo firma quien ejecuta</a:t>
            </a:r>
          </a:p>
          <a:p>
            <a:pPr>
              <a:spcAft>
                <a:spcPts val="1000"/>
              </a:spcAft>
            </a:pPr>
            <a:r>
              <a:rPr sz="1600" b="1" i="0">
                <a:solidFill>
                  <a:srgbClr val="2E3A80"/>
                </a:solidFill>
                <a:latin typeface="Montserrat"/>
              </a:rPr>
              <a:t>•  </a:t>
            </a:r>
            <a:r>
              <a:rPr sz="1600" b="0" i="0">
                <a:solidFill>
                  <a:srgbClr val="1B2330"/>
                </a:solidFill>
                <a:latin typeface="Montserrat"/>
              </a:rPr>
              <a:t>Dirección de obra: solo si hubo proyecto</a:t>
            </a:r>
          </a:p>
          <a:p>
            <a:pPr>
              <a:spcAft>
                <a:spcPts val="1000"/>
              </a:spcAft>
            </a:pPr>
            <a:r>
              <a:rPr sz="1600" b="1" i="0">
                <a:solidFill>
                  <a:srgbClr val="2E3A80"/>
                </a:solidFill>
                <a:latin typeface="Montserrat"/>
              </a:rPr>
              <a:t>•  </a:t>
            </a:r>
            <a:r>
              <a:rPr sz="1600" b="0" i="0">
                <a:solidFill>
                  <a:srgbClr val="1B2330"/>
                </a:solidFill>
                <a:latin typeface="Montserrat"/>
              </a:rPr>
              <a:t>Inspección: solo si la ITC lo exige</a:t>
            </a:r>
          </a:p>
        </p:txBody>
      </p:sp>
      <p:sp>
        <p:nvSpPr>
          <p:cNvPr id="8" name="imgph" descr="IMGQ:signing official certificate for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signing official certificate form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5.6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regla del año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Recibir copia de los certificados</a:t>
            </a:r>
          </a:p>
          <a:p>
            <a:pPr>
              <a:spcAft>
                <a:spcPts val="1000"/>
              </a:spcAft>
            </a:pPr>
            <a:r>
              <a:rPr sz="1600" b="1" i="0">
                <a:solidFill>
                  <a:srgbClr val="2E3A80"/>
                </a:solidFill>
                <a:latin typeface="Montserrat"/>
              </a:rPr>
              <a:t>•  </a:t>
            </a:r>
            <a:r>
              <a:rPr sz="1600" b="0" i="0">
                <a:solidFill>
                  <a:srgbClr val="1B2330"/>
                </a:solidFill>
                <a:latin typeface="Montserrat"/>
              </a:rPr>
              <a:t>Suministro provisional para pruebas</a:t>
            </a:r>
          </a:p>
          <a:p>
            <a:pPr>
              <a:spcAft>
                <a:spcPts val="1000"/>
              </a:spcAft>
            </a:pPr>
            <a:r>
              <a:rPr sz="1600" b="1" i="0">
                <a:solidFill>
                  <a:srgbClr val="2E3A80"/>
                </a:solidFill>
                <a:latin typeface="Montserrat"/>
              </a:rPr>
              <a:t>•  </a:t>
            </a:r>
            <a:r>
              <a:rPr sz="1600" b="0" i="0">
                <a:solidFill>
                  <a:srgbClr val="1B2330"/>
                </a:solidFill>
                <a:latin typeface="Montserrat"/>
              </a:rPr>
              <a:t>Parada +1 año: se trata como nueva</a:t>
            </a:r>
          </a:p>
        </p:txBody>
      </p:sp>
      <p:sp>
        <p:nvSpPr>
          <p:cNvPr id="8" name="imgph" descr="IMGQ:gas meter installation apartment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installation apartment wall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5.7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Treinta días y lo presenta el titular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titular comunica, no la instaladora</a:t>
            </a:r>
          </a:p>
          <a:p>
            <a:pPr>
              <a:spcAft>
                <a:spcPts val="1000"/>
              </a:spcAft>
            </a:pPr>
            <a:r>
              <a:rPr sz="1600" b="1" i="0">
                <a:solidFill>
                  <a:srgbClr val="2E3A80"/>
                </a:solidFill>
                <a:latin typeface="Montserrat"/>
              </a:rPr>
              <a:t>•  </a:t>
            </a:r>
            <a:r>
              <a:rPr sz="1600" b="0" i="0">
                <a:solidFill>
                  <a:srgbClr val="1B2330"/>
                </a:solidFill>
                <a:latin typeface="Montserrat"/>
              </a:rPr>
              <a:t>Ante la Comunidad Autónoma</a:t>
            </a:r>
          </a:p>
          <a:p>
            <a:pPr>
              <a:spcAft>
                <a:spcPts val="1000"/>
              </a:spcAft>
            </a:pPr>
            <a:r>
              <a:rPr sz="1600" b="1" i="0">
                <a:solidFill>
                  <a:srgbClr val="2E3A80"/>
                </a:solidFill>
                <a:latin typeface="Montserrat"/>
              </a:rPr>
              <a:t>•  </a:t>
            </a:r>
            <a:r>
              <a:rPr sz="1600" b="0" i="0">
                <a:solidFill>
                  <a:srgbClr val="1B2330"/>
                </a:solidFill>
                <a:latin typeface="Montserrat"/>
              </a:rPr>
              <a:t>Antes de 30 días desde puesta en servicio</a:t>
            </a:r>
          </a:p>
        </p:txBody>
      </p:sp>
      <p:sp>
        <p:nvSpPr>
          <p:cNvPr id="8" name="imgph" descr="IMGQ:person filling paperwork office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filling paperwork office desk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5.8 · PUESTA EN MARCHA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Arrancar el aparato, no solo encenderlo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Según la ITC-ICG 08</a:t>
            </a:r>
          </a:p>
          <a:p>
            <a:pPr>
              <a:spcAft>
                <a:spcPts val="1000"/>
              </a:spcAft>
            </a:pPr>
            <a:r>
              <a:rPr sz="1600" b="1" i="0">
                <a:solidFill>
                  <a:srgbClr val="2E3A80"/>
                </a:solidFill>
                <a:latin typeface="Montserrat"/>
              </a:rPr>
              <a:t>•  </a:t>
            </a:r>
            <a:r>
              <a:rPr sz="1600" b="0" i="0">
                <a:solidFill>
                  <a:srgbClr val="1B2330"/>
                </a:solidFill>
                <a:latin typeface="Montserrat"/>
              </a:rPr>
              <a:t>Verifica gas, presión y combustión</a:t>
            </a:r>
          </a:p>
          <a:p>
            <a:pPr>
              <a:spcAft>
                <a:spcPts val="1000"/>
              </a:spcAft>
            </a:pPr>
            <a:r>
              <a:rPr sz="1600" b="1" i="0">
                <a:solidFill>
                  <a:srgbClr val="2E3A80"/>
                </a:solidFill>
                <a:latin typeface="Montserrat"/>
              </a:rPr>
              <a:t>•  </a:t>
            </a:r>
            <a:r>
              <a:rPr sz="1600" b="0" i="0">
                <a:solidFill>
                  <a:srgbClr val="1B2330"/>
                </a:solidFill>
                <a:latin typeface="Montserrat"/>
              </a:rPr>
              <a:t>Certificado que se entrega al usuario</a:t>
            </a:r>
          </a:p>
        </p:txBody>
      </p:sp>
      <p:sp>
        <p:nvSpPr>
          <p:cNvPr id="8" name="imgph" descr="IMGQ:technician adjusting gas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adjusting gas boiler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6 · INFORMACIÓN AL USUARIO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croquis y el recordatorio bienal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Instrucciones de uso y mantenimiento</a:t>
            </a:r>
          </a:p>
          <a:p>
            <a:pPr>
              <a:spcAft>
                <a:spcPts val="1000"/>
              </a:spcAft>
            </a:pPr>
            <a:r>
              <a:rPr sz="1600" b="1" i="0">
                <a:solidFill>
                  <a:srgbClr val="2E3A80"/>
                </a:solidFill>
                <a:latin typeface="Montserrat"/>
              </a:rPr>
              <a:t>•  </a:t>
            </a:r>
            <a:r>
              <a:rPr sz="1600" b="0" i="0">
                <a:solidFill>
                  <a:srgbClr val="1B2330"/>
                </a:solidFill>
                <a:latin typeface="Montserrat"/>
              </a:rPr>
              <a:t>Croquis del trazado, anexo al boletín</a:t>
            </a:r>
          </a:p>
          <a:p>
            <a:pPr>
              <a:spcAft>
                <a:spcPts val="1000"/>
              </a:spcAft>
            </a:pPr>
            <a:r>
              <a:rPr sz="1600" b="1" i="0">
                <a:solidFill>
                  <a:srgbClr val="2E3A80"/>
                </a:solidFill>
                <a:latin typeface="Montserrat"/>
              </a:rPr>
              <a:t>•  </a:t>
            </a:r>
            <a:r>
              <a:rPr sz="1600" b="0" i="0">
                <a:solidFill>
                  <a:srgbClr val="1B2330"/>
                </a:solidFill>
                <a:latin typeface="Montserrat"/>
              </a:rPr>
              <a:t>Suministrador recuerda, mínimo cada dos años</a:t>
            </a:r>
          </a:p>
        </p:txBody>
      </p:sp>
      <p:sp>
        <p:nvSpPr>
          <p:cNvPr id="8" name="imgph" descr="IMGQ:hand drawn house pipe sketch pla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hand drawn house pipe sketch plan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Fíjalo en treinta segundos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Ocho pasos: del diseño al arranque</a:t>
            </a:r>
          </a:p>
          <a:p>
            <a:pPr>
              <a:spcAft>
                <a:spcPts val="1000"/>
              </a:spcAft>
            </a:pPr>
            <a:r>
              <a:rPr sz="1600" b="1" i="0">
                <a:solidFill>
                  <a:srgbClr val="2E3A80"/>
                </a:solidFill>
                <a:latin typeface="Montserrat"/>
              </a:rPr>
              <a:t>•  </a:t>
            </a:r>
            <a:r>
              <a:rPr sz="1600" b="0" i="0">
                <a:solidFill>
                  <a:srgbClr val="1B2330"/>
                </a:solidFill>
                <a:latin typeface="Montserrat"/>
              </a:rPr>
              <a:t>Boletín siempre; los otros dos, a veces</a:t>
            </a:r>
          </a:p>
          <a:p>
            <a:pPr>
              <a:spcAft>
                <a:spcPts val="1000"/>
              </a:spcAft>
            </a:pPr>
            <a:r>
              <a:rPr sz="1600" b="1" i="0">
                <a:solidFill>
                  <a:srgbClr val="2E3A80"/>
                </a:solidFill>
                <a:latin typeface="Montserrat"/>
              </a:rPr>
              <a:t>•  </a:t>
            </a:r>
            <a:r>
              <a:rPr sz="1600" b="0" i="0">
                <a:solidFill>
                  <a:srgbClr val="1B2330"/>
                </a:solidFill>
                <a:latin typeface="Montserrat"/>
              </a:rPr>
              <a:t>Titular comunica en 30 días</a:t>
            </a:r>
          </a:p>
          <a:p>
            <a:pPr>
              <a:spcAft>
                <a:spcPts val="1000"/>
              </a:spcAft>
            </a:pPr>
            <a:r>
              <a:rPr sz="1600" b="1" i="0">
                <a:solidFill>
                  <a:srgbClr val="2E3A80"/>
                </a:solidFill>
                <a:latin typeface="Montserrat"/>
              </a:rPr>
              <a:t>•  </a:t>
            </a:r>
            <a:r>
              <a:rPr sz="1600" b="0" i="0">
                <a:solidFill>
                  <a:srgbClr val="1B2330"/>
                </a:solidFill>
                <a:latin typeface="Montserrat"/>
              </a:rPr>
              <a:t>Parada +1 año = como nueva</a:t>
            </a:r>
          </a:p>
        </p:txBody>
      </p:sp>
      <p:sp>
        <p:nvSpPr>
          <p:cNvPr id="8" name="imgph" descr="IMGQ:gas installation checklist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checklist clipboard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llevas una instalación de cero a gas</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Recorres los ocho pasos sin saltarte ninguno</a:t>
            </a:r>
          </a:p>
          <a:p>
            <a:pPr>
              <a:spcAft>
                <a:spcPts val="1200"/>
              </a:spcAft>
            </a:pPr>
            <a:r>
              <a:rPr sz="2000" b="1" i="0">
                <a:solidFill>
                  <a:srgbClr val="CADCFC"/>
                </a:solidFill>
                <a:latin typeface="Montserrat"/>
              </a:rPr>
              <a:t>✓  </a:t>
            </a:r>
            <a:r>
              <a:rPr sz="1900" b="0" i="0">
                <a:solidFill>
                  <a:srgbClr val="FFFFFF"/>
                </a:solidFill>
                <a:latin typeface="Montserrat"/>
              </a:rPr>
              <a:t>Sabes qué certificado firma cada quién</a:t>
            </a:r>
          </a:p>
          <a:p>
            <a:pPr>
              <a:spcAft>
                <a:spcPts val="1200"/>
              </a:spcAft>
            </a:pPr>
            <a:r>
              <a:rPr sz="2000" b="1" i="0">
                <a:solidFill>
                  <a:srgbClr val="CADCFC"/>
                </a:solidFill>
                <a:latin typeface="Montserrat"/>
              </a:rPr>
              <a:t>✓  </a:t>
            </a:r>
            <a:r>
              <a:rPr sz="1900" b="0" i="0">
                <a:solidFill>
                  <a:srgbClr val="FFFFFF"/>
                </a:solidFill>
                <a:latin typeface="Montserrat"/>
              </a:rPr>
              <a:t>Distingues prueba de inspección al vuelo</a:t>
            </a:r>
          </a:p>
          <a:p>
            <a:pPr>
              <a:spcAft>
                <a:spcPts val="1200"/>
              </a:spcAft>
            </a:pPr>
            <a:r>
              <a:rPr sz="2000" b="1" i="0">
                <a:solidFill>
                  <a:srgbClr val="CADCFC"/>
                </a:solidFill>
                <a:latin typeface="Montserrat"/>
              </a:rPr>
              <a:t>✓  </a:t>
            </a:r>
            <a:r>
              <a:rPr sz="1900" b="0" i="0">
                <a:solidFill>
                  <a:srgbClr val="FFFFFF"/>
                </a:solidFill>
                <a:latin typeface="Montserrat"/>
              </a:rPr>
              <a:t>La regla del año ya no se te escapa</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Firmar es responsabilizarse, y hoy ya sabes de qué respondes. Nos vemos en el cierre del tema.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
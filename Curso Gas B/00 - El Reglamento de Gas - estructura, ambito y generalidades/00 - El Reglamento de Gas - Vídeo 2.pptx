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Ya sabemos qué regula el Reglamento y con qué palabras. ¿Y ahora?</a:t>
            </a:r>
          </a:p>
          <a:p>
            <a:r>
              <a:t>N2: Ahora toca lo que más se parece a tu día a día en la obra: primero, qué materiales puedes usar; y después, lo importante, el camino completo desde que terminas una instalación hasta que tiene gas. Ese camino tiene nombre y orden: diseño, ejecución, pruebas, certificados, puesta en servicio, comunicación a la Administración y arranque de los aparatos. Es el itinerario que vas a repetir en cada obra de tu vida, así que la meta de hoy es que te lo grabes en orden. Y te doy la razón de peso: saltarte un paso deja la instalación coja y, casi siempre, sin gas hasta que lo arreglas.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tres números marcan este vídeo?</a:t>
            </a:r>
          </a:p>
          <a:p>
            <a:r>
              <a:t>N2: Estos tres números son el mapa. Ocho pasos ordenados en el artículo quinto, desde el diseño hasta el arranque de los aparatos: esa es la película de toda obra. Treinta días es el plazo que tiene el titular, el dueño, para comunicar la instalación a la Comunidad Autónoma después de la puesta en servicio. Y tres certificados de arranque que no debes confundir jamás, porque el examen los cruza: el de instalación, el de dirección de obra y el de puesta en marcha del aparato. Si sujetas estos tres números, tienes dónde colgar todo lo demás del vídeo.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el material tiene que llevar un marcado que no se borre?</a:t>
            </a:r>
          </a:p>
          <a:p>
            <a:r>
              <a:t>N2: Empecemos por la palabra rara: indeleble significa que no se borra. El Reglamento lo exige por una razón muy práctica. Dentro de diez años, cuando alguien revise ese tubo o esa válvula, tiene que poder leer todavía de qué material es y quién lo fabricó. Una pegatina que se despega no sirve para eso. Por eso te propongo verlo como el documento de identidad del material: grabado, permanente y legible, con el fabricante, la marca y el modelo. Y hay un atajo de confianza: se consideran conformes los materiales amparados por certificados y marcas de conformidad a normas otorgados por las entidades de certificación. En obra la moraleja es directa: si la etiqueta ya no se lee, ese material te va a dar problemas el día que haya que reclamar, porque no sabrás ni qué es ni a quién.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¿En qué idioma tienen que venir las instrucciones del material?</a:t>
            </a:r>
          </a:p>
          <a:p>
            <a:r>
              <a:t>N2: Respuesta corta y que cae tal cual en el examen: al menos en castellano. Fíjate en el 'al menos', porque es la clave. Significa que el castellano es el mínimo obligatorio, el suelo. Pueden venir además en inglés, en francés o en los idiomas que quieran, sin problema, pero en castellano siempre. ¿Cómo te lo van a intentar colar? Con una opción que diga que las instrucciones pueden venir solo en inglés: eso es falso, sáltatela. Y no olvides el fondo: esas instrucciones deben incluir lo necesario para el uso específico del equipo, para que quien lo instale y quien lo use sepan manejarlo bien. Es una de esas preguntas cortas que te regalan un punto si la tienes clara.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El artículo quinto tiene muchos subapartados. ¿Cómo no perderse?</a:t>
            </a:r>
          </a:p>
          <a:p>
            <a:r>
              <a:t>N2: El secreto es no verlo como una lista suelta de normas, sino como una película con ocho capítulos que van en orden. Te la cuento entera para que la veas moverse. Capítulo uno, el diseño: los papeles. Dos, la autorización: por si hace falta pedir permiso. Tres, la ejecución: el montaje físico. Cuatro, las pruebas: a ver si aguanta. Cinco, los certificados: las firmas. Seis, la puesta en servicio: aquí ya entra el gas. Siete, la comunicación: avisar a la Administración. Y ocho, la puesta en marcha: arrancar los aparatos. Cuando te sabes la película en orden, los detalles de cada capítulo caen solos, porque cada uno tiene sentido después del anterior. Graba esta secuencia, porque es literalmente el guion de todas tus obras.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Cada instalación necesita papeles, pero ¿proyecto o memoria técnica?</a:t>
            </a:r>
          </a:p>
          <a:p>
            <a:r>
              <a:t>N2: Toda instalación necesita una documentación técnica que demuestre que cumple, y adopta una de dos formas. Regla mental sencilla: instalación grande o complicada, proyecto, que lo firma un técnico titulado, un ingeniero; instalación normal o pequeña, memoria técnica, que la puede firmar el instalador en la categoría que marque la ITC-ICG cero nueve. La comparación que lo fija: es como ir al médico. Un catarro lo ve tu médico de cabecera, esa es la memoria; una operación seria la lleva el especialista, ese es el proyecto. Y el tamaño de cada caso lo decide su ITC. Ahora la parte seria, y retenla: quien firma es directamente responsable de que todo se ajuste al Reglamento. En gas la firma no es un trámite; si firmas y algo está mal, respondes tú. Por eso hay una norma de oro que te acompañará toda la vida: no se firma nada que no hayas comprobado con tus manos.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¿Toda instalación necesita que la Administración dé permiso antes de empezar?</a:t>
            </a:r>
          </a:p>
          <a:p>
            <a:r>
              <a:t>N2: No, y aquí hay una confusión muy típica que conviene deshacer ya. No mezcles autorización con comunicación, porque suenan parecido pero son momentos opuestos. La autorización es un permiso previo, pedir antes de hacer, y solo se exige cuando lo manda la Ley de hidrocarburos y así lo dice la ITC: se reserva a los casos gordos, las instalaciones grandes. La comunicación, en cambio, es avisar después de hacer, y de esa hablaremos en el paso siete. Para que lo fijes: en Gas B lo normal es hacer y comunicar, no pedir permiso y esperar. Si en el examen te preguntan, la autorización previa es la excepción, no la regla; la inmensa mayoría de instalaciones domésticas no la necesitan.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Cuando mi tubo de gas se cruza con la luz o el agua, ¿qué manda?</a:t>
            </a:r>
          </a:p>
          <a:p>
            <a:r>
              <a:t>N2: Vamos por partes. Las instalaciones las ejecutan las empresas que determine cada ITC, no cualquiera. Y cuando tu tubo de gas se encuentra con otros servicios, aparecen dos situaciones con nombre propio: el cruce, cuando lo atraviesa, y el paralelismo, cuando va al lado en la misma dirección. En ambos casos, con la electricidad, el agua o el saneamiento, hay que respetar distancias mínimas de seguridad para que no se toquen ni se afecten entre ellos, por ejemplo para que un cable no caliente tu tubo. Ese es el sentido de 'cruces y paralelismos'. Aquí el Reglamento solo lo enuncia, dice que hay que respetarlas; el cuántos centímetros exactos lo encontrarás en la norma UNE, que verás más adelante. De momento quédate con la idea firme: el gas nunca va pegado a otro servicio sin respetar su distancia.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¿Quién comprueba que la instalación está bien antes de dar gas?</a:t>
            </a:r>
          </a:p>
          <a:p>
            <a:r>
              <a:t>N2: Aquí hay dos figuras que suenan parecido pero no son lo mismo, y confundirlas es un error clásico. La prueba la hace el que monta: eres tú comprobando tu propio trabajo, por ejemplo la prueba de estanquidad, que consiste en verificar que no se escapa ni una burbuja de gas, y se hace antes de meter gas de verdad. La inspección, en cambio, la hace un tercero independiente, el organismo de control, y solo cuando la ITC lo pide. La diferencia en una frase: una es revisar lo mío, la otra es que me revise un árbitro de fuera. Y una advertencia con la estanquidad, porque va tu firma y una casa de por medio: darla por buena sin hacerla de verdad es dejar que la fuga aparezca con el gas ya dentro y el cliente en casa. Esa prueba es tu red de seguridad; no te la saltes jamás.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¿Cuántos certificados salen al terminar y quién firma cada uno?</a:t>
            </a:r>
          </a:p>
          <a:p>
            <a:r>
              <a:t>N2: Al acabar, y con las pruebas favorables, salen certificados, pero no todos aparecen siempre. El certificado de instalación es tu factura de que está bien hecho, el documento estrella: sin él no hay gas, así de claro. Lo firma quien ejecutó la instalación, o sea, tu empresa. Después, solo en instalaciones que necesitan proyecto, aparece el certificado de dirección de obra, que lo firma el director de obra. Y solo cuando la ITC obligó a que viniera el organismo de control, aparece el certificado de inspección. La idea que te salva en el examen: siempre hay certificado de instalación; los otros dos, solo a veces. En obra la traducción es literal: sin ese boletín firmado, no puedes ni pedir el gas a la compañía.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Tres certificados de arranque, pero solo uno no falta jamás. La pregunta es: de los certificados de arranque, ¿cuál existe siempre en toda instalación? Opción A, el certificado de dirección de obra. Opción B, el certificado de instalación. Opción C, el certificado de inspección del organismo de control. Opción D, el certificado de puesta en marcha del aparato. Piénsalo un momento y quédate con una.</a:t>
            </a:r>
          </a:p>
          <a:p>
            <a:r>
              <a:t>N2: Busca el que se pide siempre para poder dar gas, haya proyecto o no lo haya.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N2: La respuesta correcta es la opción B: el certificado de instalación. Es tu factura de que la obra está bien hecha, y lo firma quien la ejecuta; sin él no hay gas, nunca falta. La opción A, la dirección de obra, solo aparece si hubo proyecto; y la opción C, la inspección, solo si la ITC obligó al organismo de control; por eso esos dos son 'a veces'. La opción D, la puesta en marcha, va del aparato, no de la instalación entera.</a:t>
            </a:r>
          </a:p>
          <a:p>
            <a:r>
              <a:t>N1: Instalación siempre; los demás, solo a veces.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Una casa lleva mucho tiempo cerrada. ¿Se reengancha el gas sin más?</a:t>
            </a:r>
          </a:p>
          <a:p>
            <a:r>
              <a:t>N2: Vamos con el paso en que ya entra el gas. Para poner en servicio, el responsable primero recibe copia de los certificados que acabamos de ver. Y para las pruebas de funcionamiento, la empresa instaladora puede pedir al distribuidor un suministro provisional de gas, siempre asumiendo ella la responsabilidad de la instalación y de las pruebas. Hasta aquí, lo normal. Pero ahora retén esta regla porque cae fijo en el examen: si una instalación lleva más de un año sin gas, una casa cerrada, una herencia parada, no se reengancha sin más; se trata como si fuera nueva, con todos sus papeles y sus pruebas. Si lleva menos de un año y conserva su certificado de control periódico en vigor, entonces sí se puede restablecer directamente. Piensa en 'el año' como una fecha de caducidad mental: pasado el año, borrón y cuenta nueva.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La regla del año, que cae fijo. Escucha: una instalación lleva más de un año sin gas, ¿cómo se procede para darle suministro? Opción A, se reengancha directamente, sin ningún trámite. Opción B, basta con una prueba de estanquidad rápida. Opción C, se trata como una instalación nueva, con papeles y pruebas. Opción D, solo hace falta un aviso del suministrador. Elige tu opción.</a:t>
            </a:r>
          </a:p>
          <a:p>
            <a:r>
              <a:t>N2: Piensa en el año como una fecha de caducidad mental: pasado ese tiempo, ¿qué toca?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N2: La respuesta correcta es la opción C: se trata como una instalación nueva, con papeles y pruebas. Pasado el año no hay garantía de que la instalación siga siendo segura, así que borrón y cuenta nueva: documentación y pruebas como si se estrenara. Por eso las opciones A, B y D se quedan cortas; ni reenganchar sin más, ni una estanquidad rápida, ni un simple aviso bastan.</a:t>
            </a:r>
          </a:p>
          <a:p>
            <a:r>
              <a:t>N1: Y ojo, por debajo del año y con su certificado de control en vigor, entonces sí se puede restablecer directamente.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¿Quién avisa a la Administración y en cuánto tiempo?</a:t>
            </a:r>
          </a:p>
          <a:p>
            <a:r>
              <a:t>N2: Aquí van dos datos que el examen pregunta siempre juntos: quién y cuándo. El quién es el titular, el dueño de la instalación, no la empresa instaladora. En la práctica lo suele tramitar la instaladora en nombre del titular, por comodidad, pero la responsabilidad legal de comunicar es del titular, que no se te olvide. Y el cuándo: antes de que pasen treinta días desde la puesta en servicio, ante el órgano competente de la Comunidad Autónoma. Cuidado con un detalle que meten como trampa: el plazo se cuenta desde la puesta en servicio, desde que entra el gas, no desde que acabaste el montaje. Junto con esa comunicación se entrega la documentación técnica y el certificado de instalación. Regla para recordarlo: es el dueño quien avisa, y tiene un mes.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Quién y cuándo, las dos preguntas juntas. Escucha bien: ¿quién comunica la instalación a la Administración y en qué plazo? Opción A, la empresa instaladora, antes de quince días. Opción B, el titular, antes de treinta días desde la puesta en servicio. Opción C, el distribuidor, antes de treinta días desde el montaje. Opción D, el instalador, antes de siete días desde las pruebas. Tómate un momento y decide.</a:t>
            </a:r>
          </a:p>
          <a:p>
            <a:r>
              <a:t>N2: Ojo, aunque en la práctica lo tramite la instaladora, la responsabilidad legal es de otra persona.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N2: La respuesta correcta es la opción B: el titular, antes de treinta días desde la puesta en servicio. Comunicar es obligación del dueño, no de la instaladora, aunque esta lo tramite en su nombre. Y cuidado con la trampa del plazo: se cuenta desde la puesta en servicio, desde que entra el gas, no desde el montaje ni desde las pruebas; por eso las opciones C y D te la intentan colar cambiando el punto de partida, y la opción A cambia además el plazo a quince días.</a:t>
            </a:r>
          </a:p>
          <a:p>
            <a:r>
              <a:t>N1: El dueño avisa, y tiene un mes desde que hay gas.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La puesta en marcha del aparato, ¿es encender y ya está?</a:t>
            </a:r>
          </a:p>
          <a:p>
            <a:r>
              <a:t>N2: No, y esta distinción es importante. La puesta en marcha se hace según la ITC-ICG cero ocho, y no consiste en darle al botón y ver que enciende. Es verificar tres cosas: que la caldera o el calentador funcionan con el gas para el que fueron diseñados, con su presión correcta, y que la combustión cae dentro de los parámetros que marca el fabricante. Por qué se hace bien: hacerla mal o saltártela es la puerta directa a la mala combustión, la llama amarilla, el ennegrecido, el aparato que se apaga solo y el monóxido de carbono. Quien la realiza emite y entrega al usuario, no al titular, un certificado de puesta en marcha. Ese papel es la prueba de que el aparato arrancó bien y en condiciones seguras. Piénsalo como el 'estreno' controlado del aparato, no como un simple encendido.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Se juntan tres certificados y me lío. ¿Cómo los separo de una vez?</a:t>
            </a:r>
          </a:p>
          <a:p>
            <a:r>
              <a:t>N2: Paramos un momento a ordenar los tres, porque 'quién firma cada uno' es de las preguntas más repetidas de todo el examen. Míralos como tres papeles distintos, cada uno con su firmante. El certificado de instalación lo firma la empresa que ejecutó la obra, y no falta nunca. El certificado de dirección de obra lo firma el director de obra, y solo aparece si hubo proyecto, es decir, obra grande. Y el certificado de puesta en marcha lo firma el agente de puesta en marcha, va del aparato y se entrega al usuario. Truco para fijarlo: instalación va de la obra, dirección de obra va del proyecto, puesta en marcha va del aparato. Si asocias cada certificado con su 'de qué va', ya no los cruzas ni con trampa.</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información tiene derecho a recibir el cliente?</a:t>
            </a:r>
          </a:p>
          <a:p>
            <a:r>
              <a:t>N2: Bastante, y parte se la das tú. Como anexo al certificado de instalación que entregas al titular, la empresa instaladora confecciona unas instrucciones de uso y mantenimiento. Y en todo caso incluyen un croquis del trazado, o sea un dibujo de por dónde van los tubos, con sus materiales, uniones y válvulas. El cliente tiene derecho a saber por dónde pasa su gas, y ese plano se lo entregas tú con la instalación. Además, por su lado, el suministrador facilita a sus clientes, por escrito y con periodicidad al menos bienal, recomendaciones de seguridad. Ojo a la palabra: bienal significa cada dos años; no la confundas con bianual, que sería dos veces al año. Aquí es cada dos años como mínimo. Un recordatorio de seguridad que llega puntual y un croquis claro son detalles de un buen profesional.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Repaso rápido antes de cerrar. ¿Tengo los cuatro pilares?</a:t>
            </a:r>
          </a:p>
          <a:p>
            <a:r>
              <a:t>N2: Vamos a fijarlos en treinta segundos y en voz alta. Uno, la película de ocho pasos: diseño, autorización, ejecución, pruebas, certificados, puesta en servicio, comunicación y puesta en marcha, en ese orden exacto. Dos, de los tres certificados de arranque, el de instalación siempre; el de dirección de obra solo si hubo proyecto; y el de inspección solo si la ITC lo exige. Tres, el titular comunica a la Comunidad Autónoma antes de treinta días desde la puesta en servicio. Y cuatro, la regla del año: una instalación parada más de un año se trata como si fuera nueva. Recítalos una vez de carrerilla y, si los sueltas sin trabarte, tienes el vídeo dominado.</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Gran final. ¿Qué soy capaz de hacer hoy que ayer no?</a:t>
            </a:r>
          </a:p>
          <a:p>
            <a:r>
              <a:t>N2: Reconstruyamos lo aprendido, que cada pieza se apoya en la anterior. Empezaste por los materiales: con su DNI grabado e indeleble y sus instrucciones al menos en castellano, porque dentro de años alguien tiene que saber qué montaste. De ahí pasaste a la joya del vídeo: la película de ocho pasos del artículo quinto, del diseño a la puesta en marcha, y ahora sabes que saltarte uno deja la obra sin gas. Con eso llegaron tus logros: recorres esos ocho pasos en orden; no confundes los tres certificados de arranque, porque el de instalación lo firma quien ejecuta y no falta nunca, el de dirección de obra solo si hubo proyecto, y el de puesta en marcha va del aparato y se entrega al usuario; y distingues la prueba, que haces tú, de la inspección, que hace un árbitro independiente.</a:t>
            </a:r>
          </a:p>
          <a:p>
            <a:r>
              <a:t>N1: ¿Y dónde se nota todo esto de verdad?</a:t>
            </a:r>
          </a:p>
          <a:p>
            <a:r>
              <a:t>N2: En el examen se nota enseguida: te preguntan quién firma cada certificado y en cuántos días comunica el titular, y ahora respondes sin pestañear, treinta días y el titular. Pero en la obra vale todavía más. Se nota cuando entregas un boletín limpio con su croquis del trazado, y se nota cuando te llega una casa cerrada más de un año y, en lugar de reenganchar el gas sin más, la tratas como nueva y te ahorras un disgusto y una posible fuga. Recuerda la frase que resume el vídeo: firmar es responsabilizarse, y hoy ya sabes exactamente de qué respondes. Eso te hace más gasista que ayer. En el último vídeo del tema cerramos el articulado: el mantenimiento, la diferencia estrella entre inspección y revisión, y las reglas finales del Reglamento. Te espero para el gran cierre.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10515600" cy="548640"/>
          </a:xfrm>
          <a:prstGeom prst="rect">
            <a:avLst/>
          </a:prstGeom>
          <a:noFill/>
        </p:spPr>
        <p:txBody>
          <a:bodyPr wrap="square">
            <a:spAutoFit/>
          </a:bodyPr>
          <a:lstStyle/>
          <a:p>
            <a:r>
              <a:rPr sz="1400" b="1" i="0">
                <a:solidFill>
                  <a:srgbClr val="F4A24C"/>
                </a:solidFill>
                <a:latin typeface="Montserrat"/>
              </a:rPr>
              <a:t>VÍDEO 2 DE 3</a:t>
            </a:r>
          </a:p>
        </p:txBody>
      </p:sp>
      <p:sp>
        <p:nvSpPr>
          <p:cNvPr id="4" name="Rectangle 3"/>
          <p:cNvSpPr/>
          <p:nvPr/>
        </p:nvSpPr>
        <p:spPr>
          <a:xfrm>
            <a:off x="868680" y="205740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515600" cy="2011680"/>
          </a:xfrm>
          <a:prstGeom prst="rect">
            <a:avLst/>
          </a:prstGeom>
          <a:noFill/>
        </p:spPr>
        <p:txBody>
          <a:bodyPr wrap="square">
            <a:spAutoFit/>
          </a:bodyPr>
          <a:lstStyle/>
          <a:p>
            <a:r>
              <a:rPr sz="4000" b="1" i="0">
                <a:solidFill>
                  <a:srgbClr val="FFFFFF"/>
                </a:solidFill>
                <a:latin typeface="Montserrat"/>
              </a:rPr>
              <a:t>Materiales y puesta en servicio</a:t>
            </a:r>
          </a:p>
          <a:p>
            <a:r>
              <a:rPr sz="2200" b="0" i="0">
                <a:solidFill>
                  <a:srgbClr val="CADCFC"/>
                </a:solidFill>
                <a:latin typeface="Montserrat"/>
              </a:rPr>
              <a:t>Del montaje terminado a la instalación con gas</a:t>
            </a:r>
          </a:p>
        </p:txBody>
      </p:sp>
      <p:sp>
        <p:nvSpPr>
          <p:cNvPr id="6" name="TextBox 5"/>
          <p:cNvSpPr txBox="1"/>
          <p:nvPr/>
        </p:nvSpPr>
        <p:spPr>
          <a:xfrm>
            <a:off x="822960" y="5852160"/>
            <a:ext cx="10515600" cy="548640"/>
          </a:xfrm>
          <a:prstGeom prst="rect">
            <a:avLst/>
          </a:prstGeom>
          <a:noFill/>
        </p:spPr>
        <p:txBody>
          <a:bodyPr wrap="square">
            <a:spAutoFit/>
          </a:bodyPr>
          <a:lstStyle/>
          <a:p>
            <a:r>
              <a:rPr sz="1300" b="0" i="0">
                <a:solidFill>
                  <a:srgbClr val="CADCFC"/>
                </a:solidFill>
                <a:latin typeface="Montserrat"/>
              </a:rPr>
              <a:t>Tema 00 · Marco normativo</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002 / 024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502920"/>
            <a:ext cx="9144000" cy="914400"/>
          </a:xfrm>
          <a:prstGeom prst="rect">
            <a:avLst/>
          </a:prstGeom>
          <a:noFill/>
        </p:spPr>
        <p:txBody>
          <a:bodyPr wrap="square">
            <a:spAutoFit/>
          </a:bodyPr>
          <a:lstStyle/>
          <a:p>
            <a:r>
              <a:rPr sz="2700" b="1" i="0">
                <a:solidFill>
                  <a:srgbClr val="E8801A"/>
                </a:solidFill>
                <a:latin typeface="Montserrat"/>
              </a:rPr>
              <a:t>Sobre este vídeo</a:t>
            </a:r>
          </a:p>
        </p:txBody>
      </p:sp>
      <p:sp>
        <p:nvSpPr>
          <p:cNvPr id="6" name="Rectangle 5"/>
          <p:cNvSpPr/>
          <p:nvPr/>
        </p:nvSpPr>
        <p:spPr>
          <a:xfrm>
            <a:off x="868680" y="1234440"/>
            <a:ext cx="1463040" cy="7315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77440"/>
            <a:ext cx="3017520" cy="1371600"/>
          </a:xfrm>
          <a:prstGeom prst="rect">
            <a:avLst/>
          </a:prstGeom>
          <a:noFill/>
        </p:spPr>
        <p:txBody>
          <a:bodyPr wrap="square">
            <a:spAutoFit/>
          </a:bodyPr>
          <a:lstStyle/>
          <a:p>
            <a:pPr algn="ctr"/>
            <a:r>
              <a:rPr sz="5800" b="1" i="0">
                <a:solidFill>
                  <a:srgbClr val="1E2761"/>
                </a:solidFill>
                <a:latin typeface="Montserrat"/>
              </a:rPr>
              <a:t>8</a:t>
            </a:r>
          </a:p>
        </p:txBody>
      </p:sp>
      <p:sp>
        <p:nvSpPr>
          <p:cNvPr id="10" name="TextBox 9"/>
          <p:cNvSpPr txBox="1"/>
          <p:nvPr/>
        </p:nvSpPr>
        <p:spPr>
          <a:xfrm>
            <a:off x="1051560" y="3657600"/>
            <a:ext cx="2560320" cy="1005840"/>
          </a:xfrm>
          <a:prstGeom prst="rect">
            <a:avLst/>
          </a:prstGeom>
          <a:noFill/>
        </p:spPr>
        <p:txBody>
          <a:bodyPr wrap="square">
            <a:spAutoFit/>
          </a:bodyPr>
          <a:lstStyle/>
          <a:p>
            <a:pPr algn="ctr"/>
            <a:r>
              <a:rPr sz="1400" b="0" i="0">
                <a:solidFill>
                  <a:srgbClr val="1B2330"/>
                </a:solidFill>
                <a:latin typeface="Montserrat"/>
              </a:rPr>
              <a:t>pasos de la puesta en servicio</a:t>
            </a:r>
          </a:p>
        </p:txBody>
      </p:sp>
      <p:sp>
        <p:nvSpPr>
          <p:cNvPr id="11" name="Rounded Rectangle 10"/>
          <p:cNvSpPr/>
          <p:nvPr/>
        </p:nvSpPr>
        <p:spPr>
          <a:xfrm>
            <a:off x="461772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1772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2377440"/>
            <a:ext cx="3017520" cy="1371600"/>
          </a:xfrm>
          <a:prstGeom prst="rect">
            <a:avLst/>
          </a:prstGeom>
          <a:noFill/>
        </p:spPr>
        <p:txBody>
          <a:bodyPr wrap="square">
            <a:spAutoFit/>
          </a:bodyPr>
          <a:lstStyle/>
          <a:p>
            <a:pPr algn="ctr"/>
            <a:r>
              <a:rPr sz="5800" b="1" i="0">
                <a:solidFill>
                  <a:srgbClr val="1E2761"/>
                </a:solidFill>
                <a:latin typeface="Montserrat"/>
              </a:rPr>
              <a:t>30</a:t>
            </a:r>
          </a:p>
        </p:txBody>
      </p:sp>
      <p:sp>
        <p:nvSpPr>
          <p:cNvPr id="14" name="TextBox 13"/>
          <p:cNvSpPr txBox="1"/>
          <p:nvPr/>
        </p:nvSpPr>
        <p:spPr>
          <a:xfrm>
            <a:off x="4846320" y="3657600"/>
            <a:ext cx="2560320" cy="1005840"/>
          </a:xfrm>
          <a:prstGeom prst="rect">
            <a:avLst/>
          </a:prstGeom>
          <a:noFill/>
        </p:spPr>
        <p:txBody>
          <a:bodyPr wrap="square">
            <a:spAutoFit/>
          </a:bodyPr>
          <a:lstStyle/>
          <a:p>
            <a:pPr algn="ctr"/>
            <a:r>
              <a:rPr sz="1400" b="0" i="0">
                <a:solidFill>
                  <a:srgbClr val="1B2330"/>
                </a:solidFill>
                <a:latin typeface="Montserrat"/>
              </a:rPr>
              <a:t>días del titular para comunicar</a:t>
            </a:r>
          </a:p>
        </p:txBody>
      </p:sp>
      <p:sp>
        <p:nvSpPr>
          <p:cNvPr id="15" name="Rounded Rectangle 14"/>
          <p:cNvSpPr/>
          <p:nvPr/>
        </p:nvSpPr>
        <p:spPr>
          <a:xfrm>
            <a:off x="841248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2377440"/>
            <a:ext cx="3017520" cy="1371600"/>
          </a:xfrm>
          <a:prstGeom prst="rect">
            <a:avLst/>
          </a:prstGeom>
          <a:noFill/>
        </p:spPr>
        <p:txBody>
          <a:bodyPr wrap="square">
            <a:spAutoFit/>
          </a:bodyPr>
          <a:lstStyle/>
          <a:p>
            <a:pPr algn="ctr"/>
            <a:r>
              <a:rPr sz="5800" b="1" i="0">
                <a:solidFill>
                  <a:srgbClr val="1E2761"/>
                </a:solidFill>
                <a:latin typeface="Montserrat"/>
              </a:rPr>
              <a:t>3</a:t>
            </a:r>
          </a:p>
        </p:txBody>
      </p:sp>
      <p:sp>
        <p:nvSpPr>
          <p:cNvPr id="18" name="TextBox 17"/>
          <p:cNvSpPr txBox="1"/>
          <p:nvPr/>
        </p:nvSpPr>
        <p:spPr>
          <a:xfrm>
            <a:off x="8641080" y="3657600"/>
            <a:ext cx="2560320" cy="1005840"/>
          </a:xfrm>
          <a:prstGeom prst="rect">
            <a:avLst/>
          </a:prstGeom>
          <a:noFill/>
        </p:spPr>
        <p:txBody>
          <a:bodyPr wrap="square">
            <a:spAutoFit/>
          </a:bodyPr>
          <a:lstStyle/>
          <a:p>
            <a:pPr algn="ctr"/>
            <a:r>
              <a:rPr sz="1400" b="0" i="0">
                <a:solidFill>
                  <a:srgbClr val="1B2330"/>
                </a:solidFill>
                <a:latin typeface="Montserrat"/>
              </a:rPr>
              <a:t>certificados de arranque</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003 / 024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502920"/>
            <a:ext cx="8229600" cy="365760"/>
          </a:xfrm>
          <a:prstGeom prst="rect">
            <a:avLst/>
          </a:prstGeom>
          <a:noFill/>
        </p:spPr>
        <p:txBody>
          <a:bodyPr wrap="square">
            <a:spAutoFit/>
          </a:bodyPr>
          <a:lstStyle/>
          <a:p>
            <a:r>
              <a:rPr sz="1300" b="1" i="0">
                <a:solidFill>
                  <a:srgbClr val="E8801A"/>
                </a:solidFill>
                <a:latin typeface="Montserrat"/>
              </a:rPr>
              <a:t>PARTES DE ESTE VÍDEO</a:t>
            </a:r>
          </a:p>
        </p:txBody>
      </p:sp>
      <p:sp>
        <p:nvSpPr>
          <p:cNvPr id="6" name="TextBox 5"/>
          <p:cNvSpPr txBox="1"/>
          <p:nvPr/>
        </p:nvSpPr>
        <p:spPr>
          <a:xfrm>
            <a:off x="822960" y="914400"/>
            <a:ext cx="10515600" cy="914400"/>
          </a:xfrm>
          <a:prstGeom prst="rect">
            <a:avLst/>
          </a:prstGeom>
          <a:noFill/>
        </p:spPr>
        <p:txBody>
          <a:bodyPr wrap="square">
            <a:spAutoFit/>
          </a:bodyPr>
          <a:lstStyle/>
          <a:p>
            <a:r>
              <a:rPr sz="2700" b="1" i="0">
                <a:solidFill>
                  <a:srgbClr val="1E2761"/>
                </a:solidFill>
                <a:latin typeface="Montserrat"/>
              </a:rPr>
              <a:t>En este vídeo</a:t>
            </a:r>
          </a:p>
        </p:txBody>
      </p:sp>
      <p:sp>
        <p:nvSpPr>
          <p:cNvPr id="7" name="Rectangle 6"/>
          <p:cNvSpPr/>
          <p:nvPr/>
        </p:nvSpPr>
        <p:spPr>
          <a:xfrm>
            <a:off x="868680" y="167335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03120"/>
            <a:ext cx="10515600" cy="4023360"/>
          </a:xfrm>
          <a:prstGeom prst="rect">
            <a:avLst/>
          </a:prstGeom>
          <a:noFill/>
        </p:spPr>
        <p:txBody>
          <a:bodyPr wrap="square">
            <a:spAutoFit/>
          </a:bodyPr>
          <a:lstStyle/>
          <a:p>
            <a:pPr>
              <a:spcAft>
                <a:spcPts val="900"/>
              </a:spcAft>
            </a:pPr>
            <a:r>
              <a:rPr sz="1800" b="1" i="0">
                <a:solidFill>
                  <a:srgbClr val="E8801A"/>
                </a:solidFill>
                <a:latin typeface="Montserrat"/>
              </a:rPr>
              <a:t>01   </a:t>
            </a:r>
            <a:r>
              <a:rPr sz="1700" b="0" i="0">
                <a:solidFill>
                  <a:srgbClr val="1B2330"/>
                </a:solidFill>
                <a:latin typeface="Montserrat"/>
              </a:rPr>
              <a:t>Artículo 4</a:t>
            </a:r>
          </a:p>
          <a:p>
            <a:pPr>
              <a:spcAft>
                <a:spcPts val="900"/>
              </a:spcAft>
            </a:pPr>
            <a:r>
              <a:rPr sz="1800" b="1" i="0">
                <a:solidFill>
                  <a:srgbClr val="E8801A"/>
                </a:solidFill>
                <a:latin typeface="Montserrat"/>
              </a:rPr>
              <a:t>02   </a:t>
            </a:r>
            <a:r>
              <a:rPr sz="1700" b="0" i="0">
                <a:solidFill>
                  <a:srgbClr val="1B2330"/>
                </a:solidFill>
                <a:latin typeface="Montserrat"/>
              </a:rPr>
              <a:t>Artículo 5</a:t>
            </a:r>
          </a:p>
          <a:p>
            <a:pPr>
              <a:spcAft>
                <a:spcPts val="900"/>
              </a:spcAft>
            </a:pPr>
            <a:r>
              <a:rPr sz="1800" b="1" i="0">
                <a:solidFill>
                  <a:srgbClr val="E8801A"/>
                </a:solidFill>
                <a:latin typeface="Montserrat"/>
              </a:rPr>
              <a:t>03   </a:t>
            </a:r>
            <a:r>
              <a:rPr sz="1700" b="0" i="0">
                <a:solidFill>
                  <a:srgbClr val="1B2330"/>
                </a:solidFill>
                <a:latin typeface="Montserrat"/>
              </a:rPr>
              <a:t>Artículo 5.1</a:t>
            </a:r>
          </a:p>
          <a:p>
            <a:pPr>
              <a:spcAft>
                <a:spcPts val="900"/>
              </a:spcAft>
            </a:pPr>
            <a:r>
              <a:rPr sz="1800" b="1" i="0">
                <a:solidFill>
                  <a:srgbClr val="E8801A"/>
                </a:solidFill>
                <a:latin typeface="Montserrat"/>
              </a:rPr>
              <a:t>04   </a:t>
            </a:r>
            <a:r>
              <a:rPr sz="1700" b="0" i="0">
                <a:solidFill>
                  <a:srgbClr val="1B2330"/>
                </a:solidFill>
                <a:latin typeface="Montserrat"/>
              </a:rPr>
              <a:t>Artículo 5.2</a:t>
            </a:r>
          </a:p>
          <a:p>
            <a:pPr>
              <a:spcAft>
                <a:spcPts val="900"/>
              </a:spcAft>
            </a:pPr>
            <a:r>
              <a:rPr sz="1800" b="1" i="0">
                <a:solidFill>
                  <a:srgbClr val="E8801A"/>
                </a:solidFill>
                <a:latin typeface="Montserrat"/>
              </a:rPr>
              <a:t>05   </a:t>
            </a:r>
            <a:r>
              <a:rPr sz="1700" b="0" i="0">
                <a:solidFill>
                  <a:srgbClr val="1B2330"/>
                </a:solidFill>
                <a:latin typeface="Montserrat"/>
              </a:rPr>
              <a:t>Artículo 5.3</a:t>
            </a:r>
          </a:p>
          <a:p>
            <a:pPr>
              <a:spcAft>
                <a:spcPts val="900"/>
              </a:spcAft>
            </a:pPr>
            <a:r>
              <a:rPr sz="1800" b="1" i="0">
                <a:solidFill>
                  <a:srgbClr val="E8801A"/>
                </a:solidFill>
                <a:latin typeface="Montserrat"/>
              </a:rPr>
              <a:t>06   </a:t>
            </a:r>
            <a:r>
              <a:rPr sz="1700" b="0" i="0">
                <a:solidFill>
                  <a:srgbClr val="1B2330"/>
                </a:solidFill>
                <a:latin typeface="Montserrat"/>
              </a:rPr>
              <a:t>Artículo 5.4</a:t>
            </a:r>
          </a:p>
          <a:p>
            <a:pPr>
              <a:spcAft>
                <a:spcPts val="900"/>
              </a:spcAft>
            </a:pPr>
            <a:r>
              <a:rPr sz="1800" b="1" i="0">
                <a:solidFill>
                  <a:srgbClr val="E8801A"/>
                </a:solidFill>
                <a:latin typeface="Montserrat"/>
              </a:rPr>
              <a:t>07   </a:t>
            </a:r>
            <a:r>
              <a:rPr sz="1700" b="0" i="0">
                <a:solidFill>
                  <a:srgbClr val="1B2330"/>
                </a:solidFill>
                <a:latin typeface="Montserrat"/>
              </a:rPr>
              <a:t>Artículo 5.5</a:t>
            </a:r>
          </a:p>
          <a:p>
            <a:pPr>
              <a:spcAft>
                <a:spcPts val="900"/>
              </a:spcAft>
            </a:pPr>
            <a:r>
              <a:rPr sz="1800" b="1" i="0">
                <a:solidFill>
                  <a:srgbClr val="E8801A"/>
                </a:solidFill>
                <a:latin typeface="Montserrat"/>
              </a:rPr>
              <a:t>08   </a:t>
            </a:r>
            <a:r>
              <a:rPr sz="1700" b="0" i="0">
                <a:solidFill>
                  <a:srgbClr val="1B2330"/>
                </a:solidFill>
                <a:latin typeface="Montserrat"/>
              </a:rPr>
              <a:t>Artículo 5.6</a:t>
            </a:r>
          </a:p>
          <a:p>
            <a:pPr>
              <a:spcAft>
                <a:spcPts val="900"/>
              </a:spcAft>
            </a:pPr>
            <a:r>
              <a:rPr sz="1800" b="1" i="0">
                <a:solidFill>
                  <a:srgbClr val="E8801A"/>
                </a:solidFill>
                <a:latin typeface="Montserrat"/>
              </a:rPr>
              <a:t>09   </a:t>
            </a:r>
            <a:r>
              <a:rPr sz="1700" b="0" i="0">
                <a:solidFill>
                  <a:srgbClr val="1B2330"/>
                </a:solidFill>
                <a:latin typeface="Montserrat"/>
              </a:rPr>
              <a:t>Artículo 5.7</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004 / 024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ARTÍCULO 4 · MATERIALES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DNI del material</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Marcado visible e indeleble</a:t>
            </a:r>
          </a:p>
          <a:p>
            <a:pPr>
              <a:spcAft>
                <a:spcPts val="1100"/>
              </a:spcAft>
            </a:pPr>
            <a:r>
              <a:rPr sz="1600" b="1" i="0">
                <a:solidFill>
                  <a:srgbClr val="E8801A"/>
                </a:solidFill>
                <a:latin typeface="Montserrat"/>
              </a:rPr>
              <a:t>▸  </a:t>
            </a:r>
            <a:r>
              <a:rPr sz="1600" b="0" i="0">
                <a:solidFill>
                  <a:srgbClr val="1B2330"/>
                </a:solidFill>
                <a:latin typeface="Montserrat"/>
              </a:rPr>
              <a:t>Fabricante, marca y modelo</a:t>
            </a:r>
          </a:p>
          <a:p>
            <a:pPr>
              <a:spcAft>
                <a:spcPts val="1100"/>
              </a:spcAft>
            </a:pPr>
            <a:r>
              <a:rPr sz="1600" b="1" i="0">
                <a:solidFill>
                  <a:srgbClr val="E8801A"/>
                </a:solidFill>
                <a:latin typeface="Montserrat"/>
              </a:rPr>
              <a:t>▸  </a:t>
            </a:r>
            <a:r>
              <a:rPr sz="1600" b="0" i="0">
                <a:solidFill>
                  <a:srgbClr val="1B2330"/>
                </a:solidFill>
                <a:latin typeface="Montserrat"/>
              </a:rPr>
              <a:t>Certificados y marcas de conformidad</a:t>
            </a:r>
          </a:p>
        </p:txBody>
      </p:sp>
      <p:sp>
        <p:nvSpPr>
          <p:cNvPr id="9" name="imgph" descr="IMGQ:gas valve stamped marking metal"/>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valve stamped marking metal</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005 / 024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ARTÍCULO 4 · INSTRUCCIONES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Al menos en castellano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Instrucciones mínimo en castellano</a:t>
            </a:r>
          </a:p>
          <a:p>
            <a:pPr>
              <a:spcAft>
                <a:spcPts val="1100"/>
              </a:spcAft>
            </a:pPr>
            <a:r>
              <a:rPr sz="1600" b="1" i="0">
                <a:solidFill>
                  <a:srgbClr val="E8801A"/>
                </a:solidFill>
                <a:latin typeface="Montserrat"/>
              </a:rPr>
              <a:t>▸  </a:t>
            </a:r>
            <a:r>
              <a:rPr sz="1600" b="0" i="0">
                <a:solidFill>
                  <a:srgbClr val="1B2330"/>
                </a:solidFill>
                <a:latin typeface="Montserrat"/>
              </a:rPr>
              <a:t>Otros idiomas: permitidos como extra</a:t>
            </a:r>
          </a:p>
          <a:p>
            <a:pPr>
              <a:spcAft>
                <a:spcPts val="1100"/>
              </a:spcAft>
            </a:pPr>
            <a:r>
              <a:rPr sz="1600" b="1" i="0">
                <a:solidFill>
                  <a:srgbClr val="E8801A"/>
                </a:solidFill>
                <a:latin typeface="Montserrat"/>
              </a:rPr>
              <a:t>▸  </a:t>
            </a:r>
            <a:r>
              <a:rPr sz="1600" b="0" i="0">
                <a:solidFill>
                  <a:srgbClr val="1B2330"/>
                </a:solidFill>
                <a:latin typeface="Montserrat"/>
              </a:rPr>
              <a:t>Indicaciones para el uso específico</a:t>
            </a:r>
          </a:p>
        </p:txBody>
      </p:sp>
      <p:sp>
        <p:nvSpPr>
          <p:cNvPr id="9" name="imgph" descr="IMGQ:appliance instruction manual booklet"/>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appliance instruction manual booklet</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006 / 024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ARTÍCULO 5 · PUESTA EN SERVICIO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 película en ocho capítulos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Diseño → autorización → ejecución</a:t>
            </a:r>
          </a:p>
          <a:p>
            <a:pPr>
              <a:spcAft>
                <a:spcPts val="1100"/>
              </a:spcAft>
            </a:pPr>
            <a:r>
              <a:rPr sz="1600" b="1" i="0">
                <a:solidFill>
                  <a:srgbClr val="E8801A"/>
                </a:solidFill>
                <a:latin typeface="Montserrat"/>
              </a:rPr>
              <a:t>▸  </a:t>
            </a:r>
            <a:r>
              <a:rPr sz="1600" b="0" i="0">
                <a:solidFill>
                  <a:srgbClr val="1B2330"/>
                </a:solidFill>
                <a:latin typeface="Montserrat"/>
              </a:rPr>
              <a:t>Pruebas → certificados → puesta en servicio</a:t>
            </a:r>
          </a:p>
          <a:p>
            <a:pPr>
              <a:spcAft>
                <a:spcPts val="1100"/>
              </a:spcAft>
            </a:pPr>
            <a:r>
              <a:rPr sz="1600" b="1" i="0">
                <a:solidFill>
                  <a:srgbClr val="E8801A"/>
                </a:solidFill>
                <a:latin typeface="Montserrat"/>
              </a:rPr>
              <a:t>▸  </a:t>
            </a:r>
            <a:r>
              <a:rPr sz="1600" b="0" i="0">
                <a:solidFill>
                  <a:srgbClr val="1B2330"/>
                </a:solidFill>
                <a:latin typeface="Montserrat"/>
              </a:rPr>
              <a:t>Comunicación → puesta en marcha</a:t>
            </a:r>
          </a:p>
          <a:p>
            <a:pPr>
              <a:spcAft>
                <a:spcPts val="1100"/>
              </a:spcAft>
            </a:pPr>
            <a:r>
              <a:rPr sz="1600" b="1" i="0">
                <a:solidFill>
                  <a:srgbClr val="E8801A"/>
                </a:solidFill>
                <a:latin typeface="Montserrat"/>
              </a:rPr>
              <a:t>▸  </a:t>
            </a:r>
            <a:r>
              <a:rPr sz="1600" b="0" i="0">
                <a:solidFill>
                  <a:srgbClr val="1B2330"/>
                </a:solidFill>
                <a:latin typeface="Montserrat"/>
              </a:rPr>
              <a:t>En orden, sin saltarse pasos</a:t>
            </a:r>
          </a:p>
        </p:txBody>
      </p:sp>
      <p:sp>
        <p:nvSpPr>
          <p:cNvPr id="9" name="imgph" descr="IMGQ:gas installation pipework new building"/>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installation pipework new building</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007 / 024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ARTÍCULO 5.1 · DISEÑO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¿Proyecto o memoria técnica?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Proyecto: técnico facultativo competente</a:t>
            </a:r>
          </a:p>
          <a:p>
            <a:pPr>
              <a:spcAft>
                <a:spcPts val="1100"/>
              </a:spcAft>
            </a:pPr>
            <a:r>
              <a:rPr sz="1600" b="1" i="0">
                <a:solidFill>
                  <a:srgbClr val="E8801A"/>
                </a:solidFill>
                <a:latin typeface="Montserrat"/>
              </a:rPr>
              <a:t>▸  </a:t>
            </a:r>
            <a:r>
              <a:rPr sz="1600" b="0" i="0">
                <a:solidFill>
                  <a:srgbClr val="1B2330"/>
                </a:solidFill>
                <a:latin typeface="Montserrat"/>
              </a:rPr>
              <a:t>Memoria técnica: puede firmarla el instalador</a:t>
            </a:r>
          </a:p>
          <a:p>
            <a:pPr>
              <a:spcAft>
                <a:spcPts val="1100"/>
              </a:spcAft>
            </a:pPr>
            <a:r>
              <a:rPr sz="1600" b="1" i="0">
                <a:solidFill>
                  <a:srgbClr val="E8801A"/>
                </a:solidFill>
                <a:latin typeface="Montserrat"/>
              </a:rPr>
              <a:t>▸  </a:t>
            </a:r>
            <a:r>
              <a:rPr sz="1600" b="0" i="0">
                <a:solidFill>
                  <a:srgbClr val="1B2330"/>
                </a:solidFill>
                <a:latin typeface="Montserrat"/>
              </a:rPr>
              <a:t>Quien firma es directamente responsable</a:t>
            </a:r>
          </a:p>
        </p:txBody>
      </p:sp>
      <p:sp>
        <p:nvSpPr>
          <p:cNvPr id="9" name="imgph" descr="IMGQ:engineer reviewing technical drawings"/>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engineer reviewing technical drawings</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008 / 024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ARTÍCULO 5.2 · AUTORIZACIÓN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Autorización no es comunicación</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Autorización: permiso previo, casos gordos</a:t>
            </a:r>
          </a:p>
          <a:p>
            <a:pPr>
              <a:spcAft>
                <a:spcPts val="1100"/>
              </a:spcAft>
            </a:pPr>
            <a:r>
              <a:rPr sz="1600" b="1" i="0">
                <a:solidFill>
                  <a:srgbClr val="E8801A"/>
                </a:solidFill>
                <a:latin typeface="Montserrat"/>
              </a:rPr>
              <a:t>▸  </a:t>
            </a:r>
            <a:r>
              <a:rPr sz="1600" b="0" i="0">
                <a:solidFill>
                  <a:srgbClr val="1B2330"/>
                </a:solidFill>
                <a:latin typeface="Montserrat"/>
              </a:rPr>
              <a:t>Solo si lo exige la ley</a:t>
            </a:r>
          </a:p>
          <a:p>
            <a:pPr>
              <a:spcAft>
                <a:spcPts val="1100"/>
              </a:spcAft>
            </a:pPr>
            <a:r>
              <a:rPr sz="1600" b="1" i="0">
                <a:solidFill>
                  <a:srgbClr val="E8801A"/>
                </a:solidFill>
                <a:latin typeface="Montserrat"/>
              </a:rPr>
              <a:t>▸  </a:t>
            </a:r>
            <a:r>
              <a:rPr sz="1600" b="0" i="0">
                <a:solidFill>
                  <a:srgbClr val="1B2330"/>
                </a:solidFill>
                <a:latin typeface="Montserrat"/>
              </a:rPr>
              <a:t>En Gas B lo normal: hacer y comunicar</a:t>
            </a:r>
          </a:p>
        </p:txBody>
      </p:sp>
      <p:sp>
        <p:nvSpPr>
          <p:cNvPr id="9" name="imgph" descr="IMGQ:official government stamp document"/>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official government stamp document</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009 / 024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ARTÍCULO 5.3 · EJECUCIÓN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Cruces y paralelismos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Ejecutan las empresas que marque la ITC</a:t>
            </a:r>
          </a:p>
          <a:p>
            <a:pPr>
              <a:spcAft>
                <a:spcPts val="1100"/>
              </a:spcAft>
            </a:pPr>
            <a:r>
              <a:rPr sz="1600" b="1" i="0">
                <a:solidFill>
                  <a:srgbClr val="E8801A"/>
                </a:solidFill>
                <a:latin typeface="Montserrat"/>
              </a:rPr>
              <a:t>▸  </a:t>
            </a:r>
            <a:r>
              <a:rPr sz="1600" b="0" i="0">
                <a:solidFill>
                  <a:srgbClr val="1B2330"/>
                </a:solidFill>
                <a:latin typeface="Montserrat"/>
              </a:rPr>
              <a:t>Distancias con luz, agua y saneamiento</a:t>
            </a:r>
          </a:p>
          <a:p>
            <a:pPr>
              <a:spcAft>
                <a:spcPts val="1100"/>
              </a:spcAft>
            </a:pPr>
            <a:r>
              <a:rPr sz="1600" b="1" i="0">
                <a:solidFill>
                  <a:srgbClr val="E8801A"/>
                </a:solidFill>
                <a:latin typeface="Montserrat"/>
              </a:rPr>
              <a:t>▸  </a:t>
            </a:r>
            <a:r>
              <a:rPr sz="1600" b="0" i="0">
                <a:solidFill>
                  <a:srgbClr val="1B2330"/>
                </a:solidFill>
                <a:latin typeface="Montserrat"/>
              </a:rPr>
              <a:t>El Reglamento lo enuncia; la UNE da los cm</a:t>
            </a:r>
          </a:p>
        </p:txBody>
      </p:sp>
      <p:sp>
        <p:nvSpPr>
          <p:cNvPr id="9" name="imgph" descr="IMGQ:underground utility pipes trench"/>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underground utility pipes trench</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010 / 024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ARTÍCULO 5.4 · PRUEBAS E INSPECCIONES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Prueba tuya, inspección de un tercero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Prueba: la hace quien monta</a:t>
            </a:r>
          </a:p>
          <a:p>
            <a:pPr>
              <a:spcAft>
                <a:spcPts val="1100"/>
              </a:spcAft>
            </a:pPr>
            <a:r>
              <a:rPr sz="1600" b="1" i="0">
                <a:solidFill>
                  <a:srgbClr val="E8801A"/>
                </a:solidFill>
                <a:latin typeface="Montserrat"/>
              </a:rPr>
              <a:t>▸  </a:t>
            </a:r>
            <a:r>
              <a:rPr sz="1600" b="0" i="0">
                <a:solidFill>
                  <a:srgbClr val="1B2330"/>
                </a:solidFill>
                <a:latin typeface="Montserrat"/>
              </a:rPr>
              <a:t>Estanquidad antes de meter gas</a:t>
            </a:r>
          </a:p>
          <a:p>
            <a:pPr>
              <a:spcAft>
                <a:spcPts val="1100"/>
              </a:spcAft>
            </a:pPr>
            <a:r>
              <a:rPr sz="1600" b="1" i="0">
                <a:solidFill>
                  <a:srgbClr val="E8801A"/>
                </a:solidFill>
                <a:latin typeface="Montserrat"/>
              </a:rPr>
              <a:t>▸  </a:t>
            </a:r>
            <a:r>
              <a:rPr sz="1600" b="0" i="0">
                <a:solidFill>
                  <a:srgbClr val="1B2330"/>
                </a:solidFill>
                <a:latin typeface="Montserrat"/>
              </a:rPr>
              <a:t>Inspección: organismo de control si la ITC lo pide</a:t>
            </a:r>
          </a:p>
        </p:txBody>
      </p:sp>
      <p:sp>
        <p:nvSpPr>
          <p:cNvPr id="9" name="imgph" descr="IMGQ:pressure gauge gas pipe testing"/>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pressure gauge gas pipe testing</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011 / 024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ARTÍCULO 5.5 · CERTIFICADOS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boletín es tu documento estrella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Instalación: siempre, lo firma quien ejecuta</a:t>
            </a:r>
          </a:p>
          <a:p>
            <a:pPr>
              <a:spcAft>
                <a:spcPts val="1100"/>
              </a:spcAft>
            </a:pPr>
            <a:r>
              <a:rPr sz="1600" b="1" i="0">
                <a:solidFill>
                  <a:srgbClr val="E8801A"/>
                </a:solidFill>
                <a:latin typeface="Montserrat"/>
              </a:rPr>
              <a:t>▸  </a:t>
            </a:r>
            <a:r>
              <a:rPr sz="1600" b="0" i="0">
                <a:solidFill>
                  <a:srgbClr val="1B2330"/>
                </a:solidFill>
                <a:latin typeface="Montserrat"/>
              </a:rPr>
              <a:t>Dirección de obra: solo si hubo proyecto</a:t>
            </a:r>
          </a:p>
          <a:p>
            <a:pPr>
              <a:spcAft>
                <a:spcPts val="1100"/>
              </a:spcAft>
            </a:pPr>
            <a:r>
              <a:rPr sz="1600" b="1" i="0">
                <a:solidFill>
                  <a:srgbClr val="E8801A"/>
                </a:solidFill>
                <a:latin typeface="Montserrat"/>
              </a:rPr>
              <a:t>▸  </a:t>
            </a:r>
            <a:r>
              <a:rPr sz="1600" b="0" i="0">
                <a:solidFill>
                  <a:srgbClr val="1B2330"/>
                </a:solidFill>
                <a:latin typeface="Montserrat"/>
              </a:rPr>
              <a:t>Inspección: solo si la ITC lo exige</a:t>
            </a:r>
          </a:p>
        </p:txBody>
      </p:sp>
      <p:sp>
        <p:nvSpPr>
          <p:cNvPr id="9" name="imgph" descr="IMGQ:signing official certificate form"/>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signing official certificate form</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012 / 024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De los certificados de arranque, ¿cuál existe siempre en toda instalación?</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El certificado de dirección de obra</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El certificado de instalación</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El certificado de inspección del organismo de control</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El certificado de puesta en marcha del aparato</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013 / 024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B</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De los certificados de arranque, ¿cuál existe siempre en toda instalación?</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B.  </a:t>
            </a:r>
            <a:r>
              <a:rPr sz="1800" b="1" i="0">
                <a:solidFill>
                  <a:srgbClr val="1E2761"/>
                </a:solidFill>
                <a:latin typeface="Montserrat"/>
              </a:rPr>
              <a:t>El certificado de instalación</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El certificado de instalación lo firma quien ejecuta y no falta nunca; los otros aparecen solo si hay proyecto o si la ITC lo exige.</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014 / 024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ARTÍCULO 5.6 · PUESTA EN SERVICIO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 regla del año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Recibir copia de los certificados</a:t>
            </a:r>
          </a:p>
          <a:p>
            <a:pPr>
              <a:spcAft>
                <a:spcPts val="1100"/>
              </a:spcAft>
            </a:pPr>
            <a:r>
              <a:rPr sz="1600" b="1" i="0">
                <a:solidFill>
                  <a:srgbClr val="E8801A"/>
                </a:solidFill>
                <a:latin typeface="Montserrat"/>
              </a:rPr>
              <a:t>▸  </a:t>
            </a:r>
            <a:r>
              <a:rPr sz="1600" b="0" i="0">
                <a:solidFill>
                  <a:srgbClr val="1B2330"/>
                </a:solidFill>
                <a:latin typeface="Montserrat"/>
              </a:rPr>
              <a:t>Suministro provisional para pruebas</a:t>
            </a:r>
          </a:p>
          <a:p>
            <a:pPr>
              <a:spcAft>
                <a:spcPts val="1100"/>
              </a:spcAft>
            </a:pPr>
            <a:r>
              <a:rPr sz="1600" b="1" i="0">
                <a:solidFill>
                  <a:srgbClr val="E8801A"/>
                </a:solidFill>
                <a:latin typeface="Montserrat"/>
              </a:rPr>
              <a:t>▸  </a:t>
            </a:r>
            <a:r>
              <a:rPr sz="1600" b="0" i="0">
                <a:solidFill>
                  <a:srgbClr val="1B2330"/>
                </a:solidFill>
                <a:latin typeface="Montserrat"/>
              </a:rPr>
              <a:t>Parada +1 año: se trata como nueva</a:t>
            </a:r>
          </a:p>
        </p:txBody>
      </p:sp>
      <p:sp>
        <p:nvSpPr>
          <p:cNvPr id="9" name="imgph" descr="IMGQ:gas meter installation apartment wall"/>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meter installation apartment wall</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015 / 024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Una instalación lleva más de un año sin gas. ¿Cómo se procede para darle suministro?</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Se reengancha directamente, sin ningún trámite</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Basta con una prueba de estanquidad rápida</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Se trata como una instalación nueva, con papeles y pruebas</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Solo hace falta un aviso del suministrador</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016 / 024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C</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Una instalación lleva más de un año sin gas. ¿Cómo se procede para darle suministro?</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C.  </a:t>
            </a:r>
            <a:r>
              <a:rPr sz="1800" b="1" i="0">
                <a:solidFill>
                  <a:srgbClr val="1E2761"/>
                </a:solidFill>
                <a:latin typeface="Montserrat"/>
              </a:rPr>
              <a:t>Se trata como una instalación nueva, con papeles y pruebas</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Parada más de un año, la instalación se trata como nueva: documentación y pruebas incluidas.</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017 / 024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ARTÍCULO 5.7 · COMUNICACIÓN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Treinta días y lo presenta el titular</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El titular comunica, no la instaladora</a:t>
            </a:r>
          </a:p>
          <a:p>
            <a:pPr>
              <a:spcAft>
                <a:spcPts val="1100"/>
              </a:spcAft>
            </a:pPr>
            <a:r>
              <a:rPr sz="1600" b="1" i="0">
                <a:solidFill>
                  <a:srgbClr val="E8801A"/>
                </a:solidFill>
                <a:latin typeface="Montserrat"/>
              </a:rPr>
              <a:t>▸  </a:t>
            </a:r>
            <a:r>
              <a:rPr sz="1600" b="0" i="0">
                <a:solidFill>
                  <a:srgbClr val="1B2330"/>
                </a:solidFill>
                <a:latin typeface="Montserrat"/>
              </a:rPr>
              <a:t>Ante la Comunidad Autónoma</a:t>
            </a:r>
          </a:p>
          <a:p>
            <a:pPr>
              <a:spcAft>
                <a:spcPts val="1100"/>
              </a:spcAft>
            </a:pPr>
            <a:r>
              <a:rPr sz="1600" b="1" i="0">
                <a:solidFill>
                  <a:srgbClr val="E8801A"/>
                </a:solidFill>
                <a:latin typeface="Montserrat"/>
              </a:rPr>
              <a:t>▸  </a:t>
            </a:r>
            <a:r>
              <a:rPr sz="1600" b="0" i="0">
                <a:solidFill>
                  <a:srgbClr val="1B2330"/>
                </a:solidFill>
                <a:latin typeface="Montserrat"/>
              </a:rPr>
              <a:t>Antes de 30 días desde puesta en servicio</a:t>
            </a:r>
          </a:p>
        </p:txBody>
      </p:sp>
      <p:sp>
        <p:nvSpPr>
          <p:cNvPr id="9" name="imgph" descr="IMGQ:person filling paperwork office desk"/>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person filling paperwork office desk</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018 / 024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¿Quién comunica la instalación a la Administración y en qué plazo?</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La empresa instaladora, antes de quince días</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El titular, antes de treinta días desde la puesta en servicio</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El distribuidor, antes de treinta días desde el montaje</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El instalador, antes de siete días desde las pruebas</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019 / 024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B</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¿Quién comunica la instalación a la Administración y en qué plazo?</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B.  </a:t>
            </a:r>
            <a:r>
              <a:rPr sz="1800" b="1" i="0">
                <a:solidFill>
                  <a:srgbClr val="1E2761"/>
                </a:solidFill>
                <a:latin typeface="Montserrat"/>
              </a:rPr>
              <a:t>El titular, antes de treinta días desde la puesta en servicio</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La responsabilidad de comunicar es del titular, ante la Comunidad Autónoma, antes de treinta días desde la puesta en servicio.</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020 / 024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ARTÍCULO 5.8 · PUESTA EN MARCHA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Arrancar el aparato, no solo encenderlo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Según la ITC-ICG 08</a:t>
            </a:r>
          </a:p>
          <a:p>
            <a:pPr>
              <a:spcAft>
                <a:spcPts val="1100"/>
              </a:spcAft>
            </a:pPr>
            <a:r>
              <a:rPr sz="1600" b="1" i="0">
                <a:solidFill>
                  <a:srgbClr val="E8801A"/>
                </a:solidFill>
                <a:latin typeface="Montserrat"/>
              </a:rPr>
              <a:t>▸  </a:t>
            </a:r>
            <a:r>
              <a:rPr sz="1600" b="0" i="0">
                <a:solidFill>
                  <a:srgbClr val="1B2330"/>
                </a:solidFill>
                <a:latin typeface="Montserrat"/>
              </a:rPr>
              <a:t>Verifica gas, presión y combustión</a:t>
            </a:r>
          </a:p>
          <a:p>
            <a:pPr>
              <a:spcAft>
                <a:spcPts val="1100"/>
              </a:spcAft>
            </a:pPr>
            <a:r>
              <a:rPr sz="1600" b="1" i="0">
                <a:solidFill>
                  <a:srgbClr val="E8801A"/>
                </a:solidFill>
                <a:latin typeface="Montserrat"/>
              </a:rPr>
              <a:t>▸  </a:t>
            </a:r>
            <a:r>
              <a:rPr sz="1600" b="0" i="0">
                <a:solidFill>
                  <a:srgbClr val="1B2330"/>
                </a:solidFill>
                <a:latin typeface="Montserrat"/>
              </a:rPr>
              <a:t>Certificado que se entrega al usuario</a:t>
            </a:r>
          </a:p>
        </p:txBody>
      </p:sp>
      <p:sp>
        <p:nvSpPr>
          <p:cNvPr id="9" name="imgph" descr="IMGQ:technician adjusting gas boiler"/>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technician adjusting gas boiler</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021 / 024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ARTÍCULO 5 · LOS TRES CERTIFICADOS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Quién firma cada papel</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Instalación: la empresa que ejecuta</a:t>
            </a:r>
          </a:p>
          <a:p>
            <a:pPr>
              <a:spcAft>
                <a:spcPts val="1100"/>
              </a:spcAft>
            </a:pPr>
            <a:r>
              <a:rPr sz="1600" b="1" i="0">
                <a:solidFill>
                  <a:srgbClr val="E8801A"/>
                </a:solidFill>
                <a:latin typeface="Montserrat"/>
              </a:rPr>
              <a:t>▸  </a:t>
            </a:r>
            <a:r>
              <a:rPr sz="1600" b="0" i="0">
                <a:solidFill>
                  <a:srgbClr val="1B2330"/>
                </a:solidFill>
                <a:latin typeface="Montserrat"/>
              </a:rPr>
              <a:t>Dirección de obra: el director (si hay proyecto)</a:t>
            </a:r>
          </a:p>
          <a:p>
            <a:pPr>
              <a:spcAft>
                <a:spcPts val="1100"/>
              </a:spcAft>
            </a:pPr>
            <a:r>
              <a:rPr sz="1600" b="1" i="0">
                <a:solidFill>
                  <a:srgbClr val="E8801A"/>
                </a:solidFill>
                <a:latin typeface="Montserrat"/>
              </a:rPr>
              <a:t>▸  </a:t>
            </a:r>
            <a:r>
              <a:rPr sz="1600" b="0" i="0">
                <a:solidFill>
                  <a:srgbClr val="1B2330"/>
                </a:solidFill>
                <a:latin typeface="Montserrat"/>
              </a:rPr>
              <a:t>Puesta en marcha: el agente, al usuario</a:t>
            </a:r>
          </a:p>
        </p:txBody>
      </p:sp>
      <p:sp>
        <p:nvSpPr>
          <p:cNvPr id="9" name="imgph" descr="IMGQ:stack of official signed documents desk"/>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stack of official signed documents desk</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022 / 024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ARTÍCULO 6 · INFORMACIÓN AL USUARIO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croquis y el recordatorio bienal</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Instrucciones de uso y mantenimiento</a:t>
            </a:r>
          </a:p>
          <a:p>
            <a:pPr>
              <a:spcAft>
                <a:spcPts val="1100"/>
              </a:spcAft>
            </a:pPr>
            <a:r>
              <a:rPr sz="1600" b="1" i="0">
                <a:solidFill>
                  <a:srgbClr val="E8801A"/>
                </a:solidFill>
                <a:latin typeface="Montserrat"/>
              </a:rPr>
              <a:t>▸  </a:t>
            </a:r>
            <a:r>
              <a:rPr sz="1600" b="0" i="0">
                <a:solidFill>
                  <a:srgbClr val="1B2330"/>
                </a:solidFill>
                <a:latin typeface="Montserrat"/>
              </a:rPr>
              <a:t>Croquis del trazado, anexo al boletín</a:t>
            </a:r>
          </a:p>
          <a:p>
            <a:pPr>
              <a:spcAft>
                <a:spcPts val="1100"/>
              </a:spcAft>
            </a:pPr>
            <a:r>
              <a:rPr sz="1600" b="1" i="0">
                <a:solidFill>
                  <a:srgbClr val="E8801A"/>
                </a:solidFill>
                <a:latin typeface="Montserrat"/>
              </a:rPr>
              <a:t>▸  </a:t>
            </a:r>
            <a:r>
              <a:rPr sz="1600" b="0" i="0">
                <a:solidFill>
                  <a:srgbClr val="1B2330"/>
                </a:solidFill>
                <a:latin typeface="Montserrat"/>
              </a:rPr>
              <a:t>Suministrador recuerda, mínimo cada dos años</a:t>
            </a:r>
          </a:p>
        </p:txBody>
      </p:sp>
      <p:sp>
        <p:nvSpPr>
          <p:cNvPr id="9" name="imgph" descr="IMGQ:hand drawn house pipe sketch plan"/>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hand drawn house pipe sketch plan</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023 / 024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REPASO RELÁMPAGO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Fíjalo en treinta segundos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Ocho pasos: del diseño al arranque</a:t>
            </a:r>
          </a:p>
          <a:p>
            <a:pPr>
              <a:spcAft>
                <a:spcPts val="1100"/>
              </a:spcAft>
            </a:pPr>
            <a:r>
              <a:rPr sz="1600" b="1" i="0">
                <a:solidFill>
                  <a:srgbClr val="E8801A"/>
                </a:solidFill>
                <a:latin typeface="Montserrat"/>
              </a:rPr>
              <a:t>▸  </a:t>
            </a:r>
            <a:r>
              <a:rPr sz="1600" b="0" i="0">
                <a:solidFill>
                  <a:srgbClr val="1B2330"/>
                </a:solidFill>
                <a:latin typeface="Montserrat"/>
              </a:rPr>
              <a:t>Boletín siempre; los otros dos, a veces</a:t>
            </a:r>
          </a:p>
          <a:p>
            <a:pPr>
              <a:spcAft>
                <a:spcPts val="1100"/>
              </a:spcAft>
            </a:pPr>
            <a:r>
              <a:rPr sz="1600" b="1" i="0">
                <a:solidFill>
                  <a:srgbClr val="E8801A"/>
                </a:solidFill>
                <a:latin typeface="Montserrat"/>
              </a:rPr>
              <a:t>▸  </a:t>
            </a:r>
            <a:r>
              <a:rPr sz="1600" b="0" i="0">
                <a:solidFill>
                  <a:srgbClr val="1B2330"/>
                </a:solidFill>
                <a:latin typeface="Montserrat"/>
              </a:rPr>
              <a:t>Titular comunica en 30 días</a:t>
            </a:r>
          </a:p>
          <a:p>
            <a:pPr>
              <a:spcAft>
                <a:spcPts val="1100"/>
              </a:spcAft>
            </a:pPr>
            <a:r>
              <a:rPr sz="1600" b="1" i="0">
                <a:solidFill>
                  <a:srgbClr val="E8801A"/>
                </a:solidFill>
                <a:latin typeface="Montserrat"/>
              </a:rPr>
              <a:t>▸  </a:t>
            </a:r>
            <a:r>
              <a:rPr sz="1600" b="0" i="0">
                <a:solidFill>
                  <a:srgbClr val="1B2330"/>
                </a:solidFill>
                <a:latin typeface="Montserrat"/>
              </a:rPr>
              <a:t>Parada +1 año = como nueva</a:t>
            </a:r>
          </a:p>
        </p:txBody>
      </p:sp>
      <p:sp>
        <p:nvSpPr>
          <p:cNvPr id="9" name="imgph" descr="IMGQ:gas installation checklist clipboard"/>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installation checklist clipboard</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457200"/>
          </a:xfrm>
          <a:prstGeom prst="rect">
            <a:avLst/>
          </a:prstGeom>
          <a:noFill/>
        </p:spPr>
        <p:txBody>
          <a:bodyPr wrap="square">
            <a:spAutoFit/>
          </a:bodyPr>
          <a:lstStyle/>
          <a:p>
            <a:r>
              <a:rPr sz="1400" b="1" i="0">
                <a:solidFill>
                  <a:srgbClr val="F4A24C"/>
                </a:solidFill>
                <a:latin typeface="Montserrat"/>
              </a:rPr>
              <a:t>LO QUE YA DOMINAS</a:t>
            </a:r>
          </a:p>
        </p:txBody>
      </p:sp>
      <p:sp>
        <p:nvSpPr>
          <p:cNvPr id="4" name="Rectangle 3"/>
          <p:cNvSpPr/>
          <p:nvPr/>
        </p:nvSpPr>
        <p:spPr>
          <a:xfrm>
            <a:off x="868680" y="105156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234440"/>
            <a:ext cx="10515600" cy="1097280"/>
          </a:xfrm>
          <a:prstGeom prst="rect">
            <a:avLst/>
          </a:prstGeom>
          <a:noFill/>
        </p:spPr>
        <p:txBody>
          <a:bodyPr wrap="square">
            <a:spAutoFit/>
          </a:bodyPr>
          <a:lstStyle/>
          <a:p>
            <a:r>
              <a:rPr sz="3400" b="1" i="0">
                <a:solidFill>
                  <a:srgbClr val="FFFFFF"/>
                </a:solidFill>
                <a:latin typeface="Montserrat"/>
              </a:rPr>
              <a:t>Ya llevas una instalación de cero a gas</a:t>
            </a:r>
          </a:p>
        </p:txBody>
      </p:sp>
      <p:sp>
        <p:nvSpPr>
          <p:cNvPr id="6" name="TextBox 5"/>
          <p:cNvSpPr txBox="1"/>
          <p:nvPr/>
        </p:nvSpPr>
        <p:spPr>
          <a:xfrm>
            <a:off x="822960" y="2606040"/>
            <a:ext cx="10515600" cy="2743200"/>
          </a:xfrm>
          <a:prstGeom prst="rect">
            <a:avLst/>
          </a:prstGeom>
          <a:noFill/>
        </p:spPr>
        <p:txBody>
          <a:bodyPr wrap="square">
            <a:spAutoFit/>
          </a:bodyPr>
          <a:lstStyle/>
          <a:p>
            <a:pPr>
              <a:spcAft>
                <a:spcPts val="1200"/>
              </a:spcAft>
            </a:pPr>
            <a:r>
              <a:rPr sz="2000" b="1" i="0">
                <a:solidFill>
                  <a:srgbClr val="F4A24C"/>
                </a:solidFill>
                <a:latin typeface="Montserrat"/>
              </a:rPr>
              <a:t>✓  </a:t>
            </a:r>
            <a:r>
              <a:rPr sz="1900" b="0" i="0">
                <a:solidFill>
                  <a:srgbClr val="FFFFFF"/>
                </a:solidFill>
                <a:latin typeface="Montserrat"/>
              </a:rPr>
              <a:t>Recorres los ocho pasos sin saltarte ninguno</a:t>
            </a:r>
          </a:p>
          <a:p>
            <a:pPr>
              <a:spcAft>
                <a:spcPts val="1200"/>
              </a:spcAft>
            </a:pPr>
            <a:r>
              <a:rPr sz="2000" b="1" i="0">
                <a:solidFill>
                  <a:srgbClr val="F4A24C"/>
                </a:solidFill>
                <a:latin typeface="Montserrat"/>
              </a:rPr>
              <a:t>✓  </a:t>
            </a:r>
            <a:r>
              <a:rPr sz="1900" b="0" i="0">
                <a:solidFill>
                  <a:srgbClr val="FFFFFF"/>
                </a:solidFill>
                <a:latin typeface="Montserrat"/>
              </a:rPr>
              <a:t>Sabes qué certificado firma cada quién</a:t>
            </a:r>
          </a:p>
          <a:p>
            <a:pPr>
              <a:spcAft>
                <a:spcPts val="1200"/>
              </a:spcAft>
            </a:pPr>
            <a:r>
              <a:rPr sz="2000" b="1" i="0">
                <a:solidFill>
                  <a:srgbClr val="F4A24C"/>
                </a:solidFill>
                <a:latin typeface="Montserrat"/>
              </a:rPr>
              <a:t>✓  </a:t>
            </a:r>
            <a:r>
              <a:rPr sz="1900" b="0" i="0">
                <a:solidFill>
                  <a:srgbClr val="FFFFFF"/>
                </a:solidFill>
                <a:latin typeface="Montserrat"/>
              </a:rPr>
              <a:t>Distingues prueba de inspección al vuelo</a:t>
            </a:r>
          </a:p>
          <a:p>
            <a:pPr>
              <a:spcAft>
                <a:spcPts val="1200"/>
              </a:spcAft>
            </a:pPr>
            <a:r>
              <a:rPr sz="2000" b="1" i="0">
                <a:solidFill>
                  <a:srgbClr val="F4A24C"/>
                </a:solidFill>
                <a:latin typeface="Montserrat"/>
              </a:rPr>
              <a:t>✓  </a:t>
            </a:r>
            <a:r>
              <a:rPr sz="1900" b="0" i="0">
                <a:solidFill>
                  <a:srgbClr val="FFFFFF"/>
                </a:solidFill>
                <a:latin typeface="Montserrat"/>
              </a:rPr>
              <a:t>La regla del año ya no se te escapa</a:t>
            </a:r>
          </a:p>
        </p:txBody>
      </p:sp>
      <p:sp>
        <p:nvSpPr>
          <p:cNvPr id="7" name="Rounded Rectangle 6"/>
          <p:cNvSpPr/>
          <p:nvPr/>
        </p:nvSpPr>
        <p:spPr>
          <a:xfrm>
            <a:off x="822960" y="5532120"/>
            <a:ext cx="10515600" cy="822960"/>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5623560"/>
            <a:ext cx="10058400" cy="640080"/>
          </a:xfrm>
          <a:prstGeom prst="rect">
            <a:avLst/>
          </a:prstGeom>
          <a:noFill/>
        </p:spPr>
        <p:txBody>
          <a:bodyPr wrap="square">
            <a:spAutoFit/>
          </a:bodyPr>
          <a:lstStyle/>
          <a:p>
            <a:r>
              <a:rPr sz="1500" b="1" i="1">
                <a:solidFill>
                  <a:srgbClr val="1E2761"/>
                </a:solidFill>
                <a:latin typeface="Montserrat"/>
              </a:rPr>
              <a:t>Firmar es responsabilizarse, y hoy ya sabes de qué respondes. Nos vemos en el cierre del tema.</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
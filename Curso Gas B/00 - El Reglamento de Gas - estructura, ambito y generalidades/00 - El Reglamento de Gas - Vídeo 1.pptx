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Antes de tocar un solo tubo, ¿qué es lo primero que manda?</a:t>
            </a:r>
          </a:p>
          <a:p>
            <a:r>
              <a:t>N2: Manda un único texto, el Reglamento técnico de distribución y utilización de combustibles gaseosos, el famoso Real Decreto novecientos diecinueve. En este primer vídeo vemos para qué sirve, a qué instalaciones se aplica y, sobre todo, el vocabulario exacto con el que vas a trabajar todo el curso. Dominar estas definiciones es tener media asignatura ganada, porque son las palabras que aparecen en el boletín, en el examen y en cada avería que te encuentres.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tres números resumen este vídeo?</a:t>
            </a:r>
          </a:p>
          <a:p>
            <a:r>
              <a:t>N2: Nueve tipos de instalación que el Reglamento mete bajo su paraguas, desde la red de la calle hasta el aparato; tres partes en las que se divide la instalación receptora, que es tu terreno; y veinticuatro definiciones en el artículo tercero, el diccionario del oficio. Si te quedas con estos tres bloques, tienes el esqueleto del vídeo: qué se regula, cuál es tu zona y con qué palabras se nombra todo.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tuvieras que explicar en una frase para qué existe este Reglamento, ¿qué dirías?</a:t>
            </a:r>
          </a:p>
          <a:p>
            <a:r>
              <a:t>N2: Su objeto es fijar las condiciones técnicas y las garantías que deben reunir las instalaciones de gas y los aparatos que lo queman, con una única finalidad de fondo: preservar la seguridad de las personas y los bienes. Todo lo demás, cada distancia, cada prueba, cada certificado, cuelga de esa idea. Cuando en obra dudes si algo se hace de una manera o de otra, la brújula es siempre la misma: la opción más segura para quien vive ahí. Por ejemplo, ante una ventilación justita, el Reglamento tira siempre a proteger al usuario.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dónde sale cada norma que aplicas en obra?</a:t>
            </a:r>
          </a:p>
          <a:p>
            <a:r>
              <a:t>N2: Imagina el Reglamento como el tronco de un árbol y las Instrucciones Técnicas Complementarias, las ITC, como sus ramas. El tronco, el articulado, dice lo que vale para todos; cada rama baja al detalle de su tipo de instalación. Cuando te preguntes 'esto, ¿de dónde sale?', la respuesta casi siempre es: lo general, del tronco; el detalle, de la rama que toque. Y ojo, cumplir el Reglamento no te libra de cumplir otras normas que regulen cosas distintas sobre esa misma instalación, como las de electricidad o incendios.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hay dos leyes por encima del Reglamento?</a:t>
            </a:r>
          </a:p>
          <a:p>
            <a:r>
              <a:t>N2: Porque un reglamento no nace solo: desarrolla lo que una ley le ordena. La Ley del sector de hidrocarburos manda en el negocio del gas, quién lo distribuye, quién lo comercializa; y la Ley de industria manda en la seguridad industrial. El Reglamento es el manual de instrucciones que baja esas dos leyes al taller, al tubo y a la llave. Si en el examen te preguntan de qué leyes cuelga, ya lo sabes: hidrocarburos e industria.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¿Todo lo que huele a gas entra aquí?</a:t>
            </a:r>
          </a:p>
          <a:p>
            <a:r>
              <a:t>N2: El Reglamento cubre nueve tipos, que puedes agrupar así: la red de la calle o distribución por canalización, hasta dieciséis bar; todo el mundo del GLP, es decir las bombonas, los depósitos fijos de los chalés y las plantas de gas natural licuado; las estaciones de servicio para repostar coches a gas; las instalaciones receptoras, que son tu terreno del día a día; y los propios aparatos que queman el gas. De todas, la letra h, las receptoras, es donde vas a vivir como gasista de categoría B.</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¿Dónde está la frontera de lo que es tuyo?</a:t>
            </a:r>
          </a:p>
          <a:p>
            <a:r>
              <a:t>N2: El truco de 'incluida o excluida' se entiende con la llave del portal. La llave de acometida es como la llave del portal que pone la compañía: no es tuya, por eso va excluida. Desde ahí hacia dentro, hasta las llaves de conexión de cada aparato, sí es tuyo, por eso van incluidas. Regla de una frase: la receptora empieza donde acaba la acometida y termina en la llave del aparato; el aparato y su latiguillo, fuera. Esto no es un tecnicismo: esa frontera marca qué tramo pruebas con la estanquidad y qué firmas en el boletín.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¿Una bombona de camping es instalación receptora?</a:t>
            </a:r>
          </a:p>
          <a:p>
            <a:r>
              <a:t>N2: El límite de quince kilos separa la instalación del cacharro suelto. La bombona pequeña, de menos de quince kilos, con su tubo flexible a un único aparato móvil, no es instalación receptora: es camping-gas y no se legaliza como tal. Pero en cuanto pones tubería fija, varios aparatos o una bombona más grande, ya es instalación receptora y entra el Reglamento entero: certificado y prueba de estanquidad. Muchas chapuzas de campo son justo esto, una instalación fija montada como si fuera camping-gas, sin boletín y sin prueba. Ahí tienes la avería esperando.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Sale un reglamento nuevo, ¿hay que rehacer lo viejo?</a:t>
            </a:r>
          </a:p>
          <a:p>
            <a:r>
              <a:t>N2: No. Una instalación antigua no se rehace porque salga normativa nueva: se respeta como está, hasta que la tocas. En el momento en que la amplías o la modificas, lo que toques se pone al día. Y aunque no la toques, los controles periódicos, las inspecciones y revisiones, le caen igual. Nadie se libra del control periódico por ser antiguo. Piensa en una vivienda de hace décadas: mientras no metas mano, vive con su reglamento de origen, pero su inspección le toca igual.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colocas los tres tramos sin equivocarte?</a:t>
            </a:r>
          </a:p>
          <a:p>
            <a:r>
              <a:t>N2: El gas entra y va pasando por tres tramos encajados, siempre en el mismo orden. Primero la acometida interior, de la calle al edificio; luego la instalación común, el montante que sube por el edificio y es compartido; y por último la instalación individual, lo que entra en cada vivienda hasta cada aparato. Cada tramo empieza justo donde acaba el anterior. Si te imaginas el gas subiendo por la escalera y entrando en tu piso, colocas los tres tramos sin fallar.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¿Siempre hay tres tramos?</a:t>
            </a:r>
          </a:p>
          <a:p>
            <a:r>
              <a:t>N2: No siempre. La propia definición dice 'en su caso más general', porque no todas las instalaciones tienen los tres. En una vivienda unifamiliar, un chalé con el contador en la valla, no hay instalación común ni acometida interior: va casi todo directo a la instalación individual. Así que no te agobies si en una instalación real falta un tramo; es completamente normal. Lo importante es reconocer qué tramo tienes delante para saber qué le corresponde.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¿Sabrías separar quién hace qué?</a:t>
            </a:r>
          </a:p>
          <a:p>
            <a:r>
              <a:t>N2: La otra mitad del diccionario son las personas, los agentes. Ata cabos: el fabricante hace el producto; la empresa instaladora, que es la razón social, monta y certifica; el instalador, la persona con carné, ejecuta; el distribuidor lleva el gas por la red; el comercializador te lo vende; el titular es el dueño que responde del mantenimiento y el usuario el que lo gasta. Si separas 'tuberías' de 'personas', las preguntas cruzadas del examen dejan de tener trampa, y en obra sabes a quién firmas y a quién avisas.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son las tres familias de la norma?</a:t>
            </a:r>
          </a:p>
          <a:p>
            <a:r>
              <a:t>N2: Los combustibles gaseosos se clasifican en tres familias por cómo queman. La primera son los gases manufacturados y el aire propanado, casi en desuso; la segunda es el gas natural, el de la ciudad; y la tercera es el GLP, butano y propano. Esto no es trivia: cada aparato está tarado para su gas y su presión. Meterle un gas de otra familia o a otra presión da mala combustión, llama amarilla, ennegrecido y monóxido de carbono. Aquí solo los clasificas; el ajuste vendrá más adelante, pero la causa de media avería de combustión empieza por confundir la familia.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te quedas solo con tres cosas de este vídeo, ¿cuáles?</a:t>
            </a:r>
          </a:p>
          <a:p>
            <a:r>
              <a:t>N2: Primera: el Reglamento es el tronco y cada ITC una rama, y todo cuelga de dos leyes con un único fin, la seguridad de las personas. Segunda: tu terreno es la instalación receptora, que va de la llave de acometida, excluida, a la llave del aparato, incluida; esa frontera decide qué pruebas y qué firmas. Y tercera: el artículo tercero es tu diccionario, separa las tres partes encajadas, acometida interior, común e individual, de las personas del oficio. Con esas tres ideas no te pierdes en el resto del curso. En el próximo vídeo damos el salto al día a día: materiales y el camino completo hasta que la instalación tiene gas.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1 DE 3</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El Reglamento de Gas</a:t>
            </a:r>
          </a:p>
          <a:p>
            <a:r>
              <a:rPr sz="2200" b="0" i="0">
                <a:solidFill>
                  <a:srgbClr val="CADCFC"/>
                </a:solidFill>
                <a:latin typeface="Montserrat"/>
              </a:rPr>
              <a:t>Objeto, campo de aplicación y definiciones</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00 · Marco normativo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9</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tipos de instalación regulados</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3</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partes de la receptora</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24</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definiciones del artículo 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1 · OBJETO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¿Qué es el Reglamento de Gas?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Fija condiciones técnicas y garantías</a:t>
            </a:r>
          </a:p>
          <a:p>
            <a:pPr>
              <a:spcAft>
                <a:spcPts val="1000"/>
              </a:spcAft>
            </a:pPr>
            <a:r>
              <a:rPr sz="1600" b="1" i="0">
                <a:solidFill>
                  <a:srgbClr val="2E3A80"/>
                </a:solidFill>
                <a:latin typeface="Montserrat"/>
              </a:rPr>
              <a:t>•  </a:t>
            </a:r>
            <a:r>
              <a:rPr sz="1600" b="0" i="0">
                <a:solidFill>
                  <a:srgbClr val="1B2330"/>
                </a:solidFill>
                <a:latin typeface="Montserrat"/>
              </a:rPr>
              <a:t>Instalaciones y aparatos de gas</a:t>
            </a:r>
          </a:p>
          <a:p>
            <a:pPr>
              <a:spcAft>
                <a:spcPts val="1000"/>
              </a:spcAft>
            </a:pPr>
            <a:r>
              <a:rPr sz="1600" b="1" i="0">
                <a:solidFill>
                  <a:srgbClr val="2E3A80"/>
                </a:solidFill>
                <a:latin typeface="Montserrat"/>
              </a:rPr>
              <a:t>•  </a:t>
            </a:r>
            <a:r>
              <a:rPr sz="1600" b="0" i="0">
                <a:solidFill>
                  <a:srgbClr val="1B2330"/>
                </a:solidFill>
                <a:latin typeface="Montserrat"/>
              </a:rPr>
              <a:t>Fin único: seguridad de personas y bienes</a:t>
            </a:r>
          </a:p>
        </p:txBody>
      </p:sp>
      <p:sp>
        <p:nvSpPr>
          <p:cNvPr id="8" name="imgph" descr="IMGQ:gas boiler installation kitche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boiler installation kitchen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1 · ESTRUCTURA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Tronco y ramas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Reglamento: lo general, para todos</a:t>
            </a:r>
          </a:p>
          <a:p>
            <a:pPr>
              <a:spcAft>
                <a:spcPts val="1000"/>
              </a:spcAft>
            </a:pPr>
            <a:r>
              <a:rPr sz="1600" b="1" i="0">
                <a:solidFill>
                  <a:srgbClr val="2E3A80"/>
                </a:solidFill>
                <a:latin typeface="Montserrat"/>
              </a:rPr>
              <a:t>•  </a:t>
            </a:r>
            <a:r>
              <a:rPr sz="1600" b="0" i="0">
                <a:solidFill>
                  <a:srgbClr val="1B2330"/>
                </a:solidFill>
                <a:latin typeface="Montserrat"/>
              </a:rPr>
              <a:t>ITC: el detalle de cada instalación</a:t>
            </a:r>
          </a:p>
          <a:p>
            <a:pPr>
              <a:spcAft>
                <a:spcPts val="1000"/>
              </a:spcAft>
            </a:pPr>
            <a:r>
              <a:rPr sz="1600" b="1" i="0">
                <a:solidFill>
                  <a:srgbClr val="2E3A80"/>
                </a:solidFill>
                <a:latin typeface="Montserrat"/>
              </a:rPr>
              <a:t>•  </a:t>
            </a:r>
            <a:r>
              <a:rPr sz="1600" b="0" i="0">
                <a:solidFill>
                  <a:srgbClr val="1B2330"/>
                </a:solidFill>
                <a:latin typeface="Montserrat"/>
              </a:rPr>
              <a:t>Cumplirlo no exime de otras normas</a:t>
            </a:r>
          </a:p>
        </p:txBody>
      </p:sp>
      <p:sp>
        <p:nvSpPr>
          <p:cNvPr id="8" name="imgph" descr="IMGQ:large tree trunk branche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large tree trunk branches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1 · MARCO LEGAL</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¿De qué leyes cuelga?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Ley de hidrocarburos: el negocio del gas</a:t>
            </a:r>
          </a:p>
          <a:p>
            <a:pPr>
              <a:spcAft>
                <a:spcPts val="1000"/>
              </a:spcAft>
            </a:pPr>
            <a:r>
              <a:rPr sz="1600" b="1" i="0">
                <a:solidFill>
                  <a:srgbClr val="2E3A80"/>
                </a:solidFill>
                <a:latin typeface="Montserrat"/>
              </a:rPr>
              <a:t>•  </a:t>
            </a:r>
            <a:r>
              <a:rPr sz="1600" b="0" i="0">
                <a:solidFill>
                  <a:srgbClr val="1B2330"/>
                </a:solidFill>
                <a:latin typeface="Montserrat"/>
              </a:rPr>
              <a:t>Ley de industria: la seguridad industrial</a:t>
            </a:r>
          </a:p>
          <a:p>
            <a:pPr>
              <a:spcAft>
                <a:spcPts val="1000"/>
              </a:spcAft>
            </a:pPr>
            <a:r>
              <a:rPr sz="1600" b="1" i="0">
                <a:solidFill>
                  <a:srgbClr val="2E3A80"/>
                </a:solidFill>
                <a:latin typeface="Montserrat"/>
              </a:rPr>
              <a:t>•  </a:t>
            </a:r>
            <a:r>
              <a:rPr sz="1600" b="0" i="0">
                <a:solidFill>
                  <a:srgbClr val="1B2330"/>
                </a:solidFill>
                <a:latin typeface="Montserrat"/>
              </a:rPr>
              <a:t>El Reglamento las baja al taller</a:t>
            </a:r>
          </a:p>
        </p:txBody>
      </p:sp>
      <p:sp>
        <p:nvSpPr>
          <p:cNvPr id="8" name="imgph" descr="IMGQ:law books gavel des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law books gavel desk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2 · CAMPO DE APLICACIÓN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¿A qué se aplica?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Distribución por canalización (red de calle)</a:t>
            </a:r>
          </a:p>
          <a:p>
            <a:pPr>
              <a:spcAft>
                <a:spcPts val="1000"/>
              </a:spcAft>
            </a:pPr>
            <a:r>
              <a:rPr sz="1600" b="1" i="0">
                <a:solidFill>
                  <a:srgbClr val="2E3A80"/>
                </a:solidFill>
                <a:latin typeface="Montserrat"/>
              </a:rPr>
              <a:t>•  </a:t>
            </a:r>
            <a:r>
              <a:rPr sz="1600" b="0" i="0">
                <a:solidFill>
                  <a:srgbClr val="1B2330"/>
                </a:solidFill>
                <a:latin typeface="Montserrat"/>
              </a:rPr>
              <a:t>Almacenamiento de GLP: envases, depósitos, GNL</a:t>
            </a:r>
          </a:p>
          <a:p>
            <a:pPr>
              <a:spcAft>
                <a:spcPts val="1000"/>
              </a:spcAft>
            </a:pPr>
            <a:r>
              <a:rPr sz="1600" b="1" i="0">
                <a:solidFill>
                  <a:srgbClr val="2E3A80"/>
                </a:solidFill>
                <a:latin typeface="Montserrat"/>
              </a:rPr>
              <a:t>•  </a:t>
            </a:r>
            <a:r>
              <a:rPr sz="1600" b="0" i="0">
                <a:solidFill>
                  <a:srgbClr val="1B2330"/>
                </a:solidFill>
                <a:latin typeface="Montserrat"/>
              </a:rPr>
              <a:t>Estaciones de servicio de gas</a:t>
            </a:r>
          </a:p>
          <a:p>
            <a:pPr>
              <a:spcAft>
                <a:spcPts val="1000"/>
              </a:spcAft>
            </a:pPr>
            <a:r>
              <a:rPr sz="1600" b="1" i="0">
                <a:solidFill>
                  <a:srgbClr val="2E3A80"/>
                </a:solidFill>
                <a:latin typeface="Montserrat"/>
              </a:rPr>
              <a:t>•  </a:t>
            </a:r>
            <a:r>
              <a:rPr sz="1600" b="0" i="0">
                <a:solidFill>
                  <a:srgbClr val="1B2330"/>
                </a:solidFill>
                <a:latin typeface="Montserrat"/>
              </a:rPr>
              <a:t>Instalaciones receptoras: tu terreno</a:t>
            </a:r>
          </a:p>
          <a:p>
            <a:pPr>
              <a:spcAft>
                <a:spcPts val="1000"/>
              </a:spcAft>
            </a:pPr>
            <a:r>
              <a:rPr sz="1600" b="1" i="0">
                <a:solidFill>
                  <a:srgbClr val="2E3A80"/>
                </a:solidFill>
                <a:latin typeface="Montserrat"/>
              </a:rPr>
              <a:t>•  </a:t>
            </a:r>
            <a:r>
              <a:rPr sz="1600" b="0" i="0">
                <a:solidFill>
                  <a:srgbClr val="1B2330"/>
                </a:solidFill>
                <a:latin typeface="Montserrat"/>
              </a:rPr>
              <a:t>Aparatos de gas</a:t>
            </a:r>
          </a:p>
        </p:txBody>
      </p:sp>
      <p:sp>
        <p:nvSpPr>
          <p:cNvPr id="8" name="imgph" descr="IMGQ:gas meter cabinet stree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cabinet street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2 · INSTALACIÓN RECEPTORA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¿Dónde empieza y acaba?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Desde la llave de acometida (excluida)</a:t>
            </a:r>
          </a:p>
          <a:p>
            <a:pPr>
              <a:spcAft>
                <a:spcPts val="1000"/>
              </a:spcAft>
            </a:pPr>
            <a:r>
              <a:rPr sz="1600" b="1" i="0">
                <a:solidFill>
                  <a:srgbClr val="2E3A80"/>
                </a:solidFill>
                <a:latin typeface="Montserrat"/>
              </a:rPr>
              <a:t>•  </a:t>
            </a:r>
            <a:r>
              <a:rPr sz="1600" b="0" i="0">
                <a:solidFill>
                  <a:srgbClr val="1B2330"/>
                </a:solidFill>
                <a:latin typeface="Montserrat"/>
              </a:rPr>
              <a:t>Hasta la llave de aparato (incluida)</a:t>
            </a:r>
          </a:p>
          <a:p>
            <a:pPr>
              <a:spcAft>
                <a:spcPts val="1000"/>
              </a:spcAft>
            </a:pPr>
            <a:r>
              <a:rPr sz="1600" b="1" i="0">
                <a:solidFill>
                  <a:srgbClr val="2E3A80"/>
                </a:solidFill>
                <a:latin typeface="Montserrat"/>
              </a:rPr>
              <a:t>•  </a:t>
            </a:r>
            <a:r>
              <a:rPr sz="1600" b="0" i="0">
                <a:solidFill>
                  <a:srgbClr val="1B2330"/>
                </a:solidFill>
                <a:latin typeface="Montserrat"/>
              </a:rPr>
              <a:t>Aparato y latiguillo: fuera</a:t>
            </a:r>
          </a:p>
          <a:p>
            <a:pPr>
              <a:spcAft>
                <a:spcPts val="1000"/>
              </a:spcAft>
            </a:pPr>
            <a:r>
              <a:rPr sz="1600" b="1" i="0">
                <a:solidFill>
                  <a:srgbClr val="2E3A80"/>
                </a:solidFill>
                <a:latin typeface="Montserrat"/>
              </a:rPr>
              <a:t>•  </a:t>
            </a:r>
            <a:r>
              <a:rPr sz="1600" b="0" i="0">
                <a:solidFill>
                  <a:srgbClr val="1B2330"/>
                </a:solidFill>
                <a:latin typeface="Montserrat"/>
              </a:rPr>
              <a:t>Incluida/excluida = de qué respondes</a:t>
            </a:r>
          </a:p>
        </p:txBody>
      </p:sp>
      <p:sp>
        <p:nvSpPr>
          <p:cNvPr id="8" name="imgph" descr="IMGQ:gas shut off valve pip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shut off valve pipe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2 · EL LÍMITE DE LOS 15 KG</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¿Instalación o cacharro suelto?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Bombona &lt;15 kg + un aparato móvil: fuera</a:t>
            </a:r>
          </a:p>
          <a:p>
            <a:pPr>
              <a:spcAft>
                <a:spcPts val="1000"/>
              </a:spcAft>
            </a:pPr>
            <a:r>
              <a:rPr sz="1600" b="1" i="0">
                <a:solidFill>
                  <a:srgbClr val="2E3A80"/>
                </a:solidFill>
                <a:latin typeface="Montserrat"/>
              </a:rPr>
              <a:t>•  </a:t>
            </a:r>
            <a:r>
              <a:rPr sz="1600" b="0" i="0">
                <a:solidFill>
                  <a:srgbClr val="1B2330"/>
                </a:solidFill>
                <a:latin typeface="Montserrat"/>
              </a:rPr>
              <a:t>Tubería fija o varios aparatos: dentro</a:t>
            </a:r>
          </a:p>
          <a:p>
            <a:pPr>
              <a:spcAft>
                <a:spcPts val="1000"/>
              </a:spcAft>
            </a:pPr>
            <a:r>
              <a:rPr sz="1600" b="1" i="0">
                <a:solidFill>
                  <a:srgbClr val="2E3A80"/>
                </a:solidFill>
                <a:latin typeface="Montserrat"/>
              </a:rPr>
              <a:t>•  </a:t>
            </a:r>
            <a:r>
              <a:rPr sz="1600" b="0" i="0">
                <a:solidFill>
                  <a:srgbClr val="1B2330"/>
                </a:solidFill>
                <a:latin typeface="Montserrat"/>
              </a:rPr>
              <a:t>Dentro = boletín y estanquidad</a:t>
            </a:r>
          </a:p>
        </p:txBody>
      </p:sp>
      <p:sp>
        <p:nvSpPr>
          <p:cNvPr id="8" name="imgph" descr="IMGQ:small gas cylinder camping stov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small gas cylinder camping stove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2 · APLICACIÓN EN EL TIEMPO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¿Y las instalaciones viejas?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Nuevas, modificaciones y ampliaciones</a:t>
            </a:r>
          </a:p>
          <a:p>
            <a:pPr>
              <a:spcAft>
                <a:spcPts val="1000"/>
              </a:spcAft>
            </a:pPr>
            <a:r>
              <a:rPr sz="1600" b="1" i="0">
                <a:solidFill>
                  <a:srgbClr val="2E3A80"/>
                </a:solidFill>
                <a:latin typeface="Montserrat"/>
              </a:rPr>
              <a:t>•  </a:t>
            </a:r>
            <a:r>
              <a:rPr sz="1600" b="0" i="0">
                <a:solidFill>
                  <a:srgbClr val="1B2330"/>
                </a:solidFill>
                <a:latin typeface="Montserrat"/>
              </a:rPr>
              <a:t>Existentes: solo lo que tocas se actualiza</a:t>
            </a:r>
          </a:p>
          <a:p>
            <a:pPr>
              <a:spcAft>
                <a:spcPts val="1000"/>
              </a:spcAft>
            </a:pPr>
            <a:r>
              <a:rPr sz="1600" b="1" i="0">
                <a:solidFill>
                  <a:srgbClr val="2E3A80"/>
                </a:solidFill>
                <a:latin typeface="Montserrat"/>
              </a:rPr>
              <a:t>•  </a:t>
            </a:r>
            <a:r>
              <a:rPr sz="1600" b="0" i="0">
                <a:solidFill>
                  <a:srgbClr val="1B2330"/>
                </a:solidFill>
                <a:latin typeface="Montserrat"/>
              </a:rPr>
              <a:t>Controles periódicos: a todas</a:t>
            </a:r>
          </a:p>
        </p:txBody>
      </p:sp>
      <p:sp>
        <p:nvSpPr>
          <p:cNvPr id="8" name="imgph" descr="IMGQ:old gas pipe wall build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old gas pipe wall building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3 · LAS TRES PARTES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Las muñecas rusas del gas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Acometida interior: de la calle al edificio</a:t>
            </a:r>
          </a:p>
          <a:p>
            <a:pPr>
              <a:spcAft>
                <a:spcPts val="1000"/>
              </a:spcAft>
            </a:pPr>
            <a:r>
              <a:rPr sz="1600" b="1" i="0">
                <a:solidFill>
                  <a:srgbClr val="2E3A80"/>
                </a:solidFill>
                <a:latin typeface="Montserrat"/>
              </a:rPr>
              <a:t>•  </a:t>
            </a:r>
            <a:r>
              <a:rPr sz="1600" b="0" i="0">
                <a:solidFill>
                  <a:srgbClr val="1B2330"/>
                </a:solidFill>
                <a:latin typeface="Montserrat"/>
              </a:rPr>
              <a:t>Instalación común: montante compartido</a:t>
            </a:r>
          </a:p>
          <a:p>
            <a:pPr>
              <a:spcAft>
                <a:spcPts val="1000"/>
              </a:spcAft>
            </a:pPr>
            <a:r>
              <a:rPr sz="1600" b="1" i="0">
                <a:solidFill>
                  <a:srgbClr val="2E3A80"/>
                </a:solidFill>
                <a:latin typeface="Montserrat"/>
              </a:rPr>
              <a:t>•  </a:t>
            </a:r>
            <a:r>
              <a:rPr sz="1600" b="0" i="0">
                <a:solidFill>
                  <a:srgbClr val="1B2330"/>
                </a:solidFill>
                <a:latin typeface="Montserrat"/>
              </a:rPr>
              <a:t>Instalación individual: hasta cada aparato</a:t>
            </a:r>
          </a:p>
          <a:p>
            <a:pPr>
              <a:spcAft>
                <a:spcPts val="1000"/>
              </a:spcAft>
            </a:pPr>
            <a:r>
              <a:rPr sz="1600" b="1" i="0">
                <a:solidFill>
                  <a:srgbClr val="2E3A80"/>
                </a:solidFill>
                <a:latin typeface="Montserrat"/>
              </a:rPr>
              <a:t>•  </a:t>
            </a:r>
            <a:r>
              <a:rPr sz="1600" b="0" i="0">
                <a:solidFill>
                  <a:srgbClr val="1B2330"/>
                </a:solidFill>
                <a:latin typeface="Montserrat"/>
              </a:rPr>
              <a:t>Cada tramo empieza donde acaba el anterior</a:t>
            </a:r>
          </a:p>
        </p:txBody>
      </p:sp>
      <p:sp>
        <p:nvSpPr>
          <p:cNvPr id="8" name="imgph" descr="IMGQ:gas riser pipes building staircas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riser pipes building staircase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3 · CASOS REALES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¿Y si es un chalé?</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No siempre existen los tres tramos</a:t>
            </a:r>
          </a:p>
          <a:p>
            <a:pPr>
              <a:spcAft>
                <a:spcPts val="1000"/>
              </a:spcAft>
            </a:pPr>
            <a:r>
              <a:rPr sz="1600" b="1" i="0">
                <a:solidFill>
                  <a:srgbClr val="2E3A80"/>
                </a:solidFill>
                <a:latin typeface="Montserrat"/>
              </a:rPr>
              <a:t>•  </a:t>
            </a:r>
            <a:r>
              <a:rPr sz="1600" b="0" i="0">
                <a:solidFill>
                  <a:srgbClr val="1B2330"/>
                </a:solidFill>
                <a:latin typeface="Montserrat"/>
              </a:rPr>
              <a:t>Contador en la valla: sin común</a:t>
            </a:r>
          </a:p>
          <a:p>
            <a:pPr>
              <a:spcAft>
                <a:spcPts val="1000"/>
              </a:spcAft>
            </a:pPr>
            <a:r>
              <a:rPr sz="1600" b="1" i="0">
                <a:solidFill>
                  <a:srgbClr val="2E3A80"/>
                </a:solidFill>
                <a:latin typeface="Montserrat"/>
              </a:rPr>
              <a:t>•  </a:t>
            </a:r>
            <a:r>
              <a:rPr sz="1600" b="0" i="0">
                <a:solidFill>
                  <a:srgbClr val="1B2330"/>
                </a:solidFill>
                <a:latin typeface="Montserrat"/>
              </a:rPr>
              <a:t>Casi todo va a la individual</a:t>
            </a:r>
          </a:p>
        </p:txBody>
      </p:sp>
      <p:sp>
        <p:nvSpPr>
          <p:cNvPr id="8" name="imgph" descr="IMGQ:single family house gas met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single family house gas meter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3 · QUIÉN ES QUIÉN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Personas, no tuberías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Fabricante: hace el producto</a:t>
            </a:r>
          </a:p>
          <a:p>
            <a:pPr>
              <a:spcAft>
                <a:spcPts val="1000"/>
              </a:spcAft>
            </a:pPr>
            <a:r>
              <a:rPr sz="1600" b="1" i="0">
                <a:solidFill>
                  <a:srgbClr val="2E3A80"/>
                </a:solidFill>
                <a:latin typeface="Montserrat"/>
              </a:rPr>
              <a:t>•  </a:t>
            </a:r>
            <a:r>
              <a:rPr sz="1600" b="0" i="0">
                <a:solidFill>
                  <a:srgbClr val="1B2330"/>
                </a:solidFill>
                <a:latin typeface="Montserrat"/>
              </a:rPr>
              <a:t>Empresa instaladora: monta y certifica</a:t>
            </a:r>
          </a:p>
          <a:p>
            <a:pPr>
              <a:spcAft>
                <a:spcPts val="1000"/>
              </a:spcAft>
            </a:pPr>
            <a:r>
              <a:rPr sz="1600" b="1" i="0">
                <a:solidFill>
                  <a:srgbClr val="2E3A80"/>
                </a:solidFill>
                <a:latin typeface="Montserrat"/>
              </a:rPr>
              <a:t>•  </a:t>
            </a:r>
            <a:r>
              <a:rPr sz="1600" b="0" i="0">
                <a:solidFill>
                  <a:srgbClr val="1B2330"/>
                </a:solidFill>
                <a:latin typeface="Montserrat"/>
              </a:rPr>
              <a:t>Instalador: la persona con carné</a:t>
            </a:r>
          </a:p>
          <a:p>
            <a:pPr>
              <a:spcAft>
                <a:spcPts val="1000"/>
              </a:spcAft>
            </a:pPr>
            <a:r>
              <a:rPr sz="1600" b="1" i="0">
                <a:solidFill>
                  <a:srgbClr val="2E3A80"/>
                </a:solidFill>
                <a:latin typeface="Montserrat"/>
              </a:rPr>
              <a:t>•  </a:t>
            </a:r>
            <a:r>
              <a:rPr sz="1600" b="0" i="0">
                <a:solidFill>
                  <a:srgbClr val="1B2330"/>
                </a:solidFill>
                <a:latin typeface="Montserrat"/>
              </a:rPr>
              <a:t>Distribuidor da el gas; comercializador lo vende</a:t>
            </a:r>
          </a:p>
          <a:p>
            <a:pPr>
              <a:spcAft>
                <a:spcPts val="1000"/>
              </a:spcAft>
            </a:pPr>
            <a:r>
              <a:rPr sz="1600" b="1" i="0">
                <a:solidFill>
                  <a:srgbClr val="2E3A80"/>
                </a:solidFill>
                <a:latin typeface="Montserrat"/>
              </a:rPr>
              <a:t>•  </a:t>
            </a:r>
            <a:r>
              <a:rPr sz="1600" b="0" i="0">
                <a:solidFill>
                  <a:srgbClr val="1B2330"/>
                </a:solidFill>
                <a:latin typeface="Montserrat"/>
              </a:rPr>
              <a:t>Titular es el dueño; usuario lo consume</a:t>
            </a:r>
          </a:p>
        </p:txBody>
      </p:sp>
      <p:sp>
        <p:nvSpPr>
          <p:cNvPr id="8" name="imgph" descr="IMGQ:gas technician uniform clipboar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technician uniform clipboard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3 · COMBUSTIBLES GASEOSOS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Las tres familias de gas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1.ª familia: manufacturados (en desuso)</a:t>
            </a:r>
          </a:p>
          <a:p>
            <a:pPr>
              <a:spcAft>
                <a:spcPts val="1000"/>
              </a:spcAft>
            </a:pPr>
            <a:r>
              <a:rPr sz="1600" b="1" i="0">
                <a:solidFill>
                  <a:srgbClr val="2E3A80"/>
                </a:solidFill>
                <a:latin typeface="Montserrat"/>
              </a:rPr>
              <a:t>•  </a:t>
            </a:r>
            <a:r>
              <a:rPr sz="1600" b="0" i="0">
                <a:solidFill>
                  <a:srgbClr val="1B2330"/>
                </a:solidFill>
                <a:latin typeface="Montserrat"/>
              </a:rPr>
              <a:t>2.ª familia: gas natural</a:t>
            </a:r>
          </a:p>
          <a:p>
            <a:pPr>
              <a:spcAft>
                <a:spcPts val="1000"/>
              </a:spcAft>
            </a:pPr>
            <a:r>
              <a:rPr sz="1600" b="1" i="0">
                <a:solidFill>
                  <a:srgbClr val="2E3A80"/>
                </a:solidFill>
                <a:latin typeface="Montserrat"/>
              </a:rPr>
              <a:t>•  </a:t>
            </a:r>
            <a:r>
              <a:rPr sz="1600" b="0" i="0">
                <a:solidFill>
                  <a:srgbClr val="1B2330"/>
                </a:solidFill>
                <a:latin typeface="Montserrat"/>
              </a:rPr>
              <a:t>3.ª familia: GLP (butano y propano)</a:t>
            </a:r>
          </a:p>
          <a:p>
            <a:pPr>
              <a:spcAft>
                <a:spcPts val="1000"/>
              </a:spcAft>
            </a:pPr>
            <a:r>
              <a:rPr sz="1600" b="1" i="0">
                <a:solidFill>
                  <a:srgbClr val="2E3A80"/>
                </a:solidFill>
                <a:latin typeface="Montserrat"/>
              </a:rPr>
              <a:t>•  </a:t>
            </a:r>
            <a:r>
              <a:rPr sz="1600" b="0" i="0">
                <a:solidFill>
                  <a:srgbClr val="1B2330"/>
                </a:solidFill>
                <a:latin typeface="Montserrat"/>
              </a:rPr>
              <a:t>Cada aparato, tarado para su gas</a:t>
            </a:r>
          </a:p>
        </p:txBody>
      </p:sp>
      <p:sp>
        <p:nvSpPr>
          <p:cNvPr id="8" name="imgph" descr="IMGQ:blue gas flame stove burn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blue gas flame stove burner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640080"/>
            <a:ext cx="10058400" cy="914400"/>
          </a:xfrm>
          <a:prstGeom prst="rect">
            <a:avLst/>
          </a:prstGeom>
          <a:noFill/>
        </p:spPr>
        <p:txBody>
          <a:bodyPr wrap="square">
            <a:spAutoFit/>
          </a:bodyPr>
          <a:lstStyle/>
          <a:p>
            <a:r>
              <a:rPr sz="3000" b="1" i="0">
                <a:solidFill>
                  <a:srgbClr val="1E2761"/>
                </a:solidFill>
                <a:latin typeface="Montserrat"/>
              </a:rPr>
              <a:t>Qué me llevo</a:t>
            </a:r>
          </a:p>
        </p:txBody>
      </p:sp>
      <p:sp>
        <p:nvSpPr>
          <p:cNvPr id="6" name="TextBox 5"/>
          <p:cNvSpPr txBox="1"/>
          <p:nvPr/>
        </p:nvSpPr>
        <p:spPr>
          <a:xfrm>
            <a:off x="822960" y="2011680"/>
            <a:ext cx="10058400" cy="3657600"/>
          </a:xfrm>
          <a:prstGeom prst="rect">
            <a:avLst/>
          </a:prstGeom>
          <a:noFill/>
        </p:spPr>
        <p:txBody>
          <a:bodyPr wrap="square">
            <a:spAutoFit/>
          </a:bodyPr>
          <a:lstStyle/>
          <a:p>
            <a:pPr>
              <a:spcAft>
                <a:spcPts val="1400"/>
              </a:spcAft>
            </a:pPr>
            <a:r>
              <a:rPr sz="2000" b="1" i="0">
                <a:solidFill>
                  <a:srgbClr val="2E3A80"/>
                </a:solidFill>
                <a:latin typeface="Montserrat"/>
              </a:rPr>
              <a:t>✓  </a:t>
            </a:r>
            <a:r>
              <a:rPr sz="2000" b="0" i="0">
                <a:solidFill>
                  <a:srgbClr val="1B2330"/>
                </a:solidFill>
                <a:latin typeface="Montserrat"/>
              </a:rPr>
              <a:t>Reglamento = tronco; ITC = ramas</a:t>
            </a:r>
          </a:p>
          <a:p>
            <a:pPr>
              <a:spcAft>
                <a:spcPts val="1400"/>
              </a:spcAft>
            </a:pPr>
            <a:r>
              <a:rPr sz="2000" b="1" i="0">
                <a:solidFill>
                  <a:srgbClr val="2E3A80"/>
                </a:solidFill>
                <a:latin typeface="Montserrat"/>
              </a:rPr>
              <a:t>✓  </a:t>
            </a:r>
            <a:r>
              <a:rPr sz="2000" b="0" i="0">
                <a:solidFill>
                  <a:srgbClr val="1B2330"/>
                </a:solidFill>
                <a:latin typeface="Montserrat"/>
              </a:rPr>
              <a:t>Receptora: de la acometida a la llave del aparato</a:t>
            </a:r>
          </a:p>
          <a:p>
            <a:pPr>
              <a:spcAft>
                <a:spcPts val="1400"/>
              </a:spcAft>
            </a:pPr>
            <a:r>
              <a:rPr sz="2000" b="1" i="0">
                <a:solidFill>
                  <a:srgbClr val="2E3A80"/>
                </a:solidFill>
                <a:latin typeface="Montserrat"/>
              </a:rPr>
              <a:t>✓  </a:t>
            </a:r>
            <a:r>
              <a:rPr sz="2000" b="0" i="0">
                <a:solidFill>
                  <a:srgbClr val="1B2330"/>
                </a:solidFill>
                <a:latin typeface="Montserrat"/>
              </a:rPr>
              <a:t>Artículo 3 = diccionario del oficio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
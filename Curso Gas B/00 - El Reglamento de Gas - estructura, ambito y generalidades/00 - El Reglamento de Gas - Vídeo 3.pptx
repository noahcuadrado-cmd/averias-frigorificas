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ya tiene gas. ¿Y ahora qué?</a:t>
            </a:r>
          </a:p>
          <a:p>
            <a:r>
              <a:t>N2: Ahora hay que mantenerla viva y segura durante años. En este cierre del articulado vemos quién debe mantener y controlar las instalaciones, la diferencia más preguntada de todo el tema, que es inspección contra revisión, quién puede operar en instalaciones de gas y las reglas finales del Reglamento: cumplimiento, excepciones, reconocimiento mutuo, normas UNE, sanciones y accidentes. Es el bloque que convierte al instalador en un profesional que entiende su responsabilidad de verdad.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tienes que llevarte grabados de este vídeo?</a:t>
            </a:r>
          </a:p>
          <a:p>
            <a:r>
              <a:t>N2: Veinticuatro horas es el plazo máximo que tiene el suministrador para avisar a la Comunidad Autónoma cuando hay un accidente con daños importantes o víctimas. Siete días es el plazo para remitir después el informe completo. Y cuatro son las clases de accidente que el Reglamento lista como conjunto cerrado: deflagración, explosión, intoxicación e incendio. El truco para el orden es sencillo: primero llamas, en veinticuatro horas, y luego escribes, en siete días.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hay que mantenerla. ¿Pero de quién es esa obligación?</a:t>
            </a:r>
          </a:p>
          <a:p>
            <a:r>
              <a:t>N2: Del titular, el dueño, y en su defecto del usuario, quien la gasta. No es del instalador ni de la compañía: ellos ayudan y recomiendan, pero el que responde de que la instalación esté permanentemente en disposición de servicio, con su nivel de seguridad, es el dueño. Es exactamente como el coche: el taller te lo arregla, pero el que tiene que llevarlo a revisión eres tú. Tu papel como gasista es ejecutar el mantenimiento y advertir por escrito; la responsabilidad última de conservarlo es del titular.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 LA pregunta del tema. ¿Cómo distingues inspección de revisión?</a:t>
            </a:r>
          </a:p>
          <a:p>
            <a:r>
              <a:t>N2: Con una sola pregunta: ¿la instalación está conectada a la red de distribución, la tubería de la compañía en la calle? Si sí está conectada, gas natural de ciudad o GLP de red, es inspección. Si no está conectada, un depósito de GLP propio de un chalé, unas bombonas, es revisión. Y una segunda regla que gana cualquier empate: si la ley obliga a que venga un organismo de control, es inspección siempre. Chuleta mental: conectada a red, inspección; por tu cuenta, revisión. Con esto resuelves todas las preguntas de este bloque, que son muchas.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toca inspección, ¿quién está habilitado para hacerla?</a:t>
            </a:r>
          </a:p>
          <a:p>
            <a:r>
              <a:t>N2: Las inspecciones periódicas de las receptoras alimentadas desde redes por canalización las hace una empresa instaladora de gas habilitada o el distribuidor, con medios propios o externos. Y esto incluye también la inspección de la parte común de las receptoras. Fíjate en que es siempre alguien ajeno al usuario, habilitado para ello. Estas inspecciones son pan de tu oficio: cuando tengas tu categoría B y trabajes con una empresa habilitada, es una de las cosas que vas a hacer. Y recuerda que el titular elige libremente la empresa que se la realiza.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toca revisión, quién la pide?</a:t>
            </a:r>
          </a:p>
          <a:p>
            <a:r>
              <a:t>N2: Las revisiones se hacen en todas las instalaciones que no están conectadas a redes de distribución, por ejemplo un depósito de GLP propio en un chalé. Es obligación del titular, y en su defecto del usuario, solicitar los servicios de una de las entidades que indica la ITC. Fíjate en la diferencia con la inspección: allí manda el hecho de estar enganchado a la red, donde un fallo afecta a muchos, y viene alguien habilitado ajeno; aquí la instalación es más privada, tu depósito, y el propio titular tiene que mover ficha para que se la revisen. Misma finalidad, la seguridad, pero distinto nombre y distinto agente según el riesgo.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Más allá del papeleo, ¿para qué sirve de verdad el control periódico?</a:t>
            </a:r>
          </a:p>
          <a:p>
            <a:r>
              <a:t>N2: Es el momento en que cazas lo que mata despacio, lo que no se ve de un día para otro. Una rejilla de ventilación tapada con un mueble o con pintura. Un conducto de evacuación de humos obstruido. Una fuga incipiente que todavía no huele fuerte. Un aparato que empieza a dar mala combustión y monóxido de carbono. De cada control sale su certificado, con o sin anomalías, y si hay anomalías, ese papel marca lo que hay que corregir. Saltarse el control o firmarlo sin mirar de verdad es dejar que el problema crezca sin que nadie lo vea, hasta el susto. Ahí es donde tu trabajo salva vidas.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encima de inspecciones y revisiones, ¿hay alguien más que vigile?</a:t>
            </a:r>
          </a:p>
          <a:p>
            <a:r>
              <a:t>N2: Sí, y es la Comunidad Autónoma. Por encima de todo, puede comprobar en cualquier momento, por sí misma o mediante un organismo de control, que la instalación cumple, sobre todo si hay riesgo significativo para personas, animales, bienes o medio ambiente. Es la policía del gas: puede aparecer cuando quiera. De oficio significa por su propia iniciativa; a instancia de parte significa porque alguien se ha quejado. No es lo habitual del día a día, pero conviene saber que ese control administrativo existe y está por encima de los controles periódicos.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Empresa instaladora, instalador, agente de puesta en marcha. ¿Es todo lo mismo?</a:t>
            </a:r>
          </a:p>
          <a:p>
            <a:r>
              <a:t>N2: No, son tres papeles distintos y el examen los cruza. La empresa instaladora es la empresa, la razón social habilitada según la ITC-ICG cero nueve, con su seguro y sus medios. El instalador es la persona con carné, y tiene categorías A, B o C según esa misma ITC. Y el agente de puesta en marcha es quien arranca los aparatos, según la ITC-ICG cero ocho. Tú te estás sacando la categoría B: podrás trabajar en la mayoría de instalaciones receptoras domésticas y comerciales típicas. Ve asociando cada papel con su ITC: instalador a la cero nueve, aparatos a la cero ocho.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Reglamento es lo máximo que puedes hacer, o lo mínimo?</a:t>
            </a:r>
          </a:p>
          <a:p>
            <a:r>
              <a:t>N2: Es el mínimo. Sus prescripciones son mínimos obligatorios: marcan el suelo, no el techo. Puedes hacerlo más seguro, nunca menos. Y si por lo que sea no puedes cumplir a la letra, hay dos salidas, siempre antes del procedimiento del artículo quinto y firmadas por técnico competente. La primera es la técnica equivalente, del artículo noveno: lo hago distinto pero demuestro que es igual de seguro o más, y me lo aprueban. La segunda, como último recurso, es la excepción, del artículo décimo: es imposible cumplir y tampoco hay equivalente, así que pido permiso para saltármelo a cambio de medidas compensatorias. No confundas equivalente con excepción: una es otro camino igual de seguro, la otra es el último cartucho.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detalles finos pero preguntados: material extranjero y normas UNE.</a:t>
            </a:r>
          </a:p>
          <a:p>
            <a:r>
              <a:t>N2: Primero, el reconocimiento mutuo del artículo once: un material aprobado legalmente en otro Estado de la Unión Europea, o de la zona asimilada, vale aquí, siempre que garantice un nivel de seguridad equivalente. Es la lógica del mercado único: no hay que volver a certificar en cada país. Y segundo, el artículo doce: las ITC citan las normas UNE sin indicar el año de edición, para no quedarse anticuadas cada vez que se revisa una norma. El listado oficial con los años vive en la ITC-ICG once. Por eso en todo el curso verás, por ejemplo, UNE sesenta mil seiscientos setenta sin fecha: no es un olvido, es exactamente como manda el Reglamento.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se incumple, ¿dónde están las multas, en el Reglamento?</a:t>
            </a:r>
          </a:p>
          <a:p>
            <a:r>
              <a:t>N2: No, y esto es una pregunta con trampa. El Reglamento no inventa las multas: te remite a las dos leyes de las que cuelga. La Ley de industria y la Ley de hidrocarburos son las que fijan qué es una infracción leve, grave o muy grave y cuál es su sanción. Idea para el examen: las sanciones no están en el Reglamento, están en las leyes. Si ves una opción que dice que el propio Reglamento fija las multas, desconfía; lo que hace es enviarte al régimen sancionador de esas dos leyes.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 un accidente grave, ¿qué protocolo y qué plazos?</a:t>
            </a:r>
          </a:p>
          <a:p>
            <a:r>
              <a:t>N2: Dos plazos que caen juntos. Cuando un accidente causa daños importantes o víctimas, el suministrador lo notifica a la Comunidad Autónoma lo antes posible y en no más de veinticuatro horas, y después remite un informe completo en un plazo máximo de siete días. El truco: primero llamo, veinticuatro horas, luego escribo, siete días. Y memoriza las cuatro clases de accidente como lista cerrada: deflagración, explosión, intoxicación e incendio. Un matiz: en la deflagración el frente de llama avanza más despacio que el sonido, un fogonazo rápido; en la explosión avanza más rápido que el sonido y es mucho más destructiva. En gas doméstico lo habitual es la deflagración, pero el Reglamento las lista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Repaso rápido de todo el bloque. ¿Tienes los cuatro pilares?</a:t>
            </a:r>
          </a:p>
          <a:p>
            <a:r>
              <a:t>N2: Uno, la pregunta estrella: conectada a la red de distribución es inspección; por tu cuenta, revisión; y si obliga organismo de control, inspección siempre. Dos, mantener la instalación es obligación del titular, no tuya. Tres, el Reglamento marca mínimos obligatorios, el suelo y nunca el techo, y para no cumplir a la letra existen la técnica equivalente y la excepción, siempre antes del artículo quinto y firmadas por técnico competente. Y cuatro, ante accidente grave, veinticuatro horas para llamar y siete días para el informe, con las cuatro clases cerradas. Recítalos y pasamos al gran cierre.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gran final del tema. ¿Qué has conquistado en estos tres vídeos?</a:t>
            </a:r>
          </a:p>
          <a:p>
            <a:r>
              <a:t>N2: Piénsalo como logros, no como resumen. Hoy distingues inspección de revisión con una sola pregunta, la de si está conectada a la red, y esa es la pregunta más repetida de todo el bloque. Sabes que la obligación de mantener es del titular, y que tú ejecutas y adviertes. Manejas las reglas finales: el Reglamento como mínimos obligatorios, la técnica equivalente y la excepción como salidas firmadas por técnico competente, las UNE citadas sin año con su listado en la ITC-ICG once, y las sanciones que viven en las dos leyes. Y llevas de memoria el protocolo de accidente: veinticuatro horas para avisar, siete días para el informe, cuatro clases cerradas.</a:t>
            </a:r>
          </a:p>
          <a:p>
            <a:r>
              <a:t>N1: ¿Y por qué esto te hace mejor gasista y no solo mejor examinando?</a:t>
            </a:r>
          </a:p>
          <a:p>
            <a:r>
              <a:t>N2: Porque en el examen te lo preguntan tal cual: inspección o revisión, quién comunica, qué plazos de accidente; y ahora lo resuelves sin pestañear. Pero en la obra vale todavía más: cada vez que haces un control periódico de verdad, cazas la rejilla tapada o el conducto obstruido que mata despacio, y evitas la intoxicación por monóxido antes de que ocurra. Ahí tu firma protege a una familia. Con esto cierras el Tema cero: ya no solo tocas tubos, entiendes de dónde sale cada norma, de qué respondes y por qué. Has completado el marco normativo entero; hoy ya piensas como un gasista. A partir de aquí saltamos a las instalaciones de verdad, con todo este mapa en la cabeza.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Mantenimiento y control periódico</a:t>
            </a:r>
          </a:p>
          <a:p>
            <a:r>
              <a:rPr sz="2200" b="0" i="0">
                <a:solidFill>
                  <a:srgbClr val="CADCFC"/>
                </a:solidFill>
                <a:latin typeface="Montserrat"/>
              </a:rPr>
              <a:t>Inspección, revisión y régimen general del Reglamento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24</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horas para avisar de un accidente</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para el informe completo</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clases de accidente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quién es la obligación?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Titular, y en su defecto el usuario</a:t>
            </a:r>
          </a:p>
          <a:p>
            <a:pPr>
              <a:spcAft>
                <a:spcPts val="1000"/>
              </a:spcAft>
            </a:pPr>
            <a:r>
              <a:rPr sz="1600" b="1" i="0">
                <a:solidFill>
                  <a:srgbClr val="2E3A80"/>
                </a:solidFill>
                <a:latin typeface="Montserrat"/>
              </a:rPr>
              <a:t>•  </a:t>
            </a:r>
            <a:r>
              <a:rPr sz="1600" b="0" i="0">
                <a:solidFill>
                  <a:srgbClr val="1B2330"/>
                </a:solidFill>
                <a:latin typeface="Montserrat"/>
              </a:rPr>
              <a:t>En disposición de servicio, siempre</a:t>
            </a:r>
          </a:p>
          <a:p>
            <a:pPr>
              <a:spcAft>
                <a:spcPts val="1000"/>
              </a:spcAft>
            </a:pPr>
            <a:r>
              <a:rPr sz="1600" b="1" i="0">
                <a:solidFill>
                  <a:srgbClr val="2E3A80"/>
                </a:solidFill>
                <a:latin typeface="Montserrat"/>
              </a:rPr>
              <a:t>•  </a:t>
            </a:r>
            <a:r>
              <a:rPr sz="1600" b="0" i="0">
                <a:solidFill>
                  <a:srgbClr val="1B2330"/>
                </a:solidFill>
                <a:latin typeface="Montserrat"/>
              </a:rPr>
              <a:t>El instalador ayuda, no responde por él</a:t>
            </a:r>
          </a:p>
        </p:txBody>
      </p:sp>
      <p:sp>
        <p:nvSpPr>
          <p:cNvPr id="8" name="imgph" descr="IMGQ:homeowner gas boiler maintenance chec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homeowner gas boiler maintenance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7.2 · LA PREGUNTA ESTRELLA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¿Inspección o revisión?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¿Conectada a la red de distribución?</a:t>
            </a:r>
          </a:p>
          <a:p>
            <a:pPr>
              <a:spcAft>
                <a:spcPts val="1000"/>
              </a:spcAft>
            </a:pPr>
            <a:r>
              <a:rPr sz="1600" b="1" i="0">
                <a:solidFill>
                  <a:srgbClr val="2E3A80"/>
                </a:solidFill>
                <a:latin typeface="Montserrat"/>
              </a:rPr>
              <a:t>•  </a:t>
            </a:r>
            <a:r>
              <a:rPr sz="1600" b="0" i="0">
                <a:solidFill>
                  <a:srgbClr val="1B2330"/>
                </a:solidFill>
                <a:latin typeface="Montserrat"/>
              </a:rPr>
              <a:t>SÍ (red) → inspección</a:t>
            </a:r>
          </a:p>
          <a:p>
            <a:pPr>
              <a:spcAft>
                <a:spcPts val="1000"/>
              </a:spcAft>
            </a:pPr>
            <a:r>
              <a:rPr sz="1600" b="1" i="0">
                <a:solidFill>
                  <a:srgbClr val="2E3A80"/>
                </a:solidFill>
                <a:latin typeface="Montserrat"/>
              </a:rPr>
              <a:t>•  </a:t>
            </a:r>
            <a:r>
              <a:rPr sz="1600" b="0" i="0">
                <a:solidFill>
                  <a:srgbClr val="1B2330"/>
                </a:solidFill>
                <a:latin typeface="Montserrat"/>
              </a:rPr>
              <a:t>NO (depósito propio) → revisión</a:t>
            </a:r>
          </a:p>
          <a:p>
            <a:pPr>
              <a:spcAft>
                <a:spcPts val="1000"/>
              </a:spcAft>
            </a:pPr>
            <a:r>
              <a:rPr sz="1600" b="1" i="0">
                <a:solidFill>
                  <a:srgbClr val="2E3A80"/>
                </a:solidFill>
                <a:latin typeface="Montserrat"/>
              </a:rPr>
              <a:t>•  </a:t>
            </a:r>
            <a:r>
              <a:rPr sz="1600" b="0" i="0">
                <a:solidFill>
                  <a:srgbClr val="1B2330"/>
                </a:solidFill>
                <a:latin typeface="Montserrat"/>
              </a:rPr>
              <a:t>Organismo de control obligatorio → inspección</a:t>
            </a:r>
          </a:p>
        </p:txBody>
      </p:sp>
      <p:sp>
        <p:nvSpPr>
          <p:cNvPr id="8" name="imgph" descr="IMGQ:gas distribution pipeline street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pipeline street valve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7.2.1 ·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Inspección: quién la hace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Receptoras desde red por canalización</a:t>
            </a:r>
          </a:p>
          <a:p>
            <a:pPr>
              <a:spcAft>
                <a:spcPts val="1000"/>
              </a:spcAft>
            </a:pPr>
            <a:r>
              <a:rPr sz="1600" b="1" i="0">
                <a:solidFill>
                  <a:srgbClr val="2E3A80"/>
                </a:solidFill>
                <a:latin typeface="Montserrat"/>
              </a:rPr>
              <a:t>•  </a:t>
            </a:r>
            <a:r>
              <a:rPr sz="1600" b="0" i="0">
                <a:solidFill>
                  <a:srgbClr val="1B2330"/>
                </a:solidFill>
                <a:latin typeface="Montserrat"/>
              </a:rPr>
              <a:t>Empresa instaladora habilitada o distribuidor</a:t>
            </a:r>
          </a:p>
          <a:p>
            <a:pPr>
              <a:spcAft>
                <a:spcPts val="1000"/>
              </a:spcAft>
            </a:pPr>
            <a:r>
              <a:rPr sz="1600" b="1" i="0">
                <a:solidFill>
                  <a:srgbClr val="2E3A80"/>
                </a:solidFill>
                <a:latin typeface="Montserrat"/>
              </a:rPr>
              <a:t>•  </a:t>
            </a:r>
            <a:r>
              <a:rPr sz="1600" b="0" i="0">
                <a:solidFill>
                  <a:srgbClr val="1B2330"/>
                </a:solidFill>
                <a:latin typeface="Montserrat"/>
              </a:rPr>
              <a:t>También la parte común</a:t>
            </a:r>
          </a:p>
        </p:txBody>
      </p:sp>
      <p:sp>
        <p:nvSpPr>
          <p:cNvPr id="8" name="imgph" descr="IMGQ:gas technician inspecting mete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inspecting meter cabinet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7.2.2 · REVISIONES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Revisión: quién la hace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no conectadas a red</a:t>
            </a:r>
          </a:p>
          <a:p>
            <a:pPr>
              <a:spcAft>
                <a:spcPts val="1000"/>
              </a:spcAft>
            </a:pPr>
            <a:r>
              <a:rPr sz="1600" b="1" i="0">
                <a:solidFill>
                  <a:srgbClr val="2E3A80"/>
                </a:solidFill>
                <a:latin typeface="Montserrat"/>
              </a:rPr>
              <a:t>•  </a:t>
            </a:r>
            <a:r>
              <a:rPr sz="1600" b="0" i="0">
                <a:solidFill>
                  <a:srgbClr val="1B2330"/>
                </a:solidFill>
                <a:latin typeface="Montserrat"/>
              </a:rPr>
              <a:t>Obligación del titular o usuario</a:t>
            </a:r>
          </a:p>
          <a:p>
            <a:pPr>
              <a:spcAft>
                <a:spcPts val="1000"/>
              </a:spcAft>
            </a:pPr>
            <a:r>
              <a:rPr sz="1600" b="1" i="0">
                <a:solidFill>
                  <a:srgbClr val="2E3A80"/>
                </a:solidFill>
                <a:latin typeface="Montserrat"/>
              </a:rPr>
              <a:t>•  </a:t>
            </a:r>
            <a:r>
              <a:rPr sz="1600" b="0" i="0">
                <a:solidFill>
                  <a:srgbClr val="1B2330"/>
                </a:solidFill>
                <a:latin typeface="Montserrat"/>
              </a:rPr>
              <a:t>Entidades que indique la ITC</a:t>
            </a:r>
          </a:p>
        </p:txBody>
      </p:sp>
      <p:sp>
        <p:nvSpPr>
          <p:cNvPr id="8" name="imgph" descr="IMGQ:lpg tank house garden insp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tank house garden inspection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CONTROL PERIÓDICO · PARA QUÉ SIRVE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Cazar lo que mata despacio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Rejilla de ventilación tapada</a:t>
            </a:r>
          </a:p>
          <a:p>
            <a:pPr>
              <a:spcAft>
                <a:spcPts val="1000"/>
              </a:spcAft>
            </a:pPr>
            <a:r>
              <a:rPr sz="1600" b="1" i="0">
                <a:solidFill>
                  <a:srgbClr val="2E3A80"/>
                </a:solidFill>
                <a:latin typeface="Montserrat"/>
              </a:rPr>
              <a:t>•  </a:t>
            </a:r>
            <a:r>
              <a:rPr sz="1600" b="0" i="0">
                <a:solidFill>
                  <a:srgbClr val="1B2330"/>
                </a:solidFill>
                <a:latin typeface="Montserrat"/>
              </a:rPr>
              <a:t>Conducto de evacuación obstruido</a:t>
            </a:r>
          </a:p>
          <a:p>
            <a:pPr>
              <a:spcAft>
                <a:spcPts val="1000"/>
              </a:spcAft>
            </a:pPr>
            <a:r>
              <a:rPr sz="1600" b="1" i="0">
                <a:solidFill>
                  <a:srgbClr val="2E3A80"/>
                </a:solidFill>
                <a:latin typeface="Montserrat"/>
              </a:rPr>
              <a:t>•  </a:t>
            </a:r>
            <a:r>
              <a:rPr sz="1600" b="0" i="0">
                <a:solidFill>
                  <a:srgbClr val="1B2330"/>
                </a:solidFill>
                <a:latin typeface="Montserrat"/>
              </a:rPr>
              <a:t>Fuga incipiente, mala combustión, CO</a:t>
            </a:r>
          </a:p>
        </p:txBody>
      </p:sp>
      <p:sp>
        <p:nvSpPr>
          <p:cNvPr id="8" name="imgph" descr="IMGQ:blocked ventilation grille wall du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blocked ventilation grille wall dust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7.3 · CONTROL ADMINISTRATIVO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policía del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Comunidad Autónoma, cuando quiera</a:t>
            </a:r>
          </a:p>
          <a:p>
            <a:pPr>
              <a:spcAft>
                <a:spcPts val="1000"/>
              </a:spcAft>
            </a:pPr>
            <a:r>
              <a:rPr sz="1600" b="1" i="0">
                <a:solidFill>
                  <a:srgbClr val="2E3A80"/>
                </a:solidFill>
                <a:latin typeface="Montserrat"/>
              </a:rPr>
              <a:t>•  </a:t>
            </a:r>
            <a:r>
              <a:rPr sz="1600" b="0" i="0">
                <a:solidFill>
                  <a:srgbClr val="1B2330"/>
                </a:solidFill>
                <a:latin typeface="Montserrat"/>
              </a:rPr>
              <a:t>De oficio o a instancia de parte</a:t>
            </a:r>
          </a:p>
          <a:p>
            <a:pPr>
              <a:spcAft>
                <a:spcPts val="1000"/>
              </a:spcAft>
            </a:pPr>
            <a:r>
              <a:rPr sz="1600" b="1" i="0">
                <a:solidFill>
                  <a:srgbClr val="2E3A80"/>
                </a:solidFill>
                <a:latin typeface="Montserrat"/>
              </a:rPr>
              <a:t>•  </a:t>
            </a:r>
            <a:r>
              <a:rPr sz="1600" b="0" i="0">
                <a:solidFill>
                  <a:srgbClr val="1B2330"/>
                </a:solidFill>
                <a:latin typeface="Montserrat"/>
              </a:rPr>
              <a:t>Sobre todo si hay riesgo significativo</a:t>
            </a:r>
          </a:p>
        </p:txBody>
      </p:sp>
      <p:sp>
        <p:nvSpPr>
          <p:cNvPr id="8" name="imgph" descr="IMGQ:government inspector safety ves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government inspector safety vest clipboard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8 · HABILITACIÓN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Tres papeles que no son lo mismo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Empresa instaladora: la razón social</a:t>
            </a:r>
          </a:p>
          <a:p>
            <a:pPr>
              <a:spcAft>
                <a:spcPts val="1000"/>
              </a:spcAft>
            </a:pPr>
            <a:r>
              <a:rPr sz="1600" b="1" i="0">
                <a:solidFill>
                  <a:srgbClr val="2E3A80"/>
                </a:solidFill>
                <a:latin typeface="Montserrat"/>
              </a:rPr>
              <a:t>•  </a:t>
            </a:r>
            <a:r>
              <a:rPr sz="1600" b="0" i="0">
                <a:solidFill>
                  <a:srgbClr val="1B2330"/>
                </a:solidFill>
                <a:latin typeface="Montserrat"/>
              </a:rPr>
              <a:t>Instalador: la persona, categorías A/B/C</a:t>
            </a:r>
          </a:p>
          <a:p>
            <a:pPr>
              <a:spcAft>
                <a:spcPts val="1000"/>
              </a:spcAft>
            </a:pPr>
            <a:r>
              <a:rPr sz="1600" b="1" i="0">
                <a:solidFill>
                  <a:srgbClr val="2E3A80"/>
                </a:solidFill>
                <a:latin typeface="Montserrat"/>
              </a:rPr>
              <a:t>•  </a:t>
            </a:r>
            <a:r>
              <a:rPr sz="1600" b="0" i="0">
                <a:solidFill>
                  <a:srgbClr val="1B2330"/>
                </a:solidFill>
                <a:latin typeface="Montserrat"/>
              </a:rPr>
              <a:t>Agente de puesta en marcha: los aparatos</a:t>
            </a:r>
          </a:p>
          <a:p>
            <a:pPr>
              <a:spcAft>
                <a:spcPts val="1000"/>
              </a:spcAft>
            </a:pPr>
            <a:r>
              <a:rPr sz="1600" b="1" i="0">
                <a:solidFill>
                  <a:srgbClr val="2E3A80"/>
                </a:solidFill>
                <a:latin typeface="Montserrat"/>
              </a:rPr>
              <a:t>•  </a:t>
            </a:r>
            <a:r>
              <a:rPr sz="1600" b="0" i="0">
                <a:solidFill>
                  <a:srgbClr val="1B2330"/>
                </a:solidFill>
                <a:latin typeface="Montserrat"/>
              </a:rPr>
              <a:t>Tú vas a por la categoría B</a:t>
            </a:r>
          </a:p>
        </p:txBody>
      </p:sp>
      <p:sp>
        <p:nvSpPr>
          <p:cNvPr id="8" name="imgph" descr="IMGQ:gas installer license card uni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license card uniform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ARTÍCULOS 9 Y 10 · CUMPLIMIENTO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suelo, no el techo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Prescripciones: mínimos obligatorios</a:t>
            </a:r>
          </a:p>
          <a:p>
            <a:pPr>
              <a:spcAft>
                <a:spcPts val="1000"/>
              </a:spcAft>
            </a:pPr>
            <a:r>
              <a:rPr sz="1600" b="1" i="0">
                <a:solidFill>
                  <a:srgbClr val="2E3A80"/>
                </a:solidFill>
                <a:latin typeface="Montserrat"/>
              </a:rPr>
              <a:t>•  </a:t>
            </a:r>
            <a:r>
              <a:rPr sz="1600" b="0" i="0">
                <a:solidFill>
                  <a:srgbClr val="1B2330"/>
                </a:solidFill>
                <a:latin typeface="Montserrat"/>
              </a:rPr>
              <a:t>Más seguro sí, menos nunca</a:t>
            </a:r>
          </a:p>
          <a:p>
            <a:pPr>
              <a:spcAft>
                <a:spcPts val="1000"/>
              </a:spcAft>
            </a:pPr>
            <a:r>
              <a:rPr sz="1600" b="1" i="0">
                <a:solidFill>
                  <a:srgbClr val="2E3A80"/>
                </a:solidFill>
                <a:latin typeface="Montserrat"/>
              </a:rPr>
              <a:t>•  </a:t>
            </a:r>
            <a:r>
              <a:rPr sz="1600" b="0" i="0">
                <a:solidFill>
                  <a:srgbClr val="1B2330"/>
                </a:solidFill>
                <a:latin typeface="Montserrat"/>
              </a:rPr>
              <a:t>Técnica equivalente (art. 9)</a:t>
            </a:r>
          </a:p>
          <a:p>
            <a:pPr>
              <a:spcAft>
                <a:spcPts val="1000"/>
              </a:spcAft>
            </a:pPr>
            <a:r>
              <a:rPr sz="1600" b="1" i="0">
                <a:solidFill>
                  <a:srgbClr val="2E3A80"/>
                </a:solidFill>
                <a:latin typeface="Montserrat"/>
              </a:rPr>
              <a:t>•  </a:t>
            </a:r>
            <a:r>
              <a:rPr sz="1600" b="0" i="0">
                <a:solidFill>
                  <a:srgbClr val="1B2330"/>
                </a:solidFill>
                <a:latin typeface="Montserrat"/>
              </a:rPr>
              <a:t>Excepción, último recurso (art. 10)</a:t>
            </a:r>
          </a:p>
        </p:txBody>
      </p:sp>
      <p:sp>
        <p:nvSpPr>
          <p:cNvPr id="8" name="imgph" descr="IMGQ:engineer signing safety complianc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signing safety compliance document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ARTÍCULOS 11 Y 12 · NORMAS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Europa vale y las UNE van sin 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Reconocimiento mutuo: material europeo, si es seguro</a:t>
            </a:r>
          </a:p>
          <a:p>
            <a:pPr>
              <a:spcAft>
                <a:spcPts val="1000"/>
              </a:spcAft>
            </a:pPr>
            <a:r>
              <a:rPr sz="1600" b="1" i="0">
                <a:solidFill>
                  <a:srgbClr val="2E3A80"/>
                </a:solidFill>
                <a:latin typeface="Montserrat"/>
              </a:rPr>
              <a:t>•  </a:t>
            </a:r>
            <a:r>
              <a:rPr sz="1600" b="0" i="0">
                <a:solidFill>
                  <a:srgbClr val="1B2330"/>
                </a:solidFill>
                <a:latin typeface="Montserrat"/>
              </a:rPr>
              <a:t>Las ITC citan las UNE sin año</a:t>
            </a:r>
          </a:p>
          <a:p>
            <a:pPr>
              <a:spcAft>
                <a:spcPts val="1000"/>
              </a:spcAft>
            </a:pPr>
            <a:r>
              <a:rPr sz="1600" b="1" i="0">
                <a:solidFill>
                  <a:srgbClr val="2E3A80"/>
                </a:solidFill>
                <a:latin typeface="Montserrat"/>
              </a:rPr>
              <a:t>•  </a:t>
            </a:r>
            <a:r>
              <a:rPr sz="1600" b="0" i="0">
                <a:solidFill>
                  <a:srgbClr val="1B2330"/>
                </a:solidFill>
                <a:latin typeface="Montserrat"/>
              </a:rPr>
              <a:t>El listado con años, en la ITC-ICG 11</a:t>
            </a:r>
          </a:p>
        </p:txBody>
      </p:sp>
      <p:sp>
        <p:nvSpPr>
          <p:cNvPr id="8" name="imgph" descr="IMGQ:european standards manual technical boo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european standards manual technical book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13 · SANCIONES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multas no las pone el Reglamento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Régimen de infracciones y sanciones</a:t>
            </a:r>
          </a:p>
          <a:p>
            <a:pPr>
              <a:spcAft>
                <a:spcPts val="1000"/>
              </a:spcAft>
            </a:pPr>
            <a:r>
              <a:rPr sz="1600" b="1" i="0">
                <a:solidFill>
                  <a:srgbClr val="2E3A80"/>
                </a:solidFill>
                <a:latin typeface="Montserrat"/>
              </a:rPr>
              <a:t>•  </a:t>
            </a:r>
            <a:r>
              <a:rPr sz="1600" b="0" i="0">
                <a:solidFill>
                  <a:srgbClr val="1B2330"/>
                </a:solidFill>
                <a:latin typeface="Montserrat"/>
              </a:rPr>
              <a:t>Ley de industria y ley de hidrocarburos</a:t>
            </a:r>
          </a:p>
          <a:p>
            <a:pPr>
              <a:spcAft>
                <a:spcPts val="1000"/>
              </a:spcAft>
            </a:pPr>
            <a:r>
              <a:rPr sz="1600" b="1" i="0">
                <a:solidFill>
                  <a:srgbClr val="2E3A80"/>
                </a:solidFill>
                <a:latin typeface="Montserrat"/>
              </a:rPr>
              <a:t>•  </a:t>
            </a:r>
            <a:r>
              <a:rPr sz="1600" b="0" i="0">
                <a:solidFill>
                  <a:srgbClr val="1B2330"/>
                </a:solidFill>
                <a:latin typeface="Montserrat"/>
              </a:rPr>
              <a:t>Leve, grave o muy grave</a:t>
            </a:r>
          </a:p>
        </p:txBody>
      </p:sp>
      <p:sp>
        <p:nvSpPr>
          <p:cNvPr id="8" name="imgph" descr="IMGQ:legal code book gavel tab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legal code book gavel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14 · ACCIDENTES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Primero llamo, luego escribo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Suministrador avisa en 24 horas</a:t>
            </a:r>
          </a:p>
          <a:p>
            <a:pPr>
              <a:spcAft>
                <a:spcPts val="1000"/>
              </a:spcAft>
            </a:pPr>
            <a:r>
              <a:rPr sz="1600" b="1" i="0">
                <a:solidFill>
                  <a:srgbClr val="2E3A80"/>
                </a:solidFill>
                <a:latin typeface="Montserrat"/>
              </a:rPr>
              <a:t>•  </a:t>
            </a:r>
            <a:r>
              <a:rPr sz="1600" b="0" i="0">
                <a:solidFill>
                  <a:srgbClr val="1B2330"/>
                </a:solidFill>
                <a:latin typeface="Montserrat"/>
              </a:rPr>
              <a:t>Informe completo en 7 días</a:t>
            </a:r>
          </a:p>
          <a:p>
            <a:pPr>
              <a:spcAft>
                <a:spcPts val="1000"/>
              </a:spcAft>
            </a:pPr>
            <a:r>
              <a:rPr sz="1600" b="1" i="0">
                <a:solidFill>
                  <a:srgbClr val="2E3A80"/>
                </a:solidFill>
                <a:latin typeface="Montserrat"/>
              </a:rPr>
              <a:t>•  </a:t>
            </a:r>
            <a:r>
              <a:rPr sz="1600" b="0" i="0">
                <a:solidFill>
                  <a:srgbClr val="1B2330"/>
                </a:solidFill>
                <a:latin typeface="Montserrat"/>
              </a:rPr>
              <a:t>Clases: deflagración, explosión, intoxicación, incendio</a:t>
            </a:r>
          </a:p>
        </p:txBody>
      </p:sp>
      <p:sp>
        <p:nvSpPr>
          <p:cNvPr id="8" name="imgph" descr="IMGQ:emergency gas leak warning sce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gas leak warning scene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Fíjalo en treinta segundos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Conectada a red → inspección; por tu cuenta → revisión</a:t>
            </a:r>
          </a:p>
          <a:p>
            <a:pPr>
              <a:spcAft>
                <a:spcPts val="1000"/>
              </a:spcAft>
            </a:pPr>
            <a:r>
              <a:rPr sz="1600" b="1" i="0">
                <a:solidFill>
                  <a:srgbClr val="2E3A80"/>
                </a:solidFill>
                <a:latin typeface="Montserrat"/>
              </a:rPr>
              <a:t>•  </a:t>
            </a:r>
            <a:r>
              <a:rPr sz="1600" b="0" i="0">
                <a:solidFill>
                  <a:srgbClr val="1B2330"/>
                </a:solidFill>
                <a:latin typeface="Montserrat"/>
              </a:rPr>
              <a:t>Mantener es del titular</a:t>
            </a:r>
          </a:p>
          <a:p>
            <a:pPr>
              <a:spcAft>
                <a:spcPts val="1000"/>
              </a:spcAft>
            </a:pPr>
            <a:r>
              <a:rPr sz="1600" b="1" i="0">
                <a:solidFill>
                  <a:srgbClr val="2E3A80"/>
                </a:solidFill>
                <a:latin typeface="Montserrat"/>
              </a:rPr>
              <a:t>•  </a:t>
            </a:r>
            <a:r>
              <a:rPr sz="1600" b="0" i="0">
                <a:solidFill>
                  <a:srgbClr val="1B2330"/>
                </a:solidFill>
                <a:latin typeface="Montserrat"/>
              </a:rPr>
              <a:t>Reglamento: el suelo, nunca el techo</a:t>
            </a:r>
          </a:p>
          <a:p>
            <a:pPr>
              <a:spcAft>
                <a:spcPts val="1000"/>
              </a:spcAft>
            </a:pPr>
            <a:r>
              <a:rPr sz="1600" b="1" i="0">
                <a:solidFill>
                  <a:srgbClr val="2E3A80"/>
                </a:solidFill>
                <a:latin typeface="Montserrat"/>
              </a:rPr>
              <a:t>•  </a:t>
            </a:r>
            <a:r>
              <a:rPr sz="1600" b="0" i="0">
                <a:solidFill>
                  <a:srgbClr val="1B2330"/>
                </a:solidFill>
                <a:latin typeface="Montserrat"/>
              </a:rPr>
              <a:t>Accidente: 24 h para llamar, 7 días para escribir</a:t>
            </a:r>
          </a:p>
        </p:txBody>
      </p:sp>
      <p:sp>
        <p:nvSpPr>
          <p:cNvPr id="8" name="imgph" descr="IMGQ:gas safety inspection summary checkli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inspection summary checklist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Cierras el articulado como un profesional</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Distingues inspección de revisión con una sola pregunta</a:t>
            </a:r>
          </a:p>
          <a:p>
            <a:pPr>
              <a:spcAft>
                <a:spcPts val="1200"/>
              </a:spcAft>
            </a:pPr>
            <a:r>
              <a:rPr sz="2000" b="1" i="0">
                <a:solidFill>
                  <a:srgbClr val="CADCFC"/>
                </a:solidFill>
                <a:latin typeface="Montserrat"/>
              </a:rPr>
              <a:t>✓  </a:t>
            </a:r>
            <a:r>
              <a:rPr sz="1900" b="0" i="0">
                <a:solidFill>
                  <a:srgbClr val="FFFFFF"/>
                </a:solidFill>
                <a:latin typeface="Montserrat"/>
              </a:rPr>
              <a:t>Sabes que el mantenimiento responde el titular</a:t>
            </a:r>
          </a:p>
          <a:p>
            <a:pPr>
              <a:spcAft>
                <a:spcPts val="1200"/>
              </a:spcAft>
            </a:pPr>
            <a:r>
              <a:rPr sz="2000" b="1" i="0">
                <a:solidFill>
                  <a:srgbClr val="CADCFC"/>
                </a:solidFill>
                <a:latin typeface="Montserrat"/>
              </a:rPr>
              <a:t>✓  </a:t>
            </a:r>
            <a:r>
              <a:rPr sz="1900" b="0" i="0">
                <a:solidFill>
                  <a:srgbClr val="FFFFFF"/>
                </a:solidFill>
                <a:latin typeface="Montserrat"/>
              </a:rPr>
              <a:t>Manejas mínimos, equivalencias y excepciones</a:t>
            </a:r>
          </a:p>
          <a:p>
            <a:pPr>
              <a:spcAft>
                <a:spcPts val="1200"/>
              </a:spcAft>
            </a:pPr>
            <a:r>
              <a:rPr sz="2000" b="1" i="0">
                <a:solidFill>
                  <a:srgbClr val="CADCFC"/>
                </a:solidFill>
                <a:latin typeface="Montserrat"/>
              </a:rPr>
              <a:t>✓  </a:t>
            </a:r>
            <a:r>
              <a:rPr sz="1900" b="0" i="0">
                <a:solidFill>
                  <a:srgbClr val="FFFFFF"/>
                </a:solidFill>
                <a:latin typeface="Montserrat"/>
              </a:rPr>
              <a:t>El protocolo de accidente lo tienes de memoria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Has terminado el marco normativo: ya piensas como gasista. A por las instalaciones.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
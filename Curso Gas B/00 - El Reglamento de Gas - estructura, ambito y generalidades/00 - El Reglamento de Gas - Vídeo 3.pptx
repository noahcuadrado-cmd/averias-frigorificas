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instalación ya tiene gas. ¿Y ahora qué?</a:t>
            </a:r>
          </a:p>
          <a:p>
            <a:r>
              <a:t>N2: Ahora viene lo que dura años: mantenerla viva y segura. En este cierre del articulado juntamos varias piezas. Vemos quién debe mantener y controlar las instalaciones, la diferencia más preguntada de todo el tema, que es inspección contra revisión, quién puede operar en instalaciones de gas, y las reglas finales del Reglamento: cumplimiento, excepciones, reconocimiento mutuo europeo, normas UNE, sanciones y accidentes. Parece mucho, pero verás que casi todo se ordena con dos o tres ideas simples. Este es el bloque que convierte a un montador de tubos en un profesional que entiende de qué responde.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números tengo que llevarme grabados de este vídeo?</a:t>
            </a:r>
          </a:p>
          <a:p>
            <a:r>
              <a:t>N2: Estos tres se preguntan y hay que soltarlos sin dudar. Veinticuatro horas es el plazo máximo que tiene el suministrador para avisar a la Comunidad Autónoma cuando hay un accidente con daños importantes o víctimas. Siete días es el plazo para remitir después el informe completo. Y cuatro son las clases de accidente que el Reglamento lista como conjunto cerrado: deflagración, explosión, intoxicación e incendio. El truco para no cambiar el orden de los plazos es muy sencillo, y lo repetiremos: primero llamas, en veinticuatro horas, y luego escribes, en siete días.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instalación hay que mantenerla, pero ¿de quién es esa obligación?</a:t>
            </a:r>
          </a:p>
          <a:p>
            <a:r>
              <a:t>N2: Del titular, el dueño, y en su defecto del usuario, quien la gasta. Que no te confunda que tú seas el que va con las herramientas: la obligación legal de mantener no es del instalador ni de la compañía. Ellos ayudan y recomiendan, pero el que responde de que la instalación esté permanentemente en disposición de servicio, con su nivel de seguridad, es el dueño. La comparación que lo deja clavado: es como el coche. El taller te lo arregla, pero el que está obligado a llevarlo a la revisión y a mantenerlo eres tú, el propietario. Tu papel como gasista es ejecutar el mantenimiento cuando te llaman y advertir por escrito de lo que veas; la responsabilidad última de conservarlo en buen estado es del titular.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 es LA pregunta del tema. ¿Cómo distingo inspección de revisión?</a:t>
            </a:r>
          </a:p>
          <a:p>
            <a:r>
              <a:t>N2: Buena noticia: se resuelve con una sola pregunta. Pregúntate si la instalación está conectada a la red de distribución, es decir, a la tubería de la compañía que pasa por la calle. Si la respuesta es sí, gas natural de ciudad o GLP de red, entonces es inspección. Si la respuesta es no, por ejemplo un depósito de GLP propio en un chalé o unas bombonas, entonces es revisión. Y una segunda regla que gana cualquier empate: si la ley obliga a que venga un organismo de control, es inspección siempre, sin discusión. Chuleta mental para toda la vida: conectada a red, inspección; por tu cuenta, revisión. Con esta sola pregunta resuelves todas las cuestiones de este bloque, que en el examen son muchas y parecen difíciles hasta que tienes la clave.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toca inspección, ¿quién está habilitado para hacerla?</a:t>
            </a:r>
          </a:p>
          <a:p>
            <a:r>
              <a:t>N2: La inspección de las receptoras alimentadas desde redes por canalización la hace una empresa instaladora de gas habilitada o el distribuidor, con medios propios o externos. Y fíjate en un detalle práctico: esto incluye también la inspección de la parte común de las receptoras, el montante que comparten los vecinos, no solo lo de cada piso. Lo importante que aquí se repite es que siempre lo hace alguien ajeno al usuario, habilitado para ello; no se autoinspecciona uno solo su instalación de red. Esto no es teoría lejana: cuando tengas tu categoría B y trabajes con una empresa habilitada, hacer estas inspecciones va a ser pan de tu oficio. Y recuerda un derecho del cliente que también cae: el titular elige libremente qué empresa se la realiza.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cuándo toca revisión, quién la pide?</a:t>
            </a:r>
          </a:p>
          <a:p>
            <a:r>
              <a:t>N2: La revisión es para todas las instalaciones que no están conectadas a redes de distribución; el ejemplo típico es un depósito de GLP propio en un chalé. Aquí cambia quién mueve ficha: es obligación del titular, y en su defecto del usuario, solicitar los servicios de una de las entidades que indica la ITC. Compara con la inspección para entender la lógica: en la inspección mandaba el hecho de estar enganchado a la red, donde un fallo puede afectar a muchos vecinos, y venía alguien habilitado ajeno; en la revisión la instalación es más privada, tu depósito en tu parcela, y es el propio titular quien tiene que pedir que se la revisen. Misma finalidad en las dos, la seguridad; lo que cambia es el nombre y el agente, y cambia según el riesgo.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Más allá del papeleo, ¿para qué sirve de verdad el control periódico?</a:t>
            </a:r>
          </a:p>
          <a:p>
            <a:r>
              <a:t>N2: Sirve para cazar lo que mata despacio, esos problemas que no se ven de un día para otro y por eso son tan traicioneros. Piensa en casos reales: una rejilla de ventilación tapada con un mueble o pintada por encima, que ahoga la combustión. Un conducto de evacuación de humos obstruido, que devuelve los gases a la casa. Una fuga incipiente, todavía pequeña, que aún no huele fuerte. O un aparato que empieza a dar mala combustión y monóxido de carbono. De cada control sale su certificado, con o sin anomalías, y si las hay, ese papel marca justo lo que hay que corregir. La conclusión es seria: saltarse el control o firmarlo sin mirar de verdad es dejar que el problema crezca sin que nadie lo vea, hasta el susto o la desgracia. Aquí es donde tu trabajo, bien hecho, salva vidas.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encima de inspecciones y revisiones, ¿hay alguien más que vigile?</a:t>
            </a:r>
          </a:p>
          <a:p>
            <a:r>
              <a:t>N2: Sí, y conviene saberlo. Por encima de todo está la Comunidad Autónoma, que puede comprobar en cualquier momento, por sí misma o mediante un organismo de control, que la instalación cumple; sobre todo si hay un riesgo significativo para personas, animales, bienes o medio ambiente. Es, por decirlo llano, la policía del gas: puede aparecer cuando quiera. Te traduzco dos expresiones legales que salen aquí: 'de oficio' significa que actúa por su propia iniciativa, sin que nadie se lo pida; y 'a instancia de parte' significa que actúa porque alguien lo ha solicitado o se ha quejado. No es lo del día a día, pero es importante que sepas que ese control administrativo existe y está por encima de los controles periódicos normales.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Empresa instaladora, instalador, agente de puesta en marcha. ¿Es todo lo mismo?</a:t>
            </a:r>
          </a:p>
          <a:p>
            <a:r>
              <a:t>N2: No, son tres figuras distintas y el examen las cruza a propósito, así que vamos a separarlas bien. La empresa instaladora es la empresa, la razón social habilitada según la ITC-ICG cero nueve, con su seguro y sus medios. El instalador es la persona con carné, tú, y tiene categorías A, B o C según esa misma ITC. Y el agente de puesta en marcha es quien arranca los aparatos, según la ITC-ICG cero ocho. Tú te estás sacando ahora mismo la categoría B: con ella podrás trabajar en la mayoría de instalaciones receptoras domésticas y comerciales típicas, que son la inmensa mayoría de las que verás. Un consejo para el examen: ve asociando cada figura con su ITC, el instalador a la cero nueve y los aparatos a la cero ocho, y no las mezclarás.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Reglamento es lo máximo que puedo hacer, o lo mínimo?</a:t>
            </a:r>
          </a:p>
          <a:p>
            <a:r>
              <a:t>N2: Es el mínimo, y este matiz cambia la forma de entenderlo todo. Sus prescripciones son mínimos obligatorios: marcan el suelo, no el techo. Puedes hacerlo más seguro, nunca menos. Y si por lo que sea no puedes cumplir una prescripción a la letra, existen dos salidas, las dos siempre antes del procedimiento del artículo quinto y firmadas por técnico competente. La primera es la técnica equivalente, del artículo noveno: lo hago de otra manera pero demuestro que es igual de seguro o más, y me lo aprueban. La segunda, como último recurso, es la excepción, del artículo décimo: es materialmente imposible cumplir y tampoco hay equivalente, así que pido permiso para saltármelo a cambio de medidas compensatorias. No confundas una con otra: la equivalente es 'otro camino igual de seguro', la excepción es 'el último cartucho cuando no hay otra'. Y ambas se piden antes, nunca después de montar.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Dos detalles finos pero preguntados: material extranjero y normas UNE.</a:t>
            </a:r>
          </a:p>
          <a:p>
            <a:r>
              <a:t>N2: Los vemos juntos porque los dos caen. Primero, el reconocimiento mutuo del artículo once: un material aprobado y comercializado legalmente en otro Estado de la Unión Europea, o de la zona asimilada, vale también aquí, siempre que garantice un nivel de seguridad equivalente al que exigimos nosotros. Es la lógica del mercado único europeo: no hace falta volver a certificarlo país por país. Y segundo, el artículo doce, un detalle muy fino: las ITC citan las normas UNE sin indicar el año de edición. ¿Por qué? Para no quedarse anticuadas cada vez que se revisa una norma. El listado oficial, ese sí con los años de cada norma, vive en la ITC-ICG once. Por eso en todo el curso verás, por ejemplo, UNE sesenta mil seiscientos setenta escrita sin fecha: no es un olvido ni una errata, es exactamente como manda el Reglamento.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se incumple, ¿dónde están las multas, en el propio Reglamento?</a:t>
            </a:r>
          </a:p>
          <a:p>
            <a:r>
              <a:t>N2: No, y esta es una pregunta con trampa muy típica. El Reglamento no inventa las multas: te remite a las dos leyes de las que cuelga, ¿te acuerdas de ellas del primer vídeo? La Ley de industria y la Ley de hidrocarburos son las que fijan qué es una infracción leve, grave o muy grave, y cuál es la sanción de cada una. La idea para el examen es directa: las sanciones no están en el Reglamento, están en las leyes. Así que si ves una opción que dice que el propio Reglamento fija las multas, desconfía y descártala; lo que hace el Reglamento es enviarte al régimen sancionador de esas dos leyes. Todo cuadra con la idea del tronco: el Reglamento desarrolla las leyes, no las sustituye.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 un accidente grave, ¿qué protocolo y qué plazos?</a:t>
            </a:r>
          </a:p>
          <a:p>
            <a:r>
              <a:t>N2: Dos plazos que caen siempre juntos, así que apréndelos en pareja. Cuando un accidente causa daños importantes o víctimas, el suministrador lo notifica a la Comunidad Autónoma lo antes posible y en no más de veinticuatro horas; y después remite un informe completo en un plazo máximo de siete días. El truco para no cambiarlos: primero llamo, veinticuatro horas, luego escribo, siete días. Y memoriza las cuatro clases de accidente como lista cerrada: deflagración, explosión, intoxicación e incendio. Un matiz que te da puntos: deflagración y explosión no son lo mismo. En la deflagración el frente de llama avanza más despacio que el sonido, es un fogonazo rápido; en la explosión avanza más rápido que el sonido y es mucho más destructiva. En gas doméstico lo habitual es la deflagración, pero el Reglamento las lista por separado.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Repaso rápido de todo el bloque. ¿Tengo los cuatro pilares?</a:t>
            </a:r>
          </a:p>
          <a:p>
            <a:r>
              <a:t>N2: Los fijamos en treinta segundos y en voz alta. Uno, la pregunta estrella: conectada a la red de distribución es inspección; por tu cuenta, sin red, revisión; y si obliga organismo de control, inspección siempre. Dos, mantener la instalación es obligación del titular, no tuya; tú ejecutas y adviertes. Tres, el Reglamento marca mínimos obligatorios, el suelo y nunca el techo, y para no cumplir a la letra existen la técnica equivalente y la excepción, siempre antes del artículo quinto y firmadas por técnico competente. Y cuatro, ante accidente grave, veinticuatro horas para llamar y siete días para el informe, con las cuatro clases cerradas. Recítalos de carrerilla y pasamos al gran cierre del tema.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Este es el gran final del tema. ¿Qué he conquistado en estos tres vídeos?</a:t>
            </a:r>
          </a:p>
          <a:p>
            <a:r>
              <a:t>N2: Vamos a reconstruirlo como logros, no como resumen, porque hoy sabes hacer cosas que al empezar no sabías. Distingues inspección de revisión con una sola pregunta, la de si está conectada a la red, y esa es la pregunta más repetida de todo el bloque. Sabes que la obligación de mantener es del titular, y que tú ejecutas y adviertes por escrito. Manejas las reglas finales sin agobiarte: el Reglamento como mínimos obligatorios, la técnica equivalente y la excepción como salidas firmadas por técnico competente y siempre antes de montar, las UNE citadas sin año con su listado en la ITC-ICG once, y las sanciones que viven en las dos leyes, no en el Reglamento. Y llevas de memoria el protocolo de accidente: veinticuatro horas para avisar, siete días para el informe, cuatro clases cerradas.</a:t>
            </a:r>
          </a:p>
          <a:p>
            <a:r>
              <a:t>N1: ¿Y por qué esto me hace mejor gasista, y no solo mejor examinando?</a:t>
            </a:r>
          </a:p>
          <a:p>
            <a:r>
              <a:t>N2: Por dos motivos. En el examen te lo preguntan tal cual, inspección o revisión, quién comunica, qué plazos de accidente, y ahora lo resuelves sin pestañear. Pero en la obra vale todavía más, y esto es lo bonito del oficio: cada vez que haces un control periódico de verdad, cazas la rejilla tapada o el conducto obstruido que mata despacio, y evitas una intoxicación por monóxido antes de que ocurra. Ahí tu firma protege a una familia entera. Con esto cierras el Tema cero completo: ya no solo tocas tubos, entiendes de dónde sale cada norma, de qué respondes tú y por qué existe cada regla. Has completado el marco normativo de arriba abajo; hoy, de verdad, ya piensas como un gasista. A partir de aquí saltamos a las instalaciones reales con todo este mapa en la cabeza. Enhorabuena por el tema, y a por el siguiente.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3 DE 3</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Mantenimiento y control periódico</a:t>
            </a:r>
          </a:p>
          <a:p>
            <a:r>
              <a:rPr sz="2200" b="0" i="0">
                <a:solidFill>
                  <a:srgbClr val="CADCFC"/>
                </a:solidFill>
                <a:latin typeface="Montserrat"/>
              </a:rPr>
              <a:t>Inspección, revisión y régimen general del Reglamento</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00 · Marco normativo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24</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horas para avisar del accidente</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7</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días para el informe completo</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4</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clases de accidente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ARTÍCULO 7.1 · MANTENIMIENTO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¿De quién es la obligación?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Titular, y en su defecto el usuario</a:t>
            </a:r>
          </a:p>
          <a:p>
            <a:pPr>
              <a:spcAft>
                <a:spcPts val="1000"/>
              </a:spcAft>
            </a:pPr>
            <a:r>
              <a:rPr sz="1600" b="1" i="0">
                <a:solidFill>
                  <a:srgbClr val="2E3A80"/>
                </a:solidFill>
                <a:latin typeface="Montserrat"/>
              </a:rPr>
              <a:t>•  </a:t>
            </a:r>
            <a:r>
              <a:rPr sz="1600" b="0" i="0">
                <a:solidFill>
                  <a:srgbClr val="1B2330"/>
                </a:solidFill>
                <a:latin typeface="Montserrat"/>
              </a:rPr>
              <a:t>En disposición de servicio, siempre</a:t>
            </a:r>
          </a:p>
          <a:p>
            <a:pPr>
              <a:spcAft>
                <a:spcPts val="1000"/>
              </a:spcAft>
            </a:pPr>
            <a:r>
              <a:rPr sz="1600" b="1" i="0">
                <a:solidFill>
                  <a:srgbClr val="2E3A80"/>
                </a:solidFill>
                <a:latin typeface="Montserrat"/>
              </a:rPr>
              <a:t>•  </a:t>
            </a:r>
            <a:r>
              <a:rPr sz="1600" b="0" i="0">
                <a:solidFill>
                  <a:srgbClr val="1B2330"/>
                </a:solidFill>
                <a:latin typeface="Montserrat"/>
              </a:rPr>
              <a:t>El instalador ayuda, no responde por él</a:t>
            </a:r>
          </a:p>
        </p:txBody>
      </p:sp>
      <p:sp>
        <p:nvSpPr>
          <p:cNvPr id="8" name="imgph" descr="IMGQ:homeowner gas boiler maintenance chec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homeowner gas boiler maintenance check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ARTÍCULO 7.2 · LA PREGUNTA ESTRELLA</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¿Inspección o revisión?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¿Conectada a la red de distribución?</a:t>
            </a:r>
          </a:p>
          <a:p>
            <a:pPr>
              <a:spcAft>
                <a:spcPts val="1000"/>
              </a:spcAft>
            </a:pPr>
            <a:r>
              <a:rPr sz="1600" b="1" i="0">
                <a:solidFill>
                  <a:srgbClr val="2E3A80"/>
                </a:solidFill>
                <a:latin typeface="Montserrat"/>
              </a:rPr>
              <a:t>•  </a:t>
            </a:r>
            <a:r>
              <a:rPr sz="1600" b="0" i="0">
                <a:solidFill>
                  <a:srgbClr val="1B2330"/>
                </a:solidFill>
                <a:latin typeface="Montserrat"/>
              </a:rPr>
              <a:t>SÍ (red) → inspección</a:t>
            </a:r>
          </a:p>
          <a:p>
            <a:pPr>
              <a:spcAft>
                <a:spcPts val="1000"/>
              </a:spcAft>
            </a:pPr>
            <a:r>
              <a:rPr sz="1600" b="1" i="0">
                <a:solidFill>
                  <a:srgbClr val="2E3A80"/>
                </a:solidFill>
                <a:latin typeface="Montserrat"/>
              </a:rPr>
              <a:t>•  </a:t>
            </a:r>
            <a:r>
              <a:rPr sz="1600" b="0" i="0">
                <a:solidFill>
                  <a:srgbClr val="1B2330"/>
                </a:solidFill>
                <a:latin typeface="Montserrat"/>
              </a:rPr>
              <a:t>NO (depósito propio) → revisión</a:t>
            </a:r>
          </a:p>
          <a:p>
            <a:pPr>
              <a:spcAft>
                <a:spcPts val="1000"/>
              </a:spcAft>
            </a:pPr>
            <a:r>
              <a:rPr sz="1600" b="1" i="0">
                <a:solidFill>
                  <a:srgbClr val="2E3A80"/>
                </a:solidFill>
                <a:latin typeface="Montserrat"/>
              </a:rPr>
              <a:t>•  </a:t>
            </a:r>
            <a:r>
              <a:rPr sz="1600" b="0" i="0">
                <a:solidFill>
                  <a:srgbClr val="1B2330"/>
                </a:solidFill>
                <a:latin typeface="Montserrat"/>
              </a:rPr>
              <a:t>Organismo de control obligatorio → inspección</a:t>
            </a:r>
          </a:p>
        </p:txBody>
      </p:sp>
      <p:sp>
        <p:nvSpPr>
          <p:cNvPr id="8" name="imgph" descr="IMGQ:gas distribution pipeline street valv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distribution pipeline street valve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ARTÍCULO 7.2.1 · INSPECCIONES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Inspección: quién la hace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Receptoras desde red por canalización</a:t>
            </a:r>
          </a:p>
          <a:p>
            <a:pPr>
              <a:spcAft>
                <a:spcPts val="1000"/>
              </a:spcAft>
            </a:pPr>
            <a:r>
              <a:rPr sz="1600" b="1" i="0">
                <a:solidFill>
                  <a:srgbClr val="2E3A80"/>
                </a:solidFill>
                <a:latin typeface="Montserrat"/>
              </a:rPr>
              <a:t>•  </a:t>
            </a:r>
            <a:r>
              <a:rPr sz="1600" b="0" i="0">
                <a:solidFill>
                  <a:srgbClr val="1B2330"/>
                </a:solidFill>
                <a:latin typeface="Montserrat"/>
              </a:rPr>
              <a:t>Empresa instaladora habilitada o distribuidor</a:t>
            </a:r>
          </a:p>
          <a:p>
            <a:pPr>
              <a:spcAft>
                <a:spcPts val="1000"/>
              </a:spcAft>
            </a:pPr>
            <a:r>
              <a:rPr sz="1600" b="1" i="0">
                <a:solidFill>
                  <a:srgbClr val="2E3A80"/>
                </a:solidFill>
                <a:latin typeface="Montserrat"/>
              </a:rPr>
              <a:t>•  </a:t>
            </a:r>
            <a:r>
              <a:rPr sz="1600" b="0" i="0">
                <a:solidFill>
                  <a:srgbClr val="1B2330"/>
                </a:solidFill>
                <a:latin typeface="Montserrat"/>
              </a:rPr>
              <a:t>También la parte común</a:t>
            </a:r>
          </a:p>
        </p:txBody>
      </p:sp>
      <p:sp>
        <p:nvSpPr>
          <p:cNvPr id="8" name="imgph" descr="IMGQ:gas technician inspecting meter cabine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technician inspecting meter cabinet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ARTÍCULO 7.2.2 · REVISIONES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Revisión: quién la hace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Instalaciones no conectadas a red</a:t>
            </a:r>
          </a:p>
          <a:p>
            <a:pPr>
              <a:spcAft>
                <a:spcPts val="1000"/>
              </a:spcAft>
            </a:pPr>
            <a:r>
              <a:rPr sz="1600" b="1" i="0">
                <a:solidFill>
                  <a:srgbClr val="2E3A80"/>
                </a:solidFill>
                <a:latin typeface="Montserrat"/>
              </a:rPr>
              <a:t>•  </a:t>
            </a:r>
            <a:r>
              <a:rPr sz="1600" b="0" i="0">
                <a:solidFill>
                  <a:srgbClr val="1B2330"/>
                </a:solidFill>
                <a:latin typeface="Montserrat"/>
              </a:rPr>
              <a:t>Obligación del titular o usuario</a:t>
            </a:r>
          </a:p>
          <a:p>
            <a:pPr>
              <a:spcAft>
                <a:spcPts val="1000"/>
              </a:spcAft>
            </a:pPr>
            <a:r>
              <a:rPr sz="1600" b="1" i="0">
                <a:solidFill>
                  <a:srgbClr val="2E3A80"/>
                </a:solidFill>
                <a:latin typeface="Montserrat"/>
              </a:rPr>
              <a:t>•  </a:t>
            </a:r>
            <a:r>
              <a:rPr sz="1600" b="0" i="0">
                <a:solidFill>
                  <a:srgbClr val="1B2330"/>
                </a:solidFill>
                <a:latin typeface="Montserrat"/>
              </a:rPr>
              <a:t>Entidades que indique la ITC</a:t>
            </a:r>
          </a:p>
        </p:txBody>
      </p:sp>
      <p:sp>
        <p:nvSpPr>
          <p:cNvPr id="8" name="imgph" descr="IMGQ:lpg tank house garden inspec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lpg tank house garden inspection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CONTROL PERIÓDICO · PARA QUÉ SIRVE</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Cazar lo que mata despacio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Rejilla de ventilación tapada</a:t>
            </a:r>
          </a:p>
          <a:p>
            <a:pPr>
              <a:spcAft>
                <a:spcPts val="1000"/>
              </a:spcAft>
            </a:pPr>
            <a:r>
              <a:rPr sz="1600" b="1" i="0">
                <a:solidFill>
                  <a:srgbClr val="2E3A80"/>
                </a:solidFill>
                <a:latin typeface="Montserrat"/>
              </a:rPr>
              <a:t>•  </a:t>
            </a:r>
            <a:r>
              <a:rPr sz="1600" b="0" i="0">
                <a:solidFill>
                  <a:srgbClr val="1B2330"/>
                </a:solidFill>
                <a:latin typeface="Montserrat"/>
              </a:rPr>
              <a:t>Conducto de evacuación obstruido</a:t>
            </a:r>
          </a:p>
          <a:p>
            <a:pPr>
              <a:spcAft>
                <a:spcPts val="1000"/>
              </a:spcAft>
            </a:pPr>
            <a:r>
              <a:rPr sz="1600" b="1" i="0">
                <a:solidFill>
                  <a:srgbClr val="2E3A80"/>
                </a:solidFill>
                <a:latin typeface="Montserrat"/>
              </a:rPr>
              <a:t>•  </a:t>
            </a:r>
            <a:r>
              <a:rPr sz="1600" b="0" i="0">
                <a:solidFill>
                  <a:srgbClr val="1B2330"/>
                </a:solidFill>
                <a:latin typeface="Montserrat"/>
              </a:rPr>
              <a:t>Fuga incipiente, mala combustión, CO</a:t>
            </a:r>
          </a:p>
        </p:txBody>
      </p:sp>
      <p:sp>
        <p:nvSpPr>
          <p:cNvPr id="8" name="imgph" descr="IMGQ:blocked ventilation grille wall dus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blocked ventilation grille wall dust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ARTÍCULO 7.3 · CONTROL ADMINISTRATIVO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policía del gas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La Comunidad Autónoma, cuando quiera</a:t>
            </a:r>
          </a:p>
          <a:p>
            <a:pPr>
              <a:spcAft>
                <a:spcPts val="1000"/>
              </a:spcAft>
            </a:pPr>
            <a:r>
              <a:rPr sz="1600" b="1" i="0">
                <a:solidFill>
                  <a:srgbClr val="2E3A80"/>
                </a:solidFill>
                <a:latin typeface="Montserrat"/>
              </a:rPr>
              <a:t>•  </a:t>
            </a:r>
            <a:r>
              <a:rPr sz="1600" b="0" i="0">
                <a:solidFill>
                  <a:srgbClr val="1B2330"/>
                </a:solidFill>
                <a:latin typeface="Montserrat"/>
              </a:rPr>
              <a:t>De oficio o a instancia de parte</a:t>
            </a:r>
          </a:p>
          <a:p>
            <a:pPr>
              <a:spcAft>
                <a:spcPts val="1000"/>
              </a:spcAft>
            </a:pPr>
            <a:r>
              <a:rPr sz="1600" b="1" i="0">
                <a:solidFill>
                  <a:srgbClr val="2E3A80"/>
                </a:solidFill>
                <a:latin typeface="Montserrat"/>
              </a:rPr>
              <a:t>•  </a:t>
            </a:r>
            <a:r>
              <a:rPr sz="1600" b="0" i="0">
                <a:solidFill>
                  <a:srgbClr val="1B2330"/>
                </a:solidFill>
                <a:latin typeface="Montserrat"/>
              </a:rPr>
              <a:t>Sobre todo si hay riesgo significativo</a:t>
            </a:r>
          </a:p>
        </p:txBody>
      </p:sp>
      <p:sp>
        <p:nvSpPr>
          <p:cNvPr id="8" name="imgph" descr="IMGQ:government inspector safety vest clipboar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government inspector safety vest clipboard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ARTÍCULO 8 · HABILITACIÓN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Tres papeles que no son lo mismo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Empresa instaladora: la razón social</a:t>
            </a:r>
          </a:p>
          <a:p>
            <a:pPr>
              <a:spcAft>
                <a:spcPts val="1000"/>
              </a:spcAft>
            </a:pPr>
            <a:r>
              <a:rPr sz="1600" b="1" i="0">
                <a:solidFill>
                  <a:srgbClr val="2E3A80"/>
                </a:solidFill>
                <a:latin typeface="Montserrat"/>
              </a:rPr>
              <a:t>•  </a:t>
            </a:r>
            <a:r>
              <a:rPr sz="1600" b="0" i="0">
                <a:solidFill>
                  <a:srgbClr val="1B2330"/>
                </a:solidFill>
                <a:latin typeface="Montserrat"/>
              </a:rPr>
              <a:t>Instalador: la persona, categorías A/B/C</a:t>
            </a:r>
          </a:p>
          <a:p>
            <a:pPr>
              <a:spcAft>
                <a:spcPts val="1000"/>
              </a:spcAft>
            </a:pPr>
            <a:r>
              <a:rPr sz="1600" b="1" i="0">
                <a:solidFill>
                  <a:srgbClr val="2E3A80"/>
                </a:solidFill>
                <a:latin typeface="Montserrat"/>
              </a:rPr>
              <a:t>•  </a:t>
            </a:r>
            <a:r>
              <a:rPr sz="1600" b="0" i="0">
                <a:solidFill>
                  <a:srgbClr val="1B2330"/>
                </a:solidFill>
                <a:latin typeface="Montserrat"/>
              </a:rPr>
              <a:t>Agente de puesta en marcha: los aparatos</a:t>
            </a:r>
          </a:p>
          <a:p>
            <a:pPr>
              <a:spcAft>
                <a:spcPts val="1000"/>
              </a:spcAft>
            </a:pPr>
            <a:r>
              <a:rPr sz="1600" b="1" i="0">
                <a:solidFill>
                  <a:srgbClr val="2E3A80"/>
                </a:solidFill>
                <a:latin typeface="Montserrat"/>
              </a:rPr>
              <a:t>•  </a:t>
            </a:r>
            <a:r>
              <a:rPr sz="1600" b="0" i="0">
                <a:solidFill>
                  <a:srgbClr val="1B2330"/>
                </a:solidFill>
                <a:latin typeface="Montserrat"/>
              </a:rPr>
              <a:t>Tú vas a por la categoría B</a:t>
            </a:r>
          </a:p>
        </p:txBody>
      </p:sp>
      <p:sp>
        <p:nvSpPr>
          <p:cNvPr id="8" name="imgph" descr="IMGQ:gas installer license card uniform"/>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installer license card uniform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ARTÍCULOS 9 Y 10 · CUMPLIMIENTO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suelo, no el techo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Prescripciones: mínimos obligatorios</a:t>
            </a:r>
          </a:p>
          <a:p>
            <a:pPr>
              <a:spcAft>
                <a:spcPts val="1000"/>
              </a:spcAft>
            </a:pPr>
            <a:r>
              <a:rPr sz="1600" b="1" i="0">
                <a:solidFill>
                  <a:srgbClr val="2E3A80"/>
                </a:solidFill>
                <a:latin typeface="Montserrat"/>
              </a:rPr>
              <a:t>•  </a:t>
            </a:r>
            <a:r>
              <a:rPr sz="1600" b="0" i="0">
                <a:solidFill>
                  <a:srgbClr val="1B2330"/>
                </a:solidFill>
                <a:latin typeface="Montserrat"/>
              </a:rPr>
              <a:t>Más seguro sí, menos nunca</a:t>
            </a:r>
          </a:p>
          <a:p>
            <a:pPr>
              <a:spcAft>
                <a:spcPts val="1000"/>
              </a:spcAft>
            </a:pPr>
            <a:r>
              <a:rPr sz="1600" b="1" i="0">
                <a:solidFill>
                  <a:srgbClr val="2E3A80"/>
                </a:solidFill>
                <a:latin typeface="Montserrat"/>
              </a:rPr>
              <a:t>•  </a:t>
            </a:r>
            <a:r>
              <a:rPr sz="1600" b="0" i="0">
                <a:solidFill>
                  <a:srgbClr val="1B2330"/>
                </a:solidFill>
                <a:latin typeface="Montserrat"/>
              </a:rPr>
              <a:t>Técnica equivalente (art. 9)</a:t>
            </a:r>
          </a:p>
          <a:p>
            <a:pPr>
              <a:spcAft>
                <a:spcPts val="1000"/>
              </a:spcAft>
            </a:pPr>
            <a:r>
              <a:rPr sz="1600" b="1" i="0">
                <a:solidFill>
                  <a:srgbClr val="2E3A80"/>
                </a:solidFill>
                <a:latin typeface="Montserrat"/>
              </a:rPr>
              <a:t>•  </a:t>
            </a:r>
            <a:r>
              <a:rPr sz="1600" b="0" i="0">
                <a:solidFill>
                  <a:srgbClr val="1B2330"/>
                </a:solidFill>
                <a:latin typeface="Montserrat"/>
              </a:rPr>
              <a:t>Excepción, último recurso (art. 10)</a:t>
            </a:r>
          </a:p>
        </p:txBody>
      </p:sp>
      <p:sp>
        <p:nvSpPr>
          <p:cNvPr id="8" name="imgph" descr="IMGQ:engineer signing safety compliance docume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engineer signing safety compliance document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ARTÍCULOS 11 Y 12 · NORMAS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Europa vale y las UNE van sin año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Reconocimiento mutuo: material europeo si es seguro</a:t>
            </a:r>
          </a:p>
          <a:p>
            <a:pPr>
              <a:spcAft>
                <a:spcPts val="1000"/>
              </a:spcAft>
            </a:pPr>
            <a:r>
              <a:rPr sz="1600" b="1" i="0">
                <a:solidFill>
                  <a:srgbClr val="2E3A80"/>
                </a:solidFill>
                <a:latin typeface="Montserrat"/>
              </a:rPr>
              <a:t>•  </a:t>
            </a:r>
            <a:r>
              <a:rPr sz="1600" b="0" i="0">
                <a:solidFill>
                  <a:srgbClr val="1B2330"/>
                </a:solidFill>
                <a:latin typeface="Montserrat"/>
              </a:rPr>
              <a:t>Las ITC citan las UNE sin año</a:t>
            </a:r>
          </a:p>
          <a:p>
            <a:pPr>
              <a:spcAft>
                <a:spcPts val="1000"/>
              </a:spcAft>
            </a:pPr>
            <a:r>
              <a:rPr sz="1600" b="1" i="0">
                <a:solidFill>
                  <a:srgbClr val="2E3A80"/>
                </a:solidFill>
                <a:latin typeface="Montserrat"/>
              </a:rPr>
              <a:t>•  </a:t>
            </a:r>
            <a:r>
              <a:rPr sz="1600" b="0" i="0">
                <a:solidFill>
                  <a:srgbClr val="1B2330"/>
                </a:solidFill>
                <a:latin typeface="Montserrat"/>
              </a:rPr>
              <a:t>El listado con años, en la ITC-ICG 11</a:t>
            </a:r>
          </a:p>
        </p:txBody>
      </p:sp>
      <p:sp>
        <p:nvSpPr>
          <p:cNvPr id="8" name="imgph" descr="IMGQ:european standards manual technical boo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european standards manual technical book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ARTÍCULO 13 · SANCIONES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Las multas no las pone el Reglamento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Régimen de infracciones y sanciones</a:t>
            </a:r>
          </a:p>
          <a:p>
            <a:pPr>
              <a:spcAft>
                <a:spcPts val="1000"/>
              </a:spcAft>
            </a:pPr>
            <a:r>
              <a:rPr sz="1600" b="1" i="0">
                <a:solidFill>
                  <a:srgbClr val="2E3A80"/>
                </a:solidFill>
                <a:latin typeface="Montserrat"/>
              </a:rPr>
              <a:t>•  </a:t>
            </a:r>
            <a:r>
              <a:rPr sz="1600" b="0" i="0">
                <a:solidFill>
                  <a:srgbClr val="1B2330"/>
                </a:solidFill>
                <a:latin typeface="Montserrat"/>
              </a:rPr>
              <a:t>Ley de industria y ley de hidrocarburos</a:t>
            </a:r>
          </a:p>
          <a:p>
            <a:pPr>
              <a:spcAft>
                <a:spcPts val="1000"/>
              </a:spcAft>
            </a:pPr>
            <a:r>
              <a:rPr sz="1600" b="1" i="0">
                <a:solidFill>
                  <a:srgbClr val="2E3A80"/>
                </a:solidFill>
                <a:latin typeface="Montserrat"/>
              </a:rPr>
              <a:t>•  </a:t>
            </a:r>
            <a:r>
              <a:rPr sz="1600" b="0" i="0">
                <a:solidFill>
                  <a:srgbClr val="1B2330"/>
                </a:solidFill>
                <a:latin typeface="Montserrat"/>
              </a:rPr>
              <a:t>Leve, grave o muy grave</a:t>
            </a:r>
          </a:p>
        </p:txBody>
      </p:sp>
      <p:sp>
        <p:nvSpPr>
          <p:cNvPr id="8" name="imgph" descr="IMGQ:legal code book gavel tabl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legal code book gavel 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ARTÍCULO 14 · ACCIDENTES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Primero llamo, luego escribo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Suministrador avisa en 24 horas</a:t>
            </a:r>
          </a:p>
          <a:p>
            <a:pPr>
              <a:spcAft>
                <a:spcPts val="1000"/>
              </a:spcAft>
            </a:pPr>
            <a:r>
              <a:rPr sz="1600" b="1" i="0">
                <a:solidFill>
                  <a:srgbClr val="2E3A80"/>
                </a:solidFill>
                <a:latin typeface="Montserrat"/>
              </a:rPr>
              <a:t>•  </a:t>
            </a:r>
            <a:r>
              <a:rPr sz="1600" b="0" i="0">
                <a:solidFill>
                  <a:srgbClr val="1B2330"/>
                </a:solidFill>
                <a:latin typeface="Montserrat"/>
              </a:rPr>
              <a:t>Informe completo en 7 días</a:t>
            </a:r>
          </a:p>
          <a:p>
            <a:pPr>
              <a:spcAft>
                <a:spcPts val="1000"/>
              </a:spcAft>
            </a:pPr>
            <a:r>
              <a:rPr sz="1600" b="1" i="0">
                <a:solidFill>
                  <a:srgbClr val="2E3A80"/>
                </a:solidFill>
                <a:latin typeface="Montserrat"/>
              </a:rPr>
              <a:t>•  </a:t>
            </a:r>
            <a:r>
              <a:rPr sz="1600" b="0" i="0">
                <a:solidFill>
                  <a:srgbClr val="1B2330"/>
                </a:solidFill>
                <a:latin typeface="Montserrat"/>
              </a:rPr>
              <a:t>Clases: deflagración, explosión, intoxicación, incendio</a:t>
            </a:r>
          </a:p>
        </p:txBody>
      </p:sp>
      <p:sp>
        <p:nvSpPr>
          <p:cNvPr id="8" name="imgph" descr="IMGQ:emergency gas leak warning scen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emergency gas leak warning scene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015</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REPASO RELÁMPAGO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Fíjalo en treinta segundos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Conectada a red → inspección; sin red → revisión</a:t>
            </a:r>
          </a:p>
          <a:p>
            <a:pPr>
              <a:spcAft>
                <a:spcPts val="1000"/>
              </a:spcAft>
            </a:pPr>
            <a:r>
              <a:rPr sz="1600" b="1" i="0">
                <a:solidFill>
                  <a:srgbClr val="2E3A80"/>
                </a:solidFill>
                <a:latin typeface="Montserrat"/>
              </a:rPr>
              <a:t>•  </a:t>
            </a:r>
            <a:r>
              <a:rPr sz="1600" b="0" i="0">
                <a:solidFill>
                  <a:srgbClr val="1B2330"/>
                </a:solidFill>
                <a:latin typeface="Montserrat"/>
              </a:rPr>
              <a:t>Mantener es del titular</a:t>
            </a:r>
          </a:p>
          <a:p>
            <a:pPr>
              <a:spcAft>
                <a:spcPts val="1000"/>
              </a:spcAft>
            </a:pPr>
            <a:r>
              <a:rPr sz="1600" b="1" i="0">
                <a:solidFill>
                  <a:srgbClr val="2E3A80"/>
                </a:solidFill>
                <a:latin typeface="Montserrat"/>
              </a:rPr>
              <a:t>•  </a:t>
            </a:r>
            <a:r>
              <a:rPr sz="1600" b="0" i="0">
                <a:solidFill>
                  <a:srgbClr val="1B2330"/>
                </a:solidFill>
                <a:latin typeface="Montserrat"/>
              </a:rPr>
              <a:t>Reglamento: el suelo, nunca el techo</a:t>
            </a:r>
          </a:p>
          <a:p>
            <a:pPr>
              <a:spcAft>
                <a:spcPts val="1000"/>
              </a:spcAft>
            </a:pPr>
            <a:r>
              <a:rPr sz="1600" b="1" i="0">
                <a:solidFill>
                  <a:srgbClr val="2E3A80"/>
                </a:solidFill>
                <a:latin typeface="Montserrat"/>
              </a:rPr>
              <a:t>•  </a:t>
            </a:r>
            <a:r>
              <a:rPr sz="1600" b="0" i="0">
                <a:solidFill>
                  <a:srgbClr val="1B2330"/>
                </a:solidFill>
                <a:latin typeface="Montserrat"/>
              </a:rPr>
              <a:t>Accidente: 24 h para llamar, 7 días para escribir</a:t>
            </a:r>
          </a:p>
        </p:txBody>
      </p:sp>
      <p:sp>
        <p:nvSpPr>
          <p:cNvPr id="8" name="imgph" descr="IMGQ:gas safety inspection summary checklis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safety inspection summary checklist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CADCFC"/>
                </a:solidFill>
                <a:latin typeface="Montserrat"/>
              </a:rPr>
              <a:t>LO QUE YA DOMINAS</a:t>
            </a:r>
          </a:p>
        </p:txBody>
      </p:sp>
      <p:sp>
        <p:nvSpPr>
          <p:cNvPr id="4" name="TextBox 3"/>
          <p:cNvSpPr txBox="1"/>
          <p:nvPr/>
        </p:nvSpPr>
        <p:spPr>
          <a:xfrm>
            <a:off x="822960" y="1143000"/>
            <a:ext cx="10515600" cy="1097280"/>
          </a:xfrm>
          <a:prstGeom prst="rect">
            <a:avLst/>
          </a:prstGeom>
          <a:noFill/>
        </p:spPr>
        <p:txBody>
          <a:bodyPr wrap="square">
            <a:spAutoFit/>
          </a:bodyPr>
          <a:lstStyle/>
          <a:p>
            <a:r>
              <a:rPr sz="3400" b="1" i="0">
                <a:solidFill>
                  <a:srgbClr val="FFFFFF"/>
                </a:solidFill>
                <a:latin typeface="Montserrat"/>
              </a:rPr>
              <a:t>Cierras el articulado como un profesional</a:t>
            </a:r>
          </a:p>
        </p:txBody>
      </p:sp>
      <p:sp>
        <p:nvSpPr>
          <p:cNvPr id="5" name="TextBox 4"/>
          <p:cNvSpPr txBox="1"/>
          <p:nvPr/>
        </p:nvSpPr>
        <p:spPr>
          <a:xfrm>
            <a:off x="822960" y="2514600"/>
            <a:ext cx="10515600" cy="2834640"/>
          </a:xfrm>
          <a:prstGeom prst="rect">
            <a:avLst/>
          </a:prstGeom>
          <a:noFill/>
        </p:spPr>
        <p:txBody>
          <a:bodyPr wrap="square">
            <a:spAutoFit/>
          </a:bodyPr>
          <a:lstStyle/>
          <a:p>
            <a:pPr>
              <a:spcAft>
                <a:spcPts val="1200"/>
              </a:spcAft>
            </a:pPr>
            <a:r>
              <a:rPr sz="2000" b="1" i="0">
                <a:solidFill>
                  <a:srgbClr val="CADCFC"/>
                </a:solidFill>
                <a:latin typeface="Montserrat"/>
              </a:rPr>
              <a:t>✓  </a:t>
            </a:r>
            <a:r>
              <a:rPr sz="1900" b="0" i="0">
                <a:solidFill>
                  <a:srgbClr val="FFFFFF"/>
                </a:solidFill>
                <a:latin typeface="Montserrat"/>
              </a:rPr>
              <a:t>Distingues inspección de revisión con una pregunta</a:t>
            </a:r>
          </a:p>
          <a:p>
            <a:pPr>
              <a:spcAft>
                <a:spcPts val="1200"/>
              </a:spcAft>
            </a:pPr>
            <a:r>
              <a:rPr sz="2000" b="1" i="0">
                <a:solidFill>
                  <a:srgbClr val="CADCFC"/>
                </a:solidFill>
                <a:latin typeface="Montserrat"/>
              </a:rPr>
              <a:t>✓  </a:t>
            </a:r>
            <a:r>
              <a:rPr sz="1900" b="0" i="0">
                <a:solidFill>
                  <a:srgbClr val="FFFFFF"/>
                </a:solidFill>
                <a:latin typeface="Montserrat"/>
              </a:rPr>
              <a:t>Sabes que el mantenimiento responde el titular</a:t>
            </a:r>
          </a:p>
          <a:p>
            <a:pPr>
              <a:spcAft>
                <a:spcPts val="1200"/>
              </a:spcAft>
            </a:pPr>
            <a:r>
              <a:rPr sz="2000" b="1" i="0">
                <a:solidFill>
                  <a:srgbClr val="CADCFC"/>
                </a:solidFill>
                <a:latin typeface="Montserrat"/>
              </a:rPr>
              <a:t>✓  </a:t>
            </a:r>
            <a:r>
              <a:rPr sz="1900" b="0" i="0">
                <a:solidFill>
                  <a:srgbClr val="FFFFFF"/>
                </a:solidFill>
                <a:latin typeface="Montserrat"/>
              </a:rPr>
              <a:t>Manejas mínimos, equivalencias y excepciones</a:t>
            </a:r>
          </a:p>
          <a:p>
            <a:pPr>
              <a:spcAft>
                <a:spcPts val="1200"/>
              </a:spcAft>
            </a:pPr>
            <a:r>
              <a:rPr sz="2000" b="1" i="0">
                <a:solidFill>
                  <a:srgbClr val="CADCFC"/>
                </a:solidFill>
                <a:latin typeface="Montserrat"/>
              </a:rPr>
              <a:t>✓  </a:t>
            </a:r>
            <a:r>
              <a:rPr sz="1900" b="0" i="0">
                <a:solidFill>
                  <a:srgbClr val="FFFFFF"/>
                </a:solidFill>
                <a:latin typeface="Montserrat"/>
              </a:rPr>
              <a:t>El protocolo de accidente lo tienes de memoria</a:t>
            </a:r>
          </a:p>
        </p:txBody>
      </p:sp>
      <p:sp>
        <p:nvSpPr>
          <p:cNvPr id="6" name="Rounded Rectangle 5"/>
          <p:cNvSpPr/>
          <p:nvPr/>
        </p:nvSpPr>
        <p:spPr>
          <a:xfrm>
            <a:off x="822960" y="5532120"/>
            <a:ext cx="10515600" cy="777240"/>
          </a:xfrm>
          <a:prstGeom prst="roundRect">
            <a:avLst/>
          </a:prstGeom>
          <a:solidFill>
            <a:srgbClr val="2E3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605272"/>
            <a:ext cx="10058400" cy="640080"/>
          </a:xfrm>
          <a:prstGeom prst="rect">
            <a:avLst/>
          </a:prstGeom>
          <a:noFill/>
        </p:spPr>
        <p:txBody>
          <a:bodyPr wrap="square">
            <a:spAutoFit/>
          </a:bodyPr>
          <a:lstStyle/>
          <a:p>
            <a:r>
              <a:rPr sz="1500" b="1" i="1">
                <a:solidFill>
                  <a:srgbClr val="CADCFC"/>
                </a:solidFill>
                <a:latin typeface="Montserrat"/>
              </a:rPr>
              <a:t>Has terminado el marco normativo: ya piensas como gasista. A por las instalaciones.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
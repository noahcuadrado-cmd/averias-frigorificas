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¿por qué empezamos justo por esta norma y no por otra?</a:t>
            </a:r>
          </a:p>
          <a:p>
            <a:r>
              <a:t>N2: Porque la UNE sesenta mil seiscientos setenta es tu norma de cabecera. Piénsalo así: cuando trabajas el gas a poca presión, hasta cinco bar, casi todo lo que haces sale de aquí. Cómo se diseña una instalación, cómo se prueba, cómo se pone en marcha y cómo se revisa con los años. En este primer vídeo no vamos a memorizar nada raro: vamos a dibujar el mapa. Qué es esta norma, cómo está ordenada y qué llama exactamente instalación receptora. Con el mapa en la cabeza, todo lo demás encaja solo.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estos tres números para qué me sirven?</a:t>
            </a:r>
          </a:p>
          <a:p>
            <a:r>
              <a:t>N2: Son las tres perchas donde vas a colgar todo el vídeo. La primera: la norma no es un folleto, son trece partes, como un manual de trece capítulos. La segunda: solo se aplica cuando la presión no pasa de cinco bar; por encima de eso ya juegas en otra liga. Y la tercera: según cómo te llegue el gas, hay tres clases de instalación. Si al acabar recuerdas estos tres números, ya has entendido de qué va la norma.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eso lo dice una sola norma?</a:t>
            </a:r>
          </a:p>
          <a:p>
            <a:r>
              <a:t>N2: Sí, y por eso es tan importante. Vamos de lo sencillo a lo preciso. Una instalación de gas tiene una vida: primero se piensa y se dibuja, eso es el diseño; luego se monta, la construcción; después se comprueba que no se escapa nada, las pruebas; se le mete gas por primera vez, la puesta en servicio; y con los años se revisa, el control periódico. Pues la UNE sesenta mil seiscientos setenta manda en toda esa vida, de principio a fin, siempre que la presión máxima de operación, o sea, la presión más alta a la que trabaja de forma continua, no pase de cinco bar. Y ojo, también dice dónde y cómo se colocan y se conectan los aparatos. Ejemplo de obra: cuando montas una caldera nueva y luego rellenas el boletín, estás pisando esta norma en cada paso.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me tengo que aprender las trece de memoria?</a:t>
            </a:r>
          </a:p>
          <a:p>
            <a:r>
              <a:t>N2: No, tranquilo. Pero sí saber que existen y para qué sirve cada bloque, porque en obra vas directo a la que necesitas sin perder la mañana buscando. Imagina un manual gordo con trece capítulos. Los dos primeros son la introducción: la parte uno, generalidades, que es esta, y la parte dos, el diccionario de términos. Esos dos te colocan todo. De la tres a la trece está el detalle: tuberías, diseño, contadores, ventilación, pruebas, puesta en servicio, revisiones. Regla práctica: dominas primero la uno y la dos, y las demás las consultas cuando toca.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¿Hace falta aprenderse las trece partes de memoria?</a:t>
            </a:r>
          </a:p>
          <a:p>
            <a:r>
              <a:t>N2: No, tranquilo, pero sí saber qué hay en cada bloque para ir directo a lo que necesitas. Léela como un manual de trece capítulos. Las dos primeras te colocan todo: la parte uno, generalidades, y la parte dos, el diccionario. De la tres a la trece está el detalle técnico: tuberías, diseño, contadores, ventilación, pruebas, puesta en servicio y control periódico. Truco de obra fila a fila: pruebas de estanquidad para entregar, parte ocho; puesta en servicio, parte nueve; control periódico, la doce para la instalación y la trece para los aparatos. Ejemplo: te preguntan dónde se tratan las pruebas de estanquidad y respondes parte ocho sin dudar.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pero en el examen o en obra, ¿cómo sé a qué parte ir?</a:t>
            </a:r>
          </a:p>
          <a:p>
            <a:r>
              <a:t>N2: Aquí va un truco que vale oro. Cuando pienses en pruebas de estanquidad para entregar la instalación, o sea, comprobar que no se escapa gas antes de entregarla, esa es la parte ocho. Cuando pienses en meter gas por primera vez, la puesta en servicio, esa es la nueve. Y cuando pienses en las revisiones cada cierto tiempo, el control periódico, son dos: la doce para la instalación y la trece para los aparatos. Si te preguntan en qué parte se trata algo, colócalo en su bloque y aciertas. En obra es igual: sabes exactamente qué capítulo abrir sin dar vueltas.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Anexo A? ¿Hay que empollárselo?</a:t>
            </a:r>
          </a:p>
          <a:p>
            <a:r>
              <a:t>N2: Nada de empollar. El único cambio de fondo de esta parte uno es que se ha actualizado ese anexo. Y es simplemente una lista: todas las otras normas que se citan a lo largo de las trece partes, tubos, llaves, reguladores, contadores, chimeneas, detectores. Es como la bibliografía al final de un libro: te dice dónde mirar cada cosa, pero no manda nada por sí mismo; por eso decimos que es informativo. Lo que tienes que saber para el examen es solo eso: que existe y que es informativo. Punto.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esta parte uno concreta, ¿de qué se ocupa?</a:t>
            </a:r>
          </a:p>
          <a:p>
            <a:r>
              <a:t>N2: De tres cosas muy claras, y te las digo en orden. Primero, define: pone negro sobre blanco qué es una instalación receptora, para que todos hablemos de lo mismo. Segundo, clasifica: la ordena en grupos según cómo llega el gas. Y tercero, marca los requisitos generales, las reglas de mínimos que debe cumplir cualquier instalación. Además, no se lo inventa: desarrolla una norma europea, la UNE-EN mil setecientos setenta y cinco, que da las recomendaciones de fondo para las redes de gas en edificios. O sea, la europea pone la idea general y la nuestra pone el detalle para España.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¿Cualquier tubo de gas es una instalación receptora?</a:t>
            </a:r>
          </a:p>
          <a:p>
            <a:r>
              <a:t>N2: No, y esto es clave. Tienen que darse tres condiciones a la vez, como las tres patas de un taburete: si falta una, se cae. Una, que use un gas de los normalizados, de las familias reconocidas en la norma UNE-EN cuatrocientos treinta y siete. Dos, que la presión máxima de operación no pase de cinco bar. Y tres, que esté hecha para dar servicio a aparatos de gas, sea una cocina, una caldera o un calentador. Regla de bolsillo: gas normalizado, poca presión y para dar de comer a aparatos. Si se cumplen las tres, es instalación receptora; si falla una, no lo es a efectos de esta norma.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 la primera, y con truco: ¿qué hace que un montaje sea de verdad instalación receptora?</a:t>
            </a:r>
          </a:p>
          <a:p>
            <a:r>
              <a:t>N2: Piensa en las tres patas de un taburete; si falta una, se cae. Gas normalizado, poca presión y para dar de comer a aparatos.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A?</a:t>
            </a:r>
          </a:p>
          <a:p>
            <a:r>
              <a:t>N2: Porque las tres condiciones van juntas: gas de una familia reconocida, presión máxima de operación no superior a cinco bar y servir a aparatos de gas. Si falla una sola, ya no es instalación receptora a efectos de la norma. El truco para no fallar: gas normalizado, poca presión y para aparatos.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Entonces la estufa de butano de casa, ¿no cuenta?</a:t>
            </a:r>
          </a:p>
          <a:p>
            <a:r>
              <a:t>N2: Buen ejemplo. Esa estufa, con una sola bombona pequeña, por debajo de quince kilos, conectada a un solo aparato, no es instalación receptora: no se legaliza como tal. Es lo que la norma llama aparato móvil. Y hay una versión todavía más pequeña, el aparato popular, que es el infiernillo de camping: solo admite envase de hasta tres kilos. Pero ojo, que no valga todo: aunque no sea instalación receptora, la norma sí manda en cómo la conectas, dónde la pones, cómo la ventilas y cómo la enciendes. Frase de examen: no es instalación receptora, pero su conexión, ubicación, ventilación y puesta en marcha sí se rigen por la norma. El número que separa móvil de popular son tres kilos.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importa de dónde venga el gas?</a:t>
            </a:r>
          </a:p>
          <a:p>
            <a:r>
              <a:t>N2: Porque cambia con quién hablas y dónde empieza lo tuyo. Hay tres clases. Canalizado: el gas llega por una red de distribución, como el agua del grifo; ahí el gas y la llave de acometida los pone la compañía distribuidora. Granel: el gas está en un depósito fijo en la parcela, o en envases grandes de más de quince kilos; tu punto de partida es la salida del depósito. Y envases: bombonas pequeñas de menos de quince kilos; empiezas en el regulador acoplado a la bombona. No es una etiqueta de adorno: equivocarte de clase es equivocarte de interlocutor y del punto donde arranca tu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me importa de dónde viene el gas?</a:t>
            </a:r>
          </a:p>
          <a:p>
            <a:r>
              <a:t>N2: Porque cambia con quién hablas y dónde empieza lo tuyo. Léela fila a fila. Canalizado: el gas llega por una red de distribución, como el agua del grifo, y ahí el gas y la llave de acometida los pone la distribuidora. Granel: el gas está en un depósito fijo en la parcela, o en envases grandes de más de quince kilos, y tu punto de partida es la salida del depósito. Envases: bombonas pequeñas de menos de quince kilos, y arrancas en el regulador acoplado a la bombona. Ejemplo de obra: un chalé con depósito de GLP en el jardín es granel, no canalizado; equivocar la clase es equivocar el interlocutor.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Fácil de confundir: el depósito de GLP del jardín, ¿qué clase es?</a:t>
            </a:r>
          </a:p>
          <a:p>
            <a:r>
              <a:t>N2: Pista: no llega por red, y tampoco es una bombona pequeña. ¿Dónde encaja?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granel?</a:t>
            </a:r>
          </a:p>
          <a:p>
            <a:r>
              <a:t>N2: Porque granel es el suministro desde depósitos fijos de GLP o desde envases de carga superior a quince kilos. Canalizado sería por red de distribución, y envases serían las bombonas pequeñas por debajo de quince kilos. El truco: depósito fijo o envase grande, siempre granel.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dónde va el gas una vez dentro?</a:t>
            </a:r>
          </a:p>
          <a:p>
            <a:r>
              <a:t>N2: Sigue el camino y lo entiendes de un tirón. El gas entra por la acometida interior, el primer tramo tras la llave de acometida. Luego sube por la instalación común, que es el montante que comparten los vecinos. Y termina en la instalación individual, lo que entra en cada vivienda hasta los aparatos. Ahora bien, no siempre están las tres. En un chalé con el contador en la valla puede que solo haya instalación individual; por eso la norma dice en general. Y esto importa en la práctica: la parte común es de la comunidad y la individual es del usuario, así que sabes qué tramo certificas y a quién avisas cuando algo falla. Las definiciones exactas de cada tramo las vemos en el vídeo dos.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tantas exigencias, ¿hay alguna idea que las resuma?</a:t>
            </a:r>
          </a:p>
          <a:p>
            <a:r>
              <a:t>N2: Sí, y es muy útil tenerla clara. Todo lo que la norma te va a pedir después, materiales, uniones, pruebas, ventilación, persigue solo dos cosas. Una: que llegue gas suficiente a los aparatos, para que no se ahoguen. Dos: que llegue con seguridad, sin fugas ni riesgos. Nada más. Cuando dudes por qué la norma exige algo, casi siempre la respuesta es una de esas dos. Y en avería es igual de útil: si un aparato da mala combustión y se apaga, seguramente falla la aportación, el tubo va justo; si hueles gas, falla la conducción, hay fuga. Estos dos objetivos son la causa raíz de media avería.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saber si es receptora o no, ¿para qué me sirve en el día a día?</a:t>
            </a:r>
          </a:p>
          <a:p>
            <a:r>
              <a:t>N2: Para lo más importante: decide si hay papeleo o no. En cuanto hay tubería fija, varios aparatos o más carga de gas, ya es instalación receptora, y eso obliga a un certificado de instalación, lo que todos llamamos el boletín, en los modelos oficiales tipo I R G. Ese papel lo firma la empresa instaladora habilitada de categoría B, la tuya, y se entrega a la empresa distribuidora, con copia para el titular. Sin ese documento, la distribuidora no da gas. La chapuza típica es justo esa: una instalación fija montada como si fuera camping-gas, sin boletín y sin prueba de estanquidad. Ahí tienes la fuga esperando a pasar.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Última del vídeo: acabas la instalación y... ¿qué papel te pide la distribuidora?</a:t>
            </a:r>
          </a:p>
          <a:p>
            <a:r>
              <a:t>N2: Pista: es el documento que firma tu empresa habilitada y sin el cual no entra gas.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A?</a:t>
            </a:r>
          </a:p>
          <a:p>
            <a:r>
              <a:t>N2: Porque toda instalación receptora obliga a un certificado de instalación, el boletín, que firma la empresa instaladora habilitada de categoría B y se entrega a la distribuidora, con copia para el titular. Sin ese documento no hay suministro. El truco: si es receptora, hay boletín, y lo firma tu empresa, no el ayuntamiento ni el fabricante.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Si me quedo con lo esencial, ¿qué me llevo?</a:t>
            </a:r>
          </a:p>
          <a:p>
            <a:r>
              <a:t>N2: Reconstruyamos el hilo, que se ve clarísimo. Uno: la UNE sesenta mil seiscientos setenta es tu norma de cabecera, trece partes, y solo manda cuando la presión no pasa de cinco bar; la uno y la dos son el mapa. Dos: para que algo sea instalación receptora tienen que darse tres condiciones a la vez, gas normalizado, poca presión y servir a aparatos; y por debajo de quince kilos con un solo aparato ya no lo es, aunque su conexión y su ventilación sí se cuiden. Tres: hay tres clases según el suministro, canalizado, granel y envases, y tres partes en fila, acometida interior, común e individual. Y cuatro: todo, absolutamente todo, persigue dos cosas, que llegue gas suficiente y que llegue seguro.</a:t>
            </a:r>
          </a:p>
          <a:p>
            <a:r>
              <a:t>N1: ¿Y esto cómo cae en el examen y en la obra?</a:t>
            </a:r>
          </a:p>
          <a:p>
            <a:r>
              <a:t>N2: En el examen te lo cruzan: te dan un caso y te preguntan si es receptora, de qué clase o en qué parte se trata; con lo de hoy lo colocas sin dudar. Y en obra decide lo más serio: si hay que hacer boletín y quién firma. Una instalación fija sin certificado y sin prueba de estanquidad es una fuga esperando. Hoy ya eres más gasista que ayer: tienes el mapa completo. En el siguiente vídeo abrimos el diccionario, la parte dos, y le ponemos nombre exacto a cada pieza.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UNE 60670 · Generalidades</a:t>
            </a:r>
          </a:p>
          <a:p>
            <a:r>
              <a:rPr sz="2200" b="0" i="0">
                <a:solidFill>
                  <a:srgbClr val="CADCFC"/>
                </a:solidFill>
                <a:latin typeface="Montserrat"/>
              </a:rPr>
              <a:t>La norma reina de la instalación receptora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09 · UNE 60670-1 y -2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partes que forman la norma</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5 bar</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presión máxima de operación</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clases según el suministro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UNE 60670</a:t>
            </a:r>
          </a:p>
          <a:p>
            <a:pPr>
              <a:spcAft>
                <a:spcPts val="900"/>
              </a:spcAft>
            </a:pPr>
            <a:r>
              <a:rPr sz="1800" b="1" i="0">
                <a:solidFill>
                  <a:srgbClr val="E8801A"/>
                </a:solidFill>
                <a:latin typeface="Montserrat"/>
              </a:rPr>
              <a:t>02   </a:t>
            </a:r>
            <a:r>
              <a:rPr sz="1700" b="0" i="0">
                <a:solidFill>
                  <a:srgbClr val="1B2330"/>
                </a:solidFill>
                <a:latin typeface="Montserrat"/>
              </a:rPr>
              <a:t>Parte 1</a:t>
            </a:r>
          </a:p>
          <a:p>
            <a:pPr>
              <a:spcAft>
                <a:spcPts val="900"/>
              </a:spcAft>
            </a:pPr>
            <a:r>
              <a:rPr sz="1800" b="1" i="0">
                <a:solidFill>
                  <a:srgbClr val="E8801A"/>
                </a:solidFill>
                <a:latin typeface="Montserrat"/>
              </a:rPr>
              <a:t>03   </a:t>
            </a:r>
            <a:r>
              <a:rPr sz="1700" b="0" i="0">
                <a:solidFill>
                  <a:srgbClr val="1B2330"/>
                </a:solidFill>
                <a:latin typeface="Montserrat"/>
              </a:rPr>
              <a:t>Definición</a:t>
            </a:r>
          </a:p>
          <a:p>
            <a:pPr>
              <a:spcAft>
                <a:spcPts val="900"/>
              </a:spcAft>
            </a:pPr>
            <a:r>
              <a:rPr sz="1800" b="1" i="0">
                <a:solidFill>
                  <a:srgbClr val="E8801A"/>
                </a:solidFill>
                <a:latin typeface="Montserrat"/>
              </a:rPr>
              <a:t>04   </a:t>
            </a:r>
            <a:r>
              <a:rPr sz="1700" b="0" i="0">
                <a:solidFill>
                  <a:srgbClr val="1B2330"/>
                </a:solidFill>
                <a:latin typeface="Montserrat"/>
              </a:rPr>
              <a:t>Clasificación</a:t>
            </a:r>
          </a:p>
          <a:p>
            <a:pPr>
              <a:spcAft>
                <a:spcPts val="900"/>
              </a:spcAft>
            </a:pPr>
            <a:r>
              <a:rPr sz="1800" b="1" i="0">
                <a:solidFill>
                  <a:srgbClr val="E8801A"/>
                </a:solidFill>
                <a:latin typeface="Montserrat"/>
              </a:rPr>
              <a:t>05   </a:t>
            </a:r>
            <a:r>
              <a:rPr sz="1700" b="0" i="0">
                <a:solidFill>
                  <a:srgbClr val="1B2330"/>
                </a:solidFill>
                <a:latin typeface="Montserrat"/>
              </a:rPr>
              <a:t>Partes</a:t>
            </a:r>
          </a:p>
          <a:p>
            <a:pPr>
              <a:spcAft>
                <a:spcPts val="900"/>
              </a:spcAft>
            </a:pPr>
            <a:r>
              <a:rPr sz="1800" b="1" i="0">
                <a:solidFill>
                  <a:srgbClr val="E8801A"/>
                </a:solidFill>
                <a:latin typeface="Montserrat"/>
              </a:rPr>
              <a:t>06   </a:t>
            </a:r>
            <a:r>
              <a:rPr sz="1700" b="0" i="0">
                <a:solidFill>
                  <a:srgbClr val="1B2330"/>
                </a:solidFill>
                <a:latin typeface="Montserrat"/>
              </a:rPr>
              <a:t>Requisitos</a:t>
            </a:r>
          </a:p>
          <a:p>
            <a:pPr>
              <a:spcAft>
                <a:spcPts val="900"/>
              </a:spcAft>
            </a:pPr>
            <a:r>
              <a:rPr sz="1800" b="1" i="0">
                <a:solidFill>
                  <a:srgbClr val="E8801A"/>
                </a:solidFill>
                <a:latin typeface="Montserrat"/>
              </a:rPr>
              <a:t>07   </a:t>
            </a:r>
            <a:r>
              <a:rPr sz="1700" b="0" i="0">
                <a:solidFill>
                  <a:srgbClr val="1B2330"/>
                </a:solidFill>
                <a:latin typeface="Montserrat"/>
              </a:rPr>
              <a:t>Obra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UNE 60670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esta norma?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Diseño, construcción y pruebas</a:t>
            </a:r>
          </a:p>
          <a:p>
            <a:pPr>
              <a:spcAft>
                <a:spcPts val="1100"/>
              </a:spcAft>
            </a:pPr>
            <a:r>
              <a:rPr sz="1600" b="1" i="0">
                <a:solidFill>
                  <a:srgbClr val="E8801A"/>
                </a:solidFill>
                <a:latin typeface="Montserrat"/>
              </a:rPr>
              <a:t>▸  </a:t>
            </a:r>
            <a:r>
              <a:rPr sz="1600" b="0" i="0">
                <a:solidFill>
                  <a:srgbClr val="1B2330"/>
                </a:solidFill>
                <a:latin typeface="Montserrat"/>
              </a:rPr>
              <a:t>Puesta en servicio y revisiones</a:t>
            </a:r>
          </a:p>
          <a:p>
            <a:pPr>
              <a:spcAft>
                <a:spcPts val="1100"/>
              </a:spcAft>
            </a:pPr>
            <a:r>
              <a:rPr sz="1600" b="1" i="0">
                <a:solidFill>
                  <a:srgbClr val="E8801A"/>
                </a:solidFill>
                <a:latin typeface="Montserrat"/>
              </a:rPr>
              <a:t>▸  </a:t>
            </a:r>
            <a:r>
              <a:rPr sz="1600" b="0" i="0">
                <a:solidFill>
                  <a:srgbClr val="1B2330"/>
                </a:solidFill>
                <a:latin typeface="Montserrat"/>
              </a:rPr>
              <a:t>Instalaciones con MOP ≤ 5 bar</a:t>
            </a:r>
          </a:p>
          <a:p>
            <a:pPr>
              <a:spcAft>
                <a:spcPts val="1100"/>
              </a:spcAft>
            </a:pPr>
            <a:r>
              <a:rPr sz="1600" b="1" i="0">
                <a:solidFill>
                  <a:srgbClr val="E8801A"/>
                </a:solidFill>
                <a:latin typeface="Montserrat"/>
              </a:rPr>
              <a:t>▸  </a:t>
            </a:r>
            <a:r>
              <a:rPr sz="1600" b="0" i="0">
                <a:solidFill>
                  <a:srgbClr val="1B2330"/>
                </a:solidFill>
                <a:latin typeface="Montserrat"/>
              </a:rPr>
              <a:t>Ubicación y conexión de aparatos</a:t>
            </a:r>
          </a:p>
        </p:txBody>
      </p:sp>
      <p:sp>
        <p:nvSpPr>
          <p:cNvPr id="9" name="imgph" descr="IMGQ:gas boiler installation in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in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UNE 60670 · ESTRUCTURA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manual de 13 partes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Parte 1: generalidades</a:t>
            </a:r>
          </a:p>
          <a:p>
            <a:pPr>
              <a:spcAft>
                <a:spcPts val="1100"/>
              </a:spcAft>
            </a:pPr>
            <a:r>
              <a:rPr sz="1600" b="1" i="0">
                <a:solidFill>
                  <a:srgbClr val="E8801A"/>
                </a:solidFill>
                <a:latin typeface="Montserrat"/>
              </a:rPr>
              <a:t>▸  </a:t>
            </a:r>
            <a:r>
              <a:rPr sz="1600" b="0" i="0">
                <a:solidFill>
                  <a:srgbClr val="1B2330"/>
                </a:solidFill>
                <a:latin typeface="Montserrat"/>
              </a:rPr>
              <a:t>Parte 2: terminología</a:t>
            </a:r>
          </a:p>
          <a:p>
            <a:pPr>
              <a:spcAft>
                <a:spcPts val="1100"/>
              </a:spcAft>
            </a:pPr>
            <a:r>
              <a:rPr sz="1600" b="1" i="0">
                <a:solidFill>
                  <a:srgbClr val="E8801A"/>
                </a:solidFill>
                <a:latin typeface="Montserrat"/>
              </a:rPr>
              <a:t>▸  </a:t>
            </a:r>
            <a:r>
              <a:rPr sz="1600" b="0" i="0">
                <a:solidFill>
                  <a:srgbClr val="1B2330"/>
                </a:solidFill>
                <a:latin typeface="Montserrat"/>
              </a:rPr>
              <a:t>Partes 3 a 13: el detalle técnico</a:t>
            </a:r>
          </a:p>
          <a:p>
            <a:pPr>
              <a:spcAft>
                <a:spcPts val="1100"/>
              </a:spcAft>
            </a:pPr>
            <a:r>
              <a:rPr sz="1600" b="1" i="0">
                <a:solidFill>
                  <a:srgbClr val="E8801A"/>
                </a:solidFill>
                <a:latin typeface="Montserrat"/>
              </a:rPr>
              <a:t>▸  </a:t>
            </a:r>
            <a:r>
              <a:rPr sz="1600" b="0" i="0">
                <a:solidFill>
                  <a:srgbClr val="1B2330"/>
                </a:solidFill>
                <a:latin typeface="Montserrat"/>
              </a:rPr>
              <a:t>La 1 y la 2 son el mapa</a:t>
            </a:r>
          </a:p>
        </p:txBody>
      </p:sp>
      <p:sp>
        <p:nvSpPr>
          <p:cNvPr id="9" name="imgph" descr="IMGQ:stack of technical standard manuals on desk"/>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stack of technical standard manuals on desk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UNE 60670 · ESTRUCTURA</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Las 13 partes de la norma</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287382">
                <a:tc>
                  <a:txBody>
                    <a:bodyPr/>
                    <a:lstStyle/>
                    <a:p>
                      <a:r>
                        <a:rPr sz="1200" b="1" i="0">
                          <a:solidFill>
                            <a:srgbClr val="FFFFFF"/>
                          </a:solidFill>
                          <a:latin typeface="Montserrat"/>
                        </a:rPr>
                        <a:t>Parte</a:t>
                      </a:r>
                    </a:p>
                  </a:txBody>
                  <a:tcPr>
                    <a:solidFill>
                      <a:srgbClr val="1E2761"/>
                    </a:solidFill>
                  </a:tcPr>
                </a:tc>
                <a:tc>
                  <a:txBody>
                    <a:bodyPr/>
                    <a:lstStyle/>
                    <a:p>
                      <a:r>
                        <a:rPr sz="1200" b="1" i="0">
                          <a:solidFill>
                            <a:srgbClr val="FFFFFF"/>
                          </a:solidFill>
                          <a:latin typeface="Montserrat"/>
                        </a:rPr>
                        <a:t>Contenido</a:t>
                      </a:r>
                    </a:p>
                  </a:txBody>
                  <a:tcPr>
                    <a:solidFill>
                      <a:srgbClr val="1E2761"/>
                    </a:solidFill>
                  </a:tcPr>
                </a:tc>
              </a:tr>
              <a:tr h="287382">
                <a:tc>
                  <a:txBody>
                    <a:bodyPr/>
                    <a:lstStyle/>
                    <a:p>
                      <a:r>
                        <a:rPr sz="1200" b="0" i="0">
                          <a:solidFill>
                            <a:srgbClr val="1B2330"/>
                          </a:solidFill>
                          <a:latin typeface="Montserrat"/>
                        </a:rPr>
                        <a:t>1</a:t>
                      </a:r>
                    </a:p>
                  </a:txBody>
                  <a:tcPr>
                    <a:solidFill>
                      <a:srgbClr val="F6F8FC"/>
                    </a:solidFill>
                  </a:tcPr>
                </a:tc>
                <a:tc>
                  <a:txBody>
                    <a:bodyPr/>
                    <a:lstStyle/>
                    <a:p>
                      <a:r>
                        <a:rPr sz="1200" b="0" i="0">
                          <a:solidFill>
                            <a:srgbClr val="1B2330"/>
                          </a:solidFill>
                          <a:latin typeface="Montserrat"/>
                        </a:rPr>
                        <a:t>Generalidades</a:t>
                      </a:r>
                    </a:p>
                  </a:txBody>
                  <a:tcPr>
                    <a:solidFill>
                      <a:srgbClr val="F6F8FC"/>
                    </a:solidFill>
                  </a:tcPr>
                </a:tc>
              </a:tr>
              <a:tr h="287382">
                <a:tc>
                  <a:txBody>
                    <a:bodyPr/>
                    <a:lstStyle/>
                    <a:p>
                      <a:r>
                        <a:rPr sz="1200" b="0" i="0">
                          <a:solidFill>
                            <a:srgbClr val="1B2330"/>
                          </a:solidFill>
                          <a:latin typeface="Montserrat"/>
                        </a:rPr>
                        <a:t>2</a:t>
                      </a:r>
                    </a:p>
                  </a:txBody>
                  <a:tcPr>
                    <a:solidFill>
                      <a:srgbClr val="FFFFFF"/>
                    </a:solidFill>
                  </a:tcPr>
                </a:tc>
                <a:tc>
                  <a:txBody>
                    <a:bodyPr/>
                    <a:lstStyle/>
                    <a:p>
                      <a:r>
                        <a:rPr sz="1200" b="0" i="0">
                          <a:solidFill>
                            <a:srgbClr val="1B2330"/>
                          </a:solidFill>
                          <a:latin typeface="Montserrat"/>
                        </a:rPr>
                        <a:t>Terminología</a:t>
                      </a:r>
                    </a:p>
                  </a:txBody>
                  <a:tcPr>
                    <a:solidFill>
                      <a:srgbClr val="FFFFFF"/>
                    </a:solidFill>
                  </a:tcPr>
                </a:tc>
              </a:tr>
              <a:tr h="287382">
                <a:tc>
                  <a:txBody>
                    <a:bodyPr/>
                    <a:lstStyle/>
                    <a:p>
                      <a:r>
                        <a:rPr sz="1200" b="0" i="0">
                          <a:solidFill>
                            <a:srgbClr val="1B2330"/>
                          </a:solidFill>
                          <a:latin typeface="Montserrat"/>
                        </a:rPr>
                        <a:t>3</a:t>
                      </a:r>
                    </a:p>
                  </a:txBody>
                  <a:tcPr>
                    <a:solidFill>
                      <a:srgbClr val="F6F8FC"/>
                    </a:solidFill>
                  </a:tcPr>
                </a:tc>
                <a:tc>
                  <a:txBody>
                    <a:bodyPr/>
                    <a:lstStyle/>
                    <a:p>
                      <a:r>
                        <a:rPr sz="1200" b="0" i="0">
                          <a:solidFill>
                            <a:srgbClr val="1B2330"/>
                          </a:solidFill>
                          <a:latin typeface="Montserrat"/>
                        </a:rPr>
                        <a:t>Tuberías, elementos, accesorios y sus uniones</a:t>
                      </a:r>
                    </a:p>
                  </a:txBody>
                  <a:tcPr>
                    <a:solidFill>
                      <a:srgbClr val="F6F8FC"/>
                    </a:solidFill>
                  </a:tcPr>
                </a:tc>
              </a:tr>
              <a:tr h="287382">
                <a:tc>
                  <a:txBody>
                    <a:bodyPr/>
                    <a:lstStyle/>
                    <a:p>
                      <a:r>
                        <a:rPr sz="1200" b="0" i="0">
                          <a:solidFill>
                            <a:srgbClr val="1B2330"/>
                          </a:solidFill>
                          <a:latin typeface="Montserrat"/>
                        </a:rPr>
                        <a:t>4</a:t>
                      </a:r>
                    </a:p>
                  </a:txBody>
                  <a:tcPr>
                    <a:solidFill>
                      <a:srgbClr val="FFFFFF"/>
                    </a:solidFill>
                  </a:tcPr>
                </a:tc>
                <a:tc>
                  <a:txBody>
                    <a:bodyPr/>
                    <a:lstStyle/>
                    <a:p>
                      <a:r>
                        <a:rPr sz="1200" b="0" i="0">
                          <a:solidFill>
                            <a:srgbClr val="1B2330"/>
                          </a:solidFill>
                          <a:latin typeface="Montserrat"/>
                        </a:rPr>
                        <a:t>Diseño y construcción</a:t>
                      </a:r>
                    </a:p>
                  </a:txBody>
                  <a:tcPr>
                    <a:solidFill>
                      <a:srgbClr val="FFFFFF"/>
                    </a:solidFill>
                  </a:tcPr>
                </a:tc>
              </a:tr>
              <a:tr h="287382">
                <a:tc>
                  <a:txBody>
                    <a:bodyPr/>
                    <a:lstStyle/>
                    <a:p>
                      <a:r>
                        <a:rPr sz="1200" b="0" i="0">
                          <a:solidFill>
                            <a:srgbClr val="1B2330"/>
                          </a:solidFill>
                          <a:latin typeface="Montserrat"/>
                        </a:rPr>
                        <a:t>5</a:t>
                      </a:r>
                    </a:p>
                  </a:txBody>
                  <a:tcPr>
                    <a:solidFill>
                      <a:srgbClr val="F6F8FC"/>
                    </a:solidFill>
                  </a:tcPr>
                </a:tc>
                <a:tc>
                  <a:txBody>
                    <a:bodyPr/>
                    <a:lstStyle/>
                    <a:p>
                      <a:r>
                        <a:rPr sz="1200" b="0" i="0">
                          <a:solidFill>
                            <a:srgbClr val="1B2330"/>
                          </a:solidFill>
                          <a:latin typeface="Montserrat"/>
                        </a:rPr>
                        <a:t>Recintos destinados a la instalación de contadores de gas</a:t>
                      </a:r>
                    </a:p>
                  </a:txBody>
                  <a:tcPr>
                    <a:solidFill>
                      <a:srgbClr val="F6F8FC"/>
                    </a:solidFill>
                  </a:tcPr>
                </a:tc>
              </a:tr>
              <a:tr h="287382">
                <a:tc>
                  <a:txBody>
                    <a:bodyPr/>
                    <a:lstStyle/>
                    <a:p>
                      <a:r>
                        <a:rPr sz="1200" b="0" i="0">
                          <a:solidFill>
                            <a:srgbClr val="1B2330"/>
                          </a:solidFill>
                          <a:latin typeface="Montserrat"/>
                        </a:rPr>
                        <a:t>6</a:t>
                      </a:r>
                    </a:p>
                  </a:txBody>
                  <a:tcPr>
                    <a:solidFill>
                      <a:srgbClr val="FFFFFF"/>
                    </a:solidFill>
                  </a:tcPr>
                </a:tc>
                <a:tc>
                  <a:txBody>
                    <a:bodyPr/>
                    <a:lstStyle/>
                    <a:p>
                      <a:r>
                        <a:rPr sz="1200" b="0" i="0">
                          <a:solidFill>
                            <a:srgbClr val="1B2330"/>
                          </a:solidFill>
                          <a:latin typeface="Montserrat"/>
                        </a:rPr>
                        <a:t>Requisitos de configuración, ventilación y evacuación de los productos de la combustión en los locales destinados a contener los aparatos a gas</a:t>
                      </a:r>
                    </a:p>
                  </a:txBody>
                  <a:tcPr>
                    <a:solidFill>
                      <a:srgbClr val="FFFFFF"/>
                    </a:solidFill>
                  </a:tcPr>
                </a:tc>
              </a:tr>
              <a:tr h="287382">
                <a:tc>
                  <a:txBody>
                    <a:bodyPr/>
                    <a:lstStyle/>
                    <a:p>
                      <a:r>
                        <a:rPr sz="1200" b="0" i="0">
                          <a:solidFill>
                            <a:srgbClr val="1B2330"/>
                          </a:solidFill>
                          <a:latin typeface="Montserrat"/>
                        </a:rPr>
                        <a:t>7</a:t>
                      </a:r>
                    </a:p>
                  </a:txBody>
                  <a:tcPr>
                    <a:solidFill>
                      <a:srgbClr val="F6F8FC"/>
                    </a:solidFill>
                  </a:tcPr>
                </a:tc>
                <a:tc>
                  <a:txBody>
                    <a:bodyPr/>
                    <a:lstStyle/>
                    <a:p>
                      <a:r>
                        <a:rPr sz="1200" b="0" i="0">
                          <a:solidFill>
                            <a:srgbClr val="1B2330"/>
                          </a:solidFill>
                          <a:latin typeface="Montserrat"/>
                        </a:rPr>
                        <a:t>Requisitos de instalación y conexión de los aparatos a gas</a:t>
                      </a:r>
                    </a:p>
                  </a:txBody>
                  <a:tcPr>
                    <a:solidFill>
                      <a:srgbClr val="F6F8FC"/>
                    </a:solidFill>
                  </a:tcPr>
                </a:tc>
              </a:tr>
              <a:tr h="287382">
                <a:tc>
                  <a:txBody>
                    <a:bodyPr/>
                    <a:lstStyle/>
                    <a:p>
                      <a:r>
                        <a:rPr sz="1200" b="0" i="0">
                          <a:solidFill>
                            <a:srgbClr val="1B2330"/>
                          </a:solidFill>
                          <a:latin typeface="Montserrat"/>
                        </a:rPr>
                        <a:t>8</a:t>
                      </a:r>
                    </a:p>
                  </a:txBody>
                  <a:tcPr>
                    <a:solidFill>
                      <a:srgbClr val="FFFFFF"/>
                    </a:solidFill>
                  </a:tcPr>
                </a:tc>
                <a:tc>
                  <a:txBody>
                    <a:bodyPr/>
                    <a:lstStyle/>
                    <a:p>
                      <a:r>
                        <a:rPr sz="1200" b="0" i="0">
                          <a:solidFill>
                            <a:srgbClr val="1B2330"/>
                          </a:solidFill>
                          <a:latin typeface="Montserrat"/>
                        </a:rPr>
                        <a:t>Pruebas de estanquidad para la entrega de la instalación receptora</a:t>
                      </a:r>
                    </a:p>
                  </a:txBody>
                  <a:tcPr>
                    <a:solidFill>
                      <a:srgbClr val="FFFFFF"/>
                    </a:solidFill>
                  </a:tcPr>
                </a:tc>
              </a:tr>
              <a:tr h="287382">
                <a:tc>
                  <a:txBody>
                    <a:bodyPr/>
                    <a:lstStyle/>
                    <a:p>
                      <a:r>
                        <a:rPr sz="1200" b="0" i="0">
                          <a:solidFill>
                            <a:srgbClr val="1B2330"/>
                          </a:solidFill>
                          <a:latin typeface="Montserrat"/>
                        </a:rPr>
                        <a:t>9</a:t>
                      </a:r>
                    </a:p>
                  </a:txBody>
                  <a:tcPr>
                    <a:solidFill>
                      <a:srgbClr val="F6F8FC"/>
                    </a:solidFill>
                  </a:tcPr>
                </a:tc>
                <a:tc>
                  <a:txBody>
                    <a:bodyPr/>
                    <a:lstStyle/>
                    <a:p>
                      <a:r>
                        <a:rPr sz="1200" b="0" i="0">
                          <a:solidFill>
                            <a:srgbClr val="1B2330"/>
                          </a:solidFill>
                          <a:latin typeface="Montserrat"/>
                        </a:rPr>
                        <a:t>Pruebas previas al suministro y puesta en servicio</a:t>
                      </a:r>
                    </a:p>
                  </a:txBody>
                  <a:tcPr>
                    <a:solidFill>
                      <a:srgbClr val="F6F8FC"/>
                    </a:solidFill>
                  </a:tcPr>
                </a:tc>
              </a:tr>
              <a:tr h="287382">
                <a:tc>
                  <a:txBody>
                    <a:bodyPr/>
                    <a:lstStyle/>
                    <a:p>
                      <a:r>
                        <a:rPr sz="1200" b="0" i="0">
                          <a:solidFill>
                            <a:srgbClr val="1B2330"/>
                          </a:solidFill>
                          <a:latin typeface="Montserrat"/>
                        </a:rPr>
                        <a:t>10</a:t>
                      </a:r>
                    </a:p>
                  </a:txBody>
                  <a:tcPr>
                    <a:solidFill>
                      <a:srgbClr val="FFFFFF"/>
                    </a:solidFill>
                  </a:tcPr>
                </a:tc>
                <a:tc>
                  <a:txBody>
                    <a:bodyPr/>
                    <a:lstStyle/>
                    <a:p>
                      <a:r>
                        <a:rPr sz="1200" b="0" i="0">
                          <a:solidFill>
                            <a:srgbClr val="1B2330"/>
                          </a:solidFill>
                          <a:latin typeface="Montserrat"/>
                        </a:rPr>
                        <a:t>Comprobaciones para la puesta en marcha de los aparatos de gas o tras su adecuación por cambio de familia de gas</a:t>
                      </a:r>
                    </a:p>
                  </a:txBody>
                  <a:tcPr>
                    <a:solidFill>
                      <a:srgbClr val="FFFFFF"/>
                    </a:solidFill>
                  </a:tcPr>
                </a:tc>
              </a:tr>
              <a:tr h="287382">
                <a:tc>
                  <a:txBody>
                    <a:bodyPr/>
                    <a:lstStyle/>
                    <a:p>
                      <a:r>
                        <a:rPr sz="1200" b="0" i="0">
                          <a:solidFill>
                            <a:srgbClr val="1B2330"/>
                          </a:solidFill>
                          <a:latin typeface="Montserrat"/>
                        </a:rPr>
                        <a:t>11</a:t>
                      </a:r>
                    </a:p>
                  </a:txBody>
                  <a:tcPr>
                    <a:solidFill>
                      <a:srgbClr val="F6F8FC"/>
                    </a:solidFill>
                  </a:tcPr>
                </a:tc>
                <a:tc>
                  <a:txBody>
                    <a:bodyPr/>
                    <a:lstStyle/>
                    <a:p>
                      <a:r>
                        <a:rPr sz="1200" b="0" i="0">
                          <a:solidFill>
                            <a:srgbClr val="1B2330"/>
                          </a:solidFill>
                          <a:latin typeface="Montserrat"/>
                        </a:rPr>
                        <a:t>Operaciones en instalaciones receptoras en servicio</a:t>
                      </a:r>
                    </a:p>
                  </a:txBody>
                  <a:tcPr>
                    <a:solidFill>
                      <a:srgbClr val="F6F8FC"/>
                    </a:solidFill>
                  </a:tcPr>
                </a:tc>
              </a:tr>
              <a:tr h="287382">
                <a:tc>
                  <a:txBody>
                    <a:bodyPr/>
                    <a:lstStyle/>
                    <a:p>
                      <a:r>
                        <a:rPr sz="1200" b="0" i="0">
                          <a:solidFill>
                            <a:srgbClr val="1B2330"/>
                          </a:solidFill>
                          <a:latin typeface="Montserrat"/>
                        </a:rPr>
                        <a:t>12</a:t>
                      </a:r>
                    </a:p>
                  </a:txBody>
                  <a:tcPr>
                    <a:solidFill>
                      <a:srgbClr val="FFFFFF"/>
                    </a:solidFill>
                  </a:tcPr>
                </a:tc>
                <a:tc>
                  <a:txBody>
                    <a:bodyPr/>
                    <a:lstStyle/>
                    <a:p>
                      <a:r>
                        <a:rPr sz="1200" b="0" i="0">
                          <a:solidFill>
                            <a:srgbClr val="1B2330"/>
                          </a:solidFill>
                          <a:latin typeface="Montserrat"/>
                        </a:rPr>
                        <a:t>Criterios técnicos básicos para el control periódico de las instalaciones receptoras en servicio</a:t>
                      </a:r>
                    </a:p>
                  </a:txBody>
                  <a:tcPr>
                    <a:solidFill>
                      <a:srgbClr val="FFFFFF"/>
                    </a:solidFill>
                  </a:tcPr>
                </a:tc>
              </a:tr>
              <a:tr h="287394">
                <a:tc>
                  <a:txBody>
                    <a:bodyPr/>
                    <a:lstStyle/>
                    <a:p>
                      <a:r>
                        <a:rPr sz="1200" b="0" i="0">
                          <a:solidFill>
                            <a:srgbClr val="1B2330"/>
                          </a:solidFill>
                          <a:latin typeface="Montserrat"/>
                        </a:rPr>
                        <a:t>13</a:t>
                      </a:r>
                    </a:p>
                  </a:txBody>
                  <a:tcPr>
                    <a:solidFill>
                      <a:srgbClr val="F6F8FC"/>
                    </a:solidFill>
                  </a:tcPr>
                </a:tc>
                <a:tc>
                  <a:txBody>
                    <a:bodyPr/>
                    <a:lstStyle/>
                    <a:p>
                      <a:r>
                        <a:rPr sz="1200" b="0" i="0">
                          <a:solidFill>
                            <a:srgbClr val="1B2330"/>
                          </a:solidFill>
                          <a:latin typeface="Montserrat"/>
                        </a:rPr>
                        <a:t>Criterios técnicos básicos para el control periódico de los aparatos a gas de las instalaciones receptoras en servicio</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Cada parte es un capítulo de la norma: la 1 y la 2 son el mapa, y de la 3 a la 13 va el detalle técnico.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UNE 60670 · GUÍA RÁPIDA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mirar cada cosa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Estanquidad de entrega → parte 8</a:t>
            </a:r>
          </a:p>
          <a:p>
            <a:pPr>
              <a:spcAft>
                <a:spcPts val="1100"/>
              </a:spcAft>
            </a:pPr>
            <a:r>
              <a:rPr sz="1600" b="1" i="0">
                <a:solidFill>
                  <a:srgbClr val="E8801A"/>
                </a:solidFill>
                <a:latin typeface="Montserrat"/>
              </a:rPr>
              <a:t>▸  </a:t>
            </a:r>
            <a:r>
              <a:rPr sz="1600" b="0" i="0">
                <a:solidFill>
                  <a:srgbClr val="1B2330"/>
                </a:solidFill>
                <a:latin typeface="Montserrat"/>
              </a:rPr>
              <a:t>Puesta en servicio → parte 9</a:t>
            </a:r>
          </a:p>
          <a:p>
            <a:pPr>
              <a:spcAft>
                <a:spcPts val="1100"/>
              </a:spcAft>
            </a:pPr>
            <a:r>
              <a:rPr sz="1600" b="1" i="0">
                <a:solidFill>
                  <a:srgbClr val="E8801A"/>
                </a:solidFill>
                <a:latin typeface="Montserrat"/>
              </a:rPr>
              <a:t>▸  </a:t>
            </a:r>
            <a:r>
              <a:rPr sz="1600" b="0" i="0">
                <a:solidFill>
                  <a:srgbClr val="1B2330"/>
                </a:solidFill>
                <a:latin typeface="Montserrat"/>
              </a:rPr>
              <a:t>Control periódico → partes 12 y 13</a:t>
            </a:r>
          </a:p>
        </p:txBody>
      </p:sp>
      <p:sp>
        <p:nvSpPr>
          <p:cNvPr id="9" name="imgph" descr="IMGQ:technician reading manual next to gas me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reading manual next to gas meter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 · NOVEDAD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Anexo A, tu índice de normas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Lista de normas de consulta</a:t>
            </a:r>
          </a:p>
          <a:p>
            <a:pPr>
              <a:spcAft>
                <a:spcPts val="1100"/>
              </a:spcAft>
            </a:pPr>
            <a:r>
              <a:rPr sz="1600" b="1" i="0">
                <a:solidFill>
                  <a:srgbClr val="E8801A"/>
                </a:solidFill>
                <a:latin typeface="Montserrat"/>
              </a:rPr>
              <a:t>▸  </a:t>
            </a:r>
            <a:r>
              <a:rPr sz="1600" b="0" i="0">
                <a:solidFill>
                  <a:srgbClr val="1B2330"/>
                </a:solidFill>
                <a:latin typeface="Montserrat"/>
              </a:rPr>
              <a:t>Cubre las 13 partes</a:t>
            </a:r>
          </a:p>
          <a:p>
            <a:pPr>
              <a:spcAft>
                <a:spcPts val="1100"/>
              </a:spcAft>
            </a:pPr>
            <a:r>
              <a:rPr sz="1600" b="1" i="0">
                <a:solidFill>
                  <a:srgbClr val="E8801A"/>
                </a:solidFill>
                <a:latin typeface="Montserrat"/>
              </a:rPr>
              <a:t>▸  </a:t>
            </a:r>
            <a:r>
              <a:rPr sz="1600" b="0" i="0">
                <a:solidFill>
                  <a:srgbClr val="1B2330"/>
                </a:solidFill>
                <a:latin typeface="Montserrat"/>
              </a:rPr>
              <a:t>Es informativo, no obliga</a:t>
            </a:r>
          </a:p>
        </p:txBody>
      </p:sp>
      <p:sp>
        <p:nvSpPr>
          <p:cNvPr id="9" name="imgph" descr="IMGQ:index page of technical document close u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index page of technical document close up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hace la Parte 1</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Define la instalación receptora</a:t>
            </a:r>
          </a:p>
          <a:p>
            <a:pPr>
              <a:spcAft>
                <a:spcPts val="1100"/>
              </a:spcAft>
            </a:pPr>
            <a:r>
              <a:rPr sz="1600" b="1" i="0">
                <a:solidFill>
                  <a:srgbClr val="E8801A"/>
                </a:solidFill>
                <a:latin typeface="Montserrat"/>
              </a:rPr>
              <a:t>▸  </a:t>
            </a:r>
            <a:r>
              <a:rPr sz="1600" b="0" i="0">
                <a:solidFill>
                  <a:srgbClr val="1B2330"/>
                </a:solidFill>
                <a:latin typeface="Montserrat"/>
              </a:rPr>
              <a:t>La clasifica en clases</a:t>
            </a:r>
          </a:p>
          <a:p>
            <a:pPr>
              <a:spcAft>
                <a:spcPts val="1100"/>
              </a:spcAft>
            </a:pPr>
            <a:r>
              <a:rPr sz="1600" b="1" i="0">
                <a:solidFill>
                  <a:srgbClr val="E8801A"/>
                </a:solidFill>
                <a:latin typeface="Montserrat"/>
              </a:rPr>
              <a:t>▸  </a:t>
            </a:r>
            <a:r>
              <a:rPr sz="1600" b="0" i="0">
                <a:solidFill>
                  <a:srgbClr val="1B2330"/>
                </a:solidFill>
                <a:latin typeface="Montserrat"/>
              </a:rPr>
              <a:t>Fija sus requisitos generales</a:t>
            </a:r>
          </a:p>
          <a:p>
            <a:pPr>
              <a:spcAft>
                <a:spcPts val="1100"/>
              </a:spcAft>
            </a:pPr>
            <a:r>
              <a:rPr sz="1600" b="1" i="0">
                <a:solidFill>
                  <a:srgbClr val="E8801A"/>
                </a:solidFill>
                <a:latin typeface="Montserrat"/>
              </a:rPr>
              <a:t>▸  </a:t>
            </a:r>
            <a:r>
              <a:rPr sz="1600" b="0" i="0">
                <a:solidFill>
                  <a:srgbClr val="1B2330"/>
                </a:solidFill>
                <a:latin typeface="Montserrat"/>
              </a:rPr>
              <a:t>Desarrolla la UNE-EN 1775</a:t>
            </a:r>
          </a:p>
        </p:txBody>
      </p:sp>
      <p:sp>
        <p:nvSpPr>
          <p:cNvPr id="9" name="imgph" descr="IMGQ:engineer drawing gas installation pla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drawing gas installation plan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DEFINICIÓN · CLAVE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instalación receptora?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de familia normalizada</a:t>
            </a:r>
          </a:p>
          <a:p>
            <a:pPr>
              <a:spcAft>
                <a:spcPts val="1100"/>
              </a:spcAft>
            </a:pPr>
            <a:r>
              <a:rPr sz="1600" b="1" i="0">
                <a:solidFill>
                  <a:srgbClr val="E8801A"/>
                </a:solidFill>
                <a:latin typeface="Montserrat"/>
              </a:rPr>
              <a:t>▸  </a:t>
            </a:r>
            <a:r>
              <a:rPr sz="1600" b="0" i="0">
                <a:solidFill>
                  <a:srgbClr val="1B2330"/>
                </a:solidFill>
                <a:latin typeface="Montserrat"/>
              </a:rPr>
              <a:t>MOP ≤ 5 bar</a:t>
            </a:r>
          </a:p>
          <a:p>
            <a:pPr>
              <a:spcAft>
                <a:spcPts val="1100"/>
              </a:spcAft>
            </a:pPr>
            <a:r>
              <a:rPr sz="1600" b="1" i="0">
                <a:solidFill>
                  <a:srgbClr val="E8801A"/>
                </a:solidFill>
                <a:latin typeface="Montserrat"/>
              </a:rPr>
              <a:t>▸  </a:t>
            </a:r>
            <a:r>
              <a:rPr sz="1600" b="0" i="0">
                <a:solidFill>
                  <a:srgbClr val="1B2330"/>
                </a:solidFill>
                <a:latin typeface="Montserrat"/>
              </a:rPr>
              <a:t>Sirve a aparatos de gas</a:t>
            </a:r>
          </a:p>
          <a:p>
            <a:pPr>
              <a:spcAft>
                <a:spcPts val="1100"/>
              </a:spcAft>
            </a:pPr>
            <a:r>
              <a:rPr sz="1600" b="1" i="0">
                <a:solidFill>
                  <a:srgbClr val="E8801A"/>
                </a:solidFill>
                <a:latin typeface="Montserrat"/>
              </a:rPr>
              <a:t>▸  </a:t>
            </a:r>
            <a:r>
              <a:rPr sz="1600" b="0" i="0">
                <a:solidFill>
                  <a:srgbClr val="1B2330"/>
                </a:solidFill>
                <a:latin typeface="Montserrat"/>
              </a:rPr>
              <a:t>Las tres condiciones a la vez</a:t>
            </a:r>
          </a:p>
        </p:txBody>
      </p:sp>
      <p:sp>
        <p:nvSpPr>
          <p:cNvPr id="9" name="imgph" descr="IMGQ:copper gas pipe on wall with val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on wall with valve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¿Cuándo es una instalación una 'instalación receptora' según la UNE 60670?</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Cuando usa gas de familia normalizada, MOP ≤ 5 bar y sirve a aparatos de gas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Cuando la presión supera los 5 bar y hay varios aparatos conectados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Siempre que haya una bombona conectada a un aparato móvil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Cuando la instalación es de gas natural, sea cual sea la presión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¿Cuándo es una instalación una 'instalación receptora' según la UNE 60670?</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Cuando usa gas de familia normalizada, MOP ≤ 5 bar y sirve a aparatos de gas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Deben darse las tres condiciones a la vez: gas de familia normalizada, MOP no superior a 5 bar y destino a aparatos de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DEFINICIÓN · EXCEPCIONES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NO es instalación receptora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Aparato móvil: envase &lt; 15 kg</a:t>
            </a:r>
          </a:p>
          <a:p>
            <a:pPr>
              <a:spcAft>
                <a:spcPts val="1100"/>
              </a:spcAft>
            </a:pPr>
            <a:r>
              <a:rPr sz="1600" b="1" i="0">
                <a:solidFill>
                  <a:srgbClr val="E8801A"/>
                </a:solidFill>
                <a:latin typeface="Montserrat"/>
              </a:rPr>
              <a:t>▸  </a:t>
            </a:r>
            <a:r>
              <a:rPr sz="1600" b="0" i="0">
                <a:solidFill>
                  <a:srgbClr val="1B2330"/>
                </a:solidFill>
                <a:latin typeface="Montserrat"/>
              </a:rPr>
              <a:t>Aparato popular: envase ≤ 3 kg</a:t>
            </a:r>
          </a:p>
          <a:p>
            <a:pPr>
              <a:spcAft>
                <a:spcPts val="1100"/>
              </a:spcAft>
            </a:pPr>
            <a:r>
              <a:rPr sz="1600" b="1" i="0">
                <a:solidFill>
                  <a:srgbClr val="E8801A"/>
                </a:solidFill>
                <a:latin typeface="Montserrat"/>
              </a:rPr>
              <a:t>▸  </a:t>
            </a:r>
            <a:r>
              <a:rPr sz="1600" b="0" i="0">
                <a:solidFill>
                  <a:srgbClr val="1B2330"/>
                </a:solidFill>
                <a:latin typeface="Montserrat"/>
              </a:rPr>
              <a:t>Conectado a un solo aparato</a:t>
            </a:r>
          </a:p>
          <a:p>
            <a:pPr>
              <a:spcAft>
                <a:spcPts val="1100"/>
              </a:spcAft>
            </a:pPr>
            <a:r>
              <a:rPr sz="1600" b="1" i="0">
                <a:solidFill>
                  <a:srgbClr val="E8801A"/>
                </a:solidFill>
                <a:latin typeface="Montserrat"/>
              </a:rPr>
              <a:t>▸  </a:t>
            </a:r>
            <a:r>
              <a:rPr sz="1600" b="0" i="0">
                <a:solidFill>
                  <a:srgbClr val="1B2330"/>
                </a:solidFill>
                <a:latin typeface="Montserrat"/>
              </a:rPr>
              <a:t>Pero: su conexión sí se regula</a:t>
            </a:r>
          </a:p>
        </p:txBody>
      </p:sp>
      <p:sp>
        <p:nvSpPr>
          <p:cNvPr id="9" name="imgph" descr="IMGQ:portable butane gas heater with cylind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portable butane gas heater with cylinder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CLASIFICACIÓN · SUMINISTRO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Tres clases según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Canalizado: red de distribución</a:t>
            </a:r>
          </a:p>
          <a:p>
            <a:pPr>
              <a:spcAft>
                <a:spcPts val="1100"/>
              </a:spcAft>
            </a:pPr>
            <a:r>
              <a:rPr sz="1600" b="1" i="0">
                <a:solidFill>
                  <a:srgbClr val="E8801A"/>
                </a:solidFill>
                <a:latin typeface="Montserrat"/>
              </a:rPr>
              <a:t>▸  </a:t>
            </a:r>
            <a:r>
              <a:rPr sz="1600" b="0" i="0">
                <a:solidFill>
                  <a:srgbClr val="1B2330"/>
                </a:solidFill>
                <a:latin typeface="Montserrat"/>
              </a:rPr>
              <a:t>Granel: depósito fijo o &gt; 15 kg</a:t>
            </a:r>
          </a:p>
          <a:p>
            <a:pPr>
              <a:spcAft>
                <a:spcPts val="1100"/>
              </a:spcAft>
            </a:pPr>
            <a:r>
              <a:rPr sz="1600" b="1" i="0">
                <a:solidFill>
                  <a:srgbClr val="E8801A"/>
                </a:solidFill>
                <a:latin typeface="Montserrat"/>
              </a:rPr>
              <a:t>▸  </a:t>
            </a:r>
            <a:r>
              <a:rPr sz="1600" b="0" i="0">
                <a:solidFill>
                  <a:srgbClr val="1B2330"/>
                </a:solidFill>
                <a:latin typeface="Montserrat"/>
              </a:rPr>
              <a:t>Envases: envase &lt; 15 kg</a:t>
            </a:r>
          </a:p>
        </p:txBody>
      </p:sp>
      <p:sp>
        <p:nvSpPr>
          <p:cNvPr id="9" name="imgph" descr="IMGQ:outdoor LPG storage tank in garde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outdoor LPG storage tank in garden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CLASIFICACIÓN · SUMINISTRO</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Las tres clases de suministro</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005840">
                <a:tc>
                  <a:txBody>
                    <a:bodyPr/>
                    <a:lstStyle/>
                    <a:p>
                      <a:r>
                        <a:rPr sz="1200" b="1" i="0">
                          <a:solidFill>
                            <a:srgbClr val="FFFFFF"/>
                          </a:solidFill>
                          <a:latin typeface="Montserrat"/>
                        </a:rPr>
                        <a:t>Clase</a:t>
                      </a:r>
                    </a:p>
                  </a:txBody>
                  <a:tcPr>
                    <a:solidFill>
                      <a:srgbClr val="1E2761"/>
                    </a:solidFill>
                  </a:tcPr>
                </a:tc>
                <a:tc>
                  <a:txBody>
                    <a:bodyPr/>
                    <a:lstStyle/>
                    <a:p>
                      <a:r>
                        <a:rPr sz="1200" b="1" i="0">
                          <a:solidFill>
                            <a:srgbClr val="FFFFFF"/>
                          </a:solidFill>
                          <a:latin typeface="Montserrat"/>
                        </a:rPr>
                        <a:t>Origen del gas</a:t>
                      </a:r>
                    </a:p>
                  </a:txBody>
                  <a:tcPr>
                    <a:solidFill>
                      <a:srgbClr val="1E2761"/>
                    </a:solidFill>
                  </a:tcPr>
                </a:tc>
              </a:tr>
              <a:tr h="1005840">
                <a:tc>
                  <a:txBody>
                    <a:bodyPr/>
                    <a:lstStyle/>
                    <a:p>
                      <a:r>
                        <a:rPr sz="1200" b="0" i="0">
                          <a:solidFill>
                            <a:srgbClr val="1B2330"/>
                          </a:solidFill>
                          <a:latin typeface="Montserrat"/>
                        </a:rPr>
                        <a:t>Canalizado</a:t>
                      </a:r>
                    </a:p>
                  </a:txBody>
                  <a:tcPr>
                    <a:solidFill>
                      <a:srgbClr val="F6F8FC"/>
                    </a:solidFill>
                  </a:tcPr>
                </a:tc>
                <a:tc>
                  <a:txBody>
                    <a:bodyPr/>
                    <a:lstStyle/>
                    <a:p>
                      <a:r>
                        <a:rPr sz="1200" b="0" i="0">
                          <a:solidFill>
                            <a:srgbClr val="1B2330"/>
                          </a:solidFill>
                          <a:latin typeface="Montserrat"/>
                        </a:rPr>
                        <a:t>Suministradas desde una red de distribución</a:t>
                      </a:r>
                    </a:p>
                  </a:txBody>
                  <a:tcPr>
                    <a:solidFill>
                      <a:srgbClr val="F6F8FC"/>
                    </a:solidFill>
                  </a:tcPr>
                </a:tc>
              </a:tr>
              <a:tr h="1005840">
                <a:tc>
                  <a:txBody>
                    <a:bodyPr/>
                    <a:lstStyle/>
                    <a:p>
                      <a:r>
                        <a:rPr sz="1200" b="0" i="0">
                          <a:solidFill>
                            <a:srgbClr val="1B2330"/>
                          </a:solidFill>
                          <a:latin typeface="Montserrat"/>
                        </a:rPr>
                        <a:t>Granel</a:t>
                      </a:r>
                    </a:p>
                  </a:txBody>
                  <a:tcPr>
                    <a:solidFill>
                      <a:srgbClr val="FFFFFF"/>
                    </a:solidFill>
                  </a:tcPr>
                </a:tc>
                <a:tc>
                  <a:txBody>
                    <a:bodyPr/>
                    <a:lstStyle/>
                    <a:p>
                      <a:r>
                        <a:rPr sz="1200" b="0" i="0">
                          <a:solidFill>
                            <a:srgbClr val="1B2330"/>
                          </a:solidFill>
                          <a:latin typeface="Montserrat"/>
                        </a:rPr>
                        <a:t>Suministradas desde depósitos de GLP fijos (granel) o envases de carga unitaria superior a 15 kg</a:t>
                      </a:r>
                    </a:p>
                  </a:txBody>
                  <a:tcPr>
                    <a:solidFill>
                      <a:srgbClr val="FFFFFF"/>
                    </a:solidFill>
                  </a:tcPr>
                </a:tc>
              </a:tr>
              <a:tr h="1005840">
                <a:tc>
                  <a:txBody>
                    <a:bodyPr/>
                    <a:lstStyle/>
                    <a:p>
                      <a:r>
                        <a:rPr sz="1200" b="0" i="0">
                          <a:solidFill>
                            <a:srgbClr val="1B2330"/>
                          </a:solidFill>
                          <a:latin typeface="Montserrat"/>
                        </a:rPr>
                        <a:t>Envases</a:t>
                      </a:r>
                    </a:p>
                  </a:txBody>
                  <a:tcPr>
                    <a:solidFill>
                      <a:srgbClr val="F6F8FC"/>
                    </a:solidFill>
                  </a:tcPr>
                </a:tc>
                <a:tc>
                  <a:txBody>
                    <a:bodyPr/>
                    <a:lstStyle/>
                    <a:p>
                      <a:r>
                        <a:rPr sz="1200" b="0" i="0">
                          <a:solidFill>
                            <a:srgbClr val="1B2330"/>
                          </a:solidFill>
                          <a:latin typeface="Montserrat"/>
                        </a:rPr>
                        <a:t>Suministradas desde envases de GLP de carga unitaria inferior a 15 kg</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Clasifica la instalación según cómo llega el gas: por red (canalizado), desde depósito fijo o envase grande (granel) o desde bombonas pequeñas (envases).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 depósito fijo de GLP en la parcela, ¿a qué clase de suministro corresponde?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Canalizado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Granel</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Envases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Intemperie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 depósito fijo de GLP en la parcela, ¿a qué clase de suministro corresponde?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Granel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suministro desde depósitos fijos de GLP, o desde envases de carga superior a 15 kg, es de clase granel.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PARTES · ESTRUCTURA FÍSICA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tres partes, en fila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interior</a:t>
            </a:r>
          </a:p>
          <a:p>
            <a:pPr>
              <a:spcAft>
                <a:spcPts val="1100"/>
              </a:spcAft>
            </a:pPr>
            <a:r>
              <a:rPr sz="1600" b="1" i="0">
                <a:solidFill>
                  <a:srgbClr val="E8801A"/>
                </a:solidFill>
                <a:latin typeface="Montserrat"/>
              </a:rPr>
              <a:t>▸  </a:t>
            </a:r>
            <a:r>
              <a:rPr sz="1600" b="0" i="0">
                <a:solidFill>
                  <a:srgbClr val="1B2330"/>
                </a:solidFill>
                <a:latin typeface="Montserrat"/>
              </a:rPr>
              <a:t>Instalación común</a:t>
            </a:r>
          </a:p>
          <a:p>
            <a:pPr>
              <a:spcAft>
                <a:spcPts val="1100"/>
              </a:spcAft>
            </a:pPr>
            <a:r>
              <a:rPr sz="1600" b="1" i="0">
                <a:solidFill>
                  <a:srgbClr val="E8801A"/>
                </a:solidFill>
                <a:latin typeface="Montserrat"/>
              </a:rPr>
              <a:t>▸  </a:t>
            </a:r>
            <a:r>
              <a:rPr sz="1600" b="0" i="0">
                <a:solidFill>
                  <a:srgbClr val="1B2330"/>
                </a:solidFill>
                <a:latin typeface="Montserrat"/>
              </a:rPr>
              <a:t>Instalación individual</a:t>
            </a:r>
          </a:p>
          <a:p>
            <a:pPr>
              <a:spcAft>
                <a:spcPts val="1100"/>
              </a:spcAft>
            </a:pPr>
            <a:r>
              <a:rPr sz="1600" b="1" i="0">
                <a:solidFill>
                  <a:srgbClr val="E8801A"/>
                </a:solidFill>
                <a:latin typeface="Montserrat"/>
              </a:rPr>
              <a:t>▸  </a:t>
            </a:r>
            <a:r>
              <a:rPr sz="1600" b="0" i="0">
                <a:solidFill>
                  <a:srgbClr val="1B2330"/>
                </a:solidFill>
                <a:latin typeface="Montserrat"/>
              </a:rPr>
              <a:t>No siempre están las tres</a:t>
            </a:r>
          </a:p>
        </p:txBody>
      </p:sp>
      <p:sp>
        <p:nvSpPr>
          <p:cNvPr id="9" name="imgph" descr="IMGQ:gas meter cabinet in apartment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in apartment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REQUISITOS · OBJETIVOS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objetivos de fondo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Aportación adecuada de gas</a:t>
            </a:r>
          </a:p>
          <a:p>
            <a:pPr>
              <a:spcAft>
                <a:spcPts val="1100"/>
              </a:spcAft>
            </a:pPr>
            <a:r>
              <a:rPr sz="1600" b="1" i="0">
                <a:solidFill>
                  <a:srgbClr val="E8801A"/>
                </a:solidFill>
                <a:latin typeface="Montserrat"/>
              </a:rPr>
              <a:t>▸  </a:t>
            </a:r>
            <a:r>
              <a:rPr sz="1600" b="0" i="0">
                <a:solidFill>
                  <a:srgbClr val="1B2330"/>
                </a:solidFill>
                <a:latin typeface="Montserrat"/>
              </a:rPr>
              <a:t>Seguridad en la conducción</a:t>
            </a:r>
          </a:p>
          <a:p>
            <a:pPr>
              <a:spcAft>
                <a:spcPts val="1100"/>
              </a:spcAft>
            </a:pPr>
            <a:r>
              <a:rPr sz="1600" b="1" i="0">
                <a:solidFill>
                  <a:srgbClr val="E8801A"/>
                </a:solidFill>
                <a:latin typeface="Montserrat"/>
              </a:rPr>
              <a:t>▸  </a:t>
            </a:r>
            <a:r>
              <a:rPr sz="1600" b="0" i="0">
                <a:solidFill>
                  <a:srgbClr val="1B2330"/>
                </a:solidFill>
                <a:latin typeface="Montserrat"/>
              </a:rPr>
              <a:t>Todo lo demás sale de aquí</a:t>
            </a:r>
          </a:p>
        </p:txBody>
      </p:sp>
      <p:sp>
        <p:nvSpPr>
          <p:cNvPr id="9" name="imgph" descr="IMGQ:blue gas flame on burn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blue gas flame on burner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OBRA · LEGALIZACIÓN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¿Hay boletín o 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Receptora → certificado obligatorio</a:t>
            </a:r>
          </a:p>
          <a:p>
            <a:pPr>
              <a:spcAft>
                <a:spcPts val="1100"/>
              </a:spcAft>
            </a:pPr>
            <a:r>
              <a:rPr sz="1600" b="1" i="0">
                <a:solidFill>
                  <a:srgbClr val="E8801A"/>
                </a:solidFill>
                <a:latin typeface="Montserrat"/>
              </a:rPr>
              <a:t>▸  </a:t>
            </a:r>
            <a:r>
              <a:rPr sz="1600" b="0" i="0">
                <a:solidFill>
                  <a:srgbClr val="1B2330"/>
                </a:solidFill>
                <a:latin typeface="Montserrat"/>
              </a:rPr>
              <a:t>Lo firma la empresa de categoría B</a:t>
            </a:r>
          </a:p>
          <a:p>
            <a:pPr>
              <a:spcAft>
                <a:spcPts val="1100"/>
              </a:spcAft>
            </a:pPr>
            <a:r>
              <a:rPr sz="1600" b="1" i="0">
                <a:solidFill>
                  <a:srgbClr val="E8801A"/>
                </a:solidFill>
                <a:latin typeface="Montserrat"/>
              </a:rPr>
              <a:t>▸  </a:t>
            </a:r>
            <a:r>
              <a:rPr sz="1600" b="0" i="0">
                <a:solidFill>
                  <a:srgbClr val="1B2330"/>
                </a:solidFill>
                <a:latin typeface="Montserrat"/>
              </a:rPr>
              <a:t>Se entrega a la distribuidora</a:t>
            </a:r>
          </a:p>
          <a:p>
            <a:pPr>
              <a:spcAft>
                <a:spcPts val="1100"/>
              </a:spcAft>
            </a:pPr>
            <a:r>
              <a:rPr sz="1600" b="1" i="0">
                <a:solidFill>
                  <a:srgbClr val="E8801A"/>
                </a:solidFill>
                <a:latin typeface="Montserrat"/>
              </a:rPr>
              <a:t>▸  </a:t>
            </a:r>
            <a:r>
              <a:rPr sz="1600" b="0" i="0">
                <a:solidFill>
                  <a:srgbClr val="1B2330"/>
                </a:solidFill>
                <a:latin typeface="Montserrat"/>
              </a:rPr>
              <a:t>Sin él, no hay suministro</a:t>
            </a:r>
          </a:p>
        </p:txBody>
      </p:sp>
      <p:sp>
        <p:nvSpPr>
          <p:cNvPr id="9" name="imgph" descr="IMGQ:technician filling installation certificate paperwor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filling installation certificate paperwork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una instalación receptora nueva, ¿qué documento exige la distribuidora para dar suministro?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certificado o boletín firmado por la empresa instaladora de categoría B</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Una autorización previa del ayuntamiento del municipio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factura de compra de la caldera y los aparatos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manual de instrucciones del fabricante del aparato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una instalación receptora nueva, ¿qué documento exige la distribuidora para dar suministro?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El certificado o boletín firmado por la empresa instaladora de categoría B</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Toda instalación receptora obliga a un certificado firmado por la empresa habilitada de categoría B; sin él, la distribuidora no da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tienes el mapa de la norma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UNE 60670: 13 partes y MOP ≤ 5 bar</a:t>
            </a:r>
          </a:p>
          <a:p>
            <a:pPr>
              <a:spcAft>
                <a:spcPts val="1200"/>
              </a:spcAft>
            </a:pPr>
            <a:r>
              <a:rPr sz="2000" b="1" i="0">
                <a:solidFill>
                  <a:srgbClr val="F4A24C"/>
                </a:solidFill>
                <a:latin typeface="Montserrat"/>
              </a:rPr>
              <a:t>✓  </a:t>
            </a:r>
            <a:r>
              <a:rPr sz="1900" b="0" i="0">
                <a:solidFill>
                  <a:srgbClr val="FFFFFF"/>
                </a:solidFill>
                <a:latin typeface="Montserrat"/>
              </a:rPr>
              <a:t>Receptora: tres condiciones y el límite de 15 kg</a:t>
            </a:r>
          </a:p>
          <a:p>
            <a:pPr>
              <a:spcAft>
                <a:spcPts val="1200"/>
              </a:spcAft>
            </a:pPr>
            <a:r>
              <a:rPr sz="2000" b="1" i="0">
                <a:solidFill>
                  <a:srgbClr val="F4A24C"/>
                </a:solidFill>
                <a:latin typeface="Montserrat"/>
              </a:rPr>
              <a:t>✓  </a:t>
            </a:r>
            <a:r>
              <a:rPr sz="1900" b="0" i="0">
                <a:solidFill>
                  <a:srgbClr val="FFFFFF"/>
                </a:solidFill>
                <a:latin typeface="Montserrat"/>
              </a:rPr>
              <a:t>Tres clases y tres partes encajadas</a:t>
            </a:r>
          </a:p>
          <a:p>
            <a:pPr>
              <a:spcAft>
                <a:spcPts val="1200"/>
              </a:spcAft>
            </a:pPr>
            <a:r>
              <a:rPr sz="2000" b="1" i="0">
                <a:solidFill>
                  <a:srgbClr val="F4A24C"/>
                </a:solidFill>
                <a:latin typeface="Montserrat"/>
              </a:rPr>
              <a:t>✓  </a:t>
            </a:r>
            <a:r>
              <a:rPr sz="1900" b="0" i="0">
                <a:solidFill>
                  <a:srgbClr val="FFFFFF"/>
                </a:solidFill>
                <a:latin typeface="Montserrat"/>
              </a:rPr>
              <a:t>Todo busca gas suficiente y seguro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Vamos a por el diccionario.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
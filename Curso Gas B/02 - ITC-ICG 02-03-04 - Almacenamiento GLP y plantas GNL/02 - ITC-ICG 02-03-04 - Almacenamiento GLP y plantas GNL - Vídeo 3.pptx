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las casas que no tienen bombonas ni gas natural, cómo se calientan?</a:t>
            </a:r>
          </a:p>
          <a:p>
            <a:r>
              <a:t>N2: Muchas tiran de un depósito fijo de GLP: ese tanque grande, gris, que ves enterrado o de pie en el jardín del chalé o de la urbanización a las afueras. La ITC-ICG cero tres es su manual. Aquí manda una norma técnica de referencia que vas a oír una y otra vez, la UNE sesenta mil doscientos cincuenta. En este vídeo cubrimos el objeto y el campo de aplicación, la documentación, con esa duda de proyecto o memoria, las pruebas y certificados, la puesta en servicio con su primer llenado, y todo el mantenimiento: las revisiones periódicas, las pruebas de presión, la corrosión y la retirada de servicio. Hay muchas cifras; ve apuntándolas.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Dame las tres cifras estrella antes de empezar.</a:t>
            </a:r>
          </a:p>
          <a:p>
            <a:r>
              <a:t>N2: Estas tres se caen del examen. La primera: por encima de trece metros cúbicos de capacidad, el depósito exige proyecto; por debajo, y sin complicaciones, basta memoria técnica. La segunda: el punto alto de llenado corta al ochenta y cinco por ciento del volumen, porque el GLP líquido se dilata con el calor y hace falta dejar un colchón. Y la tercera: la prueba de presión del depósito se hace cada quince años. Si retienes trece, ochenta y cinco y quince, ya llevas medio vídeo ganado.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abarca exactamente esta instrucción y dónde empieza y acaba la instalación?</a:t>
            </a:r>
          </a:p>
          <a:p>
            <a:r>
              <a:t>N2: Regula el almacenamiento de GLP en depósitos fijos, de superficie o enterrados, que alimentan una red de distribución por canalización o una instalación receptora. La instalación va de la boca de carga, por donde el camión mete el gas, hasta las válvulas de salida, incluidas éstas. Y hay dos topes de capacidad que no se mezclan: dos mil metros cúbicos si el depósito es de superficie, y solo quinientos metros cúbicos si es enterrado. ¿Por qué el enterrado tiene un tope más bajo? Porque, si falla, es mucho más difícil de vigilar y de atacar por los bomberos, así que se le pone un límite más prudente. Depende de dónde esté el depósito: arriba dos mil, abajo quinientos.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tanto insistir en esa norma UNE?</a:t>
            </a:r>
          </a:p>
          <a:p>
            <a:r>
              <a:t>N2: Porque aquí el Reglamento no te da las categorías por kilos como hacía en la ITC cero dos, sino que delega en la norma técnica UNE sesenta mil doscientos cincuenta. Cada vez que leas según UNE sesenta mil doscientos cincuenta, tradúcelo así: el detalle fino, la clasificación, las distancias, los ensayos, no está en la ITC, está en la norma. Para el examen te basta con saber quién manda y las pocas cifras que sí aparecen en la ITC. Y una regla muy práctica: si cambias un depósito viejo por otro casi idéntico, con diferencia de volumen no superior al diez por ciento, misma categoría y mismas distancias, no rehaces el proyecto; basta una memoria justificativa de la empresa instaladora. Es el recambio equivalente, y el diez por ciento es la cifra a retener.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¿Cuándo necesita este depósito autorización administrativa previa?</a:t>
            </a:r>
          </a:p>
          <a:p>
            <a:r>
              <a:t>N2: Solo en un caso: cuando el depósito alimenta una red de distribución por canalización, es decir, cuando das gas a terceros a través de una red. Si el depósito es de una comunidad de vecinos para su propio consumo, sin suministrar a nadie de fuera, no hace falta autorización. Regla para no fallar: ¿doy gas a terceros por una red? Entonces autorización. ¿Solo a los míos, a mi comunidad? Entonces no. Cuando sí hace falta, se solicita presentando el proyecto y el modelo oficial, todo por duplicado, y te devuelven un ejemplar diligenciado con la fecha de entrada, que el titular conserva.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¿Cuándo hace falta proyecto y cuándo me vale una memoria?</a:t>
            </a:r>
          </a:p>
          <a:p>
            <a:r>
              <a:t>N2: Memoriza los cuatro disparadores de proyecto como una lista corta. Uno, el más preguntado: capacidad de almacenamiento superior a trece metros cúbicos. Dos: que alimente una red de distribución por canalización. Tres: que tenga vaporizador, equipo de trasvase o boca de carga a distancia enterrada, o que la instalación no discurra por terrenos de la misma propiedad. Y cuatro: que esté en un lugar de libre acceso al público. Si se da cualquiera de esos cuatro, proyecto firmado por técnico facultativo competente. Si no se da ninguno y el depósito es pequeño, basta memoria técnica. El número mágico que tienes que clavar es el de más de trece metros cúbicos.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esto de quién firma cada papel, ¿por qué me importa a mí, con el carné de Gas B?</a:t>
            </a:r>
          </a:p>
          <a:p>
            <a:r>
              <a:t>N2: Porque decide qué instalaciones vas a poder legalizar tú. La lógica es la misma que en el articulado del Reglamento: instalación pequeña o normal, memoria técnica, que la puede firmar el instalador con su categoría de depósitos fijos de GLP; instalación grande o compleja, proyecto, que lo firma un técnico facultativo competente, un titulado. Traducido a tu día a día: con tu carné podrás firmar la memoria técnica de un depósito fijo, pero no el proyecto. Saber distinguir memoria de proyecto es lo que decide, en la práctica, si esa instalación la legalizas tú o tiene que ir a un ingeniero.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¿Cuándo hay que volver a probar un depósito antes de enchufarlo?</a:t>
            </a:r>
          </a:p>
          <a:p>
            <a:r>
              <a:t>N2: Cuando ha estado esperando demasiado tiempo o ha sufrido algo. Se le hace una prueba hidrostática en el emplazamiento, certificada por un organismo de control, en varios casos: si el instalador ve algún desperfecto por las operaciones de carga y descarga, si el depósito cambia de emplazamiento, o por el paso del tiempo. Y ahí van los dos relojes gemelos: más de doce meses desde que llegó al sitio, o más de veinticuatro meses desde las pruebas de fábrica. Truco para recordarlo: un año en la parcela o dos desde fábrica, y a probar otra vez. Superadas las pruebas de la norma, la puesta en servicio conlleva una inspección inicial del organismo de control.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certificados se generan y quién firma cada uno?</a:t>
            </a:r>
          </a:p>
          <a:p>
            <a:r>
              <a:t>N2: Tres papeles, cada uno con su firmante, y esto cae cruzado en examen. Primero, la empresa instaladora cumplimenta el certificado de instalación, por triplicado, con copia para el titular y para el órgano competente de la Comunidad Autónoma. Segundo, el organismo de control emite el certificado de inspección; con él, la instalación queda en disposición de servicio. Y tercero, solo si hubo proyecto, el director de obra firma el certificado de dirección de obra, que lleva como anexo el estado de la protección contra la corrosión, las actas de pruebas, la documentación de los depósitos y la justificación de que se cumplen los requisitos de seguridad. Asocia cada papel con quien lo firma: instalación, instaladora; inspección, organismo de control; dirección de obra, director de obra.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llevo a la Administración y cuándo, antes de que llegue el gas?</a:t>
            </a:r>
          </a:p>
          <a:p>
            <a:r>
              <a:t>N2: Previo a la fecha del primer llenado, presentas por duplicado ante la Comunidad Autónoma un paquete: certificado de instalación, certificado de inspección, la memoria técnica o el proyecto si no se entregó antes, el certificado de dirección de obra cuando haya proyecto, y el contrato de mantenimiento. Fíjate en un detalle que se suele olvidar: el contrato de mantenimiento ya tiene que ir firmado en este momento; un depósito fijo nace con su mantenimiento contratado, no es algo para más adelante. Y un certificado extra que solo aparece si el depósito va en una azotea: el que acredita que la cubierta aguanta el peso. La presentación te faculta para arrancar, pero no es conformidad técnica de la Administración.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un depósito no se llena hasta arriba del todo?</a:t>
            </a:r>
          </a:p>
          <a:p>
            <a:r>
              <a:t>N2: Porque el GLP líquido se dilata cuando sube la temperatura, y necesita sitio para expandirse. Nunca se llena al cien por cien: el llamado punto alto de llenado corta la entrada de gas cuando el líquido alcanza el ochenta y cinco por ciento del volumen geométrico. Ese quince por ciento de hueco que queda arriba, la fase gaseosa, es el colchón para que, en pleno verano, el líquido tenga adónde crecer sin reventar el depósito ni disparar la válvula de seguridad. Por eso, durante el primer llenado de cada depósito, el personal comprueba la estanquidad de conexiones y valvulería, y que ese corte al ochenta y cinco por ciento actúe de verdad. El resultado se anota en el Libro de Mantenimiento. Cifra de examen segura: ochenta y cinco por ciento.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¿Quién cuida el depósito una vez está funcionando?</a:t>
            </a:r>
          </a:p>
          <a:p>
            <a:r>
              <a:t>N2: El responsable es el titular o, en su defecto, los usuarios: la instalación tiene que estar permanentemente en disposición de servicio y con su nivel de seguridad. Para eso están obligados a tener un contrato de mantenimiento con una empresa instaladora que disponga de servicio de urgencias permanente, o sea, que puedas llamar a cualquier hora si hay un problema. Esa empresa conserva la instalación, hace las revisiones y se ocupa especialmente de la protección contra la corrosión. Y todo queda registrado: cada instalación tiene un Libro de Mantenimiento, o un archivo documental si la empresa tiene su sistema de calidad acreditado, donde consta cada visita, los defectos vistos, las reparaciones y las lecturas. El titular custodia ese Libro y el certificado de la última revisión.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hay tanto miedo a la corrosión en los depósitos enterrados?</a:t>
            </a:r>
          </a:p>
          <a:p>
            <a:r>
              <a:t>N2: Porque un depósito bajo tierra está rodeado de suelo húmedo, y la humedad se come el hierro poco a poco hasta que fuga. Para evitarlo, los depósitos enterrados llevan protección catódica, que es un truco electroquímico para que el metal no se oxide; solo se libran si un estudio de agresividad del terreno demuestra que no hace falta. Y esa protección se vigila con dos relojes: el potencial de protección se controla cada año, pero si la protección catódica es por corriente impresa, con un equipo eléctrico alimentado, se comprueba cada tres meses. La regla: corriente impresa, más vigilancia, trimestral, porque depende de un aparato que puede fallar. Idea de fondo: enterrado igual a corrosión igual a protección catódica, salvo estudio que lo exima.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¿Cada cuánto se revisa el depósito, y de qué depende?</a:t>
            </a:r>
          </a:p>
          <a:p>
            <a:r>
              <a:t>N2: Hay dos casos, no los mezcles. Si el depósito alimenta una red de distribución, su revisión es cada dos años. Si solo alimenta la instalación de una casa o una comunidad, la revisión se engancha a la de la instalación receptora, la de la ITC-ICG cero siete, y se hacen las dos juntas en la misma visita. Regla corta: red, dos años; casa, a la vez que la receptora. La revisión la hace la empresa instaladora que tiene el contrato de mantenimiento. Si sale favorable, emite un certificado de revisión para el titular; si sale con fallos, cumplimenta un informe de anomalías, y el titular es el responsable de subsanarlas. Y recuerda: sin acreditar la revisión en plazo y con resultado favorable, no hay suministro de GLP.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Trece comprobaciones parecen muchas, ¿cómo me las aprendo?</a:t>
            </a:r>
          </a:p>
          <a:p>
            <a:r>
              <a:t>N2: No las memorices de carrerilla; agrúpalas en tres bloques y las tienes. Los puntos uno a tres son papeleo y bomberos: el último certificado de inspección, la inspección visual y el estado del equipo contra incendios. Los puntos cuatro a nueve son el hierro: recubrimiento del depósito, tuberías y anclajes, funcionamiento de llaves, manómetros, niveles y reguladores, estado del cerramiento y los rótulos, la protección contra la corrosión y la resistencia de la toma de tierra. Y los puntos diez a trece son que no fugue: las distintas pruebas de estanquidad. La cifra fina que cae: la boca de carga desplazada y las mangueras de trasvase se prueban a tres bar durante diez minutos. Y el clásico de toda la vida: las fugas finas se cazan con agua jabonosa, porque las burbujas te delatan el escape.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Aparte de las revisiones, ¿hay una prueba más seria de vez en cuando?</a:t>
            </a:r>
          </a:p>
          <a:p>
            <a:r>
              <a:t>N2: Sí, la prueba de presión, y su cita es cada quince años. La encarga el titular a un organismo de control, asistido por la empresa de mantenimiento, y se emite un acta de pruebas con resultado favorable. Hay un detalle de los depósitos de superficie que cae: no hace falta probar todo el lote de golpe; se prueba solo una muestra estadística. Y de esa muestra retén dos cosas. Una, el número se obtiene redondeando siempre hacia la unidad superior, y nunca puede bajar de ocho unidades. Y dos, es un control de calidad de los de a más fallos, más miras: si aparece una anomalía en un depósito de la muestra, se revisa el doble; si vuelve a salir otra, se revisa el lote completo. La cifra clave: quince años, y mínimo ocho unidades.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eso de la protección adicional, y qué hago mientras arreglo mi depósito?</a:t>
            </a:r>
          </a:p>
          <a:p>
            <a:r>
              <a:t>N2: Dos cosas prácticas. La primera: un depósito enterrado normal, para la prueba de los quince años, habría que sacarlo del hoyo, que es carísimo. Los depósitos catalogados como con protección adicional se libran de desenterrarse si pasan las pruebas del fabricante; esa es la gran ventaja de ese sello. Si un día no las pasan, el titular puede sustituir el depósito, reparar la envolvente, o degradarlo a depósito normal poniéndole protección catódica. La segunda: mientras tu depósito está de pruebas o en reparación, no se deja a la gente sin gas; se pone uno provisional. Dos cifras que caen: máximo cinco metros cúbicos de volumen, y solo hasta sesenta días, prorrogables con permiso del órgano competente. Y el proyecto de legalización del provisional, solo la primera vez.</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Cuando un depósito deja de usarse, ¿basta con cerrar la llave?</a:t>
            </a:r>
          </a:p>
          <a:p>
            <a:r>
              <a:t>N2: No, ni mucho menos. Un depósito fuera de servicio nunca se abandona con restos de GLP dentro, porque seguiría siendo una bomba. Hay que vaciarlo de gas de verdad: se inertiza, es decir, se rellena de nitrógeno, un gas que no arde, o se desgasifica con agua. Lo hace una empresa instaladora, que lo certifica, y el titular entrega copia de ese certificado al órgano competente de la Comunidad Autónoma. Y ojo a las cifras del cese de actividad: se entiende que una instalación cesa si pasan dos años consecutivos sin consumo, si no hay contrato de mantenimiento, o si pasan cinco años sin el mantenimiento oportuno, salvo fuerza mayor. Esta misma filosofía del inertizado la volverás a ver en las plantas de GNL del vídeo cuatro.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Antes de cerrar, dame los imprescindibles de este vídeo tan cargado.</a:t>
            </a:r>
          </a:p>
          <a:p>
            <a:r>
              <a:t>N2: Seis anclas y lo tienes. Una: los topes son dos mil metros cúbicos en superficie y quinientos enterrado, y hace falta proyecto por encima de trece metros cúbicos. Dos: la memoria técnica la puede firmar el instalador; el proyecto, el técnico. Tres: el primer llenado corta al ochenta y cinco por ciento, el colchón para que el líquido se dilate. Cuatro: el depósito enterrado lleva protección catódica, con control anual o trimestral si es corriente impresa. Cinco: las revisiones, cada dos años si da a una red o junto a la receptora si es de una casa. Y seis: la prueba de presión, cada quince años, con muestreo mínimo de ocho en superficie. Con esas seis tienes el esqueleto del vídeo entero.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Cerramos la ITC cero tres. ¿Qué me llevo de todo este mantenimiento?</a:t>
            </a:r>
          </a:p>
          <a:p>
            <a:r>
              <a:t>N2: Te llevas la capacidad de acompañar un depósito fijo de principio a fin, y fíjate en cómo encaja cada pieza con su porqué. Primero decides el papeleo: memoria o proyecto según los cuatro casos, con el trece como número mágico, y sabes que con tu carné firmas la memoria pero no el proyecto. Después entiendes la seguridad del llenado: el corte al ochenta y cinco por ciento existe porque el GLP líquido se dilata con el calor, y sin ese colchón el depósito reventaría en un golpe de calor. Luego dominas el mantenimiento: la corrosión del enterrado con su protección catódica, las revisiones cada dos años o junto a la receptora, y la prueba de presión de los quince años. Y por último, retiras el depósito inertizándolo con nitrógeno, nunca abandonándolo con gas.</a:t>
            </a:r>
          </a:p>
          <a:p>
            <a:r>
              <a:t>N1: ¿Y cómo se pregunta esto en el examen?</a:t>
            </a:r>
          </a:p>
          <a:p>
            <a:r>
              <a:t>N2: Te cruzan las cifras: te dan una capacidad y esperan que digas si toca proyecto, o te preguntan el porcentaje del llenado, o el plazo de la prueba de presión, o quién firma cada certificado. Todo lo que hoy has entendido con su lógica lo vas a reconocer al vuelo. Hoy ya eres más gasista que ayer. En el último vídeo del tema damos el salto al frío de verdad: las plantas satélite de gas natural licuado, el GNL, con su norma y su especialista criogénico. Te espero allí para cerrar el tema.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3 DE 4</a:t>
            </a:r>
          </a:p>
        </p:txBody>
      </p:sp>
      <p:sp>
        <p:nvSpPr>
          <p:cNvPr id="4" name="Rounded Rectangle 3"/>
          <p:cNvSpPr/>
          <p:nvPr/>
        </p:nvSpPr>
        <p:spPr>
          <a:xfrm>
            <a:off x="868680" y="2057400"/>
            <a:ext cx="1463040" cy="82296"/>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Depósitos fijos de GLP</a:t>
            </a:r>
          </a:p>
          <a:p>
            <a:r>
              <a:rPr sz="2200" b="0" i="0">
                <a:solidFill>
                  <a:srgbClr val="CADCFC"/>
                </a:solidFill>
                <a:latin typeface="Montserrat"/>
              </a:rPr>
              <a:t>ITC-ICG 03: proyecto, pruebas, llenado y mantenimiento</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02 · Reglamento · ITC-ICG 02/03/04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Depósitos fijos de GLP (ITC-ICG 03)</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ounded Rectangle 5"/>
          <p:cNvSpPr/>
          <p:nvPr/>
        </p:nvSpPr>
        <p:spPr>
          <a:xfrm>
            <a:off x="868680" y="1234440"/>
            <a:ext cx="1463040" cy="73152"/>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31720"/>
            <a:ext cx="3017520" cy="1463040"/>
          </a:xfrm>
          <a:prstGeom prst="rect">
            <a:avLst/>
          </a:prstGeom>
          <a:noFill/>
        </p:spPr>
        <p:txBody>
          <a:bodyPr wrap="square">
            <a:spAutoFit/>
          </a:bodyPr>
          <a:lstStyle/>
          <a:p>
            <a:pPr algn="ctr"/>
            <a:r>
              <a:rPr sz="6000" b="1" i="0">
                <a:solidFill>
                  <a:srgbClr val="1E2761"/>
                </a:solidFill>
                <a:latin typeface="Montserrat"/>
              </a:rPr>
              <a:t>13 m³</a:t>
            </a:r>
          </a:p>
        </p:txBody>
      </p:sp>
      <p:sp>
        <p:nvSpPr>
          <p:cNvPr id="9" name="TextBox 8"/>
          <p:cNvSpPr txBox="1"/>
          <p:nvPr/>
        </p:nvSpPr>
        <p:spPr>
          <a:xfrm>
            <a:off x="1051560" y="3611880"/>
            <a:ext cx="2560320" cy="1005840"/>
          </a:xfrm>
          <a:prstGeom prst="rect">
            <a:avLst/>
          </a:prstGeom>
          <a:noFill/>
        </p:spPr>
        <p:txBody>
          <a:bodyPr wrap="square">
            <a:spAutoFit/>
          </a:bodyPr>
          <a:lstStyle/>
          <a:p>
            <a:pPr algn="ctr"/>
            <a:r>
              <a:rPr sz="1400" b="0" i="0">
                <a:solidFill>
                  <a:srgbClr val="1B2330"/>
                </a:solidFill>
                <a:latin typeface="Montserrat"/>
              </a:rPr>
              <a:t>capacidad que exige proyecto</a:t>
            </a:r>
          </a:p>
        </p:txBody>
      </p:sp>
      <p:sp>
        <p:nvSpPr>
          <p:cNvPr id="10" name="Rounded Rectangle 9"/>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331720"/>
            <a:ext cx="3017520" cy="1463040"/>
          </a:xfrm>
          <a:prstGeom prst="rect">
            <a:avLst/>
          </a:prstGeom>
          <a:noFill/>
        </p:spPr>
        <p:txBody>
          <a:bodyPr wrap="square">
            <a:spAutoFit/>
          </a:bodyPr>
          <a:lstStyle/>
          <a:p>
            <a:pPr algn="ctr"/>
            <a:r>
              <a:rPr sz="6000" b="1" i="0">
                <a:solidFill>
                  <a:srgbClr val="1E2761"/>
                </a:solidFill>
                <a:latin typeface="Montserrat"/>
              </a:rPr>
              <a:t>85 %</a:t>
            </a:r>
          </a:p>
        </p:txBody>
      </p:sp>
      <p:sp>
        <p:nvSpPr>
          <p:cNvPr id="12" name="TextBox 11"/>
          <p:cNvSpPr txBox="1"/>
          <p:nvPr/>
        </p:nvSpPr>
        <p:spPr>
          <a:xfrm>
            <a:off x="4846320" y="3611880"/>
            <a:ext cx="2560320" cy="1005840"/>
          </a:xfrm>
          <a:prstGeom prst="rect">
            <a:avLst/>
          </a:prstGeom>
          <a:noFill/>
        </p:spPr>
        <p:txBody>
          <a:bodyPr wrap="square">
            <a:spAutoFit/>
          </a:bodyPr>
          <a:lstStyle/>
          <a:p>
            <a:pPr algn="ctr"/>
            <a:r>
              <a:rPr sz="1400" b="0" i="0">
                <a:solidFill>
                  <a:srgbClr val="1B2330"/>
                </a:solidFill>
                <a:latin typeface="Montserrat"/>
              </a:rPr>
              <a:t>corte del punto alto de llenado</a:t>
            </a:r>
          </a:p>
        </p:txBody>
      </p:sp>
      <p:sp>
        <p:nvSpPr>
          <p:cNvPr id="13" name="Rounded Rectangle 12"/>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331720"/>
            <a:ext cx="3017520" cy="1463040"/>
          </a:xfrm>
          <a:prstGeom prst="rect">
            <a:avLst/>
          </a:prstGeom>
          <a:noFill/>
        </p:spPr>
        <p:txBody>
          <a:bodyPr wrap="square">
            <a:spAutoFit/>
          </a:bodyPr>
          <a:lstStyle/>
          <a:p>
            <a:pPr algn="ctr"/>
            <a:r>
              <a:rPr sz="6000" b="1" i="0">
                <a:solidFill>
                  <a:srgbClr val="1E2761"/>
                </a:solidFill>
                <a:latin typeface="Montserrat"/>
              </a:rPr>
              <a:t>15 años</a:t>
            </a:r>
          </a:p>
        </p:txBody>
      </p:sp>
      <p:sp>
        <p:nvSpPr>
          <p:cNvPr id="15" name="TextBox 14"/>
          <p:cNvSpPr txBox="1"/>
          <p:nvPr/>
        </p:nvSpPr>
        <p:spPr>
          <a:xfrm>
            <a:off x="8641080" y="3611880"/>
            <a:ext cx="2560320" cy="1005840"/>
          </a:xfrm>
          <a:prstGeom prst="rect">
            <a:avLst/>
          </a:prstGeom>
          <a:noFill/>
        </p:spPr>
        <p:txBody>
          <a:bodyPr wrap="square">
            <a:spAutoFit/>
          </a:bodyPr>
          <a:lstStyle/>
          <a:p>
            <a:pPr algn="ctr"/>
            <a:r>
              <a:rPr sz="1400" b="0" i="0">
                <a:solidFill>
                  <a:srgbClr val="1B2330"/>
                </a:solidFill>
                <a:latin typeface="Montserrat"/>
              </a:rPr>
              <a:t>prueba de presión periódica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Depósitos fijos de GLP (ITC-ICG 03)</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ounded Rectangle 6"/>
          <p:cNvSpPr/>
          <p:nvPr/>
        </p:nvSpPr>
        <p:spPr>
          <a:xfrm>
            <a:off x="868680" y="167335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Apartados 1 y 2</a:t>
            </a:r>
          </a:p>
          <a:p>
            <a:pPr>
              <a:spcAft>
                <a:spcPts val="900"/>
              </a:spcAft>
            </a:pPr>
            <a:r>
              <a:rPr sz="1800" b="1" i="0">
                <a:solidFill>
                  <a:srgbClr val="E8801A"/>
                </a:solidFill>
                <a:latin typeface="Montserrat"/>
              </a:rPr>
              <a:t>02   </a:t>
            </a:r>
            <a:r>
              <a:rPr sz="1700" b="0" i="0">
                <a:solidFill>
                  <a:srgbClr val="1B2330"/>
                </a:solidFill>
                <a:latin typeface="Montserrat"/>
              </a:rPr>
              <a:t>Apartados 2 y 3</a:t>
            </a:r>
          </a:p>
          <a:p>
            <a:pPr>
              <a:spcAft>
                <a:spcPts val="900"/>
              </a:spcAft>
            </a:pPr>
            <a:r>
              <a:rPr sz="1800" b="1" i="0">
                <a:solidFill>
                  <a:srgbClr val="E8801A"/>
                </a:solidFill>
                <a:latin typeface="Montserrat"/>
              </a:rPr>
              <a:t>03   </a:t>
            </a:r>
            <a:r>
              <a:rPr sz="1700" b="0" i="0">
                <a:solidFill>
                  <a:srgbClr val="1B2330"/>
                </a:solidFill>
                <a:latin typeface="Montserrat"/>
              </a:rPr>
              <a:t>Apartado 5.1</a:t>
            </a:r>
          </a:p>
          <a:p>
            <a:pPr>
              <a:spcAft>
                <a:spcPts val="900"/>
              </a:spcAft>
            </a:pPr>
            <a:r>
              <a:rPr sz="1800" b="1" i="0">
                <a:solidFill>
                  <a:srgbClr val="E8801A"/>
                </a:solidFill>
                <a:latin typeface="Montserrat"/>
              </a:rPr>
              <a:t>04   </a:t>
            </a:r>
            <a:r>
              <a:rPr sz="1700" b="0" i="0">
                <a:solidFill>
                  <a:srgbClr val="1B2330"/>
                </a:solidFill>
                <a:latin typeface="Montserrat"/>
              </a:rPr>
              <a:t>Apartado 5.2</a:t>
            </a:r>
          </a:p>
          <a:p>
            <a:pPr>
              <a:spcAft>
                <a:spcPts val="900"/>
              </a:spcAft>
            </a:pPr>
            <a:r>
              <a:rPr sz="1800" b="1" i="0">
                <a:solidFill>
                  <a:srgbClr val="E8801A"/>
                </a:solidFill>
                <a:latin typeface="Montserrat"/>
              </a:rPr>
              <a:t>05   </a:t>
            </a:r>
            <a:r>
              <a:rPr sz="1700" b="0" i="0">
                <a:solidFill>
                  <a:srgbClr val="1B2330"/>
                </a:solidFill>
                <a:latin typeface="Montserrat"/>
              </a:rPr>
              <a:t>Apartado 5.3</a:t>
            </a:r>
          </a:p>
          <a:p>
            <a:pPr>
              <a:spcAft>
                <a:spcPts val="900"/>
              </a:spcAft>
            </a:pPr>
            <a:r>
              <a:rPr sz="1800" b="1" i="0">
                <a:solidFill>
                  <a:srgbClr val="E8801A"/>
                </a:solidFill>
                <a:latin typeface="Montserrat"/>
              </a:rPr>
              <a:t>06   </a:t>
            </a:r>
            <a:r>
              <a:rPr sz="1700" b="0" i="0">
                <a:solidFill>
                  <a:srgbClr val="1B2330"/>
                </a:solidFill>
                <a:latin typeface="Montserrat"/>
              </a:rPr>
              <a:t>Apartado 5.4</a:t>
            </a:r>
          </a:p>
          <a:p>
            <a:pPr>
              <a:spcAft>
                <a:spcPts val="900"/>
              </a:spcAft>
            </a:pPr>
            <a:r>
              <a:rPr sz="1800" b="1" i="0">
                <a:solidFill>
                  <a:srgbClr val="E8801A"/>
                </a:solidFill>
                <a:latin typeface="Montserrat"/>
              </a:rPr>
              <a:t>07   </a:t>
            </a:r>
            <a:r>
              <a:rPr sz="1700" b="0" i="0">
                <a:solidFill>
                  <a:srgbClr val="1B2330"/>
                </a:solidFill>
                <a:latin typeface="Montserrat"/>
              </a:rPr>
              <a:t>Apartado 5.5</a:t>
            </a:r>
          </a:p>
          <a:p>
            <a:pPr>
              <a:spcAft>
                <a:spcPts val="900"/>
              </a:spcAft>
            </a:pPr>
            <a:r>
              <a:rPr sz="1800" b="1" i="0">
                <a:solidFill>
                  <a:srgbClr val="E8801A"/>
                </a:solidFill>
                <a:latin typeface="Montserrat"/>
              </a:rPr>
              <a:t>08   </a:t>
            </a:r>
            <a:r>
              <a:rPr sz="1700" b="0" i="0">
                <a:solidFill>
                  <a:srgbClr val="1B2330"/>
                </a:solidFill>
                <a:latin typeface="Montserrat"/>
              </a:rPr>
              <a:t>Apartado 5.6</a:t>
            </a:r>
          </a:p>
          <a:p>
            <a:pPr>
              <a:spcAft>
                <a:spcPts val="900"/>
              </a:spcAft>
            </a:pPr>
            <a:r>
              <a:rPr sz="1800" b="1" i="0">
                <a:solidFill>
                  <a:srgbClr val="E8801A"/>
                </a:solidFill>
                <a:latin typeface="Montserrat"/>
              </a:rPr>
              <a:t>09   </a:t>
            </a:r>
            <a:r>
              <a:rPr sz="1700" b="0" i="0">
                <a:solidFill>
                  <a:srgbClr val="1B2330"/>
                </a:solidFill>
                <a:latin typeface="Montserrat"/>
              </a:rPr>
              <a:t>Apartado 6.1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Depósitos fijos de GLP (ITC-ICG 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APARTADOS 1 Y 2 · OBJETO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regula y hasta dónde</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Almacenamiento de GLP en depósitos fijos</a:t>
            </a:r>
          </a:p>
          <a:p>
            <a:pPr>
              <a:spcAft>
                <a:spcPts val="1100"/>
              </a:spcAft>
            </a:pPr>
            <a:r>
              <a:rPr sz="1600" b="1" i="0">
                <a:solidFill>
                  <a:srgbClr val="E8801A"/>
                </a:solidFill>
                <a:latin typeface="Montserrat"/>
              </a:rPr>
              <a:t>▸  </a:t>
            </a:r>
            <a:r>
              <a:rPr sz="1600" b="0" i="0">
                <a:solidFill>
                  <a:srgbClr val="1B2330"/>
                </a:solidFill>
                <a:latin typeface="Montserrat"/>
              </a:rPr>
              <a:t>De la boca de carga a las válvulas de salida</a:t>
            </a:r>
          </a:p>
          <a:p>
            <a:pPr>
              <a:spcAft>
                <a:spcPts val="1100"/>
              </a:spcAft>
            </a:pPr>
            <a:r>
              <a:rPr sz="1600" b="1" i="0">
                <a:solidFill>
                  <a:srgbClr val="E8801A"/>
                </a:solidFill>
                <a:latin typeface="Montserrat"/>
              </a:rPr>
              <a:t>▸  </a:t>
            </a:r>
            <a:r>
              <a:rPr sz="1600" b="0" i="0">
                <a:solidFill>
                  <a:srgbClr val="1B2330"/>
                </a:solidFill>
                <a:latin typeface="Montserrat"/>
              </a:rPr>
              <a:t>Superficie: hasta 2.000 m³</a:t>
            </a:r>
          </a:p>
          <a:p>
            <a:pPr>
              <a:spcAft>
                <a:spcPts val="1100"/>
              </a:spcAft>
            </a:pPr>
            <a:r>
              <a:rPr sz="1600" b="1" i="0">
                <a:solidFill>
                  <a:srgbClr val="E8801A"/>
                </a:solidFill>
                <a:latin typeface="Montserrat"/>
              </a:rPr>
              <a:t>▸  </a:t>
            </a:r>
            <a:r>
              <a:rPr sz="1600" b="0" i="0">
                <a:solidFill>
                  <a:srgbClr val="1B2330"/>
                </a:solidFill>
                <a:latin typeface="Montserrat"/>
              </a:rPr>
              <a:t>Enterrados: hasta 500 m³</a:t>
            </a:r>
          </a:p>
        </p:txBody>
      </p:sp>
      <p:sp>
        <p:nvSpPr>
          <p:cNvPr id="9" name="imgph" descr="IMGQ:large LPG storage tank garde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large LPG storage tank garden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Depósitos fijos de GLP (ITC-ICG 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APARTADOS 2 Y 3 · NORMA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Manda la UNE 60250</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Clasifica por volumen geométrico total</a:t>
            </a:r>
          </a:p>
          <a:p>
            <a:pPr>
              <a:spcAft>
                <a:spcPts val="1100"/>
              </a:spcAft>
            </a:pPr>
            <a:r>
              <a:rPr sz="1600" b="1" i="0">
                <a:solidFill>
                  <a:srgbClr val="E8801A"/>
                </a:solidFill>
                <a:latin typeface="Montserrat"/>
              </a:rPr>
              <a:t>▸  </a:t>
            </a:r>
            <a:r>
              <a:rPr sz="1600" b="0" i="0">
                <a:solidFill>
                  <a:srgbClr val="1B2330"/>
                </a:solidFill>
                <a:latin typeface="Montserrat"/>
              </a:rPr>
              <a:t>Diseño, distancias, pruebas: según UNE</a:t>
            </a:r>
          </a:p>
          <a:p>
            <a:pPr>
              <a:spcAft>
                <a:spcPts val="1100"/>
              </a:spcAft>
            </a:pPr>
            <a:r>
              <a:rPr sz="1600" b="1" i="0">
                <a:solidFill>
                  <a:srgbClr val="E8801A"/>
                </a:solidFill>
                <a:latin typeface="Montserrat"/>
              </a:rPr>
              <a:t>▸  </a:t>
            </a:r>
            <a:r>
              <a:rPr sz="1600" b="0" i="0">
                <a:solidFill>
                  <a:srgbClr val="1B2330"/>
                </a:solidFill>
                <a:latin typeface="Montserrat"/>
              </a:rPr>
              <a:t>Recambio ±10 %: sin proyecto nuevo</a:t>
            </a:r>
          </a:p>
          <a:p>
            <a:pPr>
              <a:spcAft>
                <a:spcPts val="1100"/>
              </a:spcAft>
            </a:pPr>
            <a:r>
              <a:rPr sz="1600" b="1" i="0">
                <a:solidFill>
                  <a:srgbClr val="E8801A"/>
                </a:solidFill>
                <a:latin typeface="Montserrat"/>
              </a:rPr>
              <a:t>▸  </a:t>
            </a:r>
            <a:r>
              <a:rPr sz="1600" b="0" i="0">
                <a:solidFill>
                  <a:srgbClr val="1B2330"/>
                </a:solidFill>
                <a:latin typeface="Montserrat"/>
              </a:rPr>
              <a:t>Basta memoria justificativa del instalador</a:t>
            </a:r>
          </a:p>
        </p:txBody>
      </p:sp>
      <p:sp>
        <p:nvSpPr>
          <p:cNvPr id="9" name="imgph" descr="IMGQ:technical standard document engineering"/>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technical standard document engineering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Depósitos fijos de GLP (ITC-ICG 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5.1 · AUTORIZACIÓN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¿Hace falta permiso previo?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Solo si alimenta una red a terceros</a:t>
            </a:r>
          </a:p>
          <a:p>
            <a:pPr>
              <a:spcAft>
                <a:spcPts val="1100"/>
              </a:spcAft>
            </a:pPr>
            <a:r>
              <a:rPr sz="1600" b="1" i="0">
                <a:solidFill>
                  <a:srgbClr val="E8801A"/>
                </a:solidFill>
                <a:latin typeface="Montserrat"/>
              </a:rPr>
              <a:t>▸  </a:t>
            </a:r>
            <a:r>
              <a:rPr sz="1600" b="0" i="0">
                <a:solidFill>
                  <a:srgbClr val="1B2330"/>
                </a:solidFill>
                <a:latin typeface="Montserrat"/>
              </a:rPr>
              <a:t>Comunidad de vecinos: no hace falta</a:t>
            </a:r>
          </a:p>
          <a:p>
            <a:pPr>
              <a:spcAft>
                <a:spcPts val="1100"/>
              </a:spcAft>
            </a:pPr>
            <a:r>
              <a:rPr sz="1600" b="1" i="0">
                <a:solidFill>
                  <a:srgbClr val="E8801A"/>
                </a:solidFill>
                <a:latin typeface="Montserrat"/>
              </a:rPr>
              <a:t>▸  </a:t>
            </a:r>
            <a:r>
              <a:rPr sz="1600" b="0" i="0">
                <a:solidFill>
                  <a:srgbClr val="1B2330"/>
                </a:solidFill>
                <a:latin typeface="Montserrat"/>
              </a:rPr>
              <a:t>Se solicita con proyecto, por duplicado</a:t>
            </a:r>
          </a:p>
        </p:txBody>
      </p:sp>
      <p:sp>
        <p:nvSpPr>
          <p:cNvPr id="9" name="imgph" descr="IMGQ:residential gas pipe network stree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residential gas pipe network street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Depósitos fijos de GLP (ITC-ICG 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5.2 · PROYECTO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Los cuatro casos de proyecto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Capacidad mayor de 13 m³</a:t>
            </a:r>
          </a:p>
          <a:p>
            <a:pPr>
              <a:spcAft>
                <a:spcPts val="1100"/>
              </a:spcAft>
            </a:pPr>
            <a:r>
              <a:rPr sz="1600" b="1" i="0">
                <a:solidFill>
                  <a:srgbClr val="E8801A"/>
                </a:solidFill>
                <a:latin typeface="Montserrat"/>
              </a:rPr>
              <a:t>▸  </a:t>
            </a:r>
            <a:r>
              <a:rPr sz="1600" b="0" i="0">
                <a:solidFill>
                  <a:srgbClr val="1B2330"/>
                </a:solidFill>
                <a:latin typeface="Montserrat"/>
              </a:rPr>
              <a:t>Alimenta red de distribución</a:t>
            </a:r>
          </a:p>
          <a:p>
            <a:pPr>
              <a:spcAft>
                <a:spcPts val="1100"/>
              </a:spcAft>
            </a:pPr>
            <a:r>
              <a:rPr sz="1600" b="1" i="0">
                <a:solidFill>
                  <a:srgbClr val="E8801A"/>
                </a:solidFill>
                <a:latin typeface="Montserrat"/>
              </a:rPr>
              <a:t>▸  </a:t>
            </a:r>
            <a:r>
              <a:rPr sz="1600" b="0" i="0">
                <a:solidFill>
                  <a:srgbClr val="1B2330"/>
                </a:solidFill>
                <a:latin typeface="Montserrat"/>
              </a:rPr>
              <a:t>Vaporizador, trasvase o boca desplazada</a:t>
            </a:r>
          </a:p>
          <a:p>
            <a:pPr>
              <a:spcAft>
                <a:spcPts val="1100"/>
              </a:spcAft>
            </a:pPr>
            <a:r>
              <a:rPr sz="1600" b="1" i="0">
                <a:solidFill>
                  <a:srgbClr val="E8801A"/>
                </a:solidFill>
                <a:latin typeface="Montserrat"/>
              </a:rPr>
              <a:t>▸  </a:t>
            </a:r>
            <a:r>
              <a:rPr sz="1600" b="0" i="0">
                <a:solidFill>
                  <a:srgbClr val="1B2330"/>
                </a:solidFill>
                <a:latin typeface="Montserrat"/>
              </a:rPr>
              <a:t>En lugar de acceso público</a:t>
            </a:r>
          </a:p>
        </p:txBody>
      </p:sp>
      <p:sp>
        <p:nvSpPr>
          <p:cNvPr id="9" name="imgph" descr="IMGQ:engineer with project plans sit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engineer with project plans site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Depósitos fijos de GLP (ITC-ICG 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5.3 · MEMORIA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Memoria o proyecto: quién firma</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Instalación normal: memoria técnica</a:t>
            </a:r>
          </a:p>
          <a:p>
            <a:pPr>
              <a:spcAft>
                <a:spcPts val="1100"/>
              </a:spcAft>
            </a:pPr>
            <a:r>
              <a:rPr sz="1600" b="1" i="0">
                <a:solidFill>
                  <a:srgbClr val="E8801A"/>
                </a:solidFill>
                <a:latin typeface="Montserrat"/>
              </a:rPr>
              <a:t>▸  </a:t>
            </a:r>
            <a:r>
              <a:rPr sz="1600" b="0" i="0">
                <a:solidFill>
                  <a:srgbClr val="1B2330"/>
                </a:solidFill>
                <a:latin typeface="Montserrat"/>
              </a:rPr>
              <a:t>La memoria la firma el instalador</a:t>
            </a:r>
          </a:p>
          <a:p>
            <a:pPr>
              <a:spcAft>
                <a:spcPts val="1100"/>
              </a:spcAft>
            </a:pPr>
            <a:r>
              <a:rPr sz="1600" b="1" i="0">
                <a:solidFill>
                  <a:srgbClr val="E8801A"/>
                </a:solidFill>
                <a:latin typeface="Montserrat"/>
              </a:rPr>
              <a:t>▸  </a:t>
            </a:r>
            <a:r>
              <a:rPr sz="1600" b="0" i="0">
                <a:solidFill>
                  <a:srgbClr val="1B2330"/>
                </a:solidFill>
                <a:latin typeface="Montserrat"/>
              </a:rPr>
              <a:t>Instalación grande: proyecto</a:t>
            </a:r>
          </a:p>
          <a:p>
            <a:pPr>
              <a:spcAft>
                <a:spcPts val="1100"/>
              </a:spcAft>
            </a:pPr>
            <a:r>
              <a:rPr sz="1600" b="1" i="0">
                <a:solidFill>
                  <a:srgbClr val="E8801A"/>
                </a:solidFill>
                <a:latin typeface="Montserrat"/>
              </a:rPr>
              <a:t>▸  </a:t>
            </a:r>
            <a:r>
              <a:rPr sz="1600" b="0" i="0">
                <a:solidFill>
                  <a:srgbClr val="1B2330"/>
                </a:solidFill>
                <a:latin typeface="Montserrat"/>
              </a:rPr>
              <a:t>El proyecto lo firma el técnico</a:t>
            </a:r>
          </a:p>
        </p:txBody>
      </p:sp>
      <p:sp>
        <p:nvSpPr>
          <p:cNvPr id="9" name="imgph" descr="IMGQ:gas installer signing paperwork"/>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installer signing paperwork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Depósitos fijos de GLP (ITC-ICG 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5.4 · PRUEBAS PREVIAS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Dos plazos gemelos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Prueba hidrostática si hay golpe o traslado</a:t>
            </a:r>
          </a:p>
          <a:p>
            <a:pPr>
              <a:spcAft>
                <a:spcPts val="1100"/>
              </a:spcAft>
            </a:pPr>
            <a:r>
              <a:rPr sz="1600" b="1" i="0">
                <a:solidFill>
                  <a:srgbClr val="E8801A"/>
                </a:solidFill>
                <a:latin typeface="Montserrat"/>
              </a:rPr>
              <a:t>▸  </a:t>
            </a:r>
            <a:r>
              <a:rPr sz="1600" b="0" i="0">
                <a:solidFill>
                  <a:srgbClr val="1B2330"/>
                </a:solidFill>
                <a:latin typeface="Montserrat"/>
              </a:rPr>
              <a:t>Más de 12 meses en el emplazamiento</a:t>
            </a:r>
          </a:p>
          <a:p>
            <a:pPr>
              <a:spcAft>
                <a:spcPts val="1100"/>
              </a:spcAft>
            </a:pPr>
            <a:r>
              <a:rPr sz="1600" b="1" i="0">
                <a:solidFill>
                  <a:srgbClr val="E8801A"/>
                </a:solidFill>
                <a:latin typeface="Montserrat"/>
              </a:rPr>
              <a:t>▸  </a:t>
            </a:r>
            <a:r>
              <a:rPr sz="1600" b="0" i="0">
                <a:solidFill>
                  <a:srgbClr val="1B2330"/>
                </a:solidFill>
                <a:latin typeface="Montserrat"/>
              </a:rPr>
              <a:t>Más de 24 meses desde fábrica</a:t>
            </a:r>
          </a:p>
          <a:p>
            <a:pPr>
              <a:spcAft>
                <a:spcPts val="1100"/>
              </a:spcAft>
            </a:pPr>
            <a:r>
              <a:rPr sz="1600" b="1" i="0">
                <a:solidFill>
                  <a:srgbClr val="E8801A"/>
                </a:solidFill>
                <a:latin typeface="Montserrat"/>
              </a:rPr>
              <a:t>▸  </a:t>
            </a:r>
            <a:r>
              <a:rPr sz="1600" b="0" i="0">
                <a:solidFill>
                  <a:srgbClr val="1B2330"/>
                </a:solidFill>
                <a:latin typeface="Montserrat"/>
              </a:rPr>
              <a:t>Certifica un organismo de control</a:t>
            </a:r>
          </a:p>
        </p:txBody>
      </p:sp>
      <p:sp>
        <p:nvSpPr>
          <p:cNvPr id="9" name="imgph" descr="IMGQ:hydrostatic pressure test tank"/>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hydrostatic pressure test tank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Depósitos fijos de GLP (ITC-ICG 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5.5 · CERTIFICADOS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Tres firmas, tres papeles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Instalación: la empresa instaladora (triplicado)</a:t>
            </a:r>
          </a:p>
          <a:p>
            <a:pPr>
              <a:spcAft>
                <a:spcPts val="1100"/>
              </a:spcAft>
            </a:pPr>
            <a:r>
              <a:rPr sz="1600" b="1" i="0">
                <a:solidFill>
                  <a:srgbClr val="E8801A"/>
                </a:solidFill>
                <a:latin typeface="Montserrat"/>
              </a:rPr>
              <a:t>▸  </a:t>
            </a:r>
            <a:r>
              <a:rPr sz="1600" b="0" i="0">
                <a:solidFill>
                  <a:srgbClr val="1B2330"/>
                </a:solidFill>
                <a:latin typeface="Montserrat"/>
              </a:rPr>
              <a:t>Inspección: el organismo de control</a:t>
            </a:r>
          </a:p>
          <a:p>
            <a:pPr>
              <a:spcAft>
                <a:spcPts val="1100"/>
              </a:spcAft>
            </a:pPr>
            <a:r>
              <a:rPr sz="1600" b="1" i="0">
                <a:solidFill>
                  <a:srgbClr val="E8801A"/>
                </a:solidFill>
                <a:latin typeface="Montserrat"/>
              </a:rPr>
              <a:t>▸  </a:t>
            </a:r>
            <a:r>
              <a:rPr sz="1600" b="0" i="0">
                <a:solidFill>
                  <a:srgbClr val="1B2330"/>
                </a:solidFill>
                <a:latin typeface="Montserrat"/>
              </a:rPr>
              <a:t>Dirección de obra: si hubo proyecto</a:t>
            </a:r>
          </a:p>
          <a:p>
            <a:pPr>
              <a:spcAft>
                <a:spcPts val="1100"/>
              </a:spcAft>
            </a:pPr>
            <a:r>
              <a:rPr sz="1600" b="1" i="0">
                <a:solidFill>
                  <a:srgbClr val="E8801A"/>
                </a:solidFill>
                <a:latin typeface="Montserrat"/>
              </a:rPr>
              <a:t>▸  </a:t>
            </a:r>
            <a:r>
              <a:rPr sz="1600" b="0" i="0">
                <a:solidFill>
                  <a:srgbClr val="1B2330"/>
                </a:solidFill>
                <a:latin typeface="Montserrat"/>
              </a:rPr>
              <a:t>Copia al titular y a la Comunidad</a:t>
            </a:r>
          </a:p>
        </p:txBody>
      </p:sp>
      <p:sp>
        <p:nvSpPr>
          <p:cNvPr id="9" name="imgph" descr="IMGQ:signed certificate documents desk"/>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signed certificate documents desk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Depósitos fijos de GLP (ITC-ICG 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5.6 · COMUNICACIÓN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Antes del primer llenado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Se presenta por duplicado a la Comunidad</a:t>
            </a:r>
          </a:p>
          <a:p>
            <a:pPr>
              <a:spcAft>
                <a:spcPts val="1100"/>
              </a:spcAft>
            </a:pPr>
            <a:r>
              <a:rPr sz="1600" b="1" i="0">
                <a:solidFill>
                  <a:srgbClr val="E8801A"/>
                </a:solidFill>
                <a:latin typeface="Montserrat"/>
              </a:rPr>
              <a:t>▸  </a:t>
            </a:r>
            <a:r>
              <a:rPr sz="1600" b="0" i="0">
                <a:solidFill>
                  <a:srgbClr val="1B2330"/>
                </a:solidFill>
                <a:latin typeface="Montserrat"/>
              </a:rPr>
              <a:t>Certificados de instalación e inspección</a:t>
            </a:r>
          </a:p>
          <a:p>
            <a:pPr>
              <a:spcAft>
                <a:spcPts val="1100"/>
              </a:spcAft>
            </a:pPr>
            <a:r>
              <a:rPr sz="1600" b="1" i="0">
                <a:solidFill>
                  <a:srgbClr val="E8801A"/>
                </a:solidFill>
                <a:latin typeface="Montserrat"/>
              </a:rPr>
              <a:t>▸  </a:t>
            </a:r>
            <a:r>
              <a:rPr sz="1600" b="0" i="0">
                <a:solidFill>
                  <a:srgbClr val="1B2330"/>
                </a:solidFill>
                <a:latin typeface="Montserrat"/>
              </a:rPr>
              <a:t>Contrato de mantenimiento ya firmado</a:t>
            </a:r>
          </a:p>
          <a:p>
            <a:pPr>
              <a:spcAft>
                <a:spcPts val="1100"/>
              </a:spcAft>
            </a:pPr>
            <a:r>
              <a:rPr sz="1600" b="1" i="0">
                <a:solidFill>
                  <a:srgbClr val="E8801A"/>
                </a:solidFill>
                <a:latin typeface="Montserrat"/>
              </a:rPr>
              <a:t>▸  </a:t>
            </a:r>
            <a:r>
              <a:rPr sz="1600" b="0" i="0">
                <a:solidFill>
                  <a:srgbClr val="1B2330"/>
                </a:solidFill>
                <a:latin typeface="Montserrat"/>
              </a:rPr>
              <a:t>Azotea: certificado de que aguanta el peso</a:t>
            </a:r>
          </a:p>
        </p:txBody>
      </p:sp>
      <p:sp>
        <p:nvSpPr>
          <p:cNvPr id="9" name="imgph" descr="IMGQ:rooftop gas tank building"/>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rooftop gas tank building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Depósitos fijos de GLP (ITC-ICG 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5.6 · PRIMER LLENADO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85 %: la burbuja de seguridad</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Se comprueba la estanquidad</a:t>
            </a:r>
          </a:p>
          <a:p>
            <a:pPr>
              <a:spcAft>
                <a:spcPts val="1100"/>
              </a:spcAft>
            </a:pPr>
            <a:r>
              <a:rPr sz="1600" b="1" i="0">
                <a:solidFill>
                  <a:srgbClr val="E8801A"/>
                </a:solidFill>
                <a:latin typeface="Montserrat"/>
              </a:rPr>
              <a:t>▸  </a:t>
            </a:r>
            <a:r>
              <a:rPr sz="1600" b="0" i="0">
                <a:solidFill>
                  <a:srgbClr val="1B2330"/>
                </a:solidFill>
                <a:latin typeface="Montserrat"/>
              </a:rPr>
              <a:t>Punto alto de llenado corta al 85 %</a:t>
            </a:r>
          </a:p>
          <a:p>
            <a:pPr>
              <a:spcAft>
                <a:spcPts val="1100"/>
              </a:spcAft>
            </a:pPr>
            <a:r>
              <a:rPr sz="1600" b="1" i="0">
                <a:solidFill>
                  <a:srgbClr val="E8801A"/>
                </a:solidFill>
                <a:latin typeface="Montserrat"/>
              </a:rPr>
              <a:t>▸  </a:t>
            </a:r>
            <a:r>
              <a:rPr sz="1600" b="0" i="0">
                <a:solidFill>
                  <a:srgbClr val="1B2330"/>
                </a:solidFill>
                <a:latin typeface="Montserrat"/>
              </a:rPr>
              <a:t>El 15 % de hueco es el colchón</a:t>
            </a:r>
          </a:p>
          <a:p>
            <a:pPr>
              <a:spcAft>
                <a:spcPts val="1100"/>
              </a:spcAft>
            </a:pPr>
            <a:r>
              <a:rPr sz="1600" b="1" i="0">
                <a:solidFill>
                  <a:srgbClr val="E8801A"/>
                </a:solidFill>
                <a:latin typeface="Montserrat"/>
              </a:rPr>
              <a:t>▸  </a:t>
            </a:r>
            <a:r>
              <a:rPr sz="1600" b="0" i="0">
                <a:solidFill>
                  <a:srgbClr val="1B2330"/>
                </a:solidFill>
                <a:latin typeface="Montserrat"/>
              </a:rPr>
              <a:t>Queda anotado en el Libro</a:t>
            </a:r>
          </a:p>
        </p:txBody>
      </p:sp>
      <p:sp>
        <p:nvSpPr>
          <p:cNvPr id="9" name="imgph" descr="IMGQ:LPG tank level gauge valv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LPG tank level gauge valve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Depósitos fijos de GLP (ITC-ICG 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6.1 · MANTENIMIENTO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Contrato, urgencias y Libro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Titular responsable de conservarlo</a:t>
            </a:r>
          </a:p>
          <a:p>
            <a:pPr>
              <a:spcAft>
                <a:spcPts val="1100"/>
              </a:spcAft>
            </a:pPr>
            <a:r>
              <a:rPr sz="1600" b="1" i="0">
                <a:solidFill>
                  <a:srgbClr val="E8801A"/>
                </a:solidFill>
                <a:latin typeface="Montserrat"/>
              </a:rPr>
              <a:t>▸  </a:t>
            </a:r>
            <a:r>
              <a:rPr sz="1600" b="0" i="0">
                <a:solidFill>
                  <a:srgbClr val="1B2330"/>
                </a:solidFill>
                <a:latin typeface="Montserrat"/>
              </a:rPr>
              <a:t>Contrato con instalador de urgencias 24 h</a:t>
            </a:r>
          </a:p>
          <a:p>
            <a:pPr>
              <a:spcAft>
                <a:spcPts val="1100"/>
              </a:spcAft>
            </a:pPr>
            <a:r>
              <a:rPr sz="1600" b="1" i="0">
                <a:solidFill>
                  <a:srgbClr val="E8801A"/>
                </a:solidFill>
                <a:latin typeface="Montserrat"/>
              </a:rPr>
              <a:t>▸  </a:t>
            </a:r>
            <a:r>
              <a:rPr sz="1600" b="0" i="0">
                <a:solidFill>
                  <a:srgbClr val="1B2330"/>
                </a:solidFill>
                <a:latin typeface="Montserrat"/>
              </a:rPr>
              <a:t>Libro de Mantenimiento o archivo</a:t>
            </a:r>
          </a:p>
          <a:p>
            <a:pPr>
              <a:spcAft>
                <a:spcPts val="1100"/>
              </a:spcAft>
            </a:pPr>
            <a:r>
              <a:rPr sz="1600" b="1" i="0">
                <a:solidFill>
                  <a:srgbClr val="E8801A"/>
                </a:solidFill>
                <a:latin typeface="Montserrat"/>
              </a:rPr>
              <a:t>▸  </a:t>
            </a:r>
            <a:r>
              <a:rPr sz="1600" b="0" i="0">
                <a:solidFill>
                  <a:srgbClr val="1B2330"/>
                </a:solidFill>
                <a:latin typeface="Montserrat"/>
              </a:rPr>
              <a:t>Consta cada visita y sus lecturas</a:t>
            </a:r>
          </a:p>
        </p:txBody>
      </p:sp>
      <p:sp>
        <p:nvSpPr>
          <p:cNvPr id="9" name="imgph" descr="IMGQ:maintenance logbook technician ga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maintenance logbook technician gas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Depósitos fijos de GLP (ITC-ICG 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6.4 · CORROSIÓN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enemigo silencioso del enterrado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Enterrado: protección catódica</a:t>
            </a:r>
          </a:p>
          <a:p>
            <a:pPr>
              <a:spcAft>
                <a:spcPts val="1100"/>
              </a:spcAft>
            </a:pPr>
            <a:r>
              <a:rPr sz="1600" b="1" i="0">
                <a:solidFill>
                  <a:srgbClr val="E8801A"/>
                </a:solidFill>
                <a:latin typeface="Montserrat"/>
              </a:rPr>
              <a:t>▸  </a:t>
            </a:r>
            <a:r>
              <a:rPr sz="1600" b="0" i="0">
                <a:solidFill>
                  <a:srgbClr val="1B2330"/>
                </a:solidFill>
                <a:latin typeface="Montserrat"/>
              </a:rPr>
              <a:t>Salvo estudio de terreno que la exima</a:t>
            </a:r>
          </a:p>
          <a:p>
            <a:pPr>
              <a:spcAft>
                <a:spcPts val="1100"/>
              </a:spcAft>
            </a:pPr>
            <a:r>
              <a:rPr sz="1600" b="1" i="0">
                <a:solidFill>
                  <a:srgbClr val="E8801A"/>
                </a:solidFill>
                <a:latin typeface="Montserrat"/>
              </a:rPr>
              <a:t>▸  </a:t>
            </a:r>
            <a:r>
              <a:rPr sz="1600" b="0" i="0">
                <a:solidFill>
                  <a:srgbClr val="1B2330"/>
                </a:solidFill>
                <a:latin typeface="Montserrat"/>
              </a:rPr>
              <a:t>Control del potencial: cada año</a:t>
            </a:r>
          </a:p>
          <a:p>
            <a:pPr>
              <a:spcAft>
                <a:spcPts val="1100"/>
              </a:spcAft>
            </a:pPr>
            <a:r>
              <a:rPr sz="1600" b="1" i="0">
                <a:solidFill>
                  <a:srgbClr val="E8801A"/>
                </a:solidFill>
                <a:latin typeface="Montserrat"/>
              </a:rPr>
              <a:t>▸  </a:t>
            </a:r>
            <a:r>
              <a:rPr sz="1600" b="0" i="0">
                <a:solidFill>
                  <a:srgbClr val="1B2330"/>
                </a:solidFill>
                <a:latin typeface="Montserrat"/>
              </a:rPr>
              <a:t>Corriente impresa: cada 3 meses</a:t>
            </a:r>
          </a:p>
        </p:txBody>
      </p:sp>
      <p:sp>
        <p:nvSpPr>
          <p:cNvPr id="9" name="imgph" descr="IMGQ:buried metal tank corrosion protecti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buried metal tank corrosion protection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Depósitos fijos de GLP (ITC-ICG 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6.2 · REVISIONES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Cada 2 años o con la receptora</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Alimenta una red: cada 2 años</a:t>
            </a:r>
          </a:p>
          <a:p>
            <a:pPr>
              <a:spcAft>
                <a:spcPts val="1100"/>
              </a:spcAft>
            </a:pPr>
            <a:r>
              <a:rPr sz="1600" b="1" i="0">
                <a:solidFill>
                  <a:srgbClr val="E8801A"/>
                </a:solidFill>
                <a:latin typeface="Montserrat"/>
              </a:rPr>
              <a:t>▸  </a:t>
            </a:r>
            <a:r>
              <a:rPr sz="1600" b="0" i="0">
                <a:solidFill>
                  <a:srgbClr val="1B2330"/>
                </a:solidFill>
                <a:latin typeface="Montserrat"/>
              </a:rPr>
              <a:t>Resto: a la vez que la receptora</a:t>
            </a:r>
          </a:p>
          <a:p>
            <a:pPr>
              <a:spcAft>
                <a:spcPts val="1100"/>
              </a:spcAft>
            </a:pPr>
            <a:r>
              <a:rPr sz="1600" b="1" i="0">
                <a:solidFill>
                  <a:srgbClr val="E8801A"/>
                </a:solidFill>
                <a:latin typeface="Montserrat"/>
              </a:rPr>
              <a:t>▸  </a:t>
            </a:r>
            <a:r>
              <a:rPr sz="1600" b="0" i="0">
                <a:solidFill>
                  <a:srgbClr val="1B2330"/>
                </a:solidFill>
                <a:latin typeface="Montserrat"/>
              </a:rPr>
              <a:t>Favorable: certificado de revisión</a:t>
            </a:r>
          </a:p>
          <a:p>
            <a:pPr>
              <a:spcAft>
                <a:spcPts val="1100"/>
              </a:spcAft>
            </a:pPr>
            <a:r>
              <a:rPr sz="1600" b="1" i="0">
                <a:solidFill>
                  <a:srgbClr val="E8801A"/>
                </a:solidFill>
                <a:latin typeface="Montserrat"/>
              </a:rPr>
              <a:t>▸  </a:t>
            </a:r>
            <a:r>
              <a:rPr sz="1600" b="0" i="0">
                <a:solidFill>
                  <a:srgbClr val="1B2330"/>
                </a:solidFill>
                <a:latin typeface="Montserrat"/>
              </a:rPr>
              <a:t>Con fallos: informe de anomalías</a:t>
            </a:r>
          </a:p>
        </p:txBody>
      </p:sp>
      <p:sp>
        <p:nvSpPr>
          <p:cNvPr id="9" name="imgph" descr="IMGQ:technician inspecting gas tank valve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technician inspecting gas tank valves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Depósitos fijos de GLP (ITC-ICG 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6.2.1 · COMPROBACIONES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Las 13 comprobaciones, agrupadas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1 a 3: papeles y bomberos</a:t>
            </a:r>
          </a:p>
          <a:p>
            <a:pPr>
              <a:spcAft>
                <a:spcPts val="1100"/>
              </a:spcAft>
            </a:pPr>
            <a:r>
              <a:rPr sz="1600" b="1" i="0">
                <a:solidFill>
                  <a:srgbClr val="E8801A"/>
                </a:solidFill>
                <a:latin typeface="Montserrat"/>
              </a:rPr>
              <a:t>▸  </a:t>
            </a:r>
            <a:r>
              <a:rPr sz="1600" b="0" i="0">
                <a:solidFill>
                  <a:srgbClr val="1B2330"/>
                </a:solidFill>
                <a:latin typeface="Montserrat"/>
              </a:rPr>
              <a:t>4 a 9: el hierro (válvulas, corrosión, tierra)</a:t>
            </a:r>
          </a:p>
          <a:p>
            <a:pPr>
              <a:spcAft>
                <a:spcPts val="1100"/>
              </a:spcAft>
            </a:pPr>
            <a:r>
              <a:rPr sz="1600" b="1" i="0">
                <a:solidFill>
                  <a:srgbClr val="E8801A"/>
                </a:solidFill>
                <a:latin typeface="Montserrat"/>
              </a:rPr>
              <a:t>▸  </a:t>
            </a:r>
            <a:r>
              <a:rPr sz="1600" b="0" i="0">
                <a:solidFill>
                  <a:srgbClr val="1B2330"/>
                </a:solidFill>
                <a:latin typeface="Montserrat"/>
              </a:rPr>
              <a:t>10 a 13: que no fugue</a:t>
            </a:r>
          </a:p>
          <a:p>
            <a:pPr>
              <a:spcAft>
                <a:spcPts val="1100"/>
              </a:spcAft>
            </a:pPr>
            <a:r>
              <a:rPr sz="1600" b="1" i="0">
                <a:solidFill>
                  <a:srgbClr val="E8801A"/>
                </a:solidFill>
                <a:latin typeface="Montserrat"/>
              </a:rPr>
              <a:t>▸  </a:t>
            </a:r>
            <a:r>
              <a:rPr sz="1600" b="0" i="0">
                <a:solidFill>
                  <a:srgbClr val="1B2330"/>
                </a:solidFill>
                <a:latin typeface="Montserrat"/>
              </a:rPr>
              <a:t>Boca desplazada: 3 bar durante 10 min</a:t>
            </a:r>
          </a:p>
        </p:txBody>
      </p:sp>
      <p:sp>
        <p:nvSpPr>
          <p:cNvPr id="9" name="imgph" descr="IMGQ:soapy water leak test gas fitting"/>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soapy water leak test gas fitting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Depósitos fijos de GLP (ITC-ICG 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6.3 · PRUEBA DE PRESIÓN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Cada 15 años y el muestreo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Prueba de presión cada 15 años</a:t>
            </a:r>
          </a:p>
          <a:p>
            <a:pPr>
              <a:spcAft>
                <a:spcPts val="1100"/>
              </a:spcAft>
            </a:pPr>
            <a:r>
              <a:rPr sz="1600" b="1" i="0">
                <a:solidFill>
                  <a:srgbClr val="E8801A"/>
                </a:solidFill>
                <a:latin typeface="Montserrat"/>
              </a:rPr>
              <a:t>▸  </a:t>
            </a:r>
            <a:r>
              <a:rPr sz="1600" b="0" i="0">
                <a:solidFill>
                  <a:srgbClr val="1B2330"/>
                </a:solidFill>
                <a:latin typeface="Montserrat"/>
              </a:rPr>
              <a:t>La encarga a un organismo de control</a:t>
            </a:r>
          </a:p>
          <a:p>
            <a:pPr>
              <a:spcAft>
                <a:spcPts val="1100"/>
              </a:spcAft>
            </a:pPr>
            <a:r>
              <a:rPr sz="1600" b="1" i="0">
                <a:solidFill>
                  <a:srgbClr val="E8801A"/>
                </a:solidFill>
                <a:latin typeface="Montserrat"/>
              </a:rPr>
              <a:t>▸  </a:t>
            </a:r>
            <a:r>
              <a:rPr sz="1600" b="0" i="0">
                <a:solidFill>
                  <a:srgbClr val="1B2330"/>
                </a:solidFill>
                <a:latin typeface="Montserrat"/>
              </a:rPr>
              <a:t>Superficie: se prueba una muestra</a:t>
            </a:r>
          </a:p>
          <a:p>
            <a:pPr>
              <a:spcAft>
                <a:spcPts val="1100"/>
              </a:spcAft>
            </a:pPr>
            <a:r>
              <a:rPr sz="1600" b="1" i="0">
                <a:solidFill>
                  <a:srgbClr val="E8801A"/>
                </a:solidFill>
                <a:latin typeface="Montserrat"/>
              </a:rPr>
              <a:t>▸  </a:t>
            </a:r>
            <a:r>
              <a:rPr sz="1600" b="0" i="0">
                <a:solidFill>
                  <a:srgbClr val="1B2330"/>
                </a:solidFill>
                <a:latin typeface="Montserrat"/>
              </a:rPr>
              <a:t>Muestra redondea arriba, mínimo 8</a:t>
            </a:r>
          </a:p>
        </p:txBody>
      </p:sp>
      <p:sp>
        <p:nvSpPr>
          <p:cNvPr id="9" name="imgph" descr="IMGQ:pressure gauge industrial tank tes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pressure gauge industrial tank test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Depósitos fijos de GLP (ITC-ICG 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APARTADOS 6.5 Y 6.6 · CASOS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Protección adicional y provisionales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Protección adicional: no hay que desenterrar</a:t>
            </a:r>
          </a:p>
          <a:p>
            <a:pPr>
              <a:spcAft>
                <a:spcPts val="1100"/>
              </a:spcAft>
            </a:pPr>
            <a:r>
              <a:rPr sz="1600" b="1" i="0">
                <a:solidFill>
                  <a:srgbClr val="E8801A"/>
                </a:solidFill>
                <a:latin typeface="Montserrat"/>
              </a:rPr>
              <a:t>▸  </a:t>
            </a:r>
            <a:r>
              <a:rPr sz="1600" b="0" i="0">
                <a:solidFill>
                  <a:srgbClr val="1B2330"/>
                </a:solidFill>
                <a:latin typeface="Montserrat"/>
              </a:rPr>
              <a:t>Se libra si pasa las pruebas del fabricante</a:t>
            </a:r>
          </a:p>
          <a:p>
            <a:pPr>
              <a:spcAft>
                <a:spcPts val="1100"/>
              </a:spcAft>
            </a:pPr>
            <a:r>
              <a:rPr sz="1600" b="1" i="0">
                <a:solidFill>
                  <a:srgbClr val="E8801A"/>
                </a:solidFill>
                <a:latin typeface="Montserrat"/>
              </a:rPr>
              <a:t>▸  </a:t>
            </a:r>
            <a:r>
              <a:rPr sz="1600" b="0" i="0">
                <a:solidFill>
                  <a:srgbClr val="1B2330"/>
                </a:solidFill>
                <a:latin typeface="Montserrat"/>
              </a:rPr>
              <a:t>Provisional: máximo 5 m³</a:t>
            </a:r>
          </a:p>
          <a:p>
            <a:pPr>
              <a:spcAft>
                <a:spcPts val="1100"/>
              </a:spcAft>
            </a:pPr>
            <a:r>
              <a:rPr sz="1600" b="1" i="0">
                <a:solidFill>
                  <a:srgbClr val="E8801A"/>
                </a:solidFill>
                <a:latin typeface="Montserrat"/>
              </a:rPr>
              <a:t>▸  </a:t>
            </a:r>
            <a:r>
              <a:rPr sz="1600" b="0" i="0">
                <a:solidFill>
                  <a:srgbClr val="1B2330"/>
                </a:solidFill>
                <a:latin typeface="Montserrat"/>
              </a:rPr>
              <a:t>Provisional: hasta 60 días, prorrogable</a:t>
            </a:r>
          </a:p>
        </p:txBody>
      </p:sp>
      <p:sp>
        <p:nvSpPr>
          <p:cNvPr id="9" name="imgph" descr="IMGQ:underground tank excavation sit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underground tank excavation site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Depósitos fijos de GLP (ITC-ICG 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7 · RETIRADA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No dejes una bomba</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Inertizado con nitrógeno</a:t>
            </a:r>
          </a:p>
          <a:p>
            <a:pPr>
              <a:spcAft>
                <a:spcPts val="1100"/>
              </a:spcAft>
            </a:pPr>
            <a:r>
              <a:rPr sz="1600" b="1" i="0">
                <a:solidFill>
                  <a:srgbClr val="E8801A"/>
                </a:solidFill>
                <a:latin typeface="Montserrat"/>
              </a:rPr>
              <a:t>▸  </a:t>
            </a:r>
            <a:r>
              <a:rPr sz="1600" b="0" i="0">
                <a:solidFill>
                  <a:srgbClr val="1B2330"/>
                </a:solidFill>
                <a:latin typeface="Montserrat"/>
              </a:rPr>
              <a:t>O desgasificado con agua</a:t>
            </a:r>
          </a:p>
          <a:p>
            <a:pPr>
              <a:spcAft>
                <a:spcPts val="1100"/>
              </a:spcAft>
            </a:pPr>
            <a:r>
              <a:rPr sz="1600" b="1" i="0">
                <a:solidFill>
                  <a:srgbClr val="E8801A"/>
                </a:solidFill>
                <a:latin typeface="Montserrat"/>
              </a:rPr>
              <a:t>▸  </a:t>
            </a:r>
            <a:r>
              <a:rPr sz="1600" b="0" i="0">
                <a:solidFill>
                  <a:srgbClr val="1B2330"/>
                </a:solidFill>
                <a:latin typeface="Montserrat"/>
              </a:rPr>
              <a:t>Certificado a la Comunidad Autónoma</a:t>
            </a:r>
          </a:p>
          <a:p>
            <a:pPr>
              <a:spcAft>
                <a:spcPts val="1100"/>
              </a:spcAft>
            </a:pPr>
            <a:r>
              <a:rPr sz="1600" b="1" i="0">
                <a:solidFill>
                  <a:srgbClr val="E8801A"/>
                </a:solidFill>
                <a:latin typeface="Montserrat"/>
              </a:rPr>
              <a:t>▸  </a:t>
            </a:r>
            <a:r>
              <a:rPr sz="1600" b="0" i="0">
                <a:solidFill>
                  <a:srgbClr val="1B2330"/>
                </a:solidFill>
                <a:latin typeface="Montserrat"/>
              </a:rPr>
              <a:t>Cese: 2 años sin consumo o 5 sin mantenimiento</a:t>
            </a:r>
          </a:p>
        </p:txBody>
      </p:sp>
      <p:sp>
        <p:nvSpPr>
          <p:cNvPr id="9" name="imgph" descr="IMGQ:nitrogen cylinder inert gas industria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nitrogen cylinder inert gas industrial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Depósitos fijos de GLP (ITC-ICG 03)</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REPASO RELÁMPAGO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Seis anclas antes del cierre</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Topes 2.000 / 500 m³ · proyecto &gt; 13 m³</a:t>
            </a:r>
          </a:p>
          <a:p>
            <a:pPr>
              <a:spcAft>
                <a:spcPts val="1100"/>
              </a:spcAft>
            </a:pPr>
            <a:r>
              <a:rPr sz="1600" b="1" i="0">
                <a:solidFill>
                  <a:srgbClr val="E8801A"/>
                </a:solidFill>
                <a:latin typeface="Montserrat"/>
              </a:rPr>
              <a:t>▸  </a:t>
            </a:r>
            <a:r>
              <a:rPr sz="1600" b="0" i="0">
                <a:solidFill>
                  <a:srgbClr val="1B2330"/>
                </a:solidFill>
                <a:latin typeface="Montserrat"/>
              </a:rPr>
              <a:t>Memoria la firma el instalador</a:t>
            </a:r>
          </a:p>
          <a:p>
            <a:pPr>
              <a:spcAft>
                <a:spcPts val="1100"/>
              </a:spcAft>
            </a:pPr>
            <a:r>
              <a:rPr sz="1600" b="1" i="0">
                <a:solidFill>
                  <a:srgbClr val="E8801A"/>
                </a:solidFill>
                <a:latin typeface="Montserrat"/>
              </a:rPr>
              <a:t>▸  </a:t>
            </a:r>
            <a:r>
              <a:rPr sz="1600" b="0" i="0">
                <a:solidFill>
                  <a:srgbClr val="1B2330"/>
                </a:solidFill>
                <a:latin typeface="Montserrat"/>
              </a:rPr>
              <a:t>Primer llenado corta al 85 %</a:t>
            </a:r>
          </a:p>
          <a:p>
            <a:pPr>
              <a:spcAft>
                <a:spcPts val="1100"/>
              </a:spcAft>
            </a:pPr>
            <a:r>
              <a:rPr sz="1600" b="1" i="0">
                <a:solidFill>
                  <a:srgbClr val="E8801A"/>
                </a:solidFill>
                <a:latin typeface="Montserrat"/>
              </a:rPr>
              <a:t>▸  </a:t>
            </a:r>
            <a:r>
              <a:rPr sz="1600" b="0" i="0">
                <a:solidFill>
                  <a:srgbClr val="1B2330"/>
                </a:solidFill>
                <a:latin typeface="Montserrat"/>
              </a:rPr>
              <a:t>Enterrado: protección catódica</a:t>
            </a:r>
          </a:p>
          <a:p>
            <a:pPr>
              <a:spcAft>
                <a:spcPts val="1100"/>
              </a:spcAft>
            </a:pPr>
            <a:r>
              <a:rPr sz="1600" b="1" i="0">
                <a:solidFill>
                  <a:srgbClr val="E8801A"/>
                </a:solidFill>
                <a:latin typeface="Montserrat"/>
              </a:rPr>
              <a:t>▸  </a:t>
            </a:r>
            <a:r>
              <a:rPr sz="1600" b="0" i="0">
                <a:solidFill>
                  <a:srgbClr val="1B2330"/>
                </a:solidFill>
                <a:latin typeface="Montserrat"/>
              </a:rPr>
              <a:t>Prueba de presión cada 15 años</a:t>
            </a:r>
          </a:p>
        </p:txBody>
      </p:sp>
      <p:sp>
        <p:nvSpPr>
          <p:cNvPr id="9" name="imgph" descr="IMGQ:LPG tank installation residentia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LPG tank installation residential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ounded Rectangle 3"/>
          <p:cNvSpPr/>
          <p:nvPr/>
        </p:nvSpPr>
        <p:spPr>
          <a:xfrm>
            <a:off x="868680" y="1051560"/>
            <a:ext cx="1463040" cy="82296"/>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legalizas y mantienes un depósito fijo</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Decides memoria o proyecto y sabes qué firmas tú</a:t>
            </a:r>
          </a:p>
          <a:p>
            <a:pPr>
              <a:spcAft>
                <a:spcPts val="1200"/>
              </a:spcAft>
            </a:pPr>
            <a:r>
              <a:rPr sz="2000" b="1" i="0">
                <a:solidFill>
                  <a:srgbClr val="F4A24C"/>
                </a:solidFill>
                <a:latin typeface="Montserrat"/>
              </a:rPr>
              <a:t>✓  </a:t>
            </a:r>
            <a:r>
              <a:rPr sz="1900" b="0" i="0">
                <a:solidFill>
                  <a:srgbClr val="FFFFFF"/>
                </a:solidFill>
                <a:latin typeface="Montserrat"/>
              </a:rPr>
              <a:t>Entiendes el 85 % y por qué el líquido se dilata</a:t>
            </a:r>
          </a:p>
          <a:p>
            <a:pPr>
              <a:spcAft>
                <a:spcPts val="1200"/>
              </a:spcAft>
            </a:pPr>
            <a:r>
              <a:rPr sz="2000" b="1" i="0">
                <a:solidFill>
                  <a:srgbClr val="F4A24C"/>
                </a:solidFill>
                <a:latin typeface="Montserrat"/>
              </a:rPr>
              <a:t>✓  </a:t>
            </a:r>
            <a:r>
              <a:rPr sz="1900" b="0" i="0">
                <a:solidFill>
                  <a:srgbClr val="FFFFFF"/>
                </a:solidFill>
                <a:latin typeface="Montserrat"/>
              </a:rPr>
              <a:t>Controlas corrosión, revisiones y prueba de los 15 años</a:t>
            </a:r>
          </a:p>
          <a:p>
            <a:pPr>
              <a:spcAft>
                <a:spcPts val="1200"/>
              </a:spcAft>
            </a:pPr>
            <a:r>
              <a:rPr sz="2000" b="1" i="0">
                <a:solidFill>
                  <a:srgbClr val="F4A24C"/>
                </a:solidFill>
                <a:latin typeface="Montserrat"/>
              </a:rPr>
              <a:t>✓  </a:t>
            </a:r>
            <a:r>
              <a:rPr sz="1900" b="0" i="0">
                <a:solidFill>
                  <a:srgbClr val="FFFFFF"/>
                </a:solidFill>
                <a:latin typeface="Montserrat"/>
              </a:rPr>
              <a:t>Retiras el depósito sin dejar una bomba dentro</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Hoy ya eres más gasista que ayer. En el último vídeo damos el salto al frío: el GNL.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
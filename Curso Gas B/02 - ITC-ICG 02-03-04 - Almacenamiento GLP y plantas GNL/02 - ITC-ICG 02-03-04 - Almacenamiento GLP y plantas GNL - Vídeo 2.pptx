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las bombonas de la gasolinera y de la ferretería del barrio? Esas también tendrán sus reglas.</a:t>
            </a:r>
          </a:p>
          <a:p>
            <a:r>
              <a:t>N2: Claro, y son justo las que más vas a ver en la calle. En este segundo vídeo terminamos la ITC-ICG cero dos bajando a lo pequeño y a lo cotidiano. Vemos la cuarta categoría, esos pequeños almacenes anexos a gasolineras, y la quinta, que es la propia gasolinera y la tienda que vende bombonas. Después vienen los papeles, la documentación y la puesta en servicio, el mantenimiento periódico, y las reglas de transporte de envases, incluido lo que puedes llevar en tu propio coche. Presta atención a las cifras y a los carteles, porque son pregunta fácil si te suenan las frases exactas.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Dame tres cifras para arrancar.</a:t>
            </a:r>
          </a:p>
          <a:p>
            <a:r>
              <a:t>N2: Tres números que hoy caen seguro. El primero: quinientos kilos es el tope de la quinta categoría, la gasolinera y la tienda; por encima de ahí ya juegas en otra liga. El segundo: la inspección periódica del centro por un organismo de control es cada dos años, y sin ese papel no te llenan las bombonas. Y el tercero, muy preguntado: en tu coche particular solo puedes llevar dos envases de hasta quince kilos, ni uno más. Con estas tres ya tienes el mapa del vídeo.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se le pide a un centro de cuarta categoría?</a:t>
            </a:r>
          </a:p>
          <a:p>
            <a:r>
              <a:t>N2: Muy poco comparado con las categorías grandes del vídeo anterior, y eso es lo que tienes que notar. Aquí basta con un vallado de dos metros en todo el perímetro, fijado al suelo y hecho de forma que nadie pueda manipular las bombonas desde fuera; no hace falta el muro serio resistente al fuego. Las distancias también son cortas: tres metros a locales habitados, o seis metros si el almacenamiento está en un patio cerrado por los cuatro lados. Y de incendios, dos extintores de veintiuno a, ciento trece b. Nada de bocas de agua ni alarma permanente. La regla de fondo es proporcional: poca cantidad de gas, protección proporcional.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si ese pequeño almacén está pegado a una gasolinera?</a:t>
            </a:r>
          </a:p>
          <a:p>
            <a:r>
              <a:t>N2: Entonces se le añade una condición clave. El almacenamiento de cuarta categoría anexo a una estación de servicio tiene que ubicarse fuera de la propia estación, y a una distancia mínima de diez metros respecto al área donde se suministra a los vehículos, la zona de los surtidores. Piensa en el porqué: los surtidores son una fuente constante de posibles chispas y vapores de gasolina, así que las bombonas se apartan diez metros de ahí. Esos diez metros son la distancia que separa el gas envasado del repostaje. La estación de servicio, por cierto, es todo ese recinto delimitado: pavimento, isla, zona de descarga, surtidores, monolitos y demás instalaciones.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¿Cómo se organizan las bombonas en la propia gasolinera?</a:t>
            </a:r>
          </a:p>
          <a:p>
            <a:r>
              <a:t>N2: Aquí ya no hablamos de naves, sino de la jaula de bombonas de la estación de servicio. En una misma estación pueden convivir tres cosas: envases de GLP para coches con motor, cartuchos no rellenables o envases de hasta tres kilos, y bombonas de hasta quince kilos. Pero pase lo que pase, la capacidad total máxima es de quinientos kilos. Si hay varios tipos juntos, cada uno va en su almacenamiento independiente y separados cinco metros entre sí. Y fíjate en las alturas de apilado, que cambian por tipo: los envases de coche y los de hasta quince kilos, dos alturas; los cartuchos pequeños de hasta tres kilos, hasta cuatro alturas, con cuarenta centímetros entre ellas.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reglas comparten todos esos envases de la gasolinera?</a:t>
            </a:r>
          </a:p>
          <a:p>
            <a:r>
              <a:t>N2: Van en espacios abiertos, pudiendo estar bajo la propia cubierta de la estación, y con el piso nunca por debajo del terreno; siempre buscando que el gas, si fuga, se ventile y no se embolse. Si hay cubierta, será de material que no arda, sobre estructura estable al fuego, y el pavimento no absorbe ni hace chispas al golpearlo. Las distancias de seguridad van en dos números fáciles de emparejar: cuatro metros a tubos de aireación, bocas de carga de los tanques y vías públicas; y dos metros a bordillos, sumideros, surtidores y aberturas a ras de suelo que comuniquen con locales de abajo. Y de incendios, dos extintores portátiles de veintiuno a, ciento trece b como mínimo.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las jaulas tienen que ventilar por arriba y por abajo, y no solo por un lado?</a:t>
            </a:r>
          </a:p>
          <a:p>
            <a:r>
              <a:t>N2: Buena pregunta, y la respuesta es física. Si una botella fuga, el GLP pesa más que el aire y se va al suelo; la rejilla de abajo deja que ese gas pesado escape en vez de quedarse embolsado en la jaula. Y la rejilla de arriba deja circular el aire para que todo se ventile. Por eso las dos, arriba y abajo: la jaula respira por los dos extremos. Además, la jaula se hace de material que no arde y, fuera del horario de servicio, no permite que nadie de fuera manipule los envases. Imagen para recordarlo: una jaula bien hecha es como una chimenea al revés, saca el gas por abajo.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la tienda de barrio que vende bombonas, cómo se regula?</a:t>
            </a:r>
          </a:p>
          <a:p>
            <a:r>
              <a:t>N2: El comercio se parte en dos según los kilos que almacene, y esa frontera son los ciento cincuenta kilos. Por debajo, hasta ciento cincuenta kilos, es la tienda pequeña, con reglas más suaves. Por encima, de ciento cincuenta a quinientos kilos, es la tienda grande, más exigente. En ambos casos vendemos envases de menos de quince kilos, envases populares y cartuchos no rellenables. Y una frase de oro que cae en las dos: en el escaparate solo se exhiben envases vacíos. La que se ve desde la calle, vacía. Vamos a ver cada nivel por separado.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se le pide a la tienda grande, la de 150 a 500 kilos?</a:t>
            </a:r>
          </a:p>
          <a:p>
            <a:r>
              <a:t>N2: Más cosas, porque hay más gas. Tres extintores de veintiuno a, ciento trece b cerca de la zona de venta. Ventilación directa a ras de suelo mediante una o más rejillas de al menos cuatrocientos centímetros cuadrados, sin que un lado sea más del doble que el otro; esa rejilla baja es la que deja salir el gas pesado si fuga. Las zonas van en planta baja, nunca por debajo del terreno. Y dos distancias de seguridad: cuatro metros a comunicaciones con escaleras, sótanos u otros locales de nivel inferior, y ocho metros a arquetas, tragaluces o bocas de alcantarillado que comuniquen con espacios de abajo. Remátalo con muros sin huecos hacia otros locales y techo o cubierta de material que no arde.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la tienda pequeña, hasta 150 kilos?</a:t>
            </a:r>
          </a:p>
          <a:p>
            <a:r>
              <a:t>N2: Aquí baja la exigencia porque baja el gas. Basta con dos extintores de trece a, cincuenta y cinco b en lugar accesible, separación de llamas y fuentes de calor, y la ventilación necesaria. Y hay una prohibición que cae fijo: nunca en sótano ni en semisótano. ¿Por qué? Por lo de siempre, el GLP pesa más que el aire y en un sótano se acumularía abajo sin poder ventilar. Los envases van ordenados o en jaulas, incluso en muebles expositores que cumplan las condiciones de ventilación. Y otra vez la frase de oro: en el escaparate, solo recipientes vacíos. Fíjate en el detalle que cruza el examen: la tienda pequeña lleva extintores trece a, cincuenta y cinco b, distintos de los veintiuno a, ciento trece b de la grande.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Has dicho que los carteles caen en examen, ¿cuáles son exactamente?</a:t>
            </a:r>
          </a:p>
          <a:p>
            <a:r>
              <a:t>N2: En la tienda grande hay dos carteles diferentes, y conviene no confundirlos. En la entrada del establecimiento va uno genérico: prohibido fumar en las zonas señalizadas. Y junto a la zona de los envases va otro más concreto: prohibido fumar a menos de cinco metros de esta zona. El número que tienes que retener es ese cinco, asociado al cartel que está pegado a las bombonas. Son pregunta fácil si te suenan las frases tal cual. Y súmale que el establecimiento va separado de otros locales ajenos por muros sin huecos, para que un problema no se propague de un negocio a otro.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papeles hacen falta para poner en marcha un centro de envases?</a:t>
            </a:r>
          </a:p>
          <a:p>
            <a:r>
              <a:t>N2: Vamos por orden, porque aquí hay tres ideas que se cruzan. Primera: un centro de envases no necesita autorización administrativa previa; no pides permiso antes de construir. Segunda: hace falta proyecto de técnico facultativo competente solo en los centros grandes, primera, segunda y tercera; la cuarta y la quinta se libran del proyecto. Y tercera, la que más se olvida: la inspección por un organismo de control es para todo centro, grande o pequeño. Resume así la filosofía de Gas B: no se pide permiso, se hace, se inspecciona y se comunica después. Hacer y comunicar, no pedir permiso.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Si no pido permiso antes, ¿cuándo aviso a la Administración?</a:t>
            </a:r>
          </a:p>
          <a:p>
            <a:r>
              <a:t>N2: Después de la inspección favorable. El titular presenta ante el órgano competente de la Comunidad Autónoma tres cosas: sus datos y la ubicación con un plano descriptivo de detalle, el proyecto y certificado de dirección de obra si los hubo, y el certificado de inspección del organismo de control. Con esa documentación presentada, los centros de segunda, tercera, cuarta y quinta ya pueden ponerse en servicio. Ojo al matiz que cae: esa presentación te faculta para arrancar, pero no significa que la Administración dé su conformidad técnica. Tú respondes de que está bien hecho; el papel solo deja constancia.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Una vez en marcha, ¿cómo se vigila el centro?</a:t>
            </a:r>
          </a:p>
          <a:p>
            <a:r>
              <a:t>N2: Con una inspección periódica cada dos años, hecha por un organismo de control. En esa visita comprueban dos cosas: que no se ha superado la capacidad total de almacenamiento que comunicaste, y que se siguen cumpliendo todas las medidas de seguridad. El organismo emite un certificado de inspección, entrega copia al titular y manda otra a la Comunidad Autónoma. Y aquí está el mecanismo genial con el que el sistema se autovigila: no se suministra GLP a ningún centro si el titular no acredita, con copia de ese certificado favorable, que la inspección se ha hecho en plazo. Sin papel, no hay gas. Ese certificado es, literalmente, la llave del suministro, y el titular es quien debe tenerlo al día.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puedo llevar y cómo en mi propio coche?</a:t>
            </a:r>
          </a:p>
          <a:p>
            <a:r>
              <a:t>N2: Dato preguntadísimo: en un vehículo particular solo puedes llevar dos envases de hasta quince kilos, ni uno más. Y siempre de pie y bien sujetos, con lo necesario para que no vuelquen durante el trayecto, porque un envase que cae puede golpear la válvula y fugar. Hay una prohibición que no falla: jamás aparques un vehículo con bombonas en un garaje subterráneo, otra vez por la lógica del gas pesado que se acumula abajo sin ventilar. La única excepción a lo de ir de pie son los envases nuevos o reparados y sin gas, cuando van de la fábrica a la planta: esos, al estar vacíos de verdad, pueden ir tumbados.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el camión que reparte las bombonas, qué reglas lleva?</a:t>
            </a:r>
          </a:p>
          <a:p>
            <a:r>
              <a:t>N2: Tres detalles y una tabla. Primero, la caja del furgón tiene aberturas laterales y en la parte trasera, a ras del piso, para que si una botella fuga, el gas salga por abajo en vez de acumularse dentro. Segundo, cuando el camión entra a descargar en un sitio con más de quinientos kilos de GLP, un centro o una nave, monta el cortafuegos en el tubo de escape para que la chispa del motor no prenda la atmósfera; ese umbral de quinientos kilos va asociado al cortafuegos. Y tercero, los extintores dependen del tamaño del camión, con la frontera en tres mil quinientos kilos de peso máximo: por debajo, dos extintores de ocho a, treinta y cuatro b, uno en cabina y otro en la carga; por encima, el de la carga sube a trece a, cincuenta y cinco b. Ah, y prohibido llevar personas ajenas al servicio.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Cerramos la ITC cero dos. ¿Qué me llevo de todo esto?</a:t>
            </a:r>
          </a:p>
          <a:p>
            <a:r>
              <a:t>N2: Te llevas el terreno que más vas a pisar en la calle, y todo cuelga de la misma lógica de siempre: el gas pesa más que el aire. Por eso las jaulas ventilan arriba y abajo, por eso nunca hay bombonas en sótano ni coches con gas en garajes subterráneos, y por eso el camión lleva la caja con rejillas a ras de suelo. Encima de esa idea has colocado las cifras: quinientos kilos de tope en quinta, la tienda partida en ciento cincuenta, extintores veintiuno a ciento trece b en la grande y trece a cincuenta y cinco b en la pequeña, y en tu coche solo dos envases de hasta quince kilos.</a:t>
            </a:r>
          </a:p>
          <a:p>
            <a:r>
              <a:t>N1: ¿Y cómo se pregunta esto, y qué papeles me quedan claros?</a:t>
            </a:r>
          </a:p>
          <a:p>
            <a:r>
              <a:t>N2: En el examen te cruzan las cifras y los carteles: te dan unos kilos de tienda y esperan el extintor correcto, o te piden la frase exacta del cartel de los cinco metros. Y de papeleo te queda una regla limpia: proyecto solo en los centros grandes, inspección para todos, y puesta en servicio que se comunica a la Comunidad Autónoma, más la inspección cada dos años que es la llave del suministro. Con esto cierras la ITC cero dos entera. En el siguiente vídeo cambiamos de escenario y saltamos al depósito fijo de GLP, el del chalé y la urbanización sin gas natural. Nos vemos allí.</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CADCFC"/>
                </a:solidFill>
                <a:latin typeface="Montserrat"/>
              </a:rPr>
              <a:t>VÍDEO 2 DE 4</a:t>
            </a:r>
          </a:p>
        </p:txBody>
      </p:sp>
      <p:sp>
        <p:nvSpPr>
          <p:cNvPr id="4" name="TextBox 3"/>
          <p:cNvSpPr txBox="1"/>
          <p:nvPr/>
        </p:nvSpPr>
        <p:spPr>
          <a:xfrm>
            <a:off x="822960" y="2194560"/>
            <a:ext cx="10515600" cy="2011680"/>
          </a:xfrm>
          <a:prstGeom prst="rect">
            <a:avLst/>
          </a:prstGeom>
          <a:noFill/>
        </p:spPr>
        <p:txBody>
          <a:bodyPr wrap="square">
            <a:spAutoFit/>
          </a:bodyPr>
          <a:lstStyle/>
          <a:p>
            <a:r>
              <a:rPr sz="4000" b="1" i="0">
                <a:solidFill>
                  <a:srgbClr val="FFFFFF"/>
                </a:solidFill>
                <a:latin typeface="Montserrat"/>
              </a:rPr>
              <a:t>Centros de envases de GLP (II)</a:t>
            </a:r>
          </a:p>
          <a:p>
            <a:r>
              <a:rPr sz="2200" b="0" i="0">
                <a:solidFill>
                  <a:srgbClr val="CADCFC"/>
                </a:solidFill>
                <a:latin typeface="Montserrat"/>
              </a:rPr>
              <a:t>4.ª y 5.ª categoría, documentación y transporte</a:t>
            </a:r>
          </a:p>
        </p:txBody>
      </p:sp>
      <p:sp>
        <p:nvSpPr>
          <p:cNvPr id="5" name="TextBox 4"/>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02 · Reglamento · ITC-ICG 02/03/04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017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Centros de envases de GLP (II)</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1E2761"/>
                </a:solidFill>
                <a:latin typeface="Montserrat"/>
              </a:rPr>
              <a:t>Sobre este vídeo</a:t>
            </a:r>
          </a:p>
        </p:txBody>
      </p:sp>
      <p:sp>
        <p:nvSpPr>
          <p:cNvPr id="6" name="Rounded Rectangle 5"/>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331720"/>
            <a:ext cx="3017520" cy="1463040"/>
          </a:xfrm>
          <a:prstGeom prst="rect">
            <a:avLst/>
          </a:prstGeom>
          <a:noFill/>
        </p:spPr>
        <p:txBody>
          <a:bodyPr wrap="square">
            <a:spAutoFit/>
          </a:bodyPr>
          <a:lstStyle/>
          <a:p>
            <a:pPr algn="ctr"/>
            <a:r>
              <a:rPr sz="6000" b="1" i="0">
                <a:solidFill>
                  <a:srgbClr val="1E2761"/>
                </a:solidFill>
                <a:latin typeface="Montserrat"/>
              </a:rPr>
              <a:t>500 kg</a:t>
            </a:r>
          </a:p>
        </p:txBody>
      </p:sp>
      <p:sp>
        <p:nvSpPr>
          <p:cNvPr id="8" name="TextBox 7"/>
          <p:cNvSpPr txBox="1"/>
          <p:nvPr/>
        </p:nvSpPr>
        <p:spPr>
          <a:xfrm>
            <a:off x="1051560" y="3611880"/>
            <a:ext cx="2560320" cy="1005840"/>
          </a:xfrm>
          <a:prstGeom prst="rect">
            <a:avLst/>
          </a:prstGeom>
          <a:noFill/>
        </p:spPr>
        <p:txBody>
          <a:bodyPr wrap="square">
            <a:spAutoFit/>
          </a:bodyPr>
          <a:lstStyle/>
          <a:p>
            <a:pPr algn="ctr"/>
            <a:r>
              <a:rPr sz="1400" b="0" i="0">
                <a:solidFill>
                  <a:srgbClr val="1B2330"/>
                </a:solidFill>
                <a:latin typeface="Montserrat"/>
              </a:rPr>
              <a:t>tope de la 5.ª categoría</a:t>
            </a:r>
          </a:p>
        </p:txBody>
      </p:sp>
      <p:sp>
        <p:nvSpPr>
          <p:cNvPr id="9" name="Rounded Rectangle 8"/>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2331720"/>
            <a:ext cx="3017520" cy="1463040"/>
          </a:xfrm>
          <a:prstGeom prst="rect">
            <a:avLst/>
          </a:prstGeom>
          <a:noFill/>
        </p:spPr>
        <p:txBody>
          <a:bodyPr wrap="square">
            <a:spAutoFit/>
          </a:bodyPr>
          <a:lstStyle/>
          <a:p>
            <a:pPr algn="ctr"/>
            <a:r>
              <a:rPr sz="6000" b="1" i="0">
                <a:solidFill>
                  <a:srgbClr val="1E2761"/>
                </a:solidFill>
                <a:latin typeface="Montserrat"/>
              </a:rPr>
              <a:t>2 años</a:t>
            </a:r>
          </a:p>
        </p:txBody>
      </p:sp>
      <p:sp>
        <p:nvSpPr>
          <p:cNvPr id="11" name="TextBox 10"/>
          <p:cNvSpPr txBox="1"/>
          <p:nvPr/>
        </p:nvSpPr>
        <p:spPr>
          <a:xfrm>
            <a:off x="4846320" y="3611880"/>
            <a:ext cx="2560320" cy="1005840"/>
          </a:xfrm>
          <a:prstGeom prst="rect">
            <a:avLst/>
          </a:prstGeom>
          <a:noFill/>
        </p:spPr>
        <p:txBody>
          <a:bodyPr wrap="square">
            <a:spAutoFit/>
          </a:bodyPr>
          <a:lstStyle/>
          <a:p>
            <a:pPr algn="ctr"/>
            <a:r>
              <a:rPr sz="1400" b="0" i="0">
                <a:solidFill>
                  <a:srgbClr val="1B2330"/>
                </a:solidFill>
                <a:latin typeface="Montserrat"/>
              </a:rPr>
              <a:t>inspección por organismo de control</a:t>
            </a:r>
          </a:p>
        </p:txBody>
      </p:sp>
      <p:sp>
        <p:nvSpPr>
          <p:cNvPr id="12" name="Rounded Rectangle 11"/>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0" y="2331720"/>
            <a:ext cx="3017520" cy="1463040"/>
          </a:xfrm>
          <a:prstGeom prst="rect">
            <a:avLst/>
          </a:prstGeom>
          <a:noFill/>
        </p:spPr>
        <p:txBody>
          <a:bodyPr wrap="square">
            <a:spAutoFit/>
          </a:bodyPr>
          <a:lstStyle/>
          <a:p>
            <a:pPr algn="ctr"/>
            <a:r>
              <a:rPr sz="6000" b="1" i="0">
                <a:solidFill>
                  <a:srgbClr val="1E2761"/>
                </a:solidFill>
                <a:latin typeface="Montserrat"/>
              </a:rPr>
              <a:t>2</a:t>
            </a:r>
          </a:p>
        </p:txBody>
      </p:sp>
      <p:sp>
        <p:nvSpPr>
          <p:cNvPr id="14" name="TextBox 13"/>
          <p:cNvSpPr txBox="1"/>
          <p:nvPr/>
        </p:nvSpPr>
        <p:spPr>
          <a:xfrm>
            <a:off x="8641080" y="3611880"/>
            <a:ext cx="2560320" cy="1005840"/>
          </a:xfrm>
          <a:prstGeom prst="rect">
            <a:avLst/>
          </a:prstGeom>
          <a:noFill/>
        </p:spPr>
        <p:txBody>
          <a:bodyPr wrap="square">
            <a:spAutoFit/>
          </a:bodyPr>
          <a:lstStyle/>
          <a:p>
            <a:pPr algn="ctr"/>
            <a:r>
              <a:rPr sz="1400" b="0" i="0">
                <a:solidFill>
                  <a:srgbClr val="1B2330"/>
                </a:solidFill>
                <a:latin typeface="Montserrat"/>
              </a:rPr>
              <a:t>envases máx. en coche particular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017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Centros de envases de GLP (II)</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3.3 · 4.ª CATEGORÍA</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La versión mini y sencilla</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Vallado de 2 m en todo el perímetro</a:t>
            </a:r>
          </a:p>
          <a:p>
            <a:pPr>
              <a:spcAft>
                <a:spcPts val="1000"/>
              </a:spcAft>
            </a:pPr>
            <a:r>
              <a:rPr sz="1600" b="1" i="0">
                <a:solidFill>
                  <a:srgbClr val="2E3A80"/>
                </a:solidFill>
                <a:latin typeface="Montserrat"/>
              </a:rPr>
              <a:t>•  </a:t>
            </a:r>
            <a:r>
              <a:rPr sz="1600" b="0" i="0">
                <a:solidFill>
                  <a:srgbClr val="1B2330"/>
                </a:solidFill>
                <a:latin typeface="Montserrat"/>
              </a:rPr>
              <a:t>3 m a locales habitados</a:t>
            </a:r>
          </a:p>
          <a:p>
            <a:pPr>
              <a:spcAft>
                <a:spcPts val="1000"/>
              </a:spcAft>
            </a:pPr>
            <a:r>
              <a:rPr sz="1600" b="1" i="0">
                <a:solidFill>
                  <a:srgbClr val="2E3A80"/>
                </a:solidFill>
                <a:latin typeface="Montserrat"/>
              </a:rPr>
              <a:t>•  </a:t>
            </a:r>
            <a:r>
              <a:rPr sz="1600" b="0" i="0">
                <a:solidFill>
                  <a:srgbClr val="1B2330"/>
                </a:solidFill>
                <a:latin typeface="Montserrat"/>
              </a:rPr>
              <a:t>6 m si está en patio cerrado</a:t>
            </a:r>
          </a:p>
          <a:p>
            <a:pPr>
              <a:spcAft>
                <a:spcPts val="1000"/>
              </a:spcAft>
            </a:pPr>
            <a:r>
              <a:rPr sz="1600" b="1" i="0">
                <a:solidFill>
                  <a:srgbClr val="2E3A80"/>
                </a:solidFill>
                <a:latin typeface="Montserrat"/>
              </a:rPr>
              <a:t>•  </a:t>
            </a:r>
            <a:r>
              <a:rPr sz="1600" b="0" i="0">
                <a:solidFill>
                  <a:srgbClr val="1B2330"/>
                </a:solidFill>
                <a:latin typeface="Montserrat"/>
              </a:rPr>
              <a:t>2 extintores 21A-113B</a:t>
            </a:r>
          </a:p>
        </p:txBody>
      </p:sp>
      <p:sp>
        <p:nvSpPr>
          <p:cNvPr id="8" name="imgph" descr="IMGQ:small gas cylinder storage fenced yard"/>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small gas cylinder storage fenced yard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017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Centros de envases de GLP (II)</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3.3 · ANEXOS A EE.SS.</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4.ª junto a una gasolinera</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Fuera de la propia estación de servicio</a:t>
            </a:r>
          </a:p>
          <a:p>
            <a:pPr>
              <a:spcAft>
                <a:spcPts val="1000"/>
              </a:spcAft>
            </a:pPr>
            <a:r>
              <a:rPr sz="1600" b="1" i="0">
                <a:solidFill>
                  <a:srgbClr val="2E3A80"/>
                </a:solidFill>
                <a:latin typeface="Montserrat"/>
              </a:rPr>
              <a:t>•  </a:t>
            </a:r>
            <a:r>
              <a:rPr sz="1600" b="0" i="0">
                <a:solidFill>
                  <a:srgbClr val="1B2330"/>
                </a:solidFill>
                <a:latin typeface="Montserrat"/>
              </a:rPr>
              <a:t>A 10 m del área de suministro</a:t>
            </a:r>
          </a:p>
          <a:p>
            <a:pPr>
              <a:spcAft>
                <a:spcPts val="1000"/>
              </a:spcAft>
            </a:pPr>
            <a:r>
              <a:rPr sz="1600" b="1" i="0">
                <a:solidFill>
                  <a:srgbClr val="2E3A80"/>
                </a:solidFill>
                <a:latin typeface="Montserrat"/>
              </a:rPr>
              <a:t>•  </a:t>
            </a:r>
            <a:r>
              <a:rPr sz="1600" b="0" i="0">
                <a:solidFill>
                  <a:srgbClr val="1B2330"/>
                </a:solidFill>
                <a:latin typeface="Montserrat"/>
              </a:rPr>
              <a:t>Separa bombonas de los surtidores</a:t>
            </a:r>
          </a:p>
        </p:txBody>
      </p:sp>
      <p:sp>
        <p:nvSpPr>
          <p:cNvPr id="8" name="imgph" descr="IMGQ:gas station fuel pumps forecourt"/>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station fuel pumps forecourt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017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Centros de envases de GLP (II)</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3.4.1 · 5.ª EN EE.SS.</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La gasolinera: máximo 500 kg</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Capacidad total máxima: 500 kg</a:t>
            </a:r>
          </a:p>
          <a:p>
            <a:pPr>
              <a:spcAft>
                <a:spcPts val="1000"/>
              </a:spcAft>
            </a:pPr>
            <a:r>
              <a:rPr sz="1600" b="1" i="0">
                <a:solidFill>
                  <a:srgbClr val="2E3A80"/>
                </a:solidFill>
                <a:latin typeface="Montserrat"/>
              </a:rPr>
              <a:t>•  </a:t>
            </a:r>
            <a:r>
              <a:rPr sz="1600" b="0" i="0">
                <a:solidFill>
                  <a:srgbClr val="1B2330"/>
                </a:solidFill>
                <a:latin typeface="Montserrat"/>
              </a:rPr>
              <a:t>Tipos de envase separados 5 m</a:t>
            </a:r>
          </a:p>
          <a:p>
            <a:pPr>
              <a:spcAft>
                <a:spcPts val="1000"/>
              </a:spcAft>
            </a:pPr>
            <a:r>
              <a:rPr sz="1600" b="1" i="0">
                <a:solidFill>
                  <a:srgbClr val="2E3A80"/>
                </a:solidFill>
                <a:latin typeface="Montserrat"/>
              </a:rPr>
              <a:t>•  </a:t>
            </a:r>
            <a:r>
              <a:rPr sz="1600" b="0" i="0">
                <a:solidFill>
                  <a:srgbClr val="1B2330"/>
                </a:solidFill>
                <a:latin typeface="Montserrat"/>
              </a:rPr>
              <a:t>Coche y ≤ 15 kg: 2 alturas</a:t>
            </a:r>
          </a:p>
          <a:p>
            <a:pPr>
              <a:spcAft>
                <a:spcPts val="1000"/>
              </a:spcAft>
            </a:pPr>
            <a:r>
              <a:rPr sz="1600" b="1" i="0">
                <a:solidFill>
                  <a:srgbClr val="2E3A80"/>
                </a:solidFill>
                <a:latin typeface="Montserrat"/>
              </a:rPr>
              <a:t>•  </a:t>
            </a:r>
            <a:r>
              <a:rPr sz="1600" b="0" i="0">
                <a:solidFill>
                  <a:srgbClr val="1B2330"/>
                </a:solidFill>
                <a:latin typeface="Montserrat"/>
              </a:rPr>
              <a:t>Cartuchos ≤ 3 kg: 4 alturas (40 cm)</a:t>
            </a:r>
          </a:p>
        </p:txBody>
      </p:sp>
      <p:sp>
        <p:nvSpPr>
          <p:cNvPr id="8" name="imgph" descr="IMGQ:gas cylinder cage at petrol station"/>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cylinder cage at petrol station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017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Centros de envases de GLP (II)</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3.4.1.1 · REGLAS COMUNES</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Espacios abiertos y distancias</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En espacios abiertos, no bajo tierra</a:t>
            </a:r>
          </a:p>
          <a:p>
            <a:pPr>
              <a:spcAft>
                <a:spcPts val="1000"/>
              </a:spcAft>
            </a:pPr>
            <a:r>
              <a:rPr sz="1600" b="1" i="0">
                <a:solidFill>
                  <a:srgbClr val="2E3A80"/>
                </a:solidFill>
                <a:latin typeface="Montserrat"/>
              </a:rPr>
              <a:t>•  </a:t>
            </a:r>
            <a:r>
              <a:rPr sz="1600" b="0" i="0">
                <a:solidFill>
                  <a:srgbClr val="1B2330"/>
                </a:solidFill>
                <a:latin typeface="Montserrat"/>
              </a:rPr>
              <a:t>4 m a aireación, bocas y vías</a:t>
            </a:r>
          </a:p>
          <a:p>
            <a:pPr>
              <a:spcAft>
                <a:spcPts val="1000"/>
              </a:spcAft>
            </a:pPr>
            <a:r>
              <a:rPr sz="1600" b="1" i="0">
                <a:solidFill>
                  <a:srgbClr val="2E3A80"/>
                </a:solidFill>
                <a:latin typeface="Montserrat"/>
              </a:rPr>
              <a:t>•  </a:t>
            </a:r>
            <a:r>
              <a:rPr sz="1600" b="0" i="0">
                <a:solidFill>
                  <a:srgbClr val="1B2330"/>
                </a:solidFill>
                <a:latin typeface="Montserrat"/>
              </a:rPr>
              <a:t>2 m a bordillos, sumideros, surtidores</a:t>
            </a:r>
          </a:p>
          <a:p>
            <a:pPr>
              <a:spcAft>
                <a:spcPts val="1000"/>
              </a:spcAft>
            </a:pPr>
            <a:r>
              <a:rPr sz="1600" b="1" i="0">
                <a:solidFill>
                  <a:srgbClr val="2E3A80"/>
                </a:solidFill>
                <a:latin typeface="Montserrat"/>
              </a:rPr>
              <a:t>•  </a:t>
            </a:r>
            <a:r>
              <a:rPr sz="1600" b="0" i="0">
                <a:solidFill>
                  <a:srgbClr val="1B2330"/>
                </a:solidFill>
                <a:latin typeface="Montserrat"/>
              </a:rPr>
              <a:t>2 extintores 21A-113B</a:t>
            </a:r>
          </a:p>
        </p:txBody>
      </p:sp>
      <p:sp>
        <p:nvSpPr>
          <p:cNvPr id="8" name="imgph" descr="IMGQ:outdoor gas cylinder storage cag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outdoor gas cylinder storage cage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017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Centros de envases de GLP (II)</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3.4.1.2 · JAULAS</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La jaula respira arriba y abajo</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Material que no arde (A2-s3,d0)</a:t>
            </a:r>
          </a:p>
          <a:p>
            <a:pPr>
              <a:spcAft>
                <a:spcPts val="1000"/>
              </a:spcAft>
            </a:pPr>
            <a:r>
              <a:rPr sz="1600" b="1" i="0">
                <a:solidFill>
                  <a:srgbClr val="2E3A80"/>
                </a:solidFill>
                <a:latin typeface="Montserrat"/>
              </a:rPr>
              <a:t>•  </a:t>
            </a:r>
            <a:r>
              <a:rPr sz="1600" b="0" i="0">
                <a:solidFill>
                  <a:srgbClr val="1B2330"/>
                </a:solidFill>
                <a:latin typeface="Montserrat"/>
              </a:rPr>
              <a:t>Ventilación superior e inferior</a:t>
            </a:r>
          </a:p>
          <a:p>
            <a:pPr>
              <a:spcAft>
                <a:spcPts val="1000"/>
              </a:spcAft>
            </a:pPr>
            <a:r>
              <a:rPr sz="1600" b="1" i="0">
                <a:solidFill>
                  <a:srgbClr val="2E3A80"/>
                </a:solidFill>
                <a:latin typeface="Montserrat"/>
              </a:rPr>
              <a:t>•  </a:t>
            </a:r>
            <a:r>
              <a:rPr sz="1600" b="0" i="0">
                <a:solidFill>
                  <a:srgbClr val="1B2330"/>
                </a:solidFill>
                <a:latin typeface="Montserrat"/>
              </a:rPr>
              <a:t>Cerradas al público fuera de servicio</a:t>
            </a:r>
          </a:p>
        </p:txBody>
      </p:sp>
      <p:sp>
        <p:nvSpPr>
          <p:cNvPr id="8" name="imgph" descr="IMGQ:ventilated metal gas bottle cag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ventilated metal gas bottle cage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017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Centros de envases de GLP (II)</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3.4.2 · COMERCIOS</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La tienda se parte en 150 kg</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Envases inferiores a 15 kg y cartuchos</a:t>
            </a:r>
          </a:p>
          <a:p>
            <a:pPr>
              <a:spcAft>
                <a:spcPts val="1000"/>
              </a:spcAft>
            </a:pPr>
            <a:r>
              <a:rPr sz="1600" b="1" i="0">
                <a:solidFill>
                  <a:srgbClr val="2E3A80"/>
                </a:solidFill>
                <a:latin typeface="Montserrat"/>
              </a:rPr>
              <a:t>•  </a:t>
            </a:r>
            <a:r>
              <a:rPr sz="1600" b="0" i="0">
                <a:solidFill>
                  <a:srgbClr val="1B2330"/>
                </a:solidFill>
                <a:latin typeface="Montserrat"/>
              </a:rPr>
              <a:t>Hasta 150 kg: tienda pequeña</a:t>
            </a:r>
          </a:p>
          <a:p>
            <a:pPr>
              <a:spcAft>
                <a:spcPts val="1000"/>
              </a:spcAft>
            </a:pPr>
            <a:r>
              <a:rPr sz="1600" b="1" i="0">
                <a:solidFill>
                  <a:srgbClr val="2E3A80"/>
                </a:solidFill>
                <a:latin typeface="Montserrat"/>
              </a:rPr>
              <a:t>•  </a:t>
            </a:r>
            <a:r>
              <a:rPr sz="1600" b="0" i="0">
                <a:solidFill>
                  <a:srgbClr val="1B2330"/>
                </a:solidFill>
                <a:latin typeface="Montserrat"/>
              </a:rPr>
              <a:t>De 150 a 500 kg: tienda grande</a:t>
            </a:r>
          </a:p>
          <a:p>
            <a:pPr>
              <a:spcAft>
                <a:spcPts val="1000"/>
              </a:spcAft>
            </a:pPr>
            <a:r>
              <a:rPr sz="1600" b="1" i="0">
                <a:solidFill>
                  <a:srgbClr val="2E3A80"/>
                </a:solidFill>
                <a:latin typeface="Montserrat"/>
              </a:rPr>
              <a:t>•  </a:t>
            </a:r>
            <a:r>
              <a:rPr sz="1600" b="0" i="0">
                <a:solidFill>
                  <a:srgbClr val="1B2330"/>
                </a:solidFill>
                <a:latin typeface="Montserrat"/>
              </a:rPr>
              <a:t>Escaparate: solo envases vacíos</a:t>
            </a:r>
          </a:p>
        </p:txBody>
      </p:sp>
      <p:sp>
        <p:nvSpPr>
          <p:cNvPr id="8" name="imgph" descr="IMGQ:hardware store gas bottles shelf"/>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hardware store gas bottles shelf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017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Centros de envases de GLP (II)</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3.4.2.1 · 150 A 500 KG</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Tienda grande, más exigente</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3 extintores 21A-113B</a:t>
            </a:r>
          </a:p>
          <a:p>
            <a:pPr>
              <a:spcAft>
                <a:spcPts val="1000"/>
              </a:spcAft>
            </a:pPr>
            <a:r>
              <a:rPr sz="1600" b="1" i="0">
                <a:solidFill>
                  <a:srgbClr val="2E3A80"/>
                </a:solidFill>
                <a:latin typeface="Montserrat"/>
              </a:rPr>
              <a:t>•  </a:t>
            </a:r>
            <a:r>
              <a:rPr sz="1600" b="0" i="0">
                <a:solidFill>
                  <a:srgbClr val="1B2330"/>
                </a:solidFill>
                <a:latin typeface="Montserrat"/>
              </a:rPr>
              <a:t>Rejilla a ras de suelo: 400 cm²</a:t>
            </a:r>
          </a:p>
          <a:p>
            <a:pPr>
              <a:spcAft>
                <a:spcPts val="1000"/>
              </a:spcAft>
            </a:pPr>
            <a:r>
              <a:rPr sz="1600" b="1" i="0">
                <a:solidFill>
                  <a:srgbClr val="2E3A80"/>
                </a:solidFill>
                <a:latin typeface="Montserrat"/>
              </a:rPr>
              <a:t>•  </a:t>
            </a:r>
            <a:r>
              <a:rPr sz="1600" b="0" i="0">
                <a:solidFill>
                  <a:srgbClr val="1B2330"/>
                </a:solidFill>
                <a:latin typeface="Montserrat"/>
              </a:rPr>
              <a:t>4 m a escaleras · 8 m a arquetas</a:t>
            </a:r>
          </a:p>
          <a:p>
            <a:pPr>
              <a:spcAft>
                <a:spcPts val="1000"/>
              </a:spcAft>
            </a:pPr>
            <a:r>
              <a:rPr sz="1600" b="1" i="0">
                <a:solidFill>
                  <a:srgbClr val="2E3A80"/>
                </a:solidFill>
                <a:latin typeface="Montserrat"/>
              </a:rPr>
              <a:t>•  </a:t>
            </a:r>
            <a:r>
              <a:rPr sz="1600" b="0" i="0">
                <a:solidFill>
                  <a:srgbClr val="1B2330"/>
                </a:solidFill>
                <a:latin typeface="Montserrat"/>
              </a:rPr>
              <a:t>Planta baja, nunca en sótano</a:t>
            </a:r>
          </a:p>
        </p:txBody>
      </p:sp>
      <p:sp>
        <p:nvSpPr>
          <p:cNvPr id="8" name="imgph" descr="IMGQ:floor ventilation grille indoor"/>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floor ventilation grille indoor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017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Centros de envases de GLP (II)</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3.4.2.2 · HASTA 150 KG</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Tienda pequeña, más suave</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2 extintores 13A-55B</a:t>
            </a:r>
          </a:p>
          <a:p>
            <a:pPr>
              <a:spcAft>
                <a:spcPts val="1000"/>
              </a:spcAft>
            </a:pPr>
            <a:r>
              <a:rPr sz="1600" b="1" i="0">
                <a:solidFill>
                  <a:srgbClr val="2E3A80"/>
                </a:solidFill>
                <a:latin typeface="Montserrat"/>
              </a:rPr>
              <a:t>•  </a:t>
            </a:r>
            <a:r>
              <a:rPr sz="1600" b="0" i="0">
                <a:solidFill>
                  <a:srgbClr val="1B2330"/>
                </a:solidFill>
                <a:latin typeface="Montserrat"/>
              </a:rPr>
              <a:t>Ventilación necesaria</a:t>
            </a:r>
          </a:p>
          <a:p>
            <a:pPr>
              <a:spcAft>
                <a:spcPts val="1000"/>
              </a:spcAft>
            </a:pPr>
            <a:r>
              <a:rPr sz="1600" b="1" i="0">
                <a:solidFill>
                  <a:srgbClr val="2E3A80"/>
                </a:solidFill>
                <a:latin typeface="Montserrat"/>
              </a:rPr>
              <a:t>•  </a:t>
            </a:r>
            <a:r>
              <a:rPr sz="1600" b="0" i="0">
                <a:solidFill>
                  <a:srgbClr val="1B2330"/>
                </a:solidFill>
                <a:latin typeface="Montserrat"/>
              </a:rPr>
              <a:t>Nunca en sótano ni semisótano</a:t>
            </a:r>
          </a:p>
          <a:p>
            <a:pPr>
              <a:spcAft>
                <a:spcPts val="1000"/>
              </a:spcAft>
            </a:pPr>
            <a:r>
              <a:rPr sz="1600" b="1" i="0">
                <a:solidFill>
                  <a:srgbClr val="2E3A80"/>
                </a:solidFill>
                <a:latin typeface="Montserrat"/>
              </a:rPr>
              <a:t>•  </a:t>
            </a:r>
            <a:r>
              <a:rPr sz="1600" b="0" i="0">
                <a:solidFill>
                  <a:srgbClr val="1B2330"/>
                </a:solidFill>
                <a:latin typeface="Montserrat"/>
              </a:rPr>
              <a:t>Escaparate: solo recipientes vacíos</a:t>
            </a:r>
          </a:p>
        </p:txBody>
      </p:sp>
      <p:sp>
        <p:nvSpPr>
          <p:cNvPr id="8" name="imgph" descr="IMGQ:small shop counter gas cartridges"/>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small shop counter gas cartridges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017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Centros de envases de GLP (II)</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3.4.2 · CARTELES</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Dos carteles distintos</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Entrada: prohibido fumar en zonas señalizadas</a:t>
            </a:r>
          </a:p>
          <a:p>
            <a:pPr>
              <a:spcAft>
                <a:spcPts val="1000"/>
              </a:spcAft>
            </a:pPr>
            <a:r>
              <a:rPr sz="1600" b="1" i="0">
                <a:solidFill>
                  <a:srgbClr val="2E3A80"/>
                </a:solidFill>
                <a:latin typeface="Montserrat"/>
              </a:rPr>
              <a:t>•  </a:t>
            </a:r>
            <a:r>
              <a:rPr sz="1600" b="0" i="0">
                <a:solidFill>
                  <a:srgbClr val="1B2330"/>
                </a:solidFill>
                <a:latin typeface="Montserrat"/>
              </a:rPr>
              <a:t>Junto a envases: prohibido fumar a 5 m</a:t>
            </a:r>
          </a:p>
          <a:p>
            <a:pPr>
              <a:spcAft>
                <a:spcPts val="1000"/>
              </a:spcAft>
            </a:pPr>
            <a:r>
              <a:rPr sz="1600" b="1" i="0">
                <a:solidFill>
                  <a:srgbClr val="2E3A80"/>
                </a:solidFill>
                <a:latin typeface="Montserrat"/>
              </a:rPr>
              <a:t>•  </a:t>
            </a:r>
            <a:r>
              <a:rPr sz="1600" b="0" i="0">
                <a:solidFill>
                  <a:srgbClr val="1B2330"/>
                </a:solidFill>
                <a:latin typeface="Montserrat"/>
              </a:rPr>
              <a:t>Muros sin huecos a otros locales</a:t>
            </a:r>
          </a:p>
        </p:txBody>
      </p:sp>
      <p:sp>
        <p:nvSpPr>
          <p:cNvPr id="8" name="imgph" descr="IMGQ:no smoking warning sign shop"/>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no smoking warning sign shop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017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Centros de envases de GLP (II)</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4 · DOCUMENTACIÓN</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Proyecto sí, proyecto no</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Sin autorización administrativa previa</a:t>
            </a:r>
          </a:p>
          <a:p>
            <a:pPr>
              <a:spcAft>
                <a:spcPts val="1000"/>
              </a:spcAft>
            </a:pPr>
            <a:r>
              <a:rPr sz="1600" b="1" i="0">
                <a:solidFill>
                  <a:srgbClr val="2E3A80"/>
                </a:solidFill>
                <a:latin typeface="Montserrat"/>
              </a:rPr>
              <a:t>•  </a:t>
            </a:r>
            <a:r>
              <a:rPr sz="1600" b="0" i="0">
                <a:solidFill>
                  <a:srgbClr val="1B2330"/>
                </a:solidFill>
                <a:latin typeface="Montserrat"/>
              </a:rPr>
              <a:t>Proyecto solo en 1.ª, 2.ª y 3.ª</a:t>
            </a:r>
          </a:p>
          <a:p>
            <a:pPr>
              <a:spcAft>
                <a:spcPts val="1000"/>
              </a:spcAft>
            </a:pPr>
            <a:r>
              <a:rPr sz="1600" b="1" i="0">
                <a:solidFill>
                  <a:srgbClr val="2E3A80"/>
                </a:solidFill>
                <a:latin typeface="Montserrat"/>
              </a:rPr>
              <a:t>•  </a:t>
            </a:r>
            <a:r>
              <a:rPr sz="1600" b="0" i="0">
                <a:solidFill>
                  <a:srgbClr val="1B2330"/>
                </a:solidFill>
                <a:latin typeface="Montserrat"/>
              </a:rPr>
              <a:t>4.ª y 5.ª: sin proyecto</a:t>
            </a:r>
          </a:p>
          <a:p>
            <a:pPr>
              <a:spcAft>
                <a:spcPts val="1000"/>
              </a:spcAft>
            </a:pPr>
            <a:r>
              <a:rPr sz="1600" b="1" i="0">
                <a:solidFill>
                  <a:srgbClr val="2E3A80"/>
                </a:solidFill>
                <a:latin typeface="Montserrat"/>
              </a:rPr>
              <a:t>•  </a:t>
            </a:r>
            <a:r>
              <a:rPr sz="1600" b="0" i="0">
                <a:solidFill>
                  <a:srgbClr val="1B2330"/>
                </a:solidFill>
                <a:latin typeface="Montserrat"/>
              </a:rPr>
              <a:t>Inspección: para TODO centro</a:t>
            </a:r>
          </a:p>
        </p:txBody>
      </p:sp>
      <p:sp>
        <p:nvSpPr>
          <p:cNvPr id="8" name="imgph" descr="IMGQ:engineer reviewing technical blueprint"/>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engineer reviewing technical blueprint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017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Centros de envases de GLP (II)</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4 · PUESTA EN SERVICIO</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Se comunica a la Comunidad</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Datos del titular y plano de detalle</a:t>
            </a:r>
          </a:p>
          <a:p>
            <a:pPr>
              <a:spcAft>
                <a:spcPts val="1000"/>
              </a:spcAft>
            </a:pPr>
            <a:r>
              <a:rPr sz="1600" b="1" i="0">
                <a:solidFill>
                  <a:srgbClr val="2E3A80"/>
                </a:solidFill>
                <a:latin typeface="Montserrat"/>
              </a:rPr>
              <a:t>•  </a:t>
            </a:r>
            <a:r>
              <a:rPr sz="1600" b="0" i="0">
                <a:solidFill>
                  <a:srgbClr val="1B2330"/>
                </a:solidFill>
                <a:latin typeface="Montserrat"/>
              </a:rPr>
              <a:t>Certificado de inspección</a:t>
            </a:r>
          </a:p>
          <a:p>
            <a:pPr>
              <a:spcAft>
                <a:spcPts val="1000"/>
              </a:spcAft>
            </a:pPr>
            <a:r>
              <a:rPr sz="1600" b="1" i="0">
                <a:solidFill>
                  <a:srgbClr val="2E3A80"/>
                </a:solidFill>
                <a:latin typeface="Montserrat"/>
              </a:rPr>
              <a:t>•  </a:t>
            </a:r>
            <a:r>
              <a:rPr sz="1600" b="0" i="0">
                <a:solidFill>
                  <a:srgbClr val="1B2330"/>
                </a:solidFill>
                <a:latin typeface="Montserrat"/>
              </a:rPr>
              <a:t>La comunicación faculta el servicio</a:t>
            </a:r>
          </a:p>
          <a:p>
            <a:pPr>
              <a:spcAft>
                <a:spcPts val="1000"/>
              </a:spcAft>
            </a:pPr>
            <a:r>
              <a:rPr sz="1600" b="1" i="0">
                <a:solidFill>
                  <a:srgbClr val="2E3A80"/>
                </a:solidFill>
                <a:latin typeface="Montserrat"/>
              </a:rPr>
              <a:t>•  </a:t>
            </a:r>
            <a:r>
              <a:rPr sz="1600" b="0" i="0">
                <a:solidFill>
                  <a:srgbClr val="1B2330"/>
                </a:solidFill>
                <a:latin typeface="Montserrat"/>
              </a:rPr>
              <a:t>No es conformidad de la Administración</a:t>
            </a:r>
          </a:p>
        </p:txBody>
      </p:sp>
      <p:sp>
        <p:nvSpPr>
          <p:cNvPr id="8" name="imgph" descr="IMGQ:official documents folder stamp"/>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official documents folder stamp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017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Centros de envases de GLP (II)</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5 · MANTENIMIENTO</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Cada 2 años y la llave del gas</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Titular responsable del mantenimiento</a:t>
            </a:r>
          </a:p>
          <a:p>
            <a:pPr>
              <a:spcAft>
                <a:spcPts val="1000"/>
              </a:spcAft>
            </a:pPr>
            <a:r>
              <a:rPr sz="1600" b="1" i="0">
                <a:solidFill>
                  <a:srgbClr val="2E3A80"/>
                </a:solidFill>
                <a:latin typeface="Montserrat"/>
              </a:rPr>
              <a:t>•  </a:t>
            </a:r>
            <a:r>
              <a:rPr sz="1600" b="0" i="0">
                <a:solidFill>
                  <a:srgbClr val="1B2330"/>
                </a:solidFill>
                <a:latin typeface="Montserrat"/>
              </a:rPr>
              <a:t>Inspección cada 2 años</a:t>
            </a:r>
          </a:p>
          <a:p>
            <a:pPr>
              <a:spcAft>
                <a:spcPts val="1000"/>
              </a:spcAft>
            </a:pPr>
            <a:r>
              <a:rPr sz="1600" b="1" i="0">
                <a:solidFill>
                  <a:srgbClr val="2E3A80"/>
                </a:solidFill>
                <a:latin typeface="Montserrat"/>
              </a:rPr>
              <a:t>•  </a:t>
            </a:r>
            <a:r>
              <a:rPr sz="1600" b="0" i="0">
                <a:solidFill>
                  <a:srgbClr val="1B2330"/>
                </a:solidFill>
                <a:latin typeface="Montserrat"/>
              </a:rPr>
              <a:t>No supera la capacidad comunicada</a:t>
            </a:r>
          </a:p>
          <a:p>
            <a:pPr>
              <a:spcAft>
                <a:spcPts val="1000"/>
              </a:spcAft>
            </a:pPr>
            <a:r>
              <a:rPr sz="1600" b="1" i="0">
                <a:solidFill>
                  <a:srgbClr val="2E3A80"/>
                </a:solidFill>
                <a:latin typeface="Montserrat"/>
              </a:rPr>
              <a:t>•  </a:t>
            </a:r>
            <a:r>
              <a:rPr sz="1600" b="0" i="0">
                <a:solidFill>
                  <a:srgbClr val="1B2330"/>
                </a:solidFill>
                <a:latin typeface="Montserrat"/>
              </a:rPr>
              <a:t>Sin certificado favorable: no hay gas</a:t>
            </a:r>
          </a:p>
        </p:txBody>
      </p:sp>
      <p:sp>
        <p:nvSpPr>
          <p:cNvPr id="8" name="imgph" descr="IMGQ:inspector checking gas installation"/>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inspector checking gas installation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017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Centros de envases de GLP (II)</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6 · TRANSPORTE</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Tu coche y las bombonas</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Máximo 2 envases de hasta 15 kg</a:t>
            </a:r>
          </a:p>
          <a:p>
            <a:pPr>
              <a:spcAft>
                <a:spcPts val="1000"/>
              </a:spcAft>
            </a:pPr>
            <a:r>
              <a:rPr sz="1600" b="1" i="0">
                <a:solidFill>
                  <a:srgbClr val="2E3A80"/>
                </a:solidFill>
                <a:latin typeface="Montserrat"/>
              </a:rPr>
              <a:t>•  </a:t>
            </a:r>
            <a:r>
              <a:rPr sz="1600" b="0" i="0">
                <a:solidFill>
                  <a:srgbClr val="1B2330"/>
                </a:solidFill>
                <a:latin typeface="Montserrat"/>
              </a:rPr>
              <a:t>Siempre de pie y sujetos</a:t>
            </a:r>
          </a:p>
          <a:p>
            <a:pPr>
              <a:spcAft>
                <a:spcPts val="1000"/>
              </a:spcAft>
            </a:pPr>
            <a:r>
              <a:rPr sz="1600" b="1" i="0">
                <a:solidFill>
                  <a:srgbClr val="2E3A80"/>
                </a:solidFill>
                <a:latin typeface="Montserrat"/>
              </a:rPr>
              <a:t>•  </a:t>
            </a:r>
            <a:r>
              <a:rPr sz="1600" b="0" i="0">
                <a:solidFill>
                  <a:srgbClr val="1B2330"/>
                </a:solidFill>
                <a:latin typeface="Montserrat"/>
              </a:rPr>
              <a:t>Prohibido aparcar en subterráneo</a:t>
            </a:r>
          </a:p>
          <a:p>
            <a:pPr>
              <a:spcAft>
                <a:spcPts val="1000"/>
              </a:spcAft>
            </a:pPr>
            <a:r>
              <a:rPr sz="1600" b="1" i="0">
                <a:solidFill>
                  <a:srgbClr val="2E3A80"/>
                </a:solidFill>
                <a:latin typeface="Montserrat"/>
              </a:rPr>
              <a:t>•  </a:t>
            </a:r>
            <a:r>
              <a:rPr sz="1600" b="0" i="0">
                <a:solidFill>
                  <a:srgbClr val="1B2330"/>
                </a:solidFill>
                <a:latin typeface="Montserrat"/>
              </a:rPr>
              <a:t>Nuevos y sin gas: pueden ir tumbados</a:t>
            </a:r>
          </a:p>
        </p:txBody>
      </p:sp>
      <p:sp>
        <p:nvSpPr>
          <p:cNvPr id="8" name="imgph" descr="IMGQ:gas cylinders secured in van"/>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cylinders secured in van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016 / 017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Centros de envases de GLP (II)</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6 · REPARTO</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El furgón del butanero</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Caja con rejillas laterales y traseras</a:t>
            </a:r>
          </a:p>
          <a:p>
            <a:pPr>
              <a:spcAft>
                <a:spcPts val="1000"/>
              </a:spcAft>
            </a:pPr>
            <a:r>
              <a:rPr sz="1600" b="1" i="0">
                <a:solidFill>
                  <a:srgbClr val="2E3A80"/>
                </a:solidFill>
                <a:latin typeface="Montserrat"/>
              </a:rPr>
              <a:t>•  </a:t>
            </a:r>
            <a:r>
              <a:rPr sz="1600" b="0" i="0">
                <a:solidFill>
                  <a:srgbClr val="1B2330"/>
                </a:solidFill>
                <a:latin typeface="Montserrat"/>
              </a:rPr>
              <a:t>Cortafuegos al entrar donde hay &gt; 500 kg</a:t>
            </a:r>
          </a:p>
          <a:p>
            <a:pPr>
              <a:spcAft>
                <a:spcPts val="1000"/>
              </a:spcAft>
            </a:pPr>
            <a:r>
              <a:rPr sz="1600" b="1" i="0">
                <a:solidFill>
                  <a:srgbClr val="2E3A80"/>
                </a:solidFill>
                <a:latin typeface="Montserrat"/>
              </a:rPr>
              <a:t>•  </a:t>
            </a:r>
            <a:r>
              <a:rPr sz="1600" b="0" i="0">
                <a:solidFill>
                  <a:srgbClr val="1B2330"/>
                </a:solidFill>
                <a:latin typeface="Montserrat"/>
              </a:rPr>
              <a:t>PMA ≤ 3.500 kg: dos 8A-34B</a:t>
            </a:r>
          </a:p>
          <a:p>
            <a:pPr>
              <a:spcAft>
                <a:spcPts val="1000"/>
              </a:spcAft>
            </a:pPr>
            <a:r>
              <a:rPr sz="1600" b="1" i="0">
                <a:solidFill>
                  <a:srgbClr val="2E3A80"/>
                </a:solidFill>
                <a:latin typeface="Montserrat"/>
              </a:rPr>
              <a:t>•  </a:t>
            </a:r>
            <a:r>
              <a:rPr sz="1600" b="0" i="0">
                <a:solidFill>
                  <a:srgbClr val="1B2330"/>
                </a:solidFill>
                <a:latin typeface="Montserrat"/>
              </a:rPr>
              <a:t>PMA &gt; 3.500 kg: carga sube a 13A-55B</a:t>
            </a:r>
          </a:p>
        </p:txBody>
      </p:sp>
      <p:sp>
        <p:nvSpPr>
          <p:cNvPr id="8" name="imgph" descr="IMGQ:delivery truck loaded gas cylinders"/>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delivery truck loaded gas cylinders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CADCFC"/>
                </a:solidFill>
                <a:latin typeface="Montserrat"/>
              </a:rPr>
              <a:t>LO QUE YA DOMINAS</a:t>
            </a:r>
          </a:p>
        </p:txBody>
      </p:sp>
      <p:sp>
        <p:nvSpPr>
          <p:cNvPr id="4" name="TextBox 3"/>
          <p:cNvSpPr txBox="1"/>
          <p:nvPr/>
        </p:nvSpPr>
        <p:spPr>
          <a:xfrm>
            <a:off x="822960" y="1143000"/>
            <a:ext cx="10515600" cy="1097280"/>
          </a:xfrm>
          <a:prstGeom prst="rect">
            <a:avLst/>
          </a:prstGeom>
          <a:noFill/>
        </p:spPr>
        <p:txBody>
          <a:bodyPr wrap="square">
            <a:spAutoFit/>
          </a:bodyPr>
          <a:lstStyle/>
          <a:p>
            <a:r>
              <a:rPr sz="3400" b="1" i="0">
                <a:solidFill>
                  <a:srgbClr val="FFFFFF"/>
                </a:solidFill>
                <a:latin typeface="Montserrat"/>
              </a:rPr>
              <a:t>Ya controlas la gasolinera, la tienda y el reparto</a:t>
            </a:r>
          </a:p>
        </p:txBody>
      </p:sp>
      <p:sp>
        <p:nvSpPr>
          <p:cNvPr id="5" name="TextBox 4"/>
          <p:cNvSpPr txBox="1"/>
          <p:nvPr/>
        </p:nvSpPr>
        <p:spPr>
          <a:xfrm>
            <a:off x="822960" y="2514600"/>
            <a:ext cx="10515600" cy="2834640"/>
          </a:xfrm>
          <a:prstGeom prst="rect">
            <a:avLst/>
          </a:prstGeom>
          <a:noFill/>
        </p:spPr>
        <p:txBody>
          <a:bodyPr wrap="square">
            <a:spAutoFit/>
          </a:bodyPr>
          <a:lstStyle/>
          <a:p>
            <a:pPr>
              <a:spcAft>
                <a:spcPts val="1200"/>
              </a:spcAft>
            </a:pPr>
            <a:r>
              <a:rPr sz="2000" b="1" i="0">
                <a:solidFill>
                  <a:srgbClr val="CADCFC"/>
                </a:solidFill>
                <a:latin typeface="Montserrat"/>
              </a:rPr>
              <a:t>✓  </a:t>
            </a:r>
            <a:r>
              <a:rPr sz="1900" b="0" i="0">
                <a:solidFill>
                  <a:srgbClr val="FFFFFF"/>
                </a:solidFill>
                <a:latin typeface="Montserrat"/>
              </a:rPr>
              <a:t>Distingues 4.ª y 5.ª: vallado, distancias y extintores</a:t>
            </a:r>
          </a:p>
          <a:p>
            <a:pPr>
              <a:spcAft>
                <a:spcPts val="1200"/>
              </a:spcAft>
            </a:pPr>
            <a:r>
              <a:rPr sz="2000" b="1" i="0">
                <a:solidFill>
                  <a:srgbClr val="CADCFC"/>
                </a:solidFill>
                <a:latin typeface="Montserrat"/>
              </a:rPr>
              <a:t>✓  </a:t>
            </a:r>
            <a:r>
              <a:rPr sz="1900" b="0" i="0">
                <a:solidFill>
                  <a:srgbClr val="FFFFFF"/>
                </a:solidFill>
                <a:latin typeface="Montserrat"/>
              </a:rPr>
              <a:t>Partes la tienda en 150 kg y colocas cada extintor</a:t>
            </a:r>
          </a:p>
          <a:p>
            <a:pPr>
              <a:spcAft>
                <a:spcPts val="1200"/>
              </a:spcAft>
            </a:pPr>
            <a:r>
              <a:rPr sz="2000" b="1" i="0">
                <a:solidFill>
                  <a:srgbClr val="CADCFC"/>
                </a:solidFill>
                <a:latin typeface="Montserrat"/>
              </a:rPr>
              <a:t>✓  </a:t>
            </a:r>
            <a:r>
              <a:rPr sz="1900" b="0" i="0">
                <a:solidFill>
                  <a:srgbClr val="FFFFFF"/>
                </a:solidFill>
                <a:latin typeface="Montserrat"/>
              </a:rPr>
              <a:t>Sabes que se inspecciona y se comunica, no se pide permiso</a:t>
            </a:r>
          </a:p>
          <a:p>
            <a:pPr>
              <a:spcAft>
                <a:spcPts val="1200"/>
              </a:spcAft>
            </a:pPr>
            <a:r>
              <a:rPr sz="2000" b="1" i="0">
                <a:solidFill>
                  <a:srgbClr val="CADCFC"/>
                </a:solidFill>
                <a:latin typeface="Montserrat"/>
              </a:rPr>
              <a:t>✓  </a:t>
            </a:r>
            <a:r>
              <a:rPr sz="1900" b="0" i="0">
                <a:solidFill>
                  <a:srgbClr val="FFFFFF"/>
                </a:solidFill>
                <a:latin typeface="Montserrat"/>
              </a:rPr>
              <a:t>Transportas envases de pie, sin sótano y sin pasarte de 2</a:t>
            </a:r>
          </a:p>
        </p:txBody>
      </p:sp>
      <p:sp>
        <p:nvSpPr>
          <p:cNvPr id="6" name="Rounded Rectangle 5"/>
          <p:cNvSpPr/>
          <p:nvPr/>
        </p:nvSpPr>
        <p:spPr>
          <a:xfrm>
            <a:off x="822960" y="5532120"/>
            <a:ext cx="10515600" cy="777240"/>
          </a:xfrm>
          <a:prstGeom prst="roundRect">
            <a:avLst/>
          </a:prstGeom>
          <a:solidFill>
            <a:srgbClr val="2E3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5605272"/>
            <a:ext cx="10058400" cy="640080"/>
          </a:xfrm>
          <a:prstGeom prst="rect">
            <a:avLst/>
          </a:prstGeom>
          <a:noFill/>
        </p:spPr>
        <p:txBody>
          <a:bodyPr wrap="square">
            <a:spAutoFit/>
          </a:bodyPr>
          <a:lstStyle/>
          <a:p>
            <a:r>
              <a:rPr sz="1500" b="1" i="1">
                <a:solidFill>
                  <a:srgbClr val="CADCFC"/>
                </a:solidFill>
                <a:latin typeface="Montserrat"/>
              </a:rPr>
              <a:t>Con esto cierras la ITC-02 entera. Ahora damos el salto al depósito fijo del chalé.</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
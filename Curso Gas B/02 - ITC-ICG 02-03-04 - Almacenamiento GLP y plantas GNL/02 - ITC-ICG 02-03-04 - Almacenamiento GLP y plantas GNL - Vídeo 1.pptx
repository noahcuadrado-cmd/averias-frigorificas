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se guardan las bombonas de butano y de propano antes de llegar a mi casa?</a:t>
            </a:r>
          </a:p>
          <a:p>
            <a:r>
              <a:t>N2: En los centros de envases de GLP, lo que en el oficio se llama la nave de las bombonas. Y esa nave tiene su propio manual: la ITC-ICG cero dos. En este primer vídeo montamos los cimientos de la instrucción. Vemos para qué sirve, cómo se clasifican los centros por kilos de gas, cómo se calcula esa capacidad con una fórmula sencilla, y todas las normas de diseño general. Rematamos con las categorías más grandes y exigentes, la primera, la segunda y la tercera, donde caen las distancias de seguridad, los cerramientos, las alturas de apilado y las dos grandes tablas. Un aviso de amigo: graba las cifras, porque el examen las pregunta tal cual salen aquí.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entrar en materia, dame tres números para situarme.</a:t>
            </a:r>
          </a:p>
          <a:p>
            <a:r>
              <a:t>N2: Toma tres anclas. La primera: los centros se ordenan en cinco categorías según los kilos de gas que almacenan; de ahí cuelga todo lo demás. La segunda: para calcular esa capacidad se multiplica por un coeficiente de cero coma sesenta y cinco, que es un margen de seguridad, no el cien por cien del volumen. Y la tercera: una cifra de diseño que se repite, desde cualquier punto del almacenamiento el recorrido hasta la salida no puede pasar de veinticinco metros. Si retienes estas tres, el resto del vídeo encaja solo.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regula exactamente la ITC-ICG cero dos?</a:t>
            </a:r>
          </a:p>
          <a:p>
            <a:r>
              <a:t>N2: Fija los requisitos técnicos esenciales y las medidas de seguridad mínimas para tres momentos de la vida de un centro: proyectarlo, construirlo y explotarlo. Y el objeto son los centros de almacenamiento y distribución de GLP envasado, esas naves llenas de bombonas de butano y propano, las mismas a las que se refiere el artículo dos del Reglamento. Fíjate en el matiz, porque cae: aquí hablamos de gas en envases, en botellas que van y vienen; el depósito fijo del chalé es otra instrucción distinta que veremos más adelante. Y de paso, esta ITC también recoge los criterios de transporte de esos envases, que rematamos en el vídeo 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se considera que legalmente he modificado un centro?</a:t>
            </a:r>
          </a:p>
          <a:p>
            <a:r>
              <a:t>N2: Solo cuando lo amplías y esa ampliación te hace cambiar de categoría. Vamos con un ejemplo de obra. Tienes un centro de tercera y le metes más bombonas, pero sigues estando dentro de los kilos de la tercera. Para el Reglamento no has hecho ninguna modificación reglamentaria: no tienes que rehacer papeles. Ahora bien, en cuanto cruzas el umbral de kilos y saltas a segunda, ahí sí hay modificación. Piénsalo como subir de división en el fútbol: mientras juegues en la misma liga, nada cambia; el día que asciendes, cambian las reglas. Ese matiz decide en la calle si toca legalizar de nuevo o 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ordenan los centros, y por qué me suena al revés?</a:t>
            </a:r>
          </a:p>
          <a:p>
            <a:r>
              <a:t>N2: Se clasifican por su capacidad nominal de contenido total, es decir, por los kilos de GLP que pueden almacenar. Y aquí está la trampa: la numeración va al revés de la intuición. La primera es la más grande, hasta doscientos cincuenta mil kilos, y la quinta es la más pequeña, hasta quinientos kilos, esa jaula que ves en la gasolinera. Para no perderte, memoriza los saltos clave de menor a mayor: quinientos, mil, doce mil quinientos, veinticinco mil y doscientos cincuenta mil kilos. Y quédate con que la cuarta y la quinta son las de poca cosa, tienda de barrio y gasolinera, con reglas mucho más suaves que veremos en el vídeo 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te digo que un centro almacena veinte mil kilos de GLP, ¿de qué categoría es?</a:t>
            </a:r>
          </a:p>
          <a:p>
            <a:r>
              <a:t>N2: Esta tabla es el corazón del vídeo: clasifica los centros por su capacidad en kilos, y de ella cuelga todo lo demás. Se lee de arriba abajo, de mayor a menor, y ojo, que va al revés de la intuición: la primera es la más grande, hasta doscientos cincuenta mil kilos, y la quinta la más pequeña, hasta quinientos. Fila a fila: primera, de veinticinco mil uno a doscientos cincuenta mil; segunda, de doce mil quinientos uno a veinticinco mil; tercera, de mil uno a doce mil quinientos; cuarta, de quinientos uno a mil; y quinta, hasta quinientos, la de la gasolinera y la tienda. Ejemplo de obra: veinte mil kilos caen entre doce mil quinientos uno y veinticinco mil, así que es un centro de segunda categoría.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calcula la capacidad y dónde están las trampas?</a:t>
            </a:r>
          </a:p>
          <a:p>
            <a:r>
              <a:t>N2: La fórmula es capacidad total igual a capacidad nominal del envase, por el número de envases, por cero coma sesenta y cinco. Hay dos trampas de examen escondidas en una sola línea. La primera es ese cero coma sesenta y cinco: un coeficiente de seguridad, porque no se cuenta el cien por cien del volumen del envase. La segunda está en la letra ene, el número de envases: cuentas los llenos y también los vacíos. ¿Por qué los vacíos, si están vacíos? Porque una bombona vacía nunca lo está del todo, siempre le queda un poco de gas y da la lata igual. Así que a la hora de sumar kilos, la botella vacía también suma. Truco para acordarte: en el recuento no perdono ni las vacías. Y la capacidad total del centro es la suma de las parciales de cada tipo de envase.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Pregunta de la fórmula de capacidad. Escucha bien: en la fórmula, capacidad total igual a capacidad nominal, por número de envases, por cero coma sesenta y cinco, ¿qué envases se cuentan en la letra ene? Opción A, solo los envases llenos. Opción B, solo los envases vacíos. Opción C, los llenos y los vacíos. Opción D, únicamente los de más de quince kilos. Párate un momento y elige.</a:t>
            </a:r>
          </a:p>
          <a:p>
            <a:r>
              <a:t>N2: Pista: piensa en esa bombona que devuelves supuestamente vacía. ¿De verdad no le queda nada dentro?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los llenos y los vacíos. ¿Por qué? Porque un envase vacío nunca lo está del todo: siempre le queda algo de gas, así que también suma en el recuento. Por eso en la ene cuentas llenos y vacíos, y encima multiplicas por cero coma sesenta y cinco, que es el margen de seguridad. El truco para no fallar: en el recuento no perdono ni las vacías.</a:t>
            </a:r>
          </a:p>
          <a:p>
            <a:r>
              <a:t>N1: Ni las vacías se libran.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las bombonas van fuera y no en un almacén cerrado?</a:t>
            </a:r>
          </a:p>
          <a:p>
            <a:r>
              <a:t>N2: Porque un centro de bombonas no es un almacén cerrado. Las botellas van al aire libre, como mucho bajo una cubierta ligera. Y la razón es física, es el corazón de todo el tema: si hubiera una fuga en un recinto cerrado, el GLP, que pesa más que el aire, se acumularía a ras de suelo, se embolsaría, y con una simple chispa tendrías la explosión. Al aire libre, en cambio, el gas se disipa y se va. Además, la zona de envases llenos va separada y señalizada de la de vacíos, en una sola planta no subterránea, con el piso al nivel del terreno o por encima, nunca por debajo. Y ojo, estas reglas generales valen para todos los centros salvo los de quinta categoría.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sale de un centro si hay un susto, y cómo se colocan las botellas?</a:t>
            </a:r>
          </a:p>
          <a:p>
            <a:r>
              <a:t>N2: Empecemos por salir. Hay que prever la salida fácil del personal: el recorrido real hasta el exterior, sorteando cualquier obstáculo, no puede pasar de veinticinco metros. Se libran de esa regla los almacenamientos muy pequeños, de veinticinco metros cuadrados de superficie, o cuando la salida está a menos de seis metros. Y ahora la colocación, una regla de oro que verás repetida: los envases llenos con válvula de seguridad se colocan siempre en posición vertical, de pie, y en jaulas si se apilan en más de una altura. ¿Por qué de pie? Porque una botella tumbada deja la válvula tocando el líquido, y eso es una fuga esperando a pasar.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está terminantemente prohibido dentro de un centro?</a:t>
            </a:r>
          </a:p>
          <a:p>
            <a:r>
              <a:t>N2: Todo lo que dé fuego. Nada de llamas libres ni de fuentes de calor que suban la temperatura de los envases, ni sustancias inflamables cerca. Por eso hay un letrero bien visible que dice gas inflamable, prohibido fumar y encender fuegos, y todo el que entra deja antes en la puerta el mechero, las cerillas, cualquier cosa que produzca chispa. Y aquí va lo que cae fijo en examen: en un centro de envases se prohíbe el llenado o el trasvase de gas de una botella a otra. Eso solo se hace en las plantas de llenado autorizadas, con sus básculas y su seguridad. Rellenar bombonas por tu cuenta es sobrellenar, fugar y jugártela; es de lo más peligroso y sancionable que existe.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distancia interior y distancia exterior?</a:t>
            </a:r>
          </a:p>
          <a:p>
            <a:r>
              <a:t>N2: Piénsalo con tu propia parcela. La distancia interior es la que hay entre las bombonas y tus propios edificios, la oficina o el vestuario del centro: es de puertas para dentro, y vale seis, seis y dos metros para primera, segunda y tercera. La distancia exterior es la que hay entre las bombonas y lo que no es tuyo, la finca del vecino o la carretera pública: es de puertas para fuera, y vale veinte, quince y diez metros, medida entre los puntos más próximos. Regla de memoria: la exterior siempre es más grande, porque proteger al que está fuera, que no ha elegido tener gas al lado, pesa más. Y recuerda que estos centros grandes solo se pueden montar en zonas no residenciales.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¿Cuál es siempre mayor, la distancia interior o la exterior?</a:t>
            </a:r>
          </a:p>
          <a:p>
            <a:r>
              <a:t>N2: Este es el Cuadro uno, y solo aplica a los centros grandes, primera, segunda y tercera. La distancia interior es la que separa las bombonas de tus propios edificios; la exterior, la que las separa de lo ajeno, la finca del vecino o la carretera. Lee cada fila emparejando las dos cifras: primera, seis de interior y veinte de exterior; segunda, seis y quince; tercera, dos y diez. Fíjate en que la exterior siempre es mayor, porque proteger al de fuera pesa más. Y no olvides el añadido: si al otro lado hay un colegio, un hospital o una línea de alta tensión, súmale diez metros a la exterior. Ejemplo: un centro de primera junto a un colegio necesita treinta metros de distancia exterior, veinte más diez.</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Combinamos la tabla de distancias con la excepción de los sitios sensibles. Un centro de segunda categoría tiene un instituto justo al otro lado de la valla. ¿Qué distancia exterior mínima le corresponde? Opción A, quince metros. Opción B, veinte metros. Opción C, veinticinco metros. Opción D, diez metros. Piénsalo un momento.</a:t>
            </a:r>
          </a:p>
          <a:p>
            <a:r>
              <a:t>N2: Pista: mira primero lo que dice el Cuadro para la segunda, y no te olvides del recargo por tener enfrente un centro de enseñanza.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veinticinco metros. ¿Por qué? Porque la segunda categoría tiene quince metros de distancia exterior, pero un centro de enseñanza obliga a sumar diez metros más: quince más diez, veinticinco. El truco: primero lees la tabla, y solo después aplicas el más diez si al otro lado hay algo sensible.</a:t>
            </a:r>
          </a:p>
          <a:p>
            <a:r>
              <a:t>N1: Primero la tabla, luego el recargo.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hay que alejarse todavía más del vecino?</a:t>
            </a:r>
          </a:p>
          <a:p>
            <a:r>
              <a:t>N2: Cuando al otro lado de tu valla hay algo especialmente delicado. Si tienes un colegio, un hospital, un hotel, un cuartel, un mercado o cualquier edificio de uso colectivo, o bien una vía de tren, un tranvía o una línea eléctrica aérea de alta tensión, la distancia exterior crece diez metros más. La lógica es de sentido común: donde hay mucha gente junta, o donde hay una fuente de chispa e incendio como la catenaria o la alta tensión, te alejas más. No te aprendas la lista palabra por palabra; quédate con la idea de fondo: mucha gente junta, más líneas eléctricas o férreas, igual a diez metros más.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cierra por fuera un centro grande?</a:t>
            </a:r>
          </a:p>
          <a:p>
            <a:r>
              <a:t>N2: Con un cerramiento que tiene dos calidades distintas, según lo que haya al otro lado. El lado que da a la calle o a donde pasa gente es un muro serio: continuo, resistente al fuego, de dos metros y medio de altura. Los lados interiores o traseros, donde no pasa nadie, pueden ser de malla metálica, más barata, de dos metros. Empareja cada material con su altura: muro dos coma cinco, malla dos. Y no te pierdas dos detalles muy preguntones: el cerramiento va a diez metros como mínimo del almacenamiento de envases llenos, y todos los edificios del centro quedan dentro de él, ninguno fuera.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¿Cuántas alturas de bombonas puedo apilar?</a:t>
            </a:r>
          </a:p>
          <a:p>
            <a:r>
              <a:t>N2: Depende del peso de la botella, y la regla es muy lógica. Las domésticas, esas de hasta quince kilos, la butano naranja de toda la vida, se apilan en jaulas: cuatro alturas si van llenas y seis si van vacías, porque una vacía pesa menos y aguanta más pisos encima. En cambio, las gordas, las de más de quince kilos, van a ras de suelo, una sola altura, tanto llenas como vacías. Truco para el examen: la pequeña sube, la grande no. Las jaulas se colocan de modo que entre la carretilla elevadora, y para moverlas nada de imanes ni de cuerdas o eslingas chapuceras. ¿Por qué tanto cuidado? Porque una jaula que cae es un golpe seco en la válvula, y eso es una fuga garantizada.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¿Cuántas alturas puedo apilar de bombonas domésticas vacías?</a:t>
            </a:r>
          </a:p>
          <a:p>
            <a:r>
              <a:t>N2: Esta tabla te dice hasta dónde puedes apilar las jaulas, y la lógica es el peso. Primera fila, las domésticas de hasta quince kilos, la butano naranja de toda la vida: cuatro alturas si van llenas y seis si van vacías, porque una vacía pesa menos y aguanta más pisos. Segunda fila, las gordas de más de quince kilos: una sola altura, tanto llenas como vacías. Truco para el examen: la pequeña sube, la grande no. Ejemplo de obra: una jaula de bombonas domésticas vacías para devolver puede llegar hasta seis alturas; pero como sean de más de quince kilos, todas al suelo, en una única fila.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qué se apaga un incendio en un centro de primera categoría?</a:t>
            </a:r>
          </a:p>
          <a:p>
            <a:r>
              <a:t>N2: Con agua a presión, y hay tres cifras que van siempre juntas. La red da cinco kilos por centímetro cuadrado de presión, con bocas de incendio equipadas del tipo de ene veinticinco, repartidas a diez metros como mínimo del almacenamiento de envases llenos. Y si no tienes agua de la calle, tu depósito propio y las bombas tienen que aguantar noventa minutos funcionando a esa presión, que es el tiempo para que lleguen y trabajen los bomberos. Retén también el número de bocas: seis en primera categoría, dos en segunda y tercera. La primera, además, lleva alarma de incendios y vigilancia permanente fuera del horario de trabajo. Truco visual: primera categoría, primera línea de defensa, seis bocas y alarma.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memorizar toda la tabla de extintores?</a:t>
            </a:r>
          </a:p>
          <a:p>
            <a:r>
              <a:t>N2: No, tranquilo. Quédate con la lógica y con tres anclas. Primera ancla: cuanto mayor es el centro, más extintores lleva, sin más. Segunda: la tercera categoría es la única que va solo con extintores pequeños, cinco de eficacia veintiuno a, ciento trece b. Tercera: la primera categoría, la más grande, crece por tramos, sumando extintores por cada dieciocho mil setecientos cincuenta kilos que sobrepase. Y una equivalencia que preguntan mucho: puedes cambiar un extintor grande, el de cuarenta y tres a, ciento ochenta y tres b, por el pequeño de veintiuno a, ciento trece b, pero poniendo el doble. Idea sencilla: un extintor grande equivale a dos pequeños. Y un extra: si no hay agua suficiente, la Comunidad Autónoma puede permitir aumentar la dotación de extintores en un cincuenta por ciento en lugar de la red de agua.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categoría es la única que va solo con extintores pequeños?</a:t>
            </a:r>
          </a:p>
          <a:p>
            <a:r>
              <a:t>N2: Este es el Cuadro dos, y no hace falta memorizar cada casilla; quédate con la lógica y tres anclas. Primera ancla: cuanto mayor es el centro, más extintores lleva. Segunda: la primera categoría, la más grande, crece por tramos, sumando extintores por cada dieciocho mil setecientos cincuenta kilos que sobrepase los setenta y cinco mil. Tercera: la tercera categoría es la única que va solo con extintores pequeños, cinco de eficacia veintiuno a, ciento trece b. Y una equivalencia muy preguntada, que ves en las columnas: un extintor de cuarenta y tres a, ciento ochenta y tres b se puede cambiar por los de veintiuno a, ciento trece b, pero poniendo el doble. Ejemplo: donde te pide seis del grande, puedes poner doce del pequeño.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Repasamos la tabla de extintores, el Cuadro dos. Solo una de estas cuatro afirmaciones es verdad. Opción A, la tercera categoría no lleva ningún extintor. Opción B, un extintor de cuarenta y tres a, ciento ochenta y tres b se sustituye por el doble de veintiuno a, ciento trece b. Opción C, la primera categoría siempre lleva exactamente cinco extintores. Opción D, la segunda lleva más extintores que la primera. Elige la correcta.</a:t>
            </a:r>
          </a:p>
          <a:p>
            <a:r>
              <a:t>N2: Pista: fíjate en la equivalencia entre el extintor grande y el pequeño.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un extintor de cuarenta y tres a, ciento ochenta y tres b se sustituye por el doble de veintiuno a, ciento trece b. ¿Por qué? Porque puedes cambiar cada extintor grande por los pequeños, pero poniendo como mínimo el doble. Las otras fallan: la tercera sí lleva extintores, cinco pequeños; la primera no es fija, crece por tramos según los kilos; y la segunda siempre lleva menos que la primera, no más. Idea sencilla: uno grande, dos pequeños.</a:t>
            </a:r>
          </a:p>
          <a:p>
            <a:r>
              <a:t>N1: Uno grande equivale a dos pequeños.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otros detalles cierran el diseño de un centro grande?</a:t>
            </a:r>
          </a:p>
          <a:p>
            <a:r>
              <a:t>N2: Tres, y conviene tenerlos. Uno: el centro va protegido contra las descargas eléctricas atmosféricas, es decir, contra los rayos, y no se permiten transformadores ni aparellaje de alta tensión dentro del recinto. Dos: debe tener comunicación con el exterior, un teléfono o similar, por si pasa algo. Y tres, una pieza que verás una y otra vez en este tema: ningún vehículo con motor entra al recinto si no lleva un aparato cortafuegos adaptado al tubo de escape. Ese cortafuegos es una malla que impide que una chispa o la llama del motor salga al ambiente cargado de gas. Regla sencilla: motor más zona con GLP, igual a cortafuegos obligatorio. Te reaparecerá en el transporte y en la cuarta y quinta categoría del vídeo dos.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cerrar, dame los cinco imprescindibles de este vídeo.</a:t>
            </a:r>
          </a:p>
          <a:p>
            <a:r>
              <a:t>N2: Ahí van, apretados. Uno: la capacidad se calcula multiplicando por cero coma sesenta y cinco y contando los envases vacíos, que también suman. Dos: el almacenamiento es al aire libre, la botella siempre vertical y el trasvase está prohibido. Tres: el recorrido de evacuación no pasa de veinticinco metros. Cuatro: distancias interior seis, seis y dos, y exterior veinte, quince y diez. Y cinco: el cerramiento, muro de dos coma cinco hacia la calle, malla de dos el resto, y diez metros más si al otro lado hay colegio, hospital o alta tensión. Con esas cinco anclas tienes el esqueleto entero del vídeo colgado.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quedo con lo esencial, ¿qué me llevo?</a:t>
            </a:r>
          </a:p>
          <a:p>
            <a:r>
              <a:t>N2: Te llevas cuatro conquistas, y fíjate en cómo se enganchan unas con otras. Una: entras a un centro y lo primero que haces es clasificarlo por kilos y calcular su capacidad, contando llenos y vacíos, porque ya sabes que un vacío nunca lo está del todo. Dos: entiendes la avería que se evita. El GLP pesa más que el aire, así que en un recinto cerrado una fuga se embolsa a ras de suelo y con una chispa explota; de ahí que todo sea al aire libre, vertical y sin trasvase. Tres: colocas las distancias interior seis, seis y dos, y exterior veinte, quince y diez, casi con los ojos cerrados. Y cuatro: reconoces de un vistazo el cerramiento, el apilado en jaulas y los medios contra incendios.</a:t>
            </a:r>
          </a:p>
          <a:p>
            <a:r>
              <a:t>N1: ¿Y cómo cae todo esto en el examen y en la obra?</a:t>
            </a:r>
          </a:p>
          <a:p>
            <a:r>
              <a:t>N2: En el examen te lo preguntan cruzado: te dan unos kilos y te piden la categoría, o te ponen un colegio pegado a la valla y esperan que sumes esos diez metros de más. En la obra, esas mismas cifras deciden si el proyecto se sostiene o se cae en la inspección. Hoy ya eres más gasista que ayer. En el siguiente vídeo rematamos la ITC cero dos con lo que más vas a pisar en la calle: la gasolinera, la tienda de barrio y el transporte de bombonas, incluido el de tu propio coche.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Centros de envases de GLP (I)</a:t>
            </a:r>
          </a:p>
          <a:p>
            <a:r>
              <a:rPr sz="2200" b="0" i="0">
                <a:solidFill>
                  <a:srgbClr val="CADCFC"/>
                </a:solidFill>
                <a:latin typeface="Montserrat"/>
              </a:rPr>
              <a:t>Clasificación, cálculo de capacidad y diseño general</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02 · Reglamento · ITC-ICG 02/03/04</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categorías por kilos de GLP</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0,65</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coeficiente de la fórmula de capacidad</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25 m</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recorrido máximo hasta la salida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a:p>
            <a:pPr>
              <a:spcAft>
                <a:spcPts val="900"/>
              </a:spcAft>
            </a:pPr>
            <a:r>
              <a:rPr sz="1800" b="1" i="0">
                <a:solidFill>
                  <a:srgbClr val="E8801A"/>
                </a:solidFill>
                <a:latin typeface="Montserrat"/>
              </a:rPr>
              <a:t>03   </a:t>
            </a:r>
            <a:r>
              <a:rPr sz="1700" b="0" i="0">
                <a:solidFill>
                  <a:srgbClr val="1B2330"/>
                </a:solidFill>
                <a:latin typeface="Montserrat"/>
              </a:rPr>
              <a:t>Apartado 3.1</a:t>
            </a:r>
          </a:p>
          <a:p>
            <a:pPr>
              <a:spcAft>
                <a:spcPts val="900"/>
              </a:spcAft>
            </a:pPr>
            <a:r>
              <a:rPr sz="1800" b="1" i="0">
                <a:solidFill>
                  <a:srgbClr val="E8801A"/>
                </a:solidFill>
                <a:latin typeface="Montserrat"/>
              </a:rPr>
              <a:t>04   </a:t>
            </a:r>
            <a:r>
              <a:rPr sz="1700" b="0" i="0">
                <a:solidFill>
                  <a:srgbClr val="1B2330"/>
                </a:solidFill>
                <a:latin typeface="Montserrat"/>
              </a:rPr>
              <a:t>Apartado 3.2</a:t>
            </a:r>
          </a:p>
          <a:p>
            <a:pPr>
              <a:spcAft>
                <a:spcPts val="900"/>
              </a:spcAft>
            </a:pPr>
            <a:r>
              <a:rPr sz="1800" b="1" i="0">
                <a:solidFill>
                  <a:srgbClr val="E8801A"/>
                </a:solidFill>
                <a:latin typeface="Montserrat"/>
              </a:rPr>
              <a:t>05   </a:t>
            </a:r>
            <a:r>
              <a:rPr sz="1700" b="0" i="0">
                <a:solidFill>
                  <a:srgbClr val="1B2330"/>
                </a:solidFill>
                <a:latin typeface="Montserrat"/>
              </a:rPr>
              <a:t>Repaso relámpago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qué manda esta ITC?</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Requisitos técnicos y seguridad mínima</a:t>
            </a:r>
          </a:p>
          <a:p>
            <a:pPr>
              <a:spcAft>
                <a:spcPts val="1100"/>
              </a:spcAft>
            </a:pPr>
            <a:r>
              <a:rPr sz="1600" b="1" i="0">
                <a:solidFill>
                  <a:srgbClr val="E8801A"/>
                </a:solidFill>
                <a:latin typeface="Montserrat"/>
              </a:rPr>
              <a:t>▸  </a:t>
            </a:r>
            <a:r>
              <a:rPr sz="1600" b="0" i="0">
                <a:solidFill>
                  <a:srgbClr val="1B2330"/>
                </a:solidFill>
                <a:latin typeface="Montserrat"/>
              </a:rPr>
              <a:t>Proyectar · construir · explotar</a:t>
            </a:r>
          </a:p>
          <a:p>
            <a:pPr>
              <a:spcAft>
                <a:spcPts val="1100"/>
              </a:spcAft>
            </a:pPr>
            <a:r>
              <a:rPr sz="1600" b="1" i="0">
                <a:solidFill>
                  <a:srgbClr val="E8801A"/>
                </a:solidFill>
                <a:latin typeface="Montserrat"/>
              </a:rPr>
              <a:t>▸  </a:t>
            </a:r>
            <a:r>
              <a:rPr sz="1600" b="0" i="0">
                <a:solidFill>
                  <a:srgbClr val="1B2330"/>
                </a:solidFill>
                <a:latin typeface="Montserrat"/>
              </a:rPr>
              <a:t>Centros de GLP envasado</a:t>
            </a:r>
          </a:p>
          <a:p>
            <a:pPr>
              <a:spcAft>
                <a:spcPts val="1100"/>
              </a:spcAft>
            </a:pPr>
            <a:r>
              <a:rPr sz="1600" b="1" i="0">
                <a:solidFill>
                  <a:srgbClr val="E8801A"/>
                </a:solidFill>
                <a:latin typeface="Montserrat"/>
              </a:rPr>
              <a:t>▸  </a:t>
            </a:r>
            <a:r>
              <a:rPr sz="1600" b="0" i="0">
                <a:solidFill>
                  <a:srgbClr val="1B2330"/>
                </a:solidFill>
                <a:latin typeface="Montserrat"/>
              </a:rPr>
              <a:t>Butano y propano en bombonas</a:t>
            </a:r>
          </a:p>
        </p:txBody>
      </p:sp>
      <p:sp>
        <p:nvSpPr>
          <p:cNvPr id="9" name="imgph" descr="IMGQ:gas cylinders storage warehous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cylinders storage warehouse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MODIFICACIÓN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Cuándo se toca un centro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Modificar = ampliar y cambiar de categoría</a:t>
            </a:r>
          </a:p>
          <a:p>
            <a:pPr>
              <a:spcAft>
                <a:spcPts val="1100"/>
              </a:spcAft>
            </a:pPr>
            <a:r>
              <a:rPr sz="1600" b="1" i="0">
                <a:solidFill>
                  <a:srgbClr val="E8801A"/>
                </a:solidFill>
                <a:latin typeface="Montserrat"/>
              </a:rPr>
              <a:t>▸  </a:t>
            </a:r>
            <a:r>
              <a:rPr sz="1600" b="0" i="0">
                <a:solidFill>
                  <a:srgbClr val="1B2330"/>
                </a:solidFill>
                <a:latin typeface="Montserrat"/>
              </a:rPr>
              <a:t>Más bombonas sin saltar: no cuenta</a:t>
            </a:r>
          </a:p>
          <a:p>
            <a:pPr>
              <a:spcAft>
                <a:spcPts val="1100"/>
              </a:spcAft>
            </a:pPr>
            <a:r>
              <a:rPr sz="1600" b="1" i="0">
                <a:solidFill>
                  <a:srgbClr val="E8801A"/>
                </a:solidFill>
                <a:latin typeface="Montserrat"/>
              </a:rPr>
              <a:t>▸  </a:t>
            </a:r>
            <a:r>
              <a:rPr sz="1600" b="0" i="0">
                <a:solidFill>
                  <a:srgbClr val="1B2330"/>
                </a:solidFill>
                <a:latin typeface="Montserrat"/>
              </a:rPr>
              <a:t>Cruzar el umbral de kilos: sí cuenta</a:t>
            </a:r>
          </a:p>
        </p:txBody>
      </p:sp>
      <p:sp>
        <p:nvSpPr>
          <p:cNvPr id="9" name="imgph" descr="IMGQ:warehouse worker clipboard inventor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warehouse worker clipboard inventory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CLASIFICACIÓN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cinco categorías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1.ª: hasta 250.000 kg</a:t>
            </a:r>
          </a:p>
          <a:p>
            <a:pPr>
              <a:spcAft>
                <a:spcPts val="1100"/>
              </a:spcAft>
            </a:pPr>
            <a:r>
              <a:rPr sz="1600" b="1" i="0">
                <a:solidFill>
                  <a:srgbClr val="E8801A"/>
                </a:solidFill>
                <a:latin typeface="Montserrat"/>
              </a:rPr>
              <a:t>▸  </a:t>
            </a:r>
            <a:r>
              <a:rPr sz="1600" b="0" i="0">
                <a:solidFill>
                  <a:srgbClr val="1B2330"/>
                </a:solidFill>
                <a:latin typeface="Montserrat"/>
              </a:rPr>
              <a:t>2.ª: hasta 25.000 kg</a:t>
            </a:r>
          </a:p>
          <a:p>
            <a:pPr>
              <a:spcAft>
                <a:spcPts val="1100"/>
              </a:spcAft>
            </a:pPr>
            <a:r>
              <a:rPr sz="1600" b="1" i="0">
                <a:solidFill>
                  <a:srgbClr val="E8801A"/>
                </a:solidFill>
                <a:latin typeface="Montserrat"/>
              </a:rPr>
              <a:t>▸  </a:t>
            </a:r>
            <a:r>
              <a:rPr sz="1600" b="0" i="0">
                <a:solidFill>
                  <a:srgbClr val="1B2330"/>
                </a:solidFill>
                <a:latin typeface="Montserrat"/>
              </a:rPr>
              <a:t>3.ª: hasta 12.500 kg</a:t>
            </a:r>
          </a:p>
          <a:p>
            <a:pPr>
              <a:spcAft>
                <a:spcPts val="1100"/>
              </a:spcAft>
            </a:pPr>
            <a:r>
              <a:rPr sz="1600" b="1" i="0">
                <a:solidFill>
                  <a:srgbClr val="E8801A"/>
                </a:solidFill>
                <a:latin typeface="Montserrat"/>
              </a:rPr>
              <a:t>▸  </a:t>
            </a:r>
            <a:r>
              <a:rPr sz="1600" b="0" i="0">
                <a:solidFill>
                  <a:srgbClr val="1B2330"/>
                </a:solidFill>
                <a:latin typeface="Montserrat"/>
              </a:rPr>
              <a:t>4.ª: hasta 1.000 kg</a:t>
            </a:r>
          </a:p>
          <a:p>
            <a:pPr>
              <a:spcAft>
                <a:spcPts val="1100"/>
              </a:spcAft>
            </a:pPr>
            <a:r>
              <a:rPr sz="1600" b="1" i="0">
                <a:solidFill>
                  <a:srgbClr val="E8801A"/>
                </a:solidFill>
                <a:latin typeface="Montserrat"/>
              </a:rPr>
              <a:t>▸  </a:t>
            </a:r>
            <a:r>
              <a:rPr sz="1600" b="0" i="0">
                <a:solidFill>
                  <a:srgbClr val="1B2330"/>
                </a:solidFill>
                <a:latin typeface="Montserrat"/>
              </a:rPr>
              <a:t>5.ª: hasta 500 kg</a:t>
            </a:r>
          </a:p>
        </p:txBody>
      </p:sp>
      <p:sp>
        <p:nvSpPr>
          <p:cNvPr id="9" name="imgph" descr="IMGQ:propane cylinders rows outdoor depo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propane cylinders rows outdoor depot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2 · CLASIFICACIÓN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Las cinco categorías por kilos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670560">
                <a:tc>
                  <a:txBody>
                    <a:bodyPr/>
                    <a:lstStyle/>
                    <a:p>
                      <a:r>
                        <a:rPr sz="1200" b="1" i="0">
                          <a:solidFill>
                            <a:srgbClr val="FFFFFF"/>
                          </a:solidFill>
                          <a:latin typeface="Montserrat"/>
                        </a:rPr>
                        <a:t>Categoría</a:t>
                      </a:r>
                    </a:p>
                  </a:txBody>
                  <a:tcPr>
                    <a:solidFill>
                      <a:srgbClr val="1E2761"/>
                    </a:solidFill>
                  </a:tcPr>
                </a:tc>
                <a:tc>
                  <a:txBody>
                    <a:bodyPr/>
                    <a:lstStyle/>
                    <a:p>
                      <a:r>
                        <a:rPr sz="1200" b="1" i="0">
                          <a:solidFill>
                            <a:srgbClr val="FFFFFF"/>
                          </a:solidFill>
                          <a:latin typeface="Montserrat"/>
                        </a:rPr>
                        <a:t>Capacidad nominal de contenido total</a:t>
                      </a:r>
                    </a:p>
                  </a:txBody>
                  <a:tcPr>
                    <a:solidFill>
                      <a:srgbClr val="1E2761"/>
                    </a:solidFill>
                  </a:tcPr>
                </a:tc>
              </a:tr>
              <a:tr h="670560">
                <a:tc>
                  <a:txBody>
                    <a:bodyPr/>
                    <a:lstStyle/>
                    <a:p>
                      <a:r>
                        <a:rPr sz="1200" b="0" i="0">
                          <a:solidFill>
                            <a:srgbClr val="1B2330"/>
                          </a:solidFill>
                          <a:latin typeface="Montserrat"/>
                        </a:rPr>
                        <a:t>1.ª</a:t>
                      </a:r>
                    </a:p>
                  </a:txBody>
                  <a:tcPr>
                    <a:solidFill>
                      <a:srgbClr val="F6F8FC"/>
                    </a:solidFill>
                  </a:tcPr>
                </a:tc>
                <a:tc>
                  <a:txBody>
                    <a:bodyPr/>
                    <a:lstStyle/>
                    <a:p>
                      <a:r>
                        <a:rPr sz="1200" b="0" i="0">
                          <a:solidFill>
                            <a:srgbClr val="1B2330"/>
                          </a:solidFill>
                          <a:latin typeface="Montserrat"/>
                        </a:rPr>
                        <a:t>desde 25.001 kg hasta 250.000 kg</a:t>
                      </a:r>
                    </a:p>
                  </a:txBody>
                  <a:tcPr>
                    <a:solidFill>
                      <a:srgbClr val="F6F8FC"/>
                    </a:solidFill>
                  </a:tcPr>
                </a:tc>
              </a:tr>
              <a:tr h="670560">
                <a:tc>
                  <a:txBody>
                    <a:bodyPr/>
                    <a:lstStyle/>
                    <a:p>
                      <a:r>
                        <a:rPr sz="1200" b="0" i="0">
                          <a:solidFill>
                            <a:srgbClr val="1B2330"/>
                          </a:solidFill>
                          <a:latin typeface="Montserrat"/>
                        </a:rPr>
                        <a:t>2.ª</a:t>
                      </a:r>
                    </a:p>
                  </a:txBody>
                  <a:tcPr>
                    <a:solidFill>
                      <a:srgbClr val="FFFFFF"/>
                    </a:solidFill>
                  </a:tcPr>
                </a:tc>
                <a:tc>
                  <a:txBody>
                    <a:bodyPr/>
                    <a:lstStyle/>
                    <a:p>
                      <a:r>
                        <a:rPr sz="1200" b="0" i="0">
                          <a:solidFill>
                            <a:srgbClr val="1B2330"/>
                          </a:solidFill>
                          <a:latin typeface="Montserrat"/>
                        </a:rPr>
                        <a:t>desde 12.501 kg hasta 25.000 kg</a:t>
                      </a:r>
                    </a:p>
                  </a:txBody>
                  <a:tcPr>
                    <a:solidFill>
                      <a:srgbClr val="FFFFFF"/>
                    </a:solidFill>
                  </a:tcPr>
                </a:tc>
              </a:tr>
              <a:tr h="670560">
                <a:tc>
                  <a:txBody>
                    <a:bodyPr/>
                    <a:lstStyle/>
                    <a:p>
                      <a:r>
                        <a:rPr sz="1200" b="0" i="0">
                          <a:solidFill>
                            <a:srgbClr val="1B2330"/>
                          </a:solidFill>
                          <a:latin typeface="Montserrat"/>
                        </a:rPr>
                        <a:t>3.ª</a:t>
                      </a:r>
                    </a:p>
                  </a:txBody>
                  <a:tcPr>
                    <a:solidFill>
                      <a:srgbClr val="F6F8FC"/>
                    </a:solidFill>
                  </a:tcPr>
                </a:tc>
                <a:tc>
                  <a:txBody>
                    <a:bodyPr/>
                    <a:lstStyle/>
                    <a:p>
                      <a:r>
                        <a:rPr sz="1200" b="0" i="0">
                          <a:solidFill>
                            <a:srgbClr val="1B2330"/>
                          </a:solidFill>
                          <a:latin typeface="Montserrat"/>
                        </a:rPr>
                        <a:t>desde 1.001 kg hasta 12.500 kg</a:t>
                      </a:r>
                    </a:p>
                  </a:txBody>
                  <a:tcPr>
                    <a:solidFill>
                      <a:srgbClr val="F6F8FC"/>
                    </a:solidFill>
                  </a:tcPr>
                </a:tc>
              </a:tr>
              <a:tr h="670560">
                <a:tc>
                  <a:txBody>
                    <a:bodyPr/>
                    <a:lstStyle/>
                    <a:p>
                      <a:r>
                        <a:rPr sz="1200" b="0" i="0">
                          <a:solidFill>
                            <a:srgbClr val="1B2330"/>
                          </a:solidFill>
                          <a:latin typeface="Montserrat"/>
                        </a:rPr>
                        <a:t>4.ª</a:t>
                      </a:r>
                    </a:p>
                  </a:txBody>
                  <a:tcPr>
                    <a:solidFill>
                      <a:srgbClr val="FFFFFF"/>
                    </a:solidFill>
                  </a:tcPr>
                </a:tc>
                <a:tc>
                  <a:txBody>
                    <a:bodyPr/>
                    <a:lstStyle/>
                    <a:p>
                      <a:r>
                        <a:rPr sz="1200" b="0" i="0">
                          <a:solidFill>
                            <a:srgbClr val="1B2330"/>
                          </a:solidFill>
                          <a:latin typeface="Montserrat"/>
                        </a:rPr>
                        <a:t>desde 501 kg hasta 1.000 kg</a:t>
                      </a:r>
                    </a:p>
                  </a:txBody>
                  <a:tcPr>
                    <a:solidFill>
                      <a:srgbClr val="FFFFFF"/>
                    </a:solidFill>
                  </a:tcPr>
                </a:tc>
              </a:tr>
              <a:tr h="670560">
                <a:tc>
                  <a:txBody>
                    <a:bodyPr/>
                    <a:lstStyle/>
                    <a:p>
                      <a:r>
                        <a:rPr sz="1200" b="0" i="0">
                          <a:solidFill>
                            <a:srgbClr val="1B2330"/>
                          </a:solidFill>
                          <a:latin typeface="Montserrat"/>
                        </a:rPr>
                        <a:t>5.ª</a:t>
                      </a:r>
                    </a:p>
                  </a:txBody>
                  <a:tcPr>
                    <a:solidFill>
                      <a:srgbClr val="F6F8FC"/>
                    </a:solidFill>
                  </a:tcPr>
                </a:tc>
                <a:tc>
                  <a:txBody>
                    <a:bodyPr/>
                    <a:lstStyle/>
                    <a:p>
                      <a:r>
                        <a:rPr sz="1200" b="0" i="0">
                          <a:solidFill>
                            <a:srgbClr val="1B2330"/>
                          </a:solidFill>
                          <a:latin typeface="Montserrat"/>
                        </a:rPr>
                        <a:t>hasta 500 kg, en estaciones de servicio o locales comerciales</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La categoría depende solo de los kilos de GLP: la 1.ª es la mayor y la 5.ª la menor.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CÁLCULO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Ct = Cn × N × 0,65</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Cn: capacidad nominal del envase</a:t>
            </a:r>
          </a:p>
          <a:p>
            <a:pPr>
              <a:spcAft>
                <a:spcPts val="1100"/>
              </a:spcAft>
            </a:pPr>
            <a:r>
              <a:rPr sz="1600" b="1" i="0">
                <a:solidFill>
                  <a:srgbClr val="E8801A"/>
                </a:solidFill>
                <a:latin typeface="Montserrat"/>
              </a:rPr>
              <a:t>▸  </a:t>
            </a:r>
            <a:r>
              <a:rPr sz="1600" b="0" i="0">
                <a:solidFill>
                  <a:srgbClr val="1B2330"/>
                </a:solidFill>
                <a:latin typeface="Montserrat"/>
              </a:rPr>
              <a:t>N: envases llenos Y vacíos</a:t>
            </a:r>
          </a:p>
          <a:p>
            <a:pPr>
              <a:spcAft>
                <a:spcPts val="1100"/>
              </a:spcAft>
            </a:pPr>
            <a:r>
              <a:rPr sz="1600" b="1" i="0">
                <a:solidFill>
                  <a:srgbClr val="E8801A"/>
                </a:solidFill>
                <a:latin typeface="Montserrat"/>
              </a:rPr>
              <a:t>▸  </a:t>
            </a:r>
            <a:r>
              <a:rPr sz="1600" b="0" i="0">
                <a:solidFill>
                  <a:srgbClr val="1B2330"/>
                </a:solidFill>
                <a:latin typeface="Montserrat"/>
              </a:rPr>
              <a:t>× 0,65: margen de seguridad</a:t>
            </a:r>
          </a:p>
          <a:p>
            <a:pPr>
              <a:spcAft>
                <a:spcPts val="1100"/>
              </a:spcAft>
            </a:pPr>
            <a:r>
              <a:rPr sz="1600" b="1" i="0">
                <a:solidFill>
                  <a:srgbClr val="E8801A"/>
                </a:solidFill>
                <a:latin typeface="Montserrat"/>
              </a:rPr>
              <a:t>▸  </a:t>
            </a:r>
            <a:r>
              <a:rPr sz="1600" b="0" i="0">
                <a:solidFill>
                  <a:srgbClr val="1B2330"/>
                </a:solidFill>
                <a:latin typeface="Montserrat"/>
              </a:rPr>
              <a:t>Total = suma de parciales</a:t>
            </a:r>
          </a:p>
        </p:txBody>
      </p:sp>
      <p:sp>
        <p:nvSpPr>
          <p:cNvPr id="9" name="imgph" descr="IMGQ:empty gas cylinders warehouse row"/>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empty gas cylinders warehouse row</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la fórmula Ct = Cn × N × 0,65, ¿qué envases se cuentan en 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Solo los envases llenos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Solo los envases vacíos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Los llenos y los vacíos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Únicamente los de más de 15 kg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la fórmula Ct = Cn × N × 0,65, ¿qué envases se cuentan en 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Los llenos y los vacíos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Un envase vacío nunca lo está del todo: siempre le queda algo de gas, así que también suma en el recuento.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DISEÑO GENERAL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Siempre al aire libre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Almacenamiento al aire libre</a:t>
            </a:r>
          </a:p>
          <a:p>
            <a:pPr>
              <a:spcAft>
                <a:spcPts val="1100"/>
              </a:spcAft>
            </a:pPr>
            <a:r>
              <a:rPr sz="1600" b="1" i="0">
                <a:solidFill>
                  <a:srgbClr val="E8801A"/>
                </a:solidFill>
                <a:latin typeface="Montserrat"/>
              </a:rPr>
              <a:t>▸  </a:t>
            </a:r>
            <a:r>
              <a:rPr sz="1600" b="0" i="0">
                <a:solidFill>
                  <a:srgbClr val="1B2330"/>
                </a:solidFill>
                <a:latin typeface="Montserrat"/>
              </a:rPr>
              <a:t>A lo sumo, cubierta ligera</a:t>
            </a:r>
          </a:p>
          <a:p>
            <a:pPr>
              <a:spcAft>
                <a:spcPts val="1100"/>
              </a:spcAft>
            </a:pPr>
            <a:r>
              <a:rPr sz="1600" b="1" i="0">
                <a:solidFill>
                  <a:srgbClr val="E8801A"/>
                </a:solidFill>
                <a:latin typeface="Montserrat"/>
              </a:rPr>
              <a:t>▸  </a:t>
            </a:r>
            <a:r>
              <a:rPr sz="1600" b="0" i="0">
                <a:solidFill>
                  <a:srgbClr val="1B2330"/>
                </a:solidFill>
                <a:latin typeface="Montserrat"/>
              </a:rPr>
              <a:t>Una sola planta, no subterránea</a:t>
            </a:r>
          </a:p>
          <a:p>
            <a:pPr>
              <a:spcAft>
                <a:spcPts val="1100"/>
              </a:spcAft>
            </a:pPr>
            <a:r>
              <a:rPr sz="1600" b="1" i="0">
                <a:solidFill>
                  <a:srgbClr val="E8801A"/>
                </a:solidFill>
                <a:latin typeface="Montserrat"/>
              </a:rPr>
              <a:t>▸  </a:t>
            </a:r>
            <a:r>
              <a:rPr sz="1600" b="0" i="0">
                <a:solidFill>
                  <a:srgbClr val="1B2330"/>
                </a:solidFill>
                <a:latin typeface="Montserrat"/>
              </a:rPr>
              <a:t>Llenos separados de vacíos</a:t>
            </a:r>
          </a:p>
        </p:txBody>
      </p:sp>
      <p:sp>
        <p:nvSpPr>
          <p:cNvPr id="9" name="imgph" descr="IMGQ:outdoor gas cylinder cage storage y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outdoor gas cylinder cage storage yard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DISEÑO GENERAL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Evacuación y colocación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Recorrido a salida ≤ 25 m</a:t>
            </a:r>
          </a:p>
          <a:p>
            <a:pPr>
              <a:spcAft>
                <a:spcPts val="1100"/>
              </a:spcAft>
            </a:pPr>
            <a:r>
              <a:rPr sz="1600" b="1" i="0">
                <a:solidFill>
                  <a:srgbClr val="E8801A"/>
                </a:solidFill>
                <a:latin typeface="Montserrat"/>
              </a:rPr>
              <a:t>▸  </a:t>
            </a:r>
            <a:r>
              <a:rPr sz="1600" b="0" i="0">
                <a:solidFill>
                  <a:srgbClr val="1B2330"/>
                </a:solidFill>
                <a:latin typeface="Montserrat"/>
              </a:rPr>
              <a:t>Excepción: 25 m² o menos de 6 m</a:t>
            </a:r>
          </a:p>
          <a:p>
            <a:pPr>
              <a:spcAft>
                <a:spcPts val="1100"/>
              </a:spcAft>
            </a:pPr>
            <a:r>
              <a:rPr sz="1600" b="1" i="0">
                <a:solidFill>
                  <a:srgbClr val="E8801A"/>
                </a:solidFill>
                <a:latin typeface="Montserrat"/>
              </a:rPr>
              <a:t>▸  </a:t>
            </a:r>
            <a:r>
              <a:rPr sz="1600" b="0" i="0">
                <a:solidFill>
                  <a:srgbClr val="1B2330"/>
                </a:solidFill>
                <a:latin typeface="Montserrat"/>
              </a:rPr>
              <a:t>Envases llenos: siempre verticales</a:t>
            </a:r>
          </a:p>
          <a:p>
            <a:pPr>
              <a:spcAft>
                <a:spcPts val="1100"/>
              </a:spcAft>
            </a:pPr>
            <a:r>
              <a:rPr sz="1600" b="1" i="0">
                <a:solidFill>
                  <a:srgbClr val="E8801A"/>
                </a:solidFill>
                <a:latin typeface="Montserrat"/>
              </a:rPr>
              <a:t>▸  </a:t>
            </a:r>
            <a:r>
              <a:rPr sz="1600" b="0" i="0">
                <a:solidFill>
                  <a:srgbClr val="1B2330"/>
                </a:solidFill>
                <a:latin typeface="Montserrat"/>
              </a:rPr>
              <a:t>En jaulas si van en varias alturas</a:t>
            </a:r>
          </a:p>
        </p:txBody>
      </p:sp>
      <p:sp>
        <p:nvSpPr>
          <p:cNvPr id="9" name="imgph" descr="IMGQ:emergency exit sign warehou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emergency exit sign warehouse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PROHIBICIONES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Fuego y trasvase, prohibidos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Sin llamas ni fuentes de calor</a:t>
            </a:r>
          </a:p>
          <a:p>
            <a:pPr>
              <a:spcAft>
                <a:spcPts val="1100"/>
              </a:spcAft>
            </a:pPr>
            <a:r>
              <a:rPr sz="1600" b="1" i="0">
                <a:solidFill>
                  <a:srgbClr val="E8801A"/>
                </a:solidFill>
                <a:latin typeface="Montserrat"/>
              </a:rPr>
              <a:t>▸  </a:t>
            </a:r>
            <a:r>
              <a:rPr sz="1600" b="0" i="0">
                <a:solidFill>
                  <a:srgbClr val="1B2330"/>
                </a:solidFill>
                <a:latin typeface="Montserrat"/>
              </a:rPr>
              <a:t>Cartel: prohibido fumar y encender</a:t>
            </a:r>
          </a:p>
          <a:p>
            <a:pPr>
              <a:spcAft>
                <a:spcPts val="1100"/>
              </a:spcAft>
            </a:pPr>
            <a:r>
              <a:rPr sz="1600" b="1" i="0">
                <a:solidFill>
                  <a:srgbClr val="E8801A"/>
                </a:solidFill>
                <a:latin typeface="Montserrat"/>
              </a:rPr>
              <a:t>▸  </a:t>
            </a:r>
            <a:r>
              <a:rPr sz="1600" b="0" i="0">
                <a:solidFill>
                  <a:srgbClr val="1B2330"/>
                </a:solidFill>
                <a:latin typeface="Montserrat"/>
              </a:rPr>
              <a:t>Mechero y cerillas, en la puerta</a:t>
            </a:r>
          </a:p>
          <a:p>
            <a:pPr>
              <a:spcAft>
                <a:spcPts val="1100"/>
              </a:spcAft>
            </a:pPr>
            <a:r>
              <a:rPr sz="1600" b="1" i="0">
                <a:solidFill>
                  <a:srgbClr val="E8801A"/>
                </a:solidFill>
                <a:latin typeface="Montserrat"/>
              </a:rPr>
              <a:t>▸  </a:t>
            </a:r>
            <a:r>
              <a:rPr sz="1600" b="0" i="0">
                <a:solidFill>
                  <a:srgbClr val="1B2330"/>
                </a:solidFill>
                <a:latin typeface="Montserrat"/>
              </a:rPr>
              <a:t>Prohibido rellenar o trasvasar</a:t>
            </a:r>
          </a:p>
        </p:txBody>
      </p:sp>
      <p:sp>
        <p:nvSpPr>
          <p:cNvPr id="9" name="imgph" descr="IMGQ:no smoking sign industrial ga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no smoking sign industrial gas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1.ª, 2.ª Y 3.ª</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Distancias de seguridad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en zonas no residenciales</a:t>
            </a:r>
          </a:p>
          <a:p>
            <a:pPr>
              <a:spcAft>
                <a:spcPts val="1100"/>
              </a:spcAft>
            </a:pPr>
            <a:r>
              <a:rPr sz="1600" b="1" i="0">
                <a:solidFill>
                  <a:srgbClr val="E8801A"/>
                </a:solidFill>
                <a:latin typeface="Montserrat"/>
              </a:rPr>
              <a:t>▸  </a:t>
            </a:r>
            <a:r>
              <a:rPr sz="1600" b="0" i="0">
                <a:solidFill>
                  <a:srgbClr val="1B2330"/>
                </a:solidFill>
                <a:latin typeface="Montserrat"/>
              </a:rPr>
              <a:t>Interior: 6 · 6 · 2 m</a:t>
            </a:r>
          </a:p>
          <a:p>
            <a:pPr>
              <a:spcAft>
                <a:spcPts val="1100"/>
              </a:spcAft>
            </a:pPr>
            <a:r>
              <a:rPr sz="1600" b="1" i="0">
                <a:solidFill>
                  <a:srgbClr val="E8801A"/>
                </a:solidFill>
                <a:latin typeface="Montserrat"/>
              </a:rPr>
              <a:t>▸  </a:t>
            </a:r>
            <a:r>
              <a:rPr sz="1600" b="0" i="0">
                <a:solidFill>
                  <a:srgbClr val="1B2330"/>
                </a:solidFill>
                <a:latin typeface="Montserrat"/>
              </a:rPr>
              <a:t>Exterior: 20 · 15 · 10 m</a:t>
            </a:r>
          </a:p>
          <a:p>
            <a:pPr>
              <a:spcAft>
                <a:spcPts val="1100"/>
              </a:spcAft>
            </a:pPr>
            <a:r>
              <a:rPr sz="1600" b="1" i="0">
                <a:solidFill>
                  <a:srgbClr val="E8801A"/>
                </a:solidFill>
                <a:latin typeface="Montserrat"/>
              </a:rPr>
              <a:t>▸  </a:t>
            </a:r>
            <a:r>
              <a:rPr sz="1600" b="0" i="0">
                <a:solidFill>
                  <a:srgbClr val="1B2330"/>
                </a:solidFill>
                <a:latin typeface="Montserrat"/>
              </a:rPr>
              <a:t>La exterior siempre es mayor</a:t>
            </a:r>
          </a:p>
        </p:txBody>
      </p:sp>
      <p:sp>
        <p:nvSpPr>
          <p:cNvPr id="9" name="imgph" descr="IMGQ:industrial fence perimeter storag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fence perimeter storage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3.2 · DISTANCIAS (CUADRO I)</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Distancias mínimas de seguridad</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1005840">
                <a:tc>
                  <a:txBody>
                    <a:bodyPr/>
                    <a:lstStyle/>
                    <a:p>
                      <a:r>
                        <a:rPr sz="1200" b="1" i="0">
                          <a:solidFill>
                            <a:srgbClr val="FFFFFF"/>
                          </a:solidFill>
                          <a:latin typeface="Montserrat"/>
                        </a:rPr>
                        <a:t>Categoría</a:t>
                      </a:r>
                    </a:p>
                  </a:txBody>
                  <a:tcPr>
                    <a:solidFill>
                      <a:srgbClr val="1E2761"/>
                    </a:solidFill>
                  </a:tcPr>
                </a:tc>
                <a:tc>
                  <a:txBody>
                    <a:bodyPr/>
                    <a:lstStyle/>
                    <a:p>
                      <a:r>
                        <a:rPr sz="1200" b="1" i="0">
                          <a:solidFill>
                            <a:srgbClr val="FFFFFF"/>
                          </a:solidFill>
                          <a:latin typeface="Montserrat"/>
                        </a:rPr>
                        <a:t>Distancia interior (m)</a:t>
                      </a:r>
                    </a:p>
                  </a:txBody>
                  <a:tcPr>
                    <a:solidFill>
                      <a:srgbClr val="1E2761"/>
                    </a:solidFill>
                  </a:tcPr>
                </a:tc>
                <a:tc>
                  <a:txBody>
                    <a:bodyPr/>
                    <a:lstStyle/>
                    <a:p>
                      <a:r>
                        <a:rPr sz="1200" b="1" i="0">
                          <a:solidFill>
                            <a:srgbClr val="FFFFFF"/>
                          </a:solidFill>
                          <a:latin typeface="Montserrat"/>
                        </a:rPr>
                        <a:t>Distancia exterior (m)</a:t>
                      </a:r>
                    </a:p>
                  </a:txBody>
                  <a:tcPr>
                    <a:solidFill>
                      <a:srgbClr val="1E2761"/>
                    </a:solidFill>
                  </a:tcPr>
                </a:tc>
              </a:tr>
              <a:tr h="1005840">
                <a:tc>
                  <a:txBody>
                    <a:bodyPr/>
                    <a:lstStyle/>
                    <a:p>
                      <a:r>
                        <a:rPr sz="1200" b="0" i="0">
                          <a:solidFill>
                            <a:srgbClr val="1B2330"/>
                          </a:solidFill>
                          <a:latin typeface="Montserrat"/>
                        </a:rPr>
                        <a:t>1.ª</a:t>
                      </a:r>
                    </a:p>
                  </a:txBody>
                  <a:tcPr>
                    <a:solidFill>
                      <a:srgbClr val="F6F8FC"/>
                    </a:solidFill>
                  </a:tcPr>
                </a:tc>
                <a:tc>
                  <a:txBody>
                    <a:bodyPr/>
                    <a:lstStyle/>
                    <a:p>
                      <a:r>
                        <a:rPr sz="1200" b="0" i="0">
                          <a:solidFill>
                            <a:srgbClr val="1B2330"/>
                          </a:solidFill>
                          <a:latin typeface="Montserrat"/>
                        </a:rPr>
                        <a:t>6</a:t>
                      </a:r>
                    </a:p>
                  </a:txBody>
                  <a:tcPr>
                    <a:solidFill>
                      <a:srgbClr val="F6F8FC"/>
                    </a:solidFill>
                  </a:tcPr>
                </a:tc>
                <a:tc>
                  <a:txBody>
                    <a:bodyPr/>
                    <a:lstStyle/>
                    <a:p>
                      <a:r>
                        <a:rPr sz="1200" b="0" i="0">
                          <a:solidFill>
                            <a:srgbClr val="1B2330"/>
                          </a:solidFill>
                          <a:latin typeface="Montserrat"/>
                        </a:rPr>
                        <a:t>20</a:t>
                      </a:r>
                    </a:p>
                  </a:txBody>
                  <a:tcPr>
                    <a:solidFill>
                      <a:srgbClr val="F6F8FC"/>
                    </a:solidFill>
                  </a:tcPr>
                </a:tc>
              </a:tr>
              <a:tr h="1005840">
                <a:tc>
                  <a:txBody>
                    <a:bodyPr/>
                    <a:lstStyle/>
                    <a:p>
                      <a:r>
                        <a:rPr sz="1200" b="0" i="0">
                          <a:solidFill>
                            <a:srgbClr val="1B2330"/>
                          </a:solidFill>
                          <a:latin typeface="Montserrat"/>
                        </a:rPr>
                        <a:t>2.ª</a:t>
                      </a:r>
                    </a:p>
                  </a:txBody>
                  <a:tcPr>
                    <a:solidFill>
                      <a:srgbClr val="FFFFFF"/>
                    </a:solidFill>
                  </a:tcPr>
                </a:tc>
                <a:tc>
                  <a:txBody>
                    <a:bodyPr/>
                    <a:lstStyle/>
                    <a:p>
                      <a:r>
                        <a:rPr sz="1200" b="0" i="0">
                          <a:solidFill>
                            <a:srgbClr val="1B2330"/>
                          </a:solidFill>
                          <a:latin typeface="Montserrat"/>
                        </a:rPr>
                        <a:t>6</a:t>
                      </a:r>
                    </a:p>
                  </a:txBody>
                  <a:tcPr>
                    <a:solidFill>
                      <a:srgbClr val="FFFFFF"/>
                    </a:solidFill>
                  </a:tcPr>
                </a:tc>
                <a:tc>
                  <a:txBody>
                    <a:bodyPr/>
                    <a:lstStyle/>
                    <a:p>
                      <a:r>
                        <a:rPr sz="1200" b="0" i="0">
                          <a:solidFill>
                            <a:srgbClr val="1B2330"/>
                          </a:solidFill>
                          <a:latin typeface="Montserrat"/>
                        </a:rPr>
                        <a:t>15</a:t>
                      </a:r>
                    </a:p>
                  </a:txBody>
                  <a:tcPr>
                    <a:solidFill>
                      <a:srgbClr val="FFFFFF"/>
                    </a:solidFill>
                  </a:tcPr>
                </a:tc>
              </a:tr>
              <a:tr h="1005840">
                <a:tc>
                  <a:txBody>
                    <a:bodyPr/>
                    <a:lstStyle/>
                    <a:p>
                      <a:r>
                        <a:rPr sz="1200" b="0" i="0">
                          <a:solidFill>
                            <a:srgbClr val="1B2330"/>
                          </a:solidFill>
                          <a:latin typeface="Montserrat"/>
                        </a:rPr>
                        <a:t>3.ª</a:t>
                      </a:r>
                    </a:p>
                  </a:txBody>
                  <a:tcPr>
                    <a:solidFill>
                      <a:srgbClr val="F6F8FC"/>
                    </a:solidFill>
                  </a:tcPr>
                </a:tc>
                <a:tc>
                  <a:txBody>
                    <a:bodyPr/>
                    <a:lstStyle/>
                    <a:p>
                      <a:r>
                        <a:rPr sz="1200" b="0" i="0">
                          <a:solidFill>
                            <a:srgbClr val="1B2330"/>
                          </a:solidFill>
                          <a:latin typeface="Montserrat"/>
                        </a:rPr>
                        <a:t>2</a:t>
                      </a:r>
                    </a:p>
                  </a:txBody>
                  <a:tcPr>
                    <a:solidFill>
                      <a:srgbClr val="F6F8FC"/>
                    </a:solidFill>
                  </a:tcPr>
                </a:tc>
                <a:tc>
                  <a:txBody>
                    <a:bodyPr/>
                    <a:lstStyle/>
                    <a:p>
                      <a:r>
                        <a:rPr sz="1200" b="0" i="0">
                          <a:solidFill>
                            <a:srgbClr val="1B2330"/>
                          </a:solidFill>
                          <a:latin typeface="Montserrat"/>
                        </a:rPr>
                        <a:t>10</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Interior: a tus propios edificios. Exterior: al vecino y a la vía pública; siempre es mayor.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 centro de 2.ª categoría tiene un instituto justo al otro lado de la valla. ¿Qué distancia exterior mínima le corresponde?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15 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20 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25 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10 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 centro de 2.ª categoría tiene un instituto justo al otro lado de la valla. ¿Qué distancia exterior mínima le corresponde?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25 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2.ª tiene 15 m de exterior, pero un centro de enseñanza obliga a sumar 10 m: 15 + 10 = 25 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DISTANCIAS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+10 m de sitios sensibles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Colegios, hospitales, hoteles</a:t>
            </a:r>
          </a:p>
          <a:p>
            <a:pPr>
              <a:spcAft>
                <a:spcPts val="1100"/>
              </a:spcAft>
            </a:pPr>
            <a:r>
              <a:rPr sz="1600" b="1" i="0">
                <a:solidFill>
                  <a:srgbClr val="E8801A"/>
                </a:solidFill>
                <a:latin typeface="Montserrat"/>
              </a:rPr>
              <a:t>▸  </a:t>
            </a:r>
            <a:r>
              <a:rPr sz="1600" b="0" i="0">
                <a:solidFill>
                  <a:srgbClr val="1B2330"/>
                </a:solidFill>
                <a:latin typeface="Montserrat"/>
              </a:rPr>
              <a:t>Cuarteles, mercados, museos</a:t>
            </a:r>
          </a:p>
          <a:p>
            <a:pPr>
              <a:spcAft>
                <a:spcPts val="1100"/>
              </a:spcAft>
            </a:pPr>
            <a:r>
              <a:rPr sz="1600" b="1" i="0">
                <a:solidFill>
                  <a:srgbClr val="E8801A"/>
                </a:solidFill>
                <a:latin typeface="Montserrat"/>
              </a:rPr>
              <a:t>▸  </a:t>
            </a:r>
            <a:r>
              <a:rPr sz="1600" b="0" i="0">
                <a:solidFill>
                  <a:srgbClr val="1B2330"/>
                </a:solidFill>
                <a:latin typeface="Montserrat"/>
              </a:rPr>
              <a:t>Vías de tren y tranvía</a:t>
            </a:r>
          </a:p>
          <a:p>
            <a:pPr>
              <a:spcAft>
                <a:spcPts val="1100"/>
              </a:spcAft>
            </a:pPr>
            <a:r>
              <a:rPr sz="1600" b="1" i="0">
                <a:solidFill>
                  <a:srgbClr val="E8801A"/>
                </a:solidFill>
                <a:latin typeface="Montserrat"/>
              </a:rPr>
              <a:t>▸  </a:t>
            </a:r>
            <a:r>
              <a:rPr sz="1600" b="0" i="0">
                <a:solidFill>
                  <a:srgbClr val="1B2330"/>
                </a:solidFill>
                <a:latin typeface="Montserrat"/>
              </a:rPr>
              <a:t>Líneas eléctricas de alta tensión</a:t>
            </a:r>
          </a:p>
        </p:txBody>
      </p:sp>
      <p:sp>
        <p:nvSpPr>
          <p:cNvPr id="9" name="imgph" descr="IMGQ:school building exterior stre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school building exterior street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CERRAMIENTO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muro y la malla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10 m mínimo del almacenamiento</a:t>
            </a:r>
          </a:p>
          <a:p>
            <a:pPr>
              <a:spcAft>
                <a:spcPts val="1100"/>
              </a:spcAft>
            </a:pPr>
            <a:r>
              <a:rPr sz="1600" b="1" i="0">
                <a:solidFill>
                  <a:srgbClr val="E8801A"/>
                </a:solidFill>
                <a:latin typeface="Montserrat"/>
              </a:rPr>
              <a:t>▸  </a:t>
            </a:r>
            <a:r>
              <a:rPr sz="1600" b="0" i="0">
                <a:solidFill>
                  <a:srgbClr val="1B2330"/>
                </a:solidFill>
                <a:latin typeface="Montserrat"/>
              </a:rPr>
              <a:t>Todos los edificios, dentro</a:t>
            </a:r>
          </a:p>
          <a:p>
            <a:pPr>
              <a:spcAft>
                <a:spcPts val="1100"/>
              </a:spcAft>
            </a:pPr>
            <a:r>
              <a:rPr sz="1600" b="1" i="0">
                <a:solidFill>
                  <a:srgbClr val="E8801A"/>
                </a:solidFill>
                <a:latin typeface="Montserrat"/>
              </a:rPr>
              <a:t>▸  </a:t>
            </a:r>
            <a:r>
              <a:rPr sz="1600" b="0" i="0">
                <a:solidFill>
                  <a:srgbClr val="1B2330"/>
                </a:solidFill>
                <a:latin typeface="Montserrat"/>
              </a:rPr>
              <a:t>A la calle: muro EI 180, 2,5 m</a:t>
            </a:r>
          </a:p>
          <a:p>
            <a:pPr>
              <a:spcAft>
                <a:spcPts val="1100"/>
              </a:spcAft>
            </a:pPr>
            <a:r>
              <a:rPr sz="1600" b="1" i="0">
                <a:solidFill>
                  <a:srgbClr val="E8801A"/>
                </a:solidFill>
                <a:latin typeface="Montserrat"/>
              </a:rPr>
              <a:t>▸  </a:t>
            </a:r>
            <a:r>
              <a:rPr sz="1600" b="0" i="0">
                <a:solidFill>
                  <a:srgbClr val="1B2330"/>
                </a:solidFill>
                <a:latin typeface="Montserrat"/>
              </a:rPr>
              <a:t>Resto: malla metálica, 2 m</a:t>
            </a:r>
          </a:p>
        </p:txBody>
      </p:sp>
      <p:sp>
        <p:nvSpPr>
          <p:cNvPr id="9" name="imgph" descr="IMGQ:metal mesh fence industrial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mesh fence industrial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APILADO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Alturas de las jaulas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Domésticas ≤ 15 kg: 4 llenas / 6 vacías</a:t>
            </a:r>
          </a:p>
          <a:p>
            <a:pPr>
              <a:spcAft>
                <a:spcPts val="1100"/>
              </a:spcAft>
            </a:pPr>
            <a:r>
              <a:rPr sz="1600" b="1" i="0">
                <a:solidFill>
                  <a:srgbClr val="E8801A"/>
                </a:solidFill>
                <a:latin typeface="Montserrat"/>
              </a:rPr>
              <a:t>▸  </a:t>
            </a:r>
            <a:r>
              <a:rPr sz="1600" b="0" i="0">
                <a:solidFill>
                  <a:srgbClr val="1B2330"/>
                </a:solidFill>
                <a:latin typeface="Montserrat"/>
              </a:rPr>
              <a:t>Más de 15 kg: 1 sola altura</a:t>
            </a:r>
          </a:p>
          <a:p>
            <a:pPr>
              <a:spcAft>
                <a:spcPts val="1100"/>
              </a:spcAft>
            </a:pPr>
            <a:r>
              <a:rPr sz="1600" b="1" i="0">
                <a:solidFill>
                  <a:srgbClr val="E8801A"/>
                </a:solidFill>
                <a:latin typeface="Montserrat"/>
              </a:rPr>
              <a:t>▸  </a:t>
            </a:r>
            <a:r>
              <a:rPr sz="1600" b="0" i="0">
                <a:solidFill>
                  <a:srgbClr val="1B2330"/>
                </a:solidFill>
                <a:latin typeface="Montserrat"/>
              </a:rPr>
              <a:t>Acceso con carretilla elevadora</a:t>
            </a:r>
          </a:p>
          <a:p>
            <a:pPr>
              <a:spcAft>
                <a:spcPts val="1100"/>
              </a:spcAft>
            </a:pPr>
            <a:r>
              <a:rPr sz="1600" b="1" i="0">
                <a:solidFill>
                  <a:srgbClr val="E8801A"/>
                </a:solidFill>
                <a:latin typeface="Montserrat"/>
              </a:rPr>
              <a:t>▸  </a:t>
            </a:r>
            <a:r>
              <a:rPr sz="1600" b="0" i="0">
                <a:solidFill>
                  <a:srgbClr val="1B2330"/>
                </a:solidFill>
                <a:latin typeface="Montserrat"/>
              </a:rPr>
              <a:t>Nada de imanes ni eslingas malas</a:t>
            </a:r>
          </a:p>
        </p:txBody>
      </p:sp>
      <p:sp>
        <p:nvSpPr>
          <p:cNvPr id="9" name="imgph" descr="IMGQ:forklift warehouse cage pall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forklift warehouse cage pallet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3.2 · APILADO</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Alturas máximas de las jaulas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1341120">
                <a:tc>
                  <a:txBody>
                    <a:bodyPr/>
                    <a:lstStyle/>
                    <a:p>
                      <a:r>
                        <a:rPr sz="1200" b="1" i="0">
                          <a:solidFill>
                            <a:srgbClr val="FFFFFF"/>
                          </a:solidFill>
                          <a:latin typeface="Montserrat"/>
                        </a:rPr>
                        <a:t>Tipo de envase</a:t>
                      </a:r>
                    </a:p>
                  </a:txBody>
                  <a:tcPr>
                    <a:solidFill>
                      <a:srgbClr val="1E2761"/>
                    </a:solidFill>
                  </a:tcPr>
                </a:tc>
                <a:tc>
                  <a:txBody>
                    <a:bodyPr/>
                    <a:lstStyle/>
                    <a:p>
                      <a:r>
                        <a:rPr sz="1200" b="1" i="0">
                          <a:solidFill>
                            <a:srgbClr val="FFFFFF"/>
                          </a:solidFill>
                          <a:latin typeface="Montserrat"/>
                        </a:rPr>
                        <a:t>Envases llenos</a:t>
                      </a:r>
                    </a:p>
                  </a:txBody>
                  <a:tcPr>
                    <a:solidFill>
                      <a:srgbClr val="1E2761"/>
                    </a:solidFill>
                  </a:tcPr>
                </a:tc>
                <a:tc>
                  <a:txBody>
                    <a:bodyPr/>
                    <a:lstStyle/>
                    <a:p>
                      <a:r>
                        <a:rPr sz="1200" b="1" i="0">
                          <a:solidFill>
                            <a:srgbClr val="FFFFFF"/>
                          </a:solidFill>
                          <a:latin typeface="Montserrat"/>
                        </a:rPr>
                        <a:t>Envases vacíos</a:t>
                      </a:r>
                    </a:p>
                  </a:txBody>
                  <a:tcPr>
                    <a:solidFill>
                      <a:srgbClr val="1E2761"/>
                    </a:solidFill>
                  </a:tcPr>
                </a:tc>
              </a:tr>
              <a:tr h="1341120">
                <a:tc>
                  <a:txBody>
                    <a:bodyPr/>
                    <a:lstStyle/>
                    <a:p>
                      <a:r>
                        <a:rPr sz="1200" b="0" i="0">
                          <a:solidFill>
                            <a:srgbClr val="1B2330"/>
                          </a:solidFill>
                          <a:latin typeface="Montserrat"/>
                        </a:rPr>
                        <a:t>Jaulas de envases domésticos de hasta 15 kg</a:t>
                      </a:r>
                    </a:p>
                  </a:txBody>
                  <a:tcPr>
                    <a:solidFill>
                      <a:srgbClr val="F6F8FC"/>
                    </a:solidFill>
                  </a:tcPr>
                </a:tc>
                <a:tc>
                  <a:txBody>
                    <a:bodyPr/>
                    <a:lstStyle/>
                    <a:p>
                      <a:r>
                        <a:rPr sz="1200" b="0" i="0">
                          <a:solidFill>
                            <a:srgbClr val="1B2330"/>
                          </a:solidFill>
                          <a:latin typeface="Montserrat"/>
                        </a:rPr>
                        <a:t>hasta 4 alturas</a:t>
                      </a:r>
                    </a:p>
                  </a:txBody>
                  <a:tcPr>
                    <a:solidFill>
                      <a:srgbClr val="F6F8FC"/>
                    </a:solidFill>
                  </a:tcPr>
                </a:tc>
                <a:tc>
                  <a:txBody>
                    <a:bodyPr/>
                    <a:lstStyle/>
                    <a:p>
                      <a:r>
                        <a:rPr sz="1200" b="0" i="0">
                          <a:solidFill>
                            <a:srgbClr val="1B2330"/>
                          </a:solidFill>
                          <a:latin typeface="Montserrat"/>
                        </a:rPr>
                        <a:t>hasta 6 alturas</a:t>
                      </a:r>
                    </a:p>
                  </a:txBody>
                  <a:tcPr>
                    <a:solidFill>
                      <a:srgbClr val="F6F8FC"/>
                    </a:solidFill>
                  </a:tcPr>
                </a:tc>
              </a:tr>
              <a:tr h="1341120">
                <a:tc>
                  <a:txBody>
                    <a:bodyPr/>
                    <a:lstStyle/>
                    <a:p>
                      <a:r>
                        <a:rPr sz="1200" b="0" i="0">
                          <a:solidFill>
                            <a:srgbClr val="1B2330"/>
                          </a:solidFill>
                          <a:latin typeface="Montserrat"/>
                        </a:rPr>
                        <a:t>Jaulas de envases de más de 15 kg</a:t>
                      </a:r>
                    </a:p>
                  </a:txBody>
                  <a:tcPr>
                    <a:solidFill>
                      <a:srgbClr val="FFFFFF"/>
                    </a:solidFill>
                  </a:tcPr>
                </a:tc>
                <a:tc>
                  <a:txBody>
                    <a:bodyPr/>
                    <a:lstStyle/>
                    <a:p>
                      <a:r>
                        <a:rPr sz="1200" b="0" i="0">
                          <a:solidFill>
                            <a:srgbClr val="1B2330"/>
                          </a:solidFill>
                          <a:latin typeface="Montserrat"/>
                        </a:rPr>
                        <a:t>1 única altura</a:t>
                      </a:r>
                    </a:p>
                  </a:txBody>
                  <a:tcPr>
                    <a:solidFill>
                      <a:srgbClr val="FFFFFF"/>
                    </a:solidFill>
                  </a:tcPr>
                </a:tc>
                <a:tc>
                  <a:txBody>
                    <a:bodyPr/>
                    <a:lstStyle/>
                    <a:p>
                      <a:r>
                        <a:rPr sz="1200" b="0" i="0">
                          <a:solidFill>
                            <a:srgbClr val="1B2330"/>
                          </a:solidFill>
                          <a:latin typeface="Montserrat"/>
                        </a:rPr>
                        <a:t>1 única altura</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Cuanto más pesa la botella, menos se apila. Las vacías, al pesar menos, admiten más alturas.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INCENDIOS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Agua contra incendios (1.ª)</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Red de agua a 5 kg/cm²</a:t>
            </a:r>
          </a:p>
          <a:p>
            <a:pPr>
              <a:spcAft>
                <a:spcPts val="1100"/>
              </a:spcAft>
            </a:pPr>
            <a:r>
              <a:rPr sz="1600" b="1" i="0">
                <a:solidFill>
                  <a:srgbClr val="E8801A"/>
                </a:solidFill>
                <a:latin typeface="Montserrat"/>
              </a:rPr>
              <a:t>▸  </a:t>
            </a:r>
            <a:r>
              <a:rPr sz="1600" b="0" i="0">
                <a:solidFill>
                  <a:srgbClr val="1B2330"/>
                </a:solidFill>
                <a:latin typeface="Montserrat"/>
              </a:rPr>
              <a:t>Bocas DN25 a 10 m del almacén</a:t>
            </a:r>
          </a:p>
          <a:p>
            <a:pPr>
              <a:spcAft>
                <a:spcPts val="1100"/>
              </a:spcAft>
            </a:pPr>
            <a:r>
              <a:rPr sz="1600" b="1" i="0">
                <a:solidFill>
                  <a:srgbClr val="E8801A"/>
                </a:solidFill>
                <a:latin typeface="Montserrat"/>
              </a:rPr>
              <a:t>▸  </a:t>
            </a:r>
            <a:r>
              <a:rPr sz="1600" b="0" i="0">
                <a:solidFill>
                  <a:srgbClr val="1B2330"/>
                </a:solidFill>
                <a:latin typeface="Montserrat"/>
              </a:rPr>
              <a:t>6 bocas en 1.ª · 2 en 2.ª y 3.ª</a:t>
            </a:r>
          </a:p>
          <a:p>
            <a:pPr>
              <a:spcAft>
                <a:spcPts val="1100"/>
              </a:spcAft>
            </a:pPr>
            <a:r>
              <a:rPr sz="1600" b="1" i="0">
                <a:solidFill>
                  <a:srgbClr val="E8801A"/>
                </a:solidFill>
                <a:latin typeface="Montserrat"/>
              </a:rPr>
              <a:t>▸  </a:t>
            </a:r>
            <a:r>
              <a:rPr sz="1600" b="0" i="0">
                <a:solidFill>
                  <a:srgbClr val="1B2330"/>
                </a:solidFill>
                <a:latin typeface="Montserrat"/>
              </a:rPr>
              <a:t>Sin agua de calle: 90 min de autonomía</a:t>
            </a:r>
          </a:p>
        </p:txBody>
      </p:sp>
      <p:sp>
        <p:nvSpPr>
          <p:cNvPr id="9" name="imgph" descr="IMGQ:fire hose reel red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fire hose reel red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EXTINTORES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Cuadro II, sin agobios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más centro, más extintores</a:t>
            </a:r>
          </a:p>
          <a:p>
            <a:pPr>
              <a:spcAft>
                <a:spcPts val="1100"/>
              </a:spcAft>
            </a:pPr>
            <a:r>
              <a:rPr sz="1600" b="1" i="0">
                <a:solidFill>
                  <a:srgbClr val="E8801A"/>
                </a:solidFill>
                <a:latin typeface="Montserrat"/>
              </a:rPr>
              <a:t>▸  </a:t>
            </a:r>
            <a:r>
              <a:rPr sz="1600" b="0" i="0">
                <a:solidFill>
                  <a:srgbClr val="1B2330"/>
                </a:solidFill>
                <a:latin typeface="Montserrat"/>
              </a:rPr>
              <a:t>3.ª: 5 extintores 21A-113B</a:t>
            </a:r>
          </a:p>
          <a:p>
            <a:pPr>
              <a:spcAft>
                <a:spcPts val="1100"/>
              </a:spcAft>
            </a:pPr>
            <a:r>
              <a:rPr sz="1600" b="1" i="0">
                <a:solidFill>
                  <a:srgbClr val="E8801A"/>
                </a:solidFill>
                <a:latin typeface="Montserrat"/>
              </a:rPr>
              <a:t>▸  </a:t>
            </a:r>
            <a:r>
              <a:rPr sz="1600" b="0" i="0">
                <a:solidFill>
                  <a:srgbClr val="1B2330"/>
                </a:solidFill>
                <a:latin typeface="Montserrat"/>
              </a:rPr>
              <a:t>1.ª grande crece por tramos</a:t>
            </a:r>
          </a:p>
          <a:p>
            <a:pPr>
              <a:spcAft>
                <a:spcPts val="1100"/>
              </a:spcAft>
            </a:pPr>
            <a:r>
              <a:rPr sz="1600" b="1" i="0">
                <a:solidFill>
                  <a:srgbClr val="E8801A"/>
                </a:solidFill>
                <a:latin typeface="Montserrat"/>
              </a:rPr>
              <a:t>▸  </a:t>
            </a:r>
            <a:r>
              <a:rPr sz="1600" b="0" i="0">
                <a:solidFill>
                  <a:srgbClr val="1B2330"/>
                </a:solidFill>
                <a:latin typeface="Montserrat"/>
              </a:rPr>
              <a:t>1 de 43A-183B = 2 de 21A-113B</a:t>
            </a:r>
          </a:p>
        </p:txBody>
      </p:sp>
      <p:sp>
        <p:nvSpPr>
          <p:cNvPr id="9" name="imgph" descr="IMGQ:red fire extinguisher industria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red fire extinguisher industrial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3.2 · EXTINTORES (CUADRO II)</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Número mínimo de extintores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772918"/>
                <a:gridCol w="2772918"/>
                <a:gridCol w="2772918"/>
                <a:gridCol w="2772918"/>
              </a:tblGrid>
              <a:tr h="574765">
                <a:tc>
                  <a:txBody>
                    <a:bodyPr/>
                    <a:lstStyle/>
                    <a:p>
                      <a:r>
                        <a:rPr sz="1200" b="1" i="0">
                          <a:solidFill>
                            <a:srgbClr val="FFFFFF"/>
                          </a:solidFill>
                          <a:latin typeface="Montserrat"/>
                        </a:rPr>
                        <a:t>Categoría del centro</a:t>
                      </a:r>
                    </a:p>
                  </a:txBody>
                  <a:tcPr>
                    <a:solidFill>
                      <a:srgbClr val="1E2761"/>
                    </a:solidFill>
                  </a:tcPr>
                </a:tc>
                <a:tc>
                  <a:txBody>
                    <a:bodyPr/>
                    <a:lstStyle/>
                    <a:p>
                      <a:r>
                        <a:rPr sz="1200" b="1" i="0">
                          <a:solidFill>
                            <a:srgbClr val="FFFFFF"/>
                          </a:solidFill>
                          <a:latin typeface="Montserrat"/>
                        </a:rPr>
                        <a:t>Extintor móvil 50 kg</a:t>
                      </a:r>
                    </a:p>
                  </a:txBody>
                  <a:tcPr>
                    <a:solidFill>
                      <a:srgbClr val="1E2761"/>
                    </a:solidFill>
                  </a:tcPr>
                </a:tc>
                <a:tc>
                  <a:txBody>
                    <a:bodyPr/>
                    <a:lstStyle/>
                    <a:p>
                      <a:r>
                        <a:rPr sz="1200" b="1" i="0">
                          <a:solidFill>
                            <a:srgbClr val="FFFFFF"/>
                          </a:solidFill>
                          <a:latin typeface="Montserrat"/>
                        </a:rPr>
                        <a:t>Eficacia 43A-183B</a:t>
                      </a:r>
                    </a:p>
                  </a:txBody>
                  <a:tcPr>
                    <a:solidFill>
                      <a:srgbClr val="1E2761"/>
                    </a:solidFill>
                  </a:tcPr>
                </a:tc>
                <a:tc>
                  <a:txBody>
                    <a:bodyPr/>
                    <a:lstStyle/>
                    <a:p>
                      <a:r>
                        <a:rPr sz="1200" b="1" i="0">
                          <a:solidFill>
                            <a:srgbClr val="FFFFFF"/>
                          </a:solidFill>
                          <a:latin typeface="Montserrat"/>
                        </a:rPr>
                        <a:t>Eficacia 21A-113B</a:t>
                      </a:r>
                    </a:p>
                  </a:txBody>
                  <a:tcPr>
                    <a:solidFill>
                      <a:srgbClr val="1E2761"/>
                    </a:solidFill>
                  </a:tcPr>
                </a:tc>
              </a:tr>
              <a:tr h="574765">
                <a:tc>
                  <a:txBody>
                    <a:bodyPr/>
                    <a:lstStyle/>
                    <a:p>
                      <a:r>
                        <a:rPr sz="1200" b="0" i="0">
                          <a:solidFill>
                            <a:srgbClr val="1B2330"/>
                          </a:solidFill>
                          <a:latin typeface="Montserrat"/>
                        </a:rPr>
                        <a:t>1.ª (más de 75.000 kg)</a:t>
                      </a:r>
                    </a:p>
                  </a:txBody>
                  <a:tcPr>
                    <a:solidFill>
                      <a:srgbClr val="F6F8FC"/>
                    </a:solidFill>
                  </a:tcPr>
                </a:tc>
                <a:tc>
                  <a:txBody>
                    <a:bodyPr/>
                    <a:lstStyle/>
                    <a:p>
                      <a:r>
                        <a:rPr sz="1200" b="0" i="0">
                          <a:solidFill>
                            <a:srgbClr val="1B2330"/>
                          </a:solidFill>
                          <a:latin typeface="Montserrat"/>
                        </a:rPr>
                        <a:t>5, más 1 por cada 18.750 kg de exceso</a:t>
                      </a:r>
                    </a:p>
                  </a:txBody>
                  <a:tcPr>
                    <a:solidFill>
                      <a:srgbClr val="F6F8FC"/>
                    </a:solidFill>
                  </a:tcPr>
                </a:tc>
                <a:tc>
                  <a:txBody>
                    <a:bodyPr/>
                    <a:lstStyle/>
                    <a:p>
                      <a:r>
                        <a:rPr sz="1200" b="0" i="0">
                          <a:solidFill>
                            <a:srgbClr val="1B2330"/>
                          </a:solidFill>
                          <a:latin typeface="Montserrat"/>
                        </a:rPr>
                        <a:t>7, más 2 por cada 18.750 kg de exceso</a:t>
                      </a:r>
                    </a:p>
                  </a:txBody>
                  <a:tcPr>
                    <a:solidFill>
                      <a:srgbClr val="F6F8FC"/>
                    </a:solidFill>
                  </a:tcPr>
                </a:tc>
                <a:tc>
                  <a:txBody>
                    <a:bodyPr/>
                    <a:lstStyle/>
                    <a:p>
                      <a:r>
                        <a:rPr sz="1200" b="0" i="0">
                          <a:solidFill>
                            <a:srgbClr val="1B2330"/>
                          </a:solidFill>
                          <a:latin typeface="Montserrat"/>
                        </a:rPr>
                        <a:t>–</a:t>
                      </a:r>
                    </a:p>
                  </a:txBody>
                  <a:tcPr>
                    <a:solidFill>
                      <a:srgbClr val="F6F8FC"/>
                    </a:solidFill>
                  </a:tcPr>
                </a:tc>
              </a:tr>
              <a:tr h="574765">
                <a:tc>
                  <a:txBody>
                    <a:bodyPr/>
                    <a:lstStyle/>
                    <a:p>
                      <a:r>
                        <a:rPr sz="1200" b="0" i="0">
                          <a:solidFill>
                            <a:srgbClr val="1B2330"/>
                          </a:solidFill>
                          <a:latin typeface="Montserrat"/>
                        </a:rPr>
                        <a:t>1.ª (de 56.251 a 75.000 kg)</a:t>
                      </a:r>
                    </a:p>
                  </a:txBody>
                  <a:tcPr>
                    <a:solidFill>
                      <a:srgbClr val="FFFFFF"/>
                    </a:solidFill>
                  </a:tcPr>
                </a:tc>
                <a:tc>
                  <a:txBody>
                    <a:bodyPr/>
                    <a:lstStyle/>
                    <a:p>
                      <a:r>
                        <a:rPr sz="1200" b="0" i="0">
                          <a:solidFill>
                            <a:srgbClr val="1B2330"/>
                          </a:solidFill>
                          <a:latin typeface="Montserrat"/>
                        </a:rPr>
                        <a:t>4</a:t>
                      </a:r>
                    </a:p>
                  </a:txBody>
                  <a:tcPr>
                    <a:solidFill>
                      <a:srgbClr val="FFFFFF"/>
                    </a:solidFill>
                  </a:tcPr>
                </a:tc>
                <a:tc>
                  <a:txBody>
                    <a:bodyPr/>
                    <a:lstStyle/>
                    <a:p>
                      <a:r>
                        <a:rPr sz="1200" b="0" i="0">
                          <a:solidFill>
                            <a:srgbClr val="1B2330"/>
                          </a:solidFill>
                          <a:latin typeface="Montserrat"/>
                        </a:rPr>
                        <a:t>6</a:t>
                      </a:r>
                    </a:p>
                  </a:txBody>
                  <a:tcPr>
                    <a:solidFill>
                      <a:srgbClr val="FFFFFF"/>
                    </a:solidFill>
                  </a:tcPr>
                </a:tc>
                <a:tc>
                  <a:txBody>
                    <a:bodyPr/>
                    <a:lstStyle/>
                    <a:p>
                      <a:r>
                        <a:rPr sz="1200" b="0" i="0">
                          <a:solidFill>
                            <a:srgbClr val="1B2330"/>
                          </a:solidFill>
                          <a:latin typeface="Montserrat"/>
                        </a:rPr>
                        <a:t>–</a:t>
                      </a:r>
                    </a:p>
                  </a:txBody>
                  <a:tcPr>
                    <a:solidFill>
                      <a:srgbClr val="FFFFFF"/>
                    </a:solidFill>
                  </a:tcPr>
                </a:tc>
              </a:tr>
              <a:tr h="574765">
                <a:tc>
                  <a:txBody>
                    <a:bodyPr/>
                    <a:lstStyle/>
                    <a:p>
                      <a:r>
                        <a:rPr sz="1200" b="0" i="0">
                          <a:solidFill>
                            <a:srgbClr val="1B2330"/>
                          </a:solidFill>
                          <a:latin typeface="Montserrat"/>
                        </a:rPr>
                        <a:t>1.ª (de 37.501 a 56.250 kg)</a:t>
                      </a:r>
                    </a:p>
                  </a:txBody>
                  <a:tcPr>
                    <a:solidFill>
                      <a:srgbClr val="F6F8FC"/>
                    </a:solidFill>
                  </a:tcPr>
                </a:tc>
                <a:tc>
                  <a:txBody>
                    <a:bodyPr/>
                    <a:lstStyle/>
                    <a:p>
                      <a:r>
                        <a:rPr sz="1200" b="0" i="0">
                          <a:solidFill>
                            <a:srgbClr val="1B2330"/>
                          </a:solidFill>
                          <a:latin typeface="Montserrat"/>
                        </a:rPr>
                        <a:t>3</a:t>
                      </a:r>
                    </a:p>
                  </a:txBody>
                  <a:tcPr>
                    <a:solidFill>
                      <a:srgbClr val="F6F8FC"/>
                    </a:solidFill>
                  </a:tcPr>
                </a:tc>
                <a:tc>
                  <a:txBody>
                    <a:bodyPr/>
                    <a:lstStyle/>
                    <a:p>
                      <a:r>
                        <a:rPr sz="1200" b="0" i="0">
                          <a:solidFill>
                            <a:srgbClr val="1B2330"/>
                          </a:solidFill>
                          <a:latin typeface="Montserrat"/>
                        </a:rPr>
                        <a:t>4</a:t>
                      </a:r>
                    </a:p>
                  </a:txBody>
                  <a:tcPr>
                    <a:solidFill>
                      <a:srgbClr val="F6F8FC"/>
                    </a:solidFill>
                  </a:tcPr>
                </a:tc>
                <a:tc>
                  <a:txBody>
                    <a:bodyPr/>
                    <a:lstStyle/>
                    <a:p>
                      <a:r>
                        <a:rPr sz="1200" b="0" i="0">
                          <a:solidFill>
                            <a:srgbClr val="1B2330"/>
                          </a:solidFill>
                          <a:latin typeface="Montserrat"/>
                        </a:rPr>
                        <a:t>–</a:t>
                      </a:r>
                    </a:p>
                  </a:txBody>
                  <a:tcPr>
                    <a:solidFill>
                      <a:srgbClr val="F6F8FC"/>
                    </a:solidFill>
                  </a:tcPr>
                </a:tc>
              </a:tr>
              <a:tr h="574765">
                <a:tc>
                  <a:txBody>
                    <a:bodyPr/>
                    <a:lstStyle/>
                    <a:p>
                      <a:r>
                        <a:rPr sz="1200" b="0" i="0">
                          <a:solidFill>
                            <a:srgbClr val="1B2330"/>
                          </a:solidFill>
                          <a:latin typeface="Montserrat"/>
                        </a:rPr>
                        <a:t>1.ª (de 25.001 a 37.500 kg)</a:t>
                      </a:r>
                    </a:p>
                  </a:txBody>
                  <a:tcPr>
                    <a:solidFill>
                      <a:srgbClr val="FFFFFF"/>
                    </a:solidFill>
                  </a:tcPr>
                </a:tc>
                <a:tc>
                  <a:txBody>
                    <a:bodyPr/>
                    <a:lstStyle/>
                    <a:p>
                      <a:r>
                        <a:rPr sz="1200" b="0" i="0">
                          <a:solidFill>
                            <a:srgbClr val="1B2330"/>
                          </a:solidFill>
                          <a:latin typeface="Montserrat"/>
                        </a:rPr>
                        <a:t>2</a:t>
                      </a:r>
                    </a:p>
                  </a:txBody>
                  <a:tcPr>
                    <a:solidFill>
                      <a:srgbClr val="FFFFFF"/>
                    </a:solidFill>
                  </a:tcPr>
                </a:tc>
                <a:tc>
                  <a:txBody>
                    <a:bodyPr/>
                    <a:lstStyle/>
                    <a:p>
                      <a:r>
                        <a:rPr sz="1200" b="0" i="0">
                          <a:solidFill>
                            <a:srgbClr val="1B2330"/>
                          </a:solidFill>
                          <a:latin typeface="Montserrat"/>
                        </a:rPr>
                        <a:t>3</a:t>
                      </a:r>
                    </a:p>
                  </a:txBody>
                  <a:tcPr>
                    <a:solidFill>
                      <a:srgbClr val="FFFFFF"/>
                    </a:solidFill>
                  </a:tcPr>
                </a:tc>
                <a:tc>
                  <a:txBody>
                    <a:bodyPr/>
                    <a:lstStyle/>
                    <a:p>
                      <a:r>
                        <a:rPr sz="1200" b="0" i="0">
                          <a:solidFill>
                            <a:srgbClr val="1B2330"/>
                          </a:solidFill>
                          <a:latin typeface="Montserrat"/>
                        </a:rPr>
                        <a:t>–</a:t>
                      </a:r>
                    </a:p>
                  </a:txBody>
                  <a:tcPr>
                    <a:solidFill>
                      <a:srgbClr val="FFFFFF"/>
                    </a:solidFill>
                  </a:tcPr>
                </a:tc>
              </a:tr>
              <a:tr h="574765">
                <a:tc>
                  <a:txBody>
                    <a:bodyPr/>
                    <a:lstStyle/>
                    <a:p>
                      <a:r>
                        <a:rPr sz="1200" b="0" i="0">
                          <a:solidFill>
                            <a:srgbClr val="1B2330"/>
                          </a:solidFill>
                          <a:latin typeface="Montserrat"/>
                        </a:rPr>
                        <a:t>2.ª</a:t>
                      </a:r>
                    </a:p>
                  </a:txBody>
                  <a:tcPr>
                    <a:solidFill>
                      <a:srgbClr val="F6F8FC"/>
                    </a:solidFill>
                  </a:tcPr>
                </a:tc>
                <a:tc>
                  <a:txBody>
                    <a:bodyPr/>
                    <a:lstStyle/>
                    <a:p>
                      <a:r>
                        <a:rPr sz="1200" b="0" i="0">
                          <a:solidFill>
                            <a:srgbClr val="1B2330"/>
                          </a:solidFill>
                          <a:latin typeface="Montserrat"/>
                        </a:rPr>
                        <a:t>1</a:t>
                      </a:r>
                    </a:p>
                  </a:txBody>
                  <a:tcPr>
                    <a:solidFill>
                      <a:srgbClr val="F6F8FC"/>
                    </a:solidFill>
                  </a:tcPr>
                </a:tc>
                <a:tc>
                  <a:txBody>
                    <a:bodyPr/>
                    <a:lstStyle/>
                    <a:p>
                      <a:r>
                        <a:rPr sz="1200" b="0" i="0">
                          <a:solidFill>
                            <a:srgbClr val="1B2330"/>
                          </a:solidFill>
                          <a:latin typeface="Montserrat"/>
                        </a:rPr>
                        <a:t>2</a:t>
                      </a:r>
                    </a:p>
                  </a:txBody>
                  <a:tcPr>
                    <a:solidFill>
                      <a:srgbClr val="F6F8FC"/>
                    </a:solidFill>
                  </a:tcPr>
                </a:tc>
                <a:tc>
                  <a:txBody>
                    <a:bodyPr/>
                    <a:lstStyle/>
                    <a:p>
                      <a:r>
                        <a:rPr sz="1200" b="0" i="0">
                          <a:solidFill>
                            <a:srgbClr val="1B2330"/>
                          </a:solidFill>
                          <a:latin typeface="Montserrat"/>
                        </a:rPr>
                        <a:t>–</a:t>
                      </a:r>
                    </a:p>
                  </a:txBody>
                  <a:tcPr>
                    <a:solidFill>
                      <a:srgbClr val="F6F8FC"/>
                    </a:solidFill>
                  </a:tcPr>
                </a:tc>
              </a:tr>
              <a:tr h="574770">
                <a:tc>
                  <a:txBody>
                    <a:bodyPr/>
                    <a:lstStyle/>
                    <a:p>
                      <a:r>
                        <a:rPr sz="1200" b="0" i="0">
                          <a:solidFill>
                            <a:srgbClr val="1B2330"/>
                          </a:solidFill>
                          <a:latin typeface="Montserrat"/>
                        </a:rPr>
                        <a:t>3.ª</a:t>
                      </a:r>
                    </a:p>
                  </a:txBody>
                  <a:tcPr>
                    <a:solidFill>
                      <a:srgbClr val="FFFFFF"/>
                    </a:solidFill>
                  </a:tcPr>
                </a:tc>
                <a:tc>
                  <a:txBody>
                    <a:bodyPr/>
                    <a:lstStyle/>
                    <a:p>
                      <a:r>
                        <a:rPr sz="1200" b="0" i="0">
                          <a:solidFill>
                            <a:srgbClr val="1B2330"/>
                          </a:solidFill>
                          <a:latin typeface="Montserrat"/>
                        </a:rPr>
                        <a:t>–</a:t>
                      </a:r>
                    </a:p>
                  </a:txBody>
                  <a:tcPr>
                    <a:solidFill>
                      <a:srgbClr val="FFFFFF"/>
                    </a:solidFill>
                  </a:tcPr>
                </a:tc>
                <a:tc>
                  <a:txBody>
                    <a:bodyPr/>
                    <a:lstStyle/>
                    <a:p>
                      <a:r>
                        <a:rPr sz="1200" b="0" i="0">
                          <a:solidFill>
                            <a:srgbClr val="1B2330"/>
                          </a:solidFill>
                          <a:latin typeface="Montserrat"/>
                        </a:rPr>
                        <a:t>–</a:t>
                      </a:r>
                    </a:p>
                  </a:txBody>
                  <a:tcPr>
                    <a:solidFill>
                      <a:srgbClr val="FFFFFF"/>
                    </a:solidFill>
                  </a:tcPr>
                </a:tc>
                <a:tc>
                  <a:txBody>
                    <a:bodyPr/>
                    <a:lstStyle/>
                    <a:p>
                      <a:r>
                        <a:rPr sz="1200" b="0" i="0">
                          <a:solidFill>
                            <a:srgbClr val="1B2330"/>
                          </a:solidFill>
                          <a:latin typeface="Montserrat"/>
                        </a:rPr>
                        <a:t>5</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A mayor centro, más extintores. Un 43A-183B equivale a dos 21A-113B.</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de estas afirmaciones sobre los extintores del Cuadro II es correcta?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3.ª categoría no lleva ningún extintor</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 43A-183B se sustituye por el doble de 21A-113B</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1.ª siempre lleva exactamente cinco extintores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La 2.ª lleva más extintores que la 1.ª</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de estas afirmaciones sobre los extintores del Cuadro II es correcta?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Un 43A-183B se sustituye por el doble de 21A-113B</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Puedes cambiar cada 43A-183B por 21A-113B, pero poniendo como mínimo el doble.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027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OTRAS EXIGENCIAS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Rayos y cortafuegos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Protección contra rayos</a:t>
            </a:r>
          </a:p>
          <a:p>
            <a:pPr>
              <a:spcAft>
                <a:spcPts val="1100"/>
              </a:spcAft>
            </a:pPr>
            <a:r>
              <a:rPr sz="1600" b="1" i="0">
                <a:solidFill>
                  <a:srgbClr val="E8801A"/>
                </a:solidFill>
                <a:latin typeface="Montserrat"/>
              </a:rPr>
              <a:t>▸  </a:t>
            </a:r>
            <a:r>
              <a:rPr sz="1600" b="0" i="0">
                <a:solidFill>
                  <a:srgbClr val="1B2330"/>
                </a:solidFill>
                <a:latin typeface="Montserrat"/>
              </a:rPr>
              <a:t>Sin transformadores de alta tensión</a:t>
            </a:r>
          </a:p>
          <a:p>
            <a:pPr>
              <a:spcAft>
                <a:spcPts val="1100"/>
              </a:spcAft>
            </a:pPr>
            <a:r>
              <a:rPr sz="1600" b="1" i="0">
                <a:solidFill>
                  <a:srgbClr val="E8801A"/>
                </a:solidFill>
                <a:latin typeface="Montserrat"/>
              </a:rPr>
              <a:t>▸  </a:t>
            </a:r>
            <a:r>
              <a:rPr sz="1600" b="0" i="0">
                <a:solidFill>
                  <a:srgbClr val="1B2330"/>
                </a:solidFill>
                <a:latin typeface="Montserrat"/>
              </a:rPr>
              <a:t>Comunicación con el exterior</a:t>
            </a:r>
          </a:p>
          <a:p>
            <a:pPr>
              <a:spcAft>
                <a:spcPts val="1100"/>
              </a:spcAft>
            </a:pPr>
            <a:r>
              <a:rPr sz="1600" b="1" i="0">
                <a:solidFill>
                  <a:srgbClr val="E8801A"/>
                </a:solidFill>
                <a:latin typeface="Montserrat"/>
              </a:rPr>
              <a:t>▸  </a:t>
            </a:r>
            <a:r>
              <a:rPr sz="1600" b="0" i="0">
                <a:solidFill>
                  <a:srgbClr val="1B2330"/>
                </a:solidFill>
                <a:latin typeface="Montserrat"/>
              </a:rPr>
              <a:t>Motor con cortafuegos en el escape</a:t>
            </a:r>
          </a:p>
        </p:txBody>
      </p:sp>
      <p:sp>
        <p:nvSpPr>
          <p:cNvPr id="9" name="imgph" descr="IMGQ:exhaust pipe truck engine detai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exhaust pipe truck engine detail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028 / 029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Cinco anclas antes del cierre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Fórmula × 0,65 y vacíos que suman</a:t>
            </a:r>
          </a:p>
          <a:p>
            <a:pPr>
              <a:spcAft>
                <a:spcPts val="1100"/>
              </a:spcAft>
            </a:pPr>
            <a:r>
              <a:rPr sz="1600" b="1" i="0">
                <a:solidFill>
                  <a:srgbClr val="E8801A"/>
                </a:solidFill>
                <a:latin typeface="Montserrat"/>
              </a:rPr>
              <a:t>▸  </a:t>
            </a:r>
            <a:r>
              <a:rPr sz="1600" b="0" i="0">
                <a:solidFill>
                  <a:srgbClr val="1B2330"/>
                </a:solidFill>
                <a:latin typeface="Montserrat"/>
              </a:rPr>
              <a:t>Al aire libre · vertical · sin trasvase</a:t>
            </a:r>
          </a:p>
          <a:p>
            <a:pPr>
              <a:spcAft>
                <a:spcPts val="1100"/>
              </a:spcAft>
            </a:pPr>
            <a:r>
              <a:rPr sz="1600" b="1" i="0">
                <a:solidFill>
                  <a:srgbClr val="E8801A"/>
                </a:solidFill>
                <a:latin typeface="Montserrat"/>
              </a:rPr>
              <a:t>▸  </a:t>
            </a:r>
            <a:r>
              <a:rPr sz="1600" b="0" i="0">
                <a:solidFill>
                  <a:srgbClr val="1B2330"/>
                </a:solidFill>
                <a:latin typeface="Montserrat"/>
              </a:rPr>
              <a:t>Evacuación ≤ 25 m</a:t>
            </a:r>
          </a:p>
          <a:p>
            <a:pPr>
              <a:spcAft>
                <a:spcPts val="1100"/>
              </a:spcAft>
            </a:pPr>
            <a:r>
              <a:rPr sz="1600" b="1" i="0">
                <a:solidFill>
                  <a:srgbClr val="E8801A"/>
                </a:solidFill>
                <a:latin typeface="Montserrat"/>
              </a:rPr>
              <a:t>▸  </a:t>
            </a:r>
            <a:r>
              <a:rPr sz="1600" b="0" i="0">
                <a:solidFill>
                  <a:srgbClr val="1B2330"/>
                </a:solidFill>
                <a:latin typeface="Montserrat"/>
              </a:rPr>
              <a:t>Interior 6/6/2 · exterior 20/15/10</a:t>
            </a:r>
          </a:p>
          <a:p>
            <a:pPr>
              <a:spcAft>
                <a:spcPts val="1100"/>
              </a:spcAft>
            </a:pPr>
            <a:r>
              <a:rPr sz="1600" b="1" i="0">
                <a:solidFill>
                  <a:srgbClr val="E8801A"/>
                </a:solidFill>
                <a:latin typeface="Montserrat"/>
              </a:rPr>
              <a:t>▸  </a:t>
            </a:r>
            <a:r>
              <a:rPr sz="1600" b="0" i="0">
                <a:solidFill>
                  <a:srgbClr val="1B2330"/>
                </a:solidFill>
                <a:latin typeface="Montserrat"/>
              </a:rPr>
              <a:t>Muro 2,5 m / malla 2 m · +10 m sensibles</a:t>
            </a:r>
          </a:p>
        </p:txBody>
      </p:sp>
      <p:sp>
        <p:nvSpPr>
          <p:cNvPr id="9" name="imgph" descr="IMGQ:gas cylinders outdoor depot row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cylinders outdoor depot rows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lees un centro de bombonas de un vistazo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Clasificas por kilos y calculas capacidad con la fórmula</a:t>
            </a:r>
          </a:p>
          <a:p>
            <a:pPr>
              <a:spcAft>
                <a:spcPts val="1200"/>
              </a:spcAft>
            </a:pPr>
            <a:r>
              <a:rPr sz="2000" b="1" i="0">
                <a:solidFill>
                  <a:srgbClr val="F4A24C"/>
                </a:solidFill>
                <a:latin typeface="Montserrat"/>
              </a:rPr>
              <a:t>✓  </a:t>
            </a:r>
            <a:r>
              <a:rPr sz="1900" b="0" i="0">
                <a:solidFill>
                  <a:srgbClr val="FFFFFF"/>
                </a:solidFill>
                <a:latin typeface="Montserrat"/>
              </a:rPr>
              <a:t>Entiendes por qué van al aire libre, verticales y sin trasvase</a:t>
            </a:r>
          </a:p>
          <a:p>
            <a:pPr>
              <a:spcAft>
                <a:spcPts val="1200"/>
              </a:spcAft>
            </a:pPr>
            <a:r>
              <a:rPr sz="2000" b="1" i="0">
                <a:solidFill>
                  <a:srgbClr val="F4A24C"/>
                </a:solidFill>
                <a:latin typeface="Montserrat"/>
              </a:rPr>
              <a:t>✓  </a:t>
            </a:r>
            <a:r>
              <a:rPr sz="1900" b="0" i="0">
                <a:solidFill>
                  <a:srgbClr val="FFFFFF"/>
                </a:solidFill>
                <a:latin typeface="Montserrat"/>
              </a:rPr>
              <a:t>Colocas las distancias 6/6/2 y 20/15/10 sin dudar</a:t>
            </a:r>
          </a:p>
          <a:p>
            <a:pPr>
              <a:spcAft>
                <a:spcPts val="1200"/>
              </a:spcAft>
            </a:pPr>
            <a:r>
              <a:rPr sz="2000" b="1" i="0">
                <a:solidFill>
                  <a:srgbClr val="F4A24C"/>
                </a:solidFill>
                <a:latin typeface="Montserrat"/>
              </a:rPr>
              <a:t>✓  </a:t>
            </a:r>
            <a:r>
              <a:rPr sz="1900" b="0" i="0">
                <a:solidFill>
                  <a:srgbClr val="FFFFFF"/>
                </a:solidFill>
                <a:latin typeface="Montserrat"/>
              </a:rPr>
              <a:t>Reconoces cerramiento, apilado y medios contra incendios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En el siguiente vídeo bajamos a la calle: gasolinera, tienda y transporte.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
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los pueblos o las fábricas donde no llega el gasoducto? ¿Se quedan sin gas natural?</a:t>
            </a:r>
          </a:p>
          <a:p>
            <a:r>
              <a:t>N2: No, se les lleva en camión y en frío. La ITC-ICG cero cuatro regula las plantas satélite de GNL, gas natural licuado: depósitos de gas natural enfriado hasta hacerlo líquido, muy frío, que abastecen una zona o una industria adonde no llega la red. Cambia el producto y cambian dos protagonistas: la norma de referencia ya no es la del GLP, sino la UNE sesenta mil doscientos diez, y quien monta y mantiene no es un instalador cualquiera, sino el especialista criogénico. Es la instrucción más corta de las tres, pero muy preguntable en autorización, plazos y controles, con esa fórmula de uve por pe. Vamos con ella entera y cerramos el tema.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Dame las tres cifras que no puedo fallar.</a:t>
            </a:r>
          </a:p>
          <a:p>
            <a:r>
              <a:t>N2: Tres números, y son de los que caen. El primero: mil metros cúbicos es el techo de una planta satélite de GNL; por encima de eso ya no es una planta satélite a estos efectos. El segundo: trescientos es la frontera de la fórmula uve por pe, volumen por presión, que decide quién puede hacer los controles. Y el tercero: quince días hábiles es el plazo para comunicar la puesta en servicio a la Comunidad Autónoma, y ojo, hábiles, no naturales. Mil, trescientos y quince días hábiles: apúntalos.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Antes de nada, ¿qué es exactamente una planta satélite de GNL?</a:t>
            </a:r>
          </a:p>
          <a:p>
            <a:r>
              <a:t>N2: Vamos por partes. GNL significa gas natural licuado: es el mismo gas natural que llega a las ciudades, pero enfriado a unos ciento sesenta grados bajo cero hasta convertirlo en líquido. Al licuarlo, su volumen se reduce muchísimo, y eso permite transportarlo en cisterna a sitios donde no hay gasoducto. La planta satélite es el depósito local que recibe ese GNL, lo vuelve a convertir en gas y lo reparte por la zona. La imagen que mejor lo explica: es un gasoducto de mentira. Donde no llega la tubería, llega el camión, llena el depósito, y de ahí sale el gas como si hubiera red. Esta ITC fija los requisitos y la seguridad para diseñarla, construirla, probarla, instalarla y usarla.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¿Hasta qué tamaño llega esta instrucción?</a:t>
            </a:r>
          </a:p>
          <a:p>
            <a:r>
              <a:t>N2: El límite es mil metros cúbicos de capacidad geométrica conjunta de almacenamiento. Por encima de eso ya no es una planta satélite a estos efectos, sino una instalación mayor con otras reglas. Igual que en los depósitos de GLP, se considera modificación la que hace cambiar de categoría, y hay un recambio equivalente: si sustituyes un depósito por otro de características similares, con diferencia de volumen no superior al diez por ciento, sin cambiar la clasificación ni las distancias, no hace falta proyecto nuevo. Pero ojo a un matiz que el examen adora cruzar: aquí la memoria justificativa la firma el director de obra, mientras que en los depósitos fijos de GLP la firmaba la empresa instaladora. Y las reglas de mantenimiento se aplican tanto a las plantas nuevas como a las existentes.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¿Por qué no puede montar esto el mismo instalador que hace los depósitos de GLP?</a:t>
            </a:r>
          </a:p>
          <a:p>
            <a:r>
              <a:t>N2: Por el frío. El GNL está a unos ciento sesenta grados bajo cero, es criogénico, y trabajarlo exige formación y materiales específicos: un material normal se volvería frágil como el cristal a esa temperatura. Por eso el montaje y el mantenimiento no los hace una empresa instaladora de gas corriente, sino una empresa especializada en trabajos criogénicos y equipos a presión, el especialista criogénico. Y la clasificación de la planta se hace según la norma UNE sesenta mil doscientos diez. Grábate la cadena entera para no confundirla con el GLP: GNL, norma UNE sesenta mil doscientos diez, especialista criogénico. Compárala con el depósito de GLP del vídeo anterior: allí era UNE sesenta mil doscientos cincuenta y empresa instaladora de gas.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El gas natural licuado va muy frío. ¿Quién debe montar y mantener una planta satélite de GNL? Opción A, una empresa instaladora de gas normal. Opción B, un especialista en trabajos criogénicos. Opción C, cualquier titular con carné de Gas B. Opción D, el organismo de control. Decídete.</a:t>
            </a:r>
          </a:p>
          <a:p>
            <a:r>
              <a:t>N2: Pista: piensa en que a esa temperatura un material normal se vuelve frágil como el cristal.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N2: La respuesta correcta es la opción B: un especialista en trabajos criogénicos. ¿Por qué? Porque el gas natural licuado está a unos ciento sesenta grados bajo cero, y trabajarlo pide formación y materiales especiales. Por eso lo monta y lo mantiene el especialista criogénico, y la norma de referencia es la une sesenta mil doscientos diez. La cadena para no confundirla con el GLP: gas natural licuado, norma sesenta mil doscientos diez, especialista criogénico.</a:t>
            </a:r>
          </a:p>
          <a:p>
            <a:r>
              <a:t>N1: Frío de verdad, manos especializadas.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¿Esta planta necesita permiso antes de construirla?</a:t>
            </a:r>
          </a:p>
          <a:p>
            <a:r>
              <a:t>N2: Sí, y aquí está una de las grandes diferencias del tema. Repasa la escala: los centros de envases nunca necesitan autorización; los depósitos de GLP, solo si dan gas a terceros por una red; y la planta de GNL sí requiere autorización administrativa previa a su construcción como regla general, otorgada por el órgano competente de la Comunidad Autónoma. La única excepción es que la planta sea para uso propio y exclusivo de un usuario, por ejemplo una fábrica que se autoabastece. Regla para clavarlo: GNL, pide permiso antes, salvo autoconsumo exclusivo. Para solicitarla se presenta el proyecto con el modelo oficial, y te devuelven un ejemplar diligenciado con la fecha de entrada.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aquí también vale una memoria técnica como en el GLP pequeño?</a:t>
            </a:r>
          </a:p>
          <a:p>
            <a:r>
              <a:t>N2: No, y esto es tajante. En el GNL no hay memoria que valga: toda planta satélite exige proyecto elaborado por técnico facultativo competente. La razón es que el GNL se maneja en instalaciones más serias y con más riesgo, así que el papeleo sube de nivel. El proyecto lleva lo habitual, objeto, ubicación, cálculos, obra civil, montaje y pruebas, presupuesto, pliego y planos, pero fíjate en el extra que no aparecía en el GLP: la documentación de seguridad y los planes de emergencia frente a accidentes graves. Ese añadido de los planes de emergencia es la pista de que estamos en una instalación de categoría superior. Idea de fondo: GNL, siempre proyecto, y con planes de emergencia.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¿Qué certificados hacen falta aquí para quedar en disposición de servicio?</a:t>
            </a:r>
          </a:p>
          <a:p>
            <a:r>
              <a:t>N2: Antes de nada, el organismo de control, asistido por la empresa de montaje y el director de obra, hace las pruebas en obra de la norma para comprobar resistencia y estanquidad. Y luego, la puesta en servicio se apoya en solo dos papeles. Uno: el certificado de dirección de obra, que firma el director de obra, con la lista de componentes y la justificación de homologaciones como anexo. Dos: el certificado de inspección, que emite el organismo de control. Con esos dos, la instalación queda en disposición de servicio. Fíjate en lo que falta respecto al GLP: aquí no hay certificado de instalación de empresa instaladora, porque siempre hay proyecto y quien manda es el director de obra. Menos papeles, pero de más nivel.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Una vez en marcha, ¿cuándo aviso a la Administración?</a:t>
            </a:r>
          </a:p>
          <a:p>
            <a:r>
              <a:t>N2: Con los dos certificados expedidos, la planta está en disposición de servicio y el titular llama al suministrador para el primer llenado de los depósitos de GNL; antes verifica que la documentación está completa. Y después de la puesta en servicio hay que comunicarla, con un plazo que cae en examen: quince días hábiles, presentando por duplicado ante la Comunidad Autónoma el proyecto, los dos certificados, la documentación de los recipientes a presión y la fecha de puesta en servicio. Mucho cuidado aquí: son quince días hábiles, que no cuentan domingos ni festivos, y no hay que confundirlos con los treinta días genéricos del articulado del Reglamento para instalaciones receptoras. Cada instalación tiene su plazo; en el GNL, quince hábiles.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El mantenimiento, ¿es muy distinto del depósito de GLP?</a:t>
            </a:r>
          </a:p>
          <a:p>
            <a:r>
              <a:t>N2: Casi calcado, y eso es una buena noticia: si dominaste el mantenimiento del vídeo tres, este lo tienes medio ganado. El titular es el responsable de que la instalación esté siempre en disposición de servicio, y para ello hace falta un contrato de mantenimiento con servicio de urgencias permanente, un Libro de Mantenimiento o archivo documental donde consta cada visita, y existe la posible exención del contrato si el titular acredita capacidad y medios propios. ¿Qué cambia de fondo? Dos cosas que ya conoces: quien firma el mantenimiento es el especialista criogénico, no una instaladora de gas normal, y la norma de referencia es la UNE sesenta mil doscientos diez. Mismo esqueleto, distintos protagonistas.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¿Cada cuánto se controla la planta y quién puede hacerlo?</a:t>
            </a:r>
          </a:p>
          <a:p>
            <a:r>
              <a:t>N2: El control periódico general es cada cinco años, con las pruebas y verificaciones de la norma. Y quién puede realizarlo depende de una fórmula muy sencilla, uve por pe: multiplicas el volumen geométrico en metros cúbicos por la presión máxima de trabajo en bares. Si el resultado es trescientos o menos, el control lo puede hacer gente de la casa: el especialista criogénico, el servicio de mantenimiento del propio usuario, o un organismo de control. Pero si el resultado pasa de trescientos, entonces tiene que venir sí o sí un organismo de control independiente. La lógica: cuanto más grande y más presión, más ojos externos exige. Retén el número trescientos, y que el resultado del control va en un certificado por cuadriplicado: usuario, titular, órgano competente y el propio agente.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Multiplica volumen por presión, la fórmula uve por pe. En el control de una planta de GNL, si uve por pe supera trescientos, ¿quién debe hacerlo? Opción A, el propio usuario. Opción B, el especialista criogénico. Opción C, obligatoriamente un organismo de control. Opción D, no hace falta ningún control. Piénsalo.</a:t>
            </a:r>
          </a:p>
          <a:p>
            <a:r>
              <a:t>N2: Pista: cuanto más grande y más presión, más ojos externos exige.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N2: La respuesta correcta es la opción C: obligatoriamente un organismo de control. ¿Por qué? Porque la fórmula uve por pe mide el riesgo: si el volumen por la presión supera trescientos, la planta es lo bastante seria como para exigir un organismo de control independiente. Si es trescientos o menos, vale gente de la casa, el especialista criogénico o el propio usuario. El número que decide es el trescientos.</a:t>
            </a:r>
          </a:p>
          <a:p>
            <a:r>
              <a:t>N1: Pasa de trescientos, ojos de fuera.</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La prueba de presión de los quince años, ¿es igual que la del GLP?</a:t>
            </a:r>
          </a:p>
          <a:p>
            <a:r>
              <a:t>N2: No, y esta diferencia es de las que más caen. En el GNL, la prueba de presión de cada quince años es neumática, es decir, se hace con aire o gas a presión, no con agua. La realiza un organismo de control asistido por un especialista criogénico, que emite un acta de pruebas al terminar con éxito. ¿Por qué neumática y no hidráulica? Porque meter agua en un depósito criogénico sería introducir humedad, y esa humedad se congelaría y estropearía la instalación. Compara y no lo mezcles: en el depósito de GLP del vídeo anterior la prueba de los quince años era hidráulica, con agua; aquí, en el GNL frío, es neumática, con gas. Confundir hidráulica con neumática es el error clásico, en el examen y en la obra.</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cuando la planta deja de usarse, ¿misma historia que el depósito de GLP?</a:t>
            </a:r>
          </a:p>
          <a:p>
            <a:r>
              <a:t>N2: Misma filosofía de seguridad, sí. Si la planta pasa un año entero sin recibir ninguna carga de GNL, el titular tiene que inertizarla: llenarla de nitrógeno u otro gas inerte para que dentro no quede una atmósfera inflamable. Ese inertizado lo hace la empresa de mantenimiento y lo supervisa y certifica un organismo de control. Y aquí va la frase de oro para el examen: bajo ningún concepto se desmonta una planta ni ninguno de sus depósitos sin haberlos inertizado antes. Es exactamente la misma idea que viste en el depósito de GLP del vídeo tres: un depósito vacío de gas inflamable sigue siendo peligroso hasta que lo neutralizas de verdad. En caso de cese, el distribuidor presenta la resolución de retirada y el titular se ocupa del desmontaje.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Antes de cerrar, resúmeme el GNL frente al GLP para no mezclarlos.</a:t>
            </a:r>
          </a:p>
          <a:p>
            <a:r>
              <a:t>N2: Cinco líneas y los separas para siempre. Una: GNL va con la norma UNE sesenta mil doscientos diez y con el especialista criogénico, frente al GLP que iba con la sesenta mil doscientos cincuenta y la empresa instaladora. Dos: el GNL necesita autorización previa casi siempre, salvo uso propio y exclusivo, mientras que el centro de envases nunca la necesitaba. Tres: en GNL siempre hay proyecto, con el extra de los planes de emergencia. Cuatro: los controles son cada cinco años, y la fórmula uve por pe con la frontera en trescientos decide quién los hace. Y cinco: la prueba de presión de los quince años es neumática, con gas, no hidráulica, para no meter humedad en el frío. Con esas cinco líneas tienes el vídeo y la diferencia clave del tema.</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Cerramos el vídeo y el tema entero. ¿Qué me llevo de las plantas de GNL?</a:t>
            </a:r>
          </a:p>
          <a:p>
            <a:r>
              <a:t>N2: Te llevas la pieza que faltaba del almacenamiento de gas. El GNL es gas natural licuado, criogénico, y todo lo suyo gira en torno a ese frío: por eso lo monta el especialista criogénico con la norma UNE sesenta mil doscientos diez, por eso la prueba de los quince años es neumática y no hidráulica, para no meter humedad, y por eso el papeleo sube de nivel con autorización previa, proyecto siempre y planes de emergencia. Y le has puesto sus cifras: mil metros cúbicos de tope, la fórmula uve por pe con la frontera en trescientos para decidir quién controla, control cada cinco años y comunicación en quince días hábiles.</a:t>
            </a:r>
          </a:p>
          <a:p>
            <a:r>
              <a:t>N1: ¿Y qué me llevo del tema completo, ahora que lo he terminado?</a:t>
            </a:r>
          </a:p>
          <a:p>
            <a:r>
              <a:t>N2: Que ya sabes dónde y cómo se guarda el gas antes de llegar al usuario, en sus tres formas. Los centros de envases, la nave de las bombonas de la ITC cero dos. Los depósitos fijos de GLP del chalé, con la UNE sesenta mil doscientos cincuenta y la ITC cero tres. Y las plantas satélite de GNL, con la UNE sesenta mil doscientos diez y la ITC cero cuatro. Fíjate en el hilo que las une todas: el gas mal guardado es peligroso, así que cada norma pone distancias, ventilación, pruebas y papeles para que nunca haya una fuga que se embolse o un depósito abandonado que siga siendo una bomba. En el examen te van a cruzar las tres instrucciones, y hoy ya las distingues sin dudar. Has cerrado el tema del almacenamiento de gas de punta a punta. Eres bastante más gasista que cuando empezaste. Nos vemos en el siguiente tema.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731520"/>
            <a:ext cx="10515600" cy="548640"/>
          </a:xfrm>
          <a:prstGeom prst="rect">
            <a:avLst/>
          </a:prstGeom>
          <a:noFill/>
        </p:spPr>
        <p:txBody>
          <a:bodyPr wrap="square">
            <a:spAutoFit/>
          </a:bodyPr>
          <a:lstStyle/>
          <a:p>
            <a:r>
              <a:rPr sz="1400" b="1" i="0">
                <a:solidFill>
                  <a:srgbClr val="F4A24C"/>
                </a:solidFill>
                <a:latin typeface="Montserrat"/>
              </a:rPr>
              <a:t>VÍDEO 4 DE 4</a:t>
            </a:r>
          </a:p>
        </p:txBody>
      </p:sp>
      <p:sp>
        <p:nvSpPr>
          <p:cNvPr id="4" name="Rectangle 3"/>
          <p:cNvSpPr/>
          <p:nvPr/>
        </p:nvSpPr>
        <p:spPr>
          <a:xfrm>
            <a:off x="868680" y="2057400"/>
            <a:ext cx="1463040" cy="8229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286000"/>
            <a:ext cx="10515600" cy="2011680"/>
          </a:xfrm>
          <a:prstGeom prst="rect">
            <a:avLst/>
          </a:prstGeom>
          <a:noFill/>
        </p:spPr>
        <p:txBody>
          <a:bodyPr wrap="square">
            <a:spAutoFit/>
          </a:bodyPr>
          <a:lstStyle/>
          <a:p>
            <a:r>
              <a:rPr sz="4000" b="1" i="0">
                <a:solidFill>
                  <a:srgbClr val="FFFFFF"/>
                </a:solidFill>
                <a:latin typeface="Montserrat"/>
              </a:rPr>
              <a:t>Plantas satélite de GNL</a:t>
            </a:r>
          </a:p>
          <a:p>
            <a:r>
              <a:rPr sz="2200" b="0" i="0">
                <a:solidFill>
                  <a:srgbClr val="CADCFC"/>
                </a:solidFill>
                <a:latin typeface="Montserrat"/>
              </a:rPr>
              <a:t>ITC-ICG 04: el gas natural licuado y el especialista criogénico</a:t>
            </a:r>
          </a:p>
        </p:txBody>
      </p:sp>
      <p:sp>
        <p:nvSpPr>
          <p:cNvPr id="6" name="TextBox 5"/>
          <p:cNvSpPr txBox="1"/>
          <p:nvPr/>
        </p:nvSpPr>
        <p:spPr>
          <a:xfrm>
            <a:off x="822960" y="5852160"/>
            <a:ext cx="10515600" cy="548640"/>
          </a:xfrm>
          <a:prstGeom prst="rect">
            <a:avLst/>
          </a:prstGeom>
          <a:noFill/>
        </p:spPr>
        <p:txBody>
          <a:bodyPr wrap="square">
            <a:spAutoFit/>
          </a:bodyPr>
          <a:lstStyle/>
          <a:p>
            <a:r>
              <a:rPr sz="1300" b="0" i="0">
                <a:solidFill>
                  <a:srgbClr val="CADCFC"/>
                </a:solidFill>
                <a:latin typeface="Montserrat"/>
              </a:rPr>
              <a:t>Tema 02 · Reglamento · ITC-ICG 02/03/04</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002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02 · Plantas satélite de GNL (ITC-ICG 04)</a:t>
            </a:r>
          </a:p>
        </p:txBody>
      </p:sp>
      <p:sp>
        <p:nvSpPr>
          <p:cNvPr id="5" name="TextBox 4"/>
          <p:cNvSpPr txBox="1"/>
          <p:nvPr/>
        </p:nvSpPr>
        <p:spPr>
          <a:xfrm>
            <a:off x="822960" y="502920"/>
            <a:ext cx="9144000" cy="914400"/>
          </a:xfrm>
          <a:prstGeom prst="rect">
            <a:avLst/>
          </a:prstGeom>
          <a:noFill/>
        </p:spPr>
        <p:txBody>
          <a:bodyPr wrap="square">
            <a:spAutoFit/>
          </a:bodyPr>
          <a:lstStyle/>
          <a:p>
            <a:r>
              <a:rPr sz="2700" b="1" i="0">
                <a:solidFill>
                  <a:srgbClr val="E8801A"/>
                </a:solidFill>
                <a:latin typeface="Montserrat"/>
              </a:rPr>
              <a:t>Sobre este vídeo</a:t>
            </a:r>
          </a:p>
        </p:txBody>
      </p:sp>
      <p:sp>
        <p:nvSpPr>
          <p:cNvPr id="6" name="Rectangle 5"/>
          <p:cNvSpPr/>
          <p:nvPr/>
        </p:nvSpPr>
        <p:spPr>
          <a:xfrm>
            <a:off x="868680" y="1234440"/>
            <a:ext cx="1463040" cy="73152"/>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296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22960" y="2011680"/>
            <a:ext cx="3017520" cy="12801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377440"/>
            <a:ext cx="3017520" cy="1371600"/>
          </a:xfrm>
          <a:prstGeom prst="rect">
            <a:avLst/>
          </a:prstGeom>
          <a:noFill/>
        </p:spPr>
        <p:txBody>
          <a:bodyPr wrap="square">
            <a:spAutoFit/>
          </a:bodyPr>
          <a:lstStyle/>
          <a:p>
            <a:pPr algn="ctr"/>
            <a:r>
              <a:rPr sz="5800" b="1" i="0">
                <a:solidFill>
                  <a:srgbClr val="1E2761"/>
                </a:solidFill>
                <a:latin typeface="Montserrat"/>
              </a:rPr>
              <a:t>1.000 m³</a:t>
            </a:r>
          </a:p>
        </p:txBody>
      </p:sp>
      <p:sp>
        <p:nvSpPr>
          <p:cNvPr id="10" name="TextBox 9"/>
          <p:cNvSpPr txBox="1"/>
          <p:nvPr/>
        </p:nvSpPr>
        <p:spPr>
          <a:xfrm>
            <a:off x="1051560" y="3657600"/>
            <a:ext cx="2560320" cy="1005840"/>
          </a:xfrm>
          <a:prstGeom prst="rect">
            <a:avLst/>
          </a:prstGeom>
          <a:noFill/>
        </p:spPr>
        <p:txBody>
          <a:bodyPr wrap="square">
            <a:spAutoFit/>
          </a:bodyPr>
          <a:lstStyle/>
          <a:p>
            <a:pPr algn="ctr"/>
            <a:r>
              <a:rPr sz="1400" b="0" i="0">
                <a:solidFill>
                  <a:srgbClr val="1B2330"/>
                </a:solidFill>
                <a:latin typeface="Montserrat"/>
              </a:rPr>
              <a:t>tope de una planta satélite</a:t>
            </a:r>
          </a:p>
        </p:txBody>
      </p:sp>
      <p:sp>
        <p:nvSpPr>
          <p:cNvPr id="11" name="Rounded Rectangle 10"/>
          <p:cNvSpPr/>
          <p:nvPr/>
        </p:nvSpPr>
        <p:spPr>
          <a:xfrm>
            <a:off x="461772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617720" y="2011680"/>
            <a:ext cx="3017520" cy="12801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17720" y="2377440"/>
            <a:ext cx="3017520" cy="1371600"/>
          </a:xfrm>
          <a:prstGeom prst="rect">
            <a:avLst/>
          </a:prstGeom>
          <a:noFill/>
        </p:spPr>
        <p:txBody>
          <a:bodyPr wrap="square">
            <a:spAutoFit/>
          </a:bodyPr>
          <a:lstStyle/>
          <a:p>
            <a:pPr algn="ctr"/>
            <a:r>
              <a:rPr sz="5800" b="1" i="0">
                <a:solidFill>
                  <a:srgbClr val="1E2761"/>
                </a:solidFill>
                <a:latin typeface="Montserrat"/>
              </a:rPr>
              <a:t>300</a:t>
            </a:r>
          </a:p>
        </p:txBody>
      </p:sp>
      <p:sp>
        <p:nvSpPr>
          <p:cNvPr id="14" name="TextBox 13"/>
          <p:cNvSpPr txBox="1"/>
          <p:nvPr/>
        </p:nvSpPr>
        <p:spPr>
          <a:xfrm>
            <a:off x="4846320" y="3657600"/>
            <a:ext cx="2560320" cy="1005840"/>
          </a:xfrm>
          <a:prstGeom prst="rect">
            <a:avLst/>
          </a:prstGeom>
          <a:noFill/>
        </p:spPr>
        <p:txBody>
          <a:bodyPr wrap="square">
            <a:spAutoFit/>
          </a:bodyPr>
          <a:lstStyle/>
          <a:p>
            <a:pPr algn="ctr"/>
            <a:r>
              <a:rPr sz="1400" b="0" i="0">
                <a:solidFill>
                  <a:srgbClr val="1B2330"/>
                </a:solidFill>
                <a:latin typeface="Montserrat"/>
              </a:rPr>
              <a:t>frontera de la fórmula V × P</a:t>
            </a:r>
          </a:p>
        </p:txBody>
      </p:sp>
      <p:sp>
        <p:nvSpPr>
          <p:cNvPr id="15" name="Rounded Rectangle 14"/>
          <p:cNvSpPr/>
          <p:nvPr/>
        </p:nvSpPr>
        <p:spPr>
          <a:xfrm>
            <a:off x="841248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412480" y="2011680"/>
            <a:ext cx="3017520" cy="12801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0" y="2377440"/>
            <a:ext cx="3017520" cy="1371600"/>
          </a:xfrm>
          <a:prstGeom prst="rect">
            <a:avLst/>
          </a:prstGeom>
          <a:noFill/>
        </p:spPr>
        <p:txBody>
          <a:bodyPr wrap="square">
            <a:spAutoFit/>
          </a:bodyPr>
          <a:lstStyle/>
          <a:p>
            <a:pPr algn="ctr"/>
            <a:r>
              <a:rPr sz="5800" b="1" i="0">
                <a:solidFill>
                  <a:srgbClr val="1E2761"/>
                </a:solidFill>
                <a:latin typeface="Montserrat"/>
              </a:rPr>
              <a:t>15 días</a:t>
            </a:r>
          </a:p>
        </p:txBody>
      </p:sp>
      <p:sp>
        <p:nvSpPr>
          <p:cNvPr id="18" name="TextBox 17"/>
          <p:cNvSpPr txBox="1"/>
          <p:nvPr/>
        </p:nvSpPr>
        <p:spPr>
          <a:xfrm>
            <a:off x="8641080" y="3657600"/>
            <a:ext cx="2560320" cy="1005840"/>
          </a:xfrm>
          <a:prstGeom prst="rect">
            <a:avLst/>
          </a:prstGeom>
          <a:noFill/>
        </p:spPr>
        <p:txBody>
          <a:bodyPr wrap="square">
            <a:spAutoFit/>
          </a:bodyPr>
          <a:lstStyle/>
          <a:p>
            <a:pPr algn="ctr"/>
            <a:r>
              <a:rPr sz="1400" b="0" i="0">
                <a:solidFill>
                  <a:srgbClr val="1B2330"/>
                </a:solidFill>
                <a:latin typeface="Montserrat"/>
              </a:rPr>
              <a:t>hábiles para comunicar</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003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02 · Plantas satélite de GNL (ITC-ICG 04)</a:t>
            </a:r>
          </a:p>
        </p:txBody>
      </p:sp>
      <p:sp>
        <p:nvSpPr>
          <p:cNvPr id="5" name="TextBox 4"/>
          <p:cNvSpPr txBox="1"/>
          <p:nvPr/>
        </p:nvSpPr>
        <p:spPr>
          <a:xfrm>
            <a:off x="822960" y="502920"/>
            <a:ext cx="8229600" cy="365760"/>
          </a:xfrm>
          <a:prstGeom prst="rect">
            <a:avLst/>
          </a:prstGeom>
          <a:noFill/>
        </p:spPr>
        <p:txBody>
          <a:bodyPr wrap="square">
            <a:spAutoFit/>
          </a:bodyPr>
          <a:lstStyle/>
          <a:p>
            <a:r>
              <a:rPr sz="1300" b="1" i="0">
                <a:solidFill>
                  <a:srgbClr val="E8801A"/>
                </a:solidFill>
                <a:latin typeface="Montserrat"/>
              </a:rPr>
              <a:t>PARTES DE ESTE VÍDEO</a:t>
            </a:r>
          </a:p>
        </p:txBody>
      </p:sp>
      <p:sp>
        <p:nvSpPr>
          <p:cNvPr id="6" name="TextBox 5"/>
          <p:cNvSpPr txBox="1"/>
          <p:nvPr/>
        </p:nvSpPr>
        <p:spPr>
          <a:xfrm>
            <a:off x="822960" y="914400"/>
            <a:ext cx="10515600" cy="914400"/>
          </a:xfrm>
          <a:prstGeom prst="rect">
            <a:avLst/>
          </a:prstGeom>
          <a:noFill/>
        </p:spPr>
        <p:txBody>
          <a:bodyPr wrap="square">
            <a:spAutoFit/>
          </a:bodyPr>
          <a:lstStyle/>
          <a:p>
            <a:r>
              <a:rPr sz="2700" b="1" i="0">
                <a:solidFill>
                  <a:srgbClr val="1E2761"/>
                </a:solidFill>
                <a:latin typeface="Montserrat"/>
              </a:rPr>
              <a:t>En este vídeo</a:t>
            </a:r>
          </a:p>
        </p:txBody>
      </p:sp>
      <p:sp>
        <p:nvSpPr>
          <p:cNvPr id="7" name="Rectangle 6"/>
          <p:cNvSpPr/>
          <p:nvPr/>
        </p:nvSpPr>
        <p:spPr>
          <a:xfrm>
            <a:off x="868680" y="167335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103120"/>
            <a:ext cx="10515600" cy="4023360"/>
          </a:xfrm>
          <a:prstGeom prst="rect">
            <a:avLst/>
          </a:prstGeom>
          <a:noFill/>
        </p:spPr>
        <p:txBody>
          <a:bodyPr wrap="square">
            <a:spAutoFit/>
          </a:bodyPr>
          <a:lstStyle/>
          <a:p>
            <a:pPr>
              <a:spcAft>
                <a:spcPts val="900"/>
              </a:spcAft>
            </a:pPr>
            <a:r>
              <a:rPr sz="1800" b="1" i="0">
                <a:solidFill>
                  <a:srgbClr val="E8801A"/>
                </a:solidFill>
                <a:latin typeface="Montserrat"/>
              </a:rPr>
              <a:t>01   </a:t>
            </a:r>
            <a:r>
              <a:rPr sz="1700" b="0" i="0">
                <a:solidFill>
                  <a:srgbClr val="1B2330"/>
                </a:solidFill>
                <a:latin typeface="Montserrat"/>
              </a:rPr>
              <a:t>Apartado 1</a:t>
            </a:r>
          </a:p>
          <a:p>
            <a:pPr>
              <a:spcAft>
                <a:spcPts val="900"/>
              </a:spcAft>
            </a:pPr>
            <a:r>
              <a:rPr sz="1800" b="1" i="0">
                <a:solidFill>
                  <a:srgbClr val="E8801A"/>
                </a:solidFill>
                <a:latin typeface="Montserrat"/>
              </a:rPr>
              <a:t>02   </a:t>
            </a:r>
            <a:r>
              <a:rPr sz="1700" b="0" i="0">
                <a:solidFill>
                  <a:srgbClr val="1B2330"/>
                </a:solidFill>
                <a:latin typeface="Montserrat"/>
              </a:rPr>
              <a:t>Apartado 2</a:t>
            </a:r>
          </a:p>
          <a:p>
            <a:pPr>
              <a:spcAft>
                <a:spcPts val="900"/>
              </a:spcAft>
            </a:pPr>
            <a:r>
              <a:rPr sz="1800" b="1" i="0">
                <a:solidFill>
                  <a:srgbClr val="E8801A"/>
                </a:solidFill>
                <a:latin typeface="Montserrat"/>
              </a:rPr>
              <a:t>03   </a:t>
            </a:r>
            <a:r>
              <a:rPr sz="1700" b="0" i="0">
                <a:solidFill>
                  <a:srgbClr val="1B2330"/>
                </a:solidFill>
                <a:latin typeface="Montserrat"/>
              </a:rPr>
              <a:t>Apartados 3 y 4</a:t>
            </a:r>
          </a:p>
          <a:p>
            <a:pPr>
              <a:spcAft>
                <a:spcPts val="900"/>
              </a:spcAft>
            </a:pPr>
            <a:r>
              <a:rPr sz="1800" b="1" i="0">
                <a:solidFill>
                  <a:srgbClr val="E8801A"/>
                </a:solidFill>
                <a:latin typeface="Montserrat"/>
              </a:rPr>
              <a:t>04   </a:t>
            </a:r>
            <a:r>
              <a:rPr sz="1700" b="0" i="0">
                <a:solidFill>
                  <a:srgbClr val="1B2330"/>
                </a:solidFill>
                <a:latin typeface="Montserrat"/>
              </a:rPr>
              <a:t>Apartado 5.1</a:t>
            </a:r>
          </a:p>
          <a:p>
            <a:pPr>
              <a:spcAft>
                <a:spcPts val="900"/>
              </a:spcAft>
            </a:pPr>
            <a:r>
              <a:rPr sz="1800" b="1" i="0">
                <a:solidFill>
                  <a:srgbClr val="E8801A"/>
                </a:solidFill>
                <a:latin typeface="Montserrat"/>
              </a:rPr>
              <a:t>05   </a:t>
            </a:r>
            <a:r>
              <a:rPr sz="1700" b="0" i="0">
                <a:solidFill>
                  <a:srgbClr val="1B2330"/>
                </a:solidFill>
                <a:latin typeface="Montserrat"/>
              </a:rPr>
              <a:t>Apartado 5.2</a:t>
            </a:r>
          </a:p>
          <a:p>
            <a:pPr>
              <a:spcAft>
                <a:spcPts val="900"/>
              </a:spcAft>
            </a:pPr>
            <a:r>
              <a:rPr sz="1800" b="1" i="0">
                <a:solidFill>
                  <a:srgbClr val="E8801A"/>
                </a:solidFill>
                <a:latin typeface="Montserrat"/>
              </a:rPr>
              <a:t>06   </a:t>
            </a:r>
            <a:r>
              <a:rPr sz="1700" b="0" i="0">
                <a:solidFill>
                  <a:srgbClr val="1B2330"/>
                </a:solidFill>
                <a:latin typeface="Montserrat"/>
              </a:rPr>
              <a:t>Apartados 5.3 y 5.4</a:t>
            </a:r>
          </a:p>
          <a:p>
            <a:pPr>
              <a:spcAft>
                <a:spcPts val="900"/>
              </a:spcAft>
            </a:pPr>
            <a:r>
              <a:rPr sz="1800" b="1" i="0">
                <a:solidFill>
                  <a:srgbClr val="E8801A"/>
                </a:solidFill>
                <a:latin typeface="Montserrat"/>
              </a:rPr>
              <a:t>07   </a:t>
            </a:r>
            <a:r>
              <a:rPr sz="1700" b="0" i="0">
                <a:solidFill>
                  <a:srgbClr val="1B2330"/>
                </a:solidFill>
                <a:latin typeface="Montserrat"/>
              </a:rPr>
              <a:t>Apartados 5.5 y 5.6</a:t>
            </a:r>
          </a:p>
          <a:p>
            <a:pPr>
              <a:spcAft>
                <a:spcPts val="900"/>
              </a:spcAft>
            </a:pPr>
            <a:r>
              <a:rPr sz="1800" b="1" i="0">
                <a:solidFill>
                  <a:srgbClr val="E8801A"/>
                </a:solidFill>
                <a:latin typeface="Montserrat"/>
              </a:rPr>
              <a:t>08   </a:t>
            </a:r>
            <a:r>
              <a:rPr sz="1700" b="0" i="0">
                <a:solidFill>
                  <a:srgbClr val="1B2330"/>
                </a:solidFill>
                <a:latin typeface="Montserrat"/>
              </a:rPr>
              <a:t>Apartado 6.1</a:t>
            </a:r>
          </a:p>
          <a:p>
            <a:pPr>
              <a:spcAft>
                <a:spcPts val="900"/>
              </a:spcAft>
            </a:pPr>
            <a:r>
              <a:rPr sz="1800" b="1" i="0">
                <a:solidFill>
                  <a:srgbClr val="E8801A"/>
                </a:solidFill>
                <a:latin typeface="Montserrat"/>
              </a:rPr>
              <a:t>09   </a:t>
            </a:r>
            <a:r>
              <a:rPr sz="1700" b="0" i="0">
                <a:solidFill>
                  <a:srgbClr val="1B2330"/>
                </a:solidFill>
                <a:latin typeface="Montserrat"/>
              </a:rPr>
              <a:t>Apartado 6.2</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004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02 · Plantas satélite de GNL (ITC-ICG 04)</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1 · OBJETO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¿Qué es una planta satélite?</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GNL: gas natural licuado, muy frío</a:t>
            </a:r>
          </a:p>
          <a:p>
            <a:pPr>
              <a:spcAft>
                <a:spcPts val="1100"/>
              </a:spcAft>
            </a:pPr>
            <a:r>
              <a:rPr sz="1600" b="1" i="0">
                <a:solidFill>
                  <a:srgbClr val="E8801A"/>
                </a:solidFill>
                <a:latin typeface="Montserrat"/>
              </a:rPr>
              <a:t>▸  </a:t>
            </a:r>
            <a:r>
              <a:rPr sz="1600" b="0" i="0">
                <a:solidFill>
                  <a:srgbClr val="1B2330"/>
                </a:solidFill>
                <a:latin typeface="Montserrat"/>
              </a:rPr>
              <a:t>Enfriado a unos -160 °C</a:t>
            </a:r>
          </a:p>
          <a:p>
            <a:pPr>
              <a:spcAft>
                <a:spcPts val="1100"/>
              </a:spcAft>
            </a:pPr>
            <a:r>
              <a:rPr sz="1600" b="1" i="0">
                <a:solidFill>
                  <a:srgbClr val="E8801A"/>
                </a:solidFill>
                <a:latin typeface="Montserrat"/>
              </a:rPr>
              <a:t>▸  </a:t>
            </a:r>
            <a:r>
              <a:rPr sz="1600" b="0" i="0">
                <a:solidFill>
                  <a:srgbClr val="1B2330"/>
                </a:solidFill>
                <a:latin typeface="Montserrat"/>
              </a:rPr>
              <a:t>Un gasoducto de mentira</a:t>
            </a:r>
          </a:p>
          <a:p>
            <a:pPr>
              <a:spcAft>
                <a:spcPts val="1100"/>
              </a:spcAft>
            </a:pPr>
            <a:r>
              <a:rPr sz="1600" b="1" i="0">
                <a:solidFill>
                  <a:srgbClr val="E8801A"/>
                </a:solidFill>
                <a:latin typeface="Montserrat"/>
              </a:rPr>
              <a:t>▸  </a:t>
            </a:r>
            <a:r>
              <a:rPr sz="1600" b="0" i="0">
                <a:solidFill>
                  <a:srgbClr val="1B2330"/>
                </a:solidFill>
                <a:latin typeface="Montserrat"/>
              </a:rPr>
              <a:t>El camión llena el depósito local</a:t>
            </a:r>
          </a:p>
        </p:txBody>
      </p:sp>
      <p:sp>
        <p:nvSpPr>
          <p:cNvPr id="9" name="imgph" descr="IMGQ:LNG cryogenic storage tank plant"/>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LNG cryogenic storage tank plant</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005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02 · Plantas satélite de GNL (ITC-ICG 04)</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2 · CAMPO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El techo: 1.000 m³</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Capacidad conjunta hasta 1.000 m³</a:t>
            </a:r>
          </a:p>
          <a:p>
            <a:pPr>
              <a:spcAft>
                <a:spcPts val="1100"/>
              </a:spcAft>
            </a:pPr>
            <a:r>
              <a:rPr sz="1600" b="1" i="0">
                <a:solidFill>
                  <a:srgbClr val="E8801A"/>
                </a:solidFill>
                <a:latin typeface="Montserrat"/>
              </a:rPr>
              <a:t>▸  </a:t>
            </a:r>
            <a:r>
              <a:rPr sz="1600" b="0" i="0">
                <a:solidFill>
                  <a:srgbClr val="1B2330"/>
                </a:solidFill>
                <a:latin typeface="Montserrat"/>
              </a:rPr>
              <a:t>Recambio equivalente: ±10 %</a:t>
            </a:r>
          </a:p>
          <a:p>
            <a:pPr>
              <a:spcAft>
                <a:spcPts val="1100"/>
              </a:spcAft>
            </a:pPr>
            <a:r>
              <a:rPr sz="1600" b="1" i="0">
                <a:solidFill>
                  <a:srgbClr val="E8801A"/>
                </a:solidFill>
                <a:latin typeface="Montserrat"/>
              </a:rPr>
              <a:t>▸  </a:t>
            </a:r>
            <a:r>
              <a:rPr sz="1600" b="0" i="0">
                <a:solidFill>
                  <a:srgbClr val="1B2330"/>
                </a:solidFill>
                <a:latin typeface="Montserrat"/>
              </a:rPr>
              <a:t>Aquí firma el director de obra</a:t>
            </a:r>
          </a:p>
          <a:p>
            <a:pPr>
              <a:spcAft>
                <a:spcPts val="1100"/>
              </a:spcAft>
            </a:pPr>
            <a:r>
              <a:rPr sz="1600" b="1" i="0">
                <a:solidFill>
                  <a:srgbClr val="E8801A"/>
                </a:solidFill>
                <a:latin typeface="Montserrat"/>
              </a:rPr>
              <a:t>▸  </a:t>
            </a:r>
            <a:r>
              <a:rPr sz="1600" b="0" i="0">
                <a:solidFill>
                  <a:srgbClr val="1B2330"/>
                </a:solidFill>
                <a:latin typeface="Montserrat"/>
              </a:rPr>
              <a:t>Mantenimiento: también a las existentes</a:t>
            </a:r>
          </a:p>
        </p:txBody>
      </p:sp>
      <p:sp>
        <p:nvSpPr>
          <p:cNvPr id="9" name="imgph" descr="IMGQ:LNG tanker truck unloading plant"/>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LNG tanker truck unloading plant</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006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02 · Plantas satélite de GNL (ITC-ICG 04)</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APARTADOS 3 Y 4 · NORMA</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UNE 60210 y el criogénico</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Se clasifica según UNE 60210</a:t>
            </a:r>
          </a:p>
          <a:p>
            <a:pPr>
              <a:spcAft>
                <a:spcPts val="1100"/>
              </a:spcAft>
            </a:pPr>
            <a:r>
              <a:rPr sz="1600" b="1" i="0">
                <a:solidFill>
                  <a:srgbClr val="E8801A"/>
                </a:solidFill>
                <a:latin typeface="Montserrat"/>
              </a:rPr>
              <a:t>▸  </a:t>
            </a:r>
            <a:r>
              <a:rPr sz="1600" b="0" i="0">
                <a:solidFill>
                  <a:srgbClr val="1B2330"/>
                </a:solidFill>
                <a:latin typeface="Montserrat"/>
              </a:rPr>
              <a:t>Monta un especialista criogénico</a:t>
            </a:r>
          </a:p>
          <a:p>
            <a:pPr>
              <a:spcAft>
                <a:spcPts val="1100"/>
              </a:spcAft>
            </a:pPr>
            <a:r>
              <a:rPr sz="1600" b="1" i="0">
                <a:solidFill>
                  <a:srgbClr val="E8801A"/>
                </a:solidFill>
                <a:latin typeface="Montserrat"/>
              </a:rPr>
              <a:t>▸  </a:t>
            </a:r>
            <a:r>
              <a:rPr sz="1600" b="0" i="0">
                <a:solidFill>
                  <a:srgbClr val="1B2330"/>
                </a:solidFill>
                <a:latin typeface="Montserrat"/>
              </a:rPr>
              <a:t>No vale un instalador de gas normal</a:t>
            </a:r>
          </a:p>
          <a:p>
            <a:pPr>
              <a:spcAft>
                <a:spcPts val="1100"/>
              </a:spcAft>
            </a:pPr>
            <a:r>
              <a:rPr sz="1600" b="1" i="0">
                <a:solidFill>
                  <a:srgbClr val="E8801A"/>
                </a:solidFill>
                <a:latin typeface="Montserrat"/>
              </a:rPr>
              <a:t>▸  </a:t>
            </a:r>
            <a:r>
              <a:rPr sz="1600" b="0" i="0">
                <a:solidFill>
                  <a:srgbClr val="1B2330"/>
                </a:solidFill>
                <a:latin typeface="Montserrat"/>
              </a:rPr>
              <a:t>GNL → UNE 60210 → criogénico</a:t>
            </a:r>
          </a:p>
        </p:txBody>
      </p:sp>
      <p:sp>
        <p:nvSpPr>
          <p:cNvPr id="9" name="imgph" descr="IMGQ:cryogenic pipes valves industrial"/>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cryogenic pipes valves industrial</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007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02 · Plantas satélite de GNL (ITC-ICG 04)</a:t>
            </a:r>
          </a:p>
        </p:txBody>
      </p:sp>
      <p:sp>
        <p:nvSpPr>
          <p:cNvPr id="5" name="Rectangle 4"/>
          <p:cNvSpPr/>
          <p:nvPr/>
        </p:nvSpPr>
        <p:spPr>
          <a:xfrm>
            <a:off x="0" y="0"/>
            <a:ext cx="12191695" cy="1143000"/>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PREGUNTA RÁPIDA</a:t>
            </a:r>
          </a:p>
        </p:txBody>
      </p:sp>
      <p:sp>
        <p:nvSpPr>
          <p:cNvPr id="7" name="TextBox 6"/>
          <p:cNvSpPr txBox="1"/>
          <p:nvPr/>
        </p:nvSpPr>
        <p:spPr>
          <a:xfrm>
            <a:off x="822960" y="1508760"/>
            <a:ext cx="10515600" cy="1371600"/>
          </a:xfrm>
          <a:prstGeom prst="rect">
            <a:avLst/>
          </a:prstGeom>
          <a:noFill/>
        </p:spPr>
        <p:txBody>
          <a:bodyPr wrap="square">
            <a:spAutoFit/>
          </a:bodyPr>
          <a:lstStyle/>
          <a:p>
            <a:r>
              <a:rPr sz="2400" b="1" i="0">
                <a:solidFill>
                  <a:srgbClr val="1E2761"/>
                </a:solidFill>
                <a:latin typeface="Montserrat"/>
              </a:rPr>
              <a:t>¿Quién debe montar y mantener una planta satélite de GNL?</a:t>
            </a:r>
          </a:p>
        </p:txBody>
      </p:sp>
      <p:sp>
        <p:nvSpPr>
          <p:cNvPr id="8" name="Rounded Rectangle 7"/>
          <p:cNvSpPr/>
          <p:nvPr/>
        </p:nvSpPr>
        <p:spPr>
          <a:xfrm>
            <a:off x="82296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611880"/>
            <a:ext cx="640080" cy="548640"/>
          </a:xfrm>
          <a:prstGeom prst="rect">
            <a:avLst/>
          </a:prstGeom>
          <a:noFill/>
        </p:spPr>
        <p:txBody>
          <a:bodyPr wrap="square">
            <a:spAutoFit/>
          </a:bodyPr>
          <a:lstStyle/>
          <a:p>
            <a:pPr algn="ctr"/>
            <a:r>
              <a:rPr sz="2200" b="1" i="0">
                <a:solidFill>
                  <a:srgbClr val="FFFFFF"/>
                </a:solidFill>
                <a:latin typeface="Montserrat"/>
              </a:rPr>
              <a:t>A</a:t>
            </a:r>
          </a:p>
        </p:txBody>
      </p:sp>
      <p:sp>
        <p:nvSpPr>
          <p:cNvPr id="11" name="TextBox 10"/>
          <p:cNvSpPr txBox="1"/>
          <p:nvPr/>
        </p:nvSpPr>
        <p:spPr>
          <a:xfrm>
            <a:off x="1600200" y="3474720"/>
            <a:ext cx="4114800" cy="868680"/>
          </a:xfrm>
          <a:prstGeom prst="rect">
            <a:avLst/>
          </a:prstGeom>
          <a:noFill/>
        </p:spPr>
        <p:txBody>
          <a:bodyPr wrap="square">
            <a:spAutoFit/>
          </a:bodyPr>
          <a:lstStyle/>
          <a:p>
            <a:r>
              <a:rPr sz="1400" b="0" i="0">
                <a:solidFill>
                  <a:srgbClr val="1B2330"/>
                </a:solidFill>
                <a:latin typeface="Montserrat"/>
              </a:rPr>
              <a:t>Una empresa instaladora de gas normal</a:t>
            </a:r>
          </a:p>
        </p:txBody>
      </p:sp>
      <p:sp>
        <p:nvSpPr>
          <p:cNvPr id="12" name="Rounded Rectangle 11"/>
          <p:cNvSpPr/>
          <p:nvPr/>
        </p:nvSpPr>
        <p:spPr>
          <a:xfrm>
            <a:off x="635508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3611880"/>
            <a:ext cx="640080" cy="548640"/>
          </a:xfrm>
          <a:prstGeom prst="rect">
            <a:avLst/>
          </a:prstGeom>
          <a:noFill/>
        </p:spPr>
        <p:txBody>
          <a:bodyPr wrap="square">
            <a:spAutoFit/>
          </a:bodyPr>
          <a:lstStyle/>
          <a:p>
            <a:pPr algn="ctr"/>
            <a:r>
              <a:rPr sz="2200" b="1" i="0">
                <a:solidFill>
                  <a:srgbClr val="FFFFFF"/>
                </a:solidFill>
                <a:latin typeface="Montserrat"/>
              </a:rPr>
              <a:t>B</a:t>
            </a:r>
          </a:p>
        </p:txBody>
      </p:sp>
      <p:sp>
        <p:nvSpPr>
          <p:cNvPr id="15" name="TextBox 14"/>
          <p:cNvSpPr txBox="1"/>
          <p:nvPr/>
        </p:nvSpPr>
        <p:spPr>
          <a:xfrm>
            <a:off x="7132320" y="3474720"/>
            <a:ext cx="4114800" cy="868680"/>
          </a:xfrm>
          <a:prstGeom prst="rect">
            <a:avLst/>
          </a:prstGeom>
          <a:noFill/>
        </p:spPr>
        <p:txBody>
          <a:bodyPr wrap="square">
            <a:spAutoFit/>
          </a:bodyPr>
          <a:lstStyle/>
          <a:p>
            <a:r>
              <a:rPr sz="1400" b="0" i="0">
                <a:solidFill>
                  <a:srgbClr val="1B2330"/>
                </a:solidFill>
                <a:latin typeface="Montserrat"/>
              </a:rPr>
              <a:t>Un especialista en trabajos criogénicos</a:t>
            </a:r>
          </a:p>
        </p:txBody>
      </p:sp>
      <p:sp>
        <p:nvSpPr>
          <p:cNvPr id="16" name="Rounded Rectangle 15"/>
          <p:cNvSpPr/>
          <p:nvPr/>
        </p:nvSpPr>
        <p:spPr>
          <a:xfrm>
            <a:off x="82296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937760"/>
            <a:ext cx="640080" cy="548640"/>
          </a:xfrm>
          <a:prstGeom prst="rect">
            <a:avLst/>
          </a:prstGeom>
          <a:noFill/>
        </p:spPr>
        <p:txBody>
          <a:bodyPr wrap="square">
            <a:spAutoFit/>
          </a:bodyPr>
          <a:lstStyle/>
          <a:p>
            <a:pPr algn="ctr"/>
            <a:r>
              <a:rPr sz="2200" b="1" i="0">
                <a:solidFill>
                  <a:srgbClr val="FFFFFF"/>
                </a:solidFill>
                <a:latin typeface="Montserrat"/>
              </a:rPr>
              <a:t>C</a:t>
            </a:r>
          </a:p>
        </p:txBody>
      </p:sp>
      <p:sp>
        <p:nvSpPr>
          <p:cNvPr id="19" name="TextBox 18"/>
          <p:cNvSpPr txBox="1"/>
          <p:nvPr/>
        </p:nvSpPr>
        <p:spPr>
          <a:xfrm>
            <a:off x="1600200" y="4800600"/>
            <a:ext cx="4114800" cy="868680"/>
          </a:xfrm>
          <a:prstGeom prst="rect">
            <a:avLst/>
          </a:prstGeom>
          <a:noFill/>
        </p:spPr>
        <p:txBody>
          <a:bodyPr wrap="square">
            <a:spAutoFit/>
          </a:bodyPr>
          <a:lstStyle/>
          <a:p>
            <a:r>
              <a:rPr sz="1400" b="0" i="0">
                <a:solidFill>
                  <a:srgbClr val="1B2330"/>
                </a:solidFill>
                <a:latin typeface="Montserrat"/>
              </a:rPr>
              <a:t>Cualquier titular con carné de Gas B</a:t>
            </a:r>
          </a:p>
        </p:txBody>
      </p:sp>
      <p:sp>
        <p:nvSpPr>
          <p:cNvPr id="20" name="Rounded Rectangle 19"/>
          <p:cNvSpPr/>
          <p:nvPr/>
        </p:nvSpPr>
        <p:spPr>
          <a:xfrm>
            <a:off x="635508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4937760"/>
            <a:ext cx="640080" cy="548640"/>
          </a:xfrm>
          <a:prstGeom prst="rect">
            <a:avLst/>
          </a:prstGeom>
          <a:noFill/>
        </p:spPr>
        <p:txBody>
          <a:bodyPr wrap="square">
            <a:spAutoFit/>
          </a:bodyPr>
          <a:lstStyle/>
          <a:p>
            <a:pPr algn="ctr"/>
            <a:r>
              <a:rPr sz="2200" b="1" i="0">
                <a:solidFill>
                  <a:srgbClr val="FFFFFF"/>
                </a:solidFill>
                <a:latin typeface="Montserrat"/>
              </a:rPr>
              <a:t>D</a:t>
            </a:r>
          </a:p>
        </p:txBody>
      </p:sp>
      <p:sp>
        <p:nvSpPr>
          <p:cNvPr id="23" name="TextBox 22"/>
          <p:cNvSpPr txBox="1"/>
          <p:nvPr/>
        </p:nvSpPr>
        <p:spPr>
          <a:xfrm>
            <a:off x="7132320" y="4800600"/>
            <a:ext cx="4114800" cy="868680"/>
          </a:xfrm>
          <a:prstGeom prst="rect">
            <a:avLst/>
          </a:prstGeom>
          <a:noFill/>
        </p:spPr>
        <p:txBody>
          <a:bodyPr wrap="square">
            <a:spAutoFit/>
          </a:bodyPr>
          <a:lstStyle/>
          <a:p>
            <a:r>
              <a:rPr sz="1400" b="0" i="0">
                <a:solidFill>
                  <a:srgbClr val="1B2330"/>
                </a:solidFill>
                <a:latin typeface="Montserrat"/>
              </a:rPr>
              <a:t>El organismo de control</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008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02 · Plantas satélite de GNL (ITC-ICG 04)</a:t>
            </a:r>
          </a:p>
        </p:txBody>
      </p:sp>
      <p:sp>
        <p:nvSpPr>
          <p:cNvPr id="5" name="Rectangle 4"/>
          <p:cNvSpPr/>
          <p:nvPr/>
        </p:nvSpPr>
        <p:spPr>
          <a:xfrm>
            <a:off x="0" y="0"/>
            <a:ext cx="12191695" cy="1143000"/>
          </a:xfrm>
          <a:prstGeom prst="rect">
            <a:avLst/>
          </a:prstGeom>
          <a:solidFill>
            <a:srgbClr val="1E8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RESPUESTA:  B</a:t>
            </a:r>
          </a:p>
        </p:txBody>
      </p:sp>
      <p:sp>
        <p:nvSpPr>
          <p:cNvPr id="7" name="TextBox 6"/>
          <p:cNvSpPr txBox="1"/>
          <p:nvPr/>
        </p:nvSpPr>
        <p:spPr>
          <a:xfrm>
            <a:off x="822960" y="1417320"/>
            <a:ext cx="10515600" cy="914400"/>
          </a:xfrm>
          <a:prstGeom prst="rect">
            <a:avLst/>
          </a:prstGeom>
          <a:noFill/>
        </p:spPr>
        <p:txBody>
          <a:bodyPr wrap="square">
            <a:spAutoFit/>
          </a:bodyPr>
          <a:lstStyle/>
          <a:p>
            <a:r>
              <a:rPr sz="1800" b="1" i="0">
                <a:solidFill>
                  <a:srgbClr val="64748B"/>
                </a:solidFill>
                <a:latin typeface="Montserrat"/>
              </a:rPr>
              <a:t>¿Quién debe montar y mantener una planta satélite de GNL?</a:t>
            </a:r>
          </a:p>
        </p:txBody>
      </p:sp>
      <p:sp>
        <p:nvSpPr>
          <p:cNvPr id="8" name="Rounded Rectangle 7"/>
          <p:cNvSpPr/>
          <p:nvPr/>
        </p:nvSpPr>
        <p:spPr>
          <a:xfrm>
            <a:off x="822960" y="2514600"/>
            <a:ext cx="10515600" cy="914400"/>
          </a:xfrm>
          <a:prstGeom prst="roundRect">
            <a:avLst/>
          </a:prstGeom>
          <a:solidFill>
            <a:srgbClr val="E9F6EE"/>
          </a:solidFill>
          <a:ln w="12700">
            <a:solidFill>
              <a:srgbClr val="1E8E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697480"/>
            <a:ext cx="10058400" cy="640080"/>
          </a:xfrm>
          <a:prstGeom prst="rect">
            <a:avLst/>
          </a:prstGeom>
          <a:noFill/>
        </p:spPr>
        <p:txBody>
          <a:bodyPr wrap="square">
            <a:spAutoFit/>
          </a:bodyPr>
          <a:lstStyle/>
          <a:p>
            <a:r>
              <a:rPr sz="1800" b="1" i="0">
                <a:solidFill>
                  <a:srgbClr val="1E8E4B"/>
                </a:solidFill>
                <a:latin typeface="Montserrat"/>
              </a:rPr>
              <a:t>B.  </a:t>
            </a:r>
            <a:r>
              <a:rPr sz="1800" b="1" i="0">
                <a:solidFill>
                  <a:srgbClr val="1E2761"/>
                </a:solidFill>
                <a:latin typeface="Montserrat"/>
              </a:rPr>
              <a:t>Un especialista en trabajos criogénicos</a:t>
            </a:r>
          </a:p>
        </p:txBody>
      </p:sp>
      <p:sp>
        <p:nvSpPr>
          <p:cNvPr id="10" name="TextBox 9"/>
          <p:cNvSpPr txBox="1"/>
          <p:nvPr/>
        </p:nvSpPr>
        <p:spPr>
          <a:xfrm>
            <a:off x="822960" y="3749039"/>
            <a:ext cx="10515600" cy="2194560"/>
          </a:xfrm>
          <a:prstGeom prst="rect">
            <a:avLst/>
          </a:prstGeom>
          <a:noFill/>
        </p:spPr>
        <p:txBody>
          <a:bodyPr wrap="square">
            <a:spAutoFit/>
          </a:bodyPr>
          <a:lstStyle/>
          <a:p>
            <a:r>
              <a:rPr sz="1500" b="1" i="0">
                <a:solidFill>
                  <a:srgbClr val="E8801A"/>
                </a:solidFill>
                <a:latin typeface="Montserrat"/>
              </a:rPr>
              <a:t>Por qué:  </a:t>
            </a:r>
            <a:r>
              <a:rPr sz="1500" b="0" i="0">
                <a:solidFill>
                  <a:srgbClr val="1B2330"/>
                </a:solidFill>
                <a:latin typeface="Montserrat"/>
              </a:rPr>
              <a:t>El GNL está a unos -160 °C: exige una empresa especializada en trabajos criogénicos, no un instalador corriente.</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009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02 · Plantas satélite de GNL (ITC-ICG 04)</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5.1 · AUTORIZACIÓN</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Aquí sí, casi siempre</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Autorización previa a construir</a:t>
            </a:r>
          </a:p>
          <a:p>
            <a:pPr>
              <a:spcAft>
                <a:spcPts val="1100"/>
              </a:spcAft>
            </a:pPr>
            <a:r>
              <a:rPr sz="1600" b="1" i="0">
                <a:solidFill>
                  <a:srgbClr val="E8801A"/>
                </a:solidFill>
                <a:latin typeface="Montserrat"/>
              </a:rPr>
              <a:t>▸  </a:t>
            </a:r>
            <a:r>
              <a:rPr sz="1600" b="0" i="0">
                <a:solidFill>
                  <a:srgbClr val="1B2330"/>
                </a:solidFill>
                <a:latin typeface="Montserrat"/>
              </a:rPr>
              <a:t>La otorga la Comunidad Autónoma</a:t>
            </a:r>
          </a:p>
          <a:p>
            <a:pPr>
              <a:spcAft>
                <a:spcPts val="1100"/>
              </a:spcAft>
            </a:pPr>
            <a:r>
              <a:rPr sz="1600" b="1" i="0">
                <a:solidFill>
                  <a:srgbClr val="E8801A"/>
                </a:solidFill>
                <a:latin typeface="Montserrat"/>
              </a:rPr>
              <a:t>▸  </a:t>
            </a:r>
            <a:r>
              <a:rPr sz="1600" b="0" i="0">
                <a:solidFill>
                  <a:srgbClr val="1B2330"/>
                </a:solidFill>
                <a:latin typeface="Montserrat"/>
              </a:rPr>
              <a:t>Excepción: uso propio y exclusivo</a:t>
            </a:r>
          </a:p>
          <a:p>
            <a:pPr>
              <a:spcAft>
                <a:spcPts val="1100"/>
              </a:spcAft>
            </a:pPr>
            <a:r>
              <a:rPr sz="1600" b="1" i="0">
                <a:solidFill>
                  <a:srgbClr val="E8801A"/>
                </a:solidFill>
                <a:latin typeface="Montserrat"/>
              </a:rPr>
              <a:t>▸  </a:t>
            </a:r>
            <a:r>
              <a:rPr sz="1600" b="0" i="0">
                <a:solidFill>
                  <a:srgbClr val="1B2330"/>
                </a:solidFill>
                <a:latin typeface="Montserrat"/>
              </a:rPr>
              <a:t>Se solicita con proyecto y modelo oficial</a:t>
            </a:r>
          </a:p>
        </p:txBody>
      </p:sp>
      <p:sp>
        <p:nvSpPr>
          <p:cNvPr id="9" name="imgph" descr="IMGQ:government permit stamp document"/>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government permit stamp document</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010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02 · Plantas satélite de GNL (ITC-ICG 04)</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5.2 · DOCUMENTACIÓN</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Siempre proyecto</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Toda planta de GNL exige proyecto</a:t>
            </a:r>
          </a:p>
          <a:p>
            <a:pPr>
              <a:spcAft>
                <a:spcPts val="1100"/>
              </a:spcAft>
            </a:pPr>
            <a:r>
              <a:rPr sz="1600" b="1" i="0">
                <a:solidFill>
                  <a:srgbClr val="E8801A"/>
                </a:solidFill>
                <a:latin typeface="Montserrat"/>
              </a:rPr>
              <a:t>▸  </a:t>
            </a:r>
            <a:r>
              <a:rPr sz="1600" b="0" i="0">
                <a:solidFill>
                  <a:srgbClr val="1B2330"/>
                </a:solidFill>
                <a:latin typeface="Montserrat"/>
              </a:rPr>
              <a:t>Lo firma técnico facultativo competente</a:t>
            </a:r>
          </a:p>
          <a:p>
            <a:pPr>
              <a:spcAft>
                <a:spcPts val="1100"/>
              </a:spcAft>
            </a:pPr>
            <a:r>
              <a:rPr sz="1600" b="1" i="0">
                <a:solidFill>
                  <a:srgbClr val="E8801A"/>
                </a:solidFill>
                <a:latin typeface="Montserrat"/>
              </a:rPr>
              <a:t>▸  </a:t>
            </a:r>
            <a:r>
              <a:rPr sz="1600" b="0" i="0">
                <a:solidFill>
                  <a:srgbClr val="1B2330"/>
                </a:solidFill>
                <a:latin typeface="Montserrat"/>
              </a:rPr>
              <a:t>Nada de memoria técnica</a:t>
            </a:r>
          </a:p>
          <a:p>
            <a:pPr>
              <a:spcAft>
                <a:spcPts val="1100"/>
              </a:spcAft>
            </a:pPr>
            <a:r>
              <a:rPr sz="1600" b="1" i="0">
                <a:solidFill>
                  <a:srgbClr val="E8801A"/>
                </a:solidFill>
                <a:latin typeface="Montserrat"/>
              </a:rPr>
              <a:t>▸  </a:t>
            </a:r>
            <a:r>
              <a:rPr sz="1600" b="0" i="0">
                <a:solidFill>
                  <a:srgbClr val="1B2330"/>
                </a:solidFill>
                <a:latin typeface="Montserrat"/>
              </a:rPr>
              <a:t>Extra: planes de emergencia</a:t>
            </a:r>
          </a:p>
        </p:txBody>
      </p:sp>
      <p:sp>
        <p:nvSpPr>
          <p:cNvPr id="9" name="imgph" descr="IMGQ:safety emergency plan engineering documents"/>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safety emergency plan engineering documents</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011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02 · Plantas satélite de GNL (ITC-ICG 04)</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APARTADOS 5.3 Y 5.4 · CERTIFICADOS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Dos papeles y hay gas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Pruebas en obra: organismo de control</a:t>
            </a:r>
          </a:p>
          <a:p>
            <a:pPr>
              <a:spcAft>
                <a:spcPts val="1100"/>
              </a:spcAft>
            </a:pPr>
            <a:r>
              <a:rPr sz="1600" b="1" i="0">
                <a:solidFill>
                  <a:srgbClr val="E8801A"/>
                </a:solidFill>
                <a:latin typeface="Montserrat"/>
              </a:rPr>
              <a:t>▸  </a:t>
            </a:r>
            <a:r>
              <a:rPr sz="1600" b="0" i="0">
                <a:solidFill>
                  <a:srgbClr val="1B2330"/>
                </a:solidFill>
                <a:latin typeface="Montserrat"/>
              </a:rPr>
              <a:t>Certificado de dirección de obra</a:t>
            </a:r>
          </a:p>
          <a:p>
            <a:pPr>
              <a:spcAft>
                <a:spcPts val="1100"/>
              </a:spcAft>
            </a:pPr>
            <a:r>
              <a:rPr sz="1600" b="1" i="0">
                <a:solidFill>
                  <a:srgbClr val="E8801A"/>
                </a:solidFill>
                <a:latin typeface="Montserrat"/>
              </a:rPr>
              <a:t>▸  </a:t>
            </a:r>
            <a:r>
              <a:rPr sz="1600" b="0" i="0">
                <a:solidFill>
                  <a:srgbClr val="1B2330"/>
                </a:solidFill>
                <a:latin typeface="Montserrat"/>
              </a:rPr>
              <a:t>Certificado de inspección</a:t>
            </a:r>
          </a:p>
          <a:p>
            <a:pPr>
              <a:spcAft>
                <a:spcPts val="1100"/>
              </a:spcAft>
            </a:pPr>
            <a:r>
              <a:rPr sz="1600" b="1" i="0">
                <a:solidFill>
                  <a:srgbClr val="E8801A"/>
                </a:solidFill>
                <a:latin typeface="Montserrat"/>
              </a:rPr>
              <a:t>▸  </a:t>
            </a:r>
            <a:r>
              <a:rPr sz="1600" b="0" i="0">
                <a:solidFill>
                  <a:srgbClr val="1B2330"/>
                </a:solidFill>
                <a:latin typeface="Montserrat"/>
              </a:rPr>
              <a:t>Aquí no hay certificado de instalación</a:t>
            </a:r>
          </a:p>
        </p:txBody>
      </p:sp>
      <p:sp>
        <p:nvSpPr>
          <p:cNvPr id="9" name="imgph" descr="IMGQ:inspector signing certificate site"/>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inspector signing certificate site</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012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02 · Plantas satélite de GNL (ITC-ICG 04)</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APARTADOS 5.5 Y 5.6 · COMUNICACIÓN</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15 días hábiles, no naturales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Con los dos certificados: primer llenado</a:t>
            </a:r>
          </a:p>
          <a:p>
            <a:pPr>
              <a:spcAft>
                <a:spcPts val="1100"/>
              </a:spcAft>
            </a:pPr>
            <a:r>
              <a:rPr sz="1600" b="1" i="0">
                <a:solidFill>
                  <a:srgbClr val="E8801A"/>
                </a:solidFill>
                <a:latin typeface="Montserrat"/>
              </a:rPr>
              <a:t>▸  </a:t>
            </a:r>
            <a:r>
              <a:rPr sz="1600" b="0" i="0">
                <a:solidFill>
                  <a:srgbClr val="1B2330"/>
                </a:solidFill>
                <a:latin typeface="Montserrat"/>
              </a:rPr>
              <a:t>Comunicar en 15 días hábiles</a:t>
            </a:r>
          </a:p>
          <a:p>
            <a:pPr>
              <a:spcAft>
                <a:spcPts val="1100"/>
              </a:spcAft>
            </a:pPr>
            <a:r>
              <a:rPr sz="1600" b="1" i="0">
                <a:solidFill>
                  <a:srgbClr val="E8801A"/>
                </a:solidFill>
                <a:latin typeface="Montserrat"/>
              </a:rPr>
              <a:t>▸  </a:t>
            </a:r>
            <a:r>
              <a:rPr sz="1600" b="0" i="0">
                <a:solidFill>
                  <a:srgbClr val="1B2330"/>
                </a:solidFill>
                <a:latin typeface="Montserrat"/>
              </a:rPr>
              <a:t>Por duplicado a la Comunidad Autónoma</a:t>
            </a:r>
          </a:p>
          <a:p>
            <a:pPr>
              <a:spcAft>
                <a:spcPts val="1100"/>
              </a:spcAft>
            </a:pPr>
            <a:r>
              <a:rPr sz="1600" b="1" i="0">
                <a:solidFill>
                  <a:srgbClr val="E8801A"/>
                </a:solidFill>
                <a:latin typeface="Montserrat"/>
              </a:rPr>
              <a:t>▸  </a:t>
            </a:r>
            <a:r>
              <a:rPr sz="1600" b="0" i="0">
                <a:solidFill>
                  <a:srgbClr val="1B2330"/>
                </a:solidFill>
                <a:latin typeface="Montserrat"/>
              </a:rPr>
              <a:t>No confundir con los 30 del articulado</a:t>
            </a:r>
          </a:p>
        </p:txBody>
      </p:sp>
      <p:sp>
        <p:nvSpPr>
          <p:cNvPr id="9" name="imgph" descr="IMGQ:calendar deadline paperwork desk"/>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calendar deadline paperwork desk</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013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02 · Plantas satélite de GNL (ITC-ICG 04)</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6.1 · MANTENIMIENTO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Mismo esqueleto, con el criogénico</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Contrato con especialista criogénico</a:t>
            </a:r>
          </a:p>
          <a:p>
            <a:pPr>
              <a:spcAft>
                <a:spcPts val="1100"/>
              </a:spcAft>
            </a:pPr>
            <a:r>
              <a:rPr sz="1600" b="1" i="0">
                <a:solidFill>
                  <a:srgbClr val="E8801A"/>
                </a:solidFill>
                <a:latin typeface="Montserrat"/>
              </a:rPr>
              <a:t>▸  </a:t>
            </a:r>
            <a:r>
              <a:rPr sz="1600" b="0" i="0">
                <a:solidFill>
                  <a:srgbClr val="1B2330"/>
                </a:solidFill>
                <a:latin typeface="Montserrat"/>
              </a:rPr>
              <a:t>Servicio de urgencias permanente</a:t>
            </a:r>
          </a:p>
          <a:p>
            <a:pPr>
              <a:spcAft>
                <a:spcPts val="1100"/>
              </a:spcAft>
            </a:pPr>
            <a:r>
              <a:rPr sz="1600" b="1" i="0">
                <a:solidFill>
                  <a:srgbClr val="E8801A"/>
                </a:solidFill>
                <a:latin typeface="Montserrat"/>
              </a:rPr>
              <a:t>▸  </a:t>
            </a:r>
            <a:r>
              <a:rPr sz="1600" b="0" i="0">
                <a:solidFill>
                  <a:srgbClr val="1B2330"/>
                </a:solidFill>
                <a:latin typeface="Montserrat"/>
              </a:rPr>
              <a:t>Libro de Mantenimiento o archivo</a:t>
            </a:r>
          </a:p>
          <a:p>
            <a:pPr>
              <a:spcAft>
                <a:spcPts val="1100"/>
              </a:spcAft>
            </a:pPr>
            <a:r>
              <a:rPr sz="1600" b="1" i="0">
                <a:solidFill>
                  <a:srgbClr val="E8801A"/>
                </a:solidFill>
                <a:latin typeface="Montserrat"/>
              </a:rPr>
              <a:t>▸  </a:t>
            </a:r>
            <a:r>
              <a:rPr sz="1600" b="0" i="0">
                <a:solidFill>
                  <a:srgbClr val="1B2330"/>
                </a:solidFill>
                <a:latin typeface="Montserrat"/>
              </a:rPr>
              <a:t>Posible exención si tienes medios</a:t>
            </a:r>
          </a:p>
        </p:txBody>
      </p:sp>
      <p:sp>
        <p:nvSpPr>
          <p:cNvPr id="9" name="imgph" descr="IMGQ:maintenance engineer cryogenic plant"/>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maintenance engineer cryogenic plant</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014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02 · Plantas satélite de GNL (ITC-ICG 04)</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6.2 · CONTROLES</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Cada 5 años y la fórmula V × P</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Control periódico cada 5 años</a:t>
            </a:r>
          </a:p>
          <a:p>
            <a:pPr>
              <a:spcAft>
                <a:spcPts val="1100"/>
              </a:spcAft>
            </a:pPr>
            <a:r>
              <a:rPr sz="1600" b="1" i="0">
                <a:solidFill>
                  <a:srgbClr val="E8801A"/>
                </a:solidFill>
                <a:latin typeface="Montserrat"/>
              </a:rPr>
              <a:t>▸  </a:t>
            </a:r>
            <a:r>
              <a:rPr sz="1600" b="0" i="0">
                <a:solidFill>
                  <a:srgbClr val="1B2330"/>
                </a:solidFill>
                <a:latin typeface="Montserrat"/>
              </a:rPr>
              <a:t>V × P: volumen por presión máxima</a:t>
            </a:r>
          </a:p>
          <a:p>
            <a:pPr>
              <a:spcAft>
                <a:spcPts val="1100"/>
              </a:spcAft>
            </a:pPr>
            <a:r>
              <a:rPr sz="1600" b="1" i="0">
                <a:solidFill>
                  <a:srgbClr val="E8801A"/>
                </a:solidFill>
                <a:latin typeface="Montserrat"/>
              </a:rPr>
              <a:t>▸  </a:t>
            </a:r>
            <a:r>
              <a:rPr sz="1600" b="0" i="0">
                <a:solidFill>
                  <a:srgbClr val="1B2330"/>
                </a:solidFill>
                <a:latin typeface="Montserrat"/>
              </a:rPr>
              <a:t>300 o menos: criogénico o usuario vale</a:t>
            </a:r>
          </a:p>
          <a:p>
            <a:pPr>
              <a:spcAft>
                <a:spcPts val="1100"/>
              </a:spcAft>
            </a:pPr>
            <a:r>
              <a:rPr sz="1600" b="1" i="0">
                <a:solidFill>
                  <a:srgbClr val="E8801A"/>
                </a:solidFill>
                <a:latin typeface="Montserrat"/>
              </a:rPr>
              <a:t>▸  </a:t>
            </a:r>
            <a:r>
              <a:rPr sz="1600" b="0" i="0">
                <a:solidFill>
                  <a:srgbClr val="1B2330"/>
                </a:solidFill>
                <a:latin typeface="Montserrat"/>
              </a:rPr>
              <a:t>Más de 300: obligatorio organismo de control</a:t>
            </a:r>
          </a:p>
        </p:txBody>
      </p:sp>
      <p:sp>
        <p:nvSpPr>
          <p:cNvPr id="9" name="imgph" descr="IMGQ:pressure gauge cryogenic tank"/>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pressure gauge cryogenic tank</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015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02 · Plantas satélite de GNL (ITC-ICG 04)</a:t>
            </a:r>
          </a:p>
        </p:txBody>
      </p:sp>
      <p:sp>
        <p:nvSpPr>
          <p:cNvPr id="5" name="Rectangle 4"/>
          <p:cNvSpPr/>
          <p:nvPr/>
        </p:nvSpPr>
        <p:spPr>
          <a:xfrm>
            <a:off x="0" y="0"/>
            <a:ext cx="12191695" cy="1143000"/>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PREGUNTA RÁPIDA</a:t>
            </a:r>
          </a:p>
        </p:txBody>
      </p:sp>
      <p:sp>
        <p:nvSpPr>
          <p:cNvPr id="7" name="TextBox 6"/>
          <p:cNvSpPr txBox="1"/>
          <p:nvPr/>
        </p:nvSpPr>
        <p:spPr>
          <a:xfrm>
            <a:off x="822960" y="1508760"/>
            <a:ext cx="10515600" cy="1371600"/>
          </a:xfrm>
          <a:prstGeom prst="rect">
            <a:avLst/>
          </a:prstGeom>
          <a:noFill/>
        </p:spPr>
        <p:txBody>
          <a:bodyPr wrap="square">
            <a:spAutoFit/>
          </a:bodyPr>
          <a:lstStyle/>
          <a:p>
            <a:r>
              <a:rPr sz="2400" b="1" i="0">
                <a:solidFill>
                  <a:srgbClr val="1E2761"/>
                </a:solidFill>
                <a:latin typeface="Montserrat"/>
              </a:rPr>
              <a:t>En el control de una planta de GNL, si V × P supera 300, ¿quién debe hacerlo?</a:t>
            </a:r>
          </a:p>
        </p:txBody>
      </p:sp>
      <p:sp>
        <p:nvSpPr>
          <p:cNvPr id="8" name="Rounded Rectangle 7"/>
          <p:cNvSpPr/>
          <p:nvPr/>
        </p:nvSpPr>
        <p:spPr>
          <a:xfrm>
            <a:off x="82296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611880"/>
            <a:ext cx="640080" cy="548640"/>
          </a:xfrm>
          <a:prstGeom prst="rect">
            <a:avLst/>
          </a:prstGeom>
          <a:noFill/>
        </p:spPr>
        <p:txBody>
          <a:bodyPr wrap="square">
            <a:spAutoFit/>
          </a:bodyPr>
          <a:lstStyle/>
          <a:p>
            <a:pPr algn="ctr"/>
            <a:r>
              <a:rPr sz="2200" b="1" i="0">
                <a:solidFill>
                  <a:srgbClr val="FFFFFF"/>
                </a:solidFill>
                <a:latin typeface="Montserrat"/>
              </a:rPr>
              <a:t>A</a:t>
            </a:r>
          </a:p>
        </p:txBody>
      </p:sp>
      <p:sp>
        <p:nvSpPr>
          <p:cNvPr id="11" name="TextBox 10"/>
          <p:cNvSpPr txBox="1"/>
          <p:nvPr/>
        </p:nvSpPr>
        <p:spPr>
          <a:xfrm>
            <a:off x="1600200" y="3474720"/>
            <a:ext cx="4114800" cy="868680"/>
          </a:xfrm>
          <a:prstGeom prst="rect">
            <a:avLst/>
          </a:prstGeom>
          <a:noFill/>
        </p:spPr>
        <p:txBody>
          <a:bodyPr wrap="square">
            <a:spAutoFit/>
          </a:bodyPr>
          <a:lstStyle/>
          <a:p>
            <a:r>
              <a:rPr sz="1400" b="0" i="0">
                <a:solidFill>
                  <a:srgbClr val="1B2330"/>
                </a:solidFill>
                <a:latin typeface="Montserrat"/>
              </a:rPr>
              <a:t>El propio usuario</a:t>
            </a:r>
          </a:p>
        </p:txBody>
      </p:sp>
      <p:sp>
        <p:nvSpPr>
          <p:cNvPr id="12" name="Rounded Rectangle 11"/>
          <p:cNvSpPr/>
          <p:nvPr/>
        </p:nvSpPr>
        <p:spPr>
          <a:xfrm>
            <a:off x="6355080" y="329184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80" y="329184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3611880"/>
            <a:ext cx="640080" cy="548640"/>
          </a:xfrm>
          <a:prstGeom prst="rect">
            <a:avLst/>
          </a:prstGeom>
          <a:noFill/>
        </p:spPr>
        <p:txBody>
          <a:bodyPr wrap="square">
            <a:spAutoFit/>
          </a:bodyPr>
          <a:lstStyle/>
          <a:p>
            <a:pPr algn="ctr"/>
            <a:r>
              <a:rPr sz="2200" b="1" i="0">
                <a:solidFill>
                  <a:srgbClr val="FFFFFF"/>
                </a:solidFill>
                <a:latin typeface="Montserrat"/>
              </a:rPr>
              <a:t>B</a:t>
            </a:r>
          </a:p>
        </p:txBody>
      </p:sp>
      <p:sp>
        <p:nvSpPr>
          <p:cNvPr id="15" name="TextBox 14"/>
          <p:cNvSpPr txBox="1"/>
          <p:nvPr/>
        </p:nvSpPr>
        <p:spPr>
          <a:xfrm>
            <a:off x="7132320" y="3474720"/>
            <a:ext cx="4114800" cy="868680"/>
          </a:xfrm>
          <a:prstGeom prst="rect">
            <a:avLst/>
          </a:prstGeom>
          <a:noFill/>
        </p:spPr>
        <p:txBody>
          <a:bodyPr wrap="square">
            <a:spAutoFit/>
          </a:bodyPr>
          <a:lstStyle/>
          <a:p>
            <a:r>
              <a:rPr sz="1400" b="0" i="0">
                <a:solidFill>
                  <a:srgbClr val="1B2330"/>
                </a:solidFill>
                <a:latin typeface="Montserrat"/>
              </a:rPr>
              <a:t>El especialista criogénico</a:t>
            </a:r>
          </a:p>
        </p:txBody>
      </p:sp>
      <p:sp>
        <p:nvSpPr>
          <p:cNvPr id="16" name="Rounded Rectangle 15"/>
          <p:cNvSpPr/>
          <p:nvPr/>
        </p:nvSpPr>
        <p:spPr>
          <a:xfrm>
            <a:off x="82296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937760"/>
            <a:ext cx="640080" cy="548640"/>
          </a:xfrm>
          <a:prstGeom prst="rect">
            <a:avLst/>
          </a:prstGeom>
          <a:noFill/>
        </p:spPr>
        <p:txBody>
          <a:bodyPr wrap="square">
            <a:spAutoFit/>
          </a:bodyPr>
          <a:lstStyle/>
          <a:p>
            <a:pPr algn="ctr"/>
            <a:r>
              <a:rPr sz="2200" b="1" i="0">
                <a:solidFill>
                  <a:srgbClr val="FFFFFF"/>
                </a:solidFill>
                <a:latin typeface="Montserrat"/>
              </a:rPr>
              <a:t>C</a:t>
            </a:r>
          </a:p>
        </p:txBody>
      </p:sp>
      <p:sp>
        <p:nvSpPr>
          <p:cNvPr id="19" name="TextBox 18"/>
          <p:cNvSpPr txBox="1"/>
          <p:nvPr/>
        </p:nvSpPr>
        <p:spPr>
          <a:xfrm>
            <a:off x="1600200" y="4800600"/>
            <a:ext cx="4114800" cy="868680"/>
          </a:xfrm>
          <a:prstGeom prst="rect">
            <a:avLst/>
          </a:prstGeom>
          <a:noFill/>
        </p:spPr>
        <p:txBody>
          <a:bodyPr wrap="square">
            <a:spAutoFit/>
          </a:bodyPr>
          <a:lstStyle/>
          <a:p>
            <a:r>
              <a:rPr sz="1400" b="0" i="0">
                <a:solidFill>
                  <a:srgbClr val="1B2330"/>
                </a:solidFill>
                <a:latin typeface="Montserrat"/>
              </a:rPr>
              <a:t>Obligatoriamente un organismo de control</a:t>
            </a:r>
          </a:p>
        </p:txBody>
      </p:sp>
      <p:sp>
        <p:nvSpPr>
          <p:cNvPr id="20" name="Rounded Rectangle 19"/>
          <p:cNvSpPr/>
          <p:nvPr/>
        </p:nvSpPr>
        <p:spPr>
          <a:xfrm>
            <a:off x="6355080" y="4617720"/>
            <a:ext cx="4983480" cy="1143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4617720"/>
            <a:ext cx="640080" cy="1143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4937760"/>
            <a:ext cx="640080" cy="548640"/>
          </a:xfrm>
          <a:prstGeom prst="rect">
            <a:avLst/>
          </a:prstGeom>
          <a:noFill/>
        </p:spPr>
        <p:txBody>
          <a:bodyPr wrap="square">
            <a:spAutoFit/>
          </a:bodyPr>
          <a:lstStyle/>
          <a:p>
            <a:pPr algn="ctr"/>
            <a:r>
              <a:rPr sz="2200" b="1" i="0">
                <a:solidFill>
                  <a:srgbClr val="FFFFFF"/>
                </a:solidFill>
                <a:latin typeface="Montserrat"/>
              </a:rPr>
              <a:t>D</a:t>
            </a:r>
          </a:p>
        </p:txBody>
      </p:sp>
      <p:sp>
        <p:nvSpPr>
          <p:cNvPr id="23" name="TextBox 22"/>
          <p:cNvSpPr txBox="1"/>
          <p:nvPr/>
        </p:nvSpPr>
        <p:spPr>
          <a:xfrm>
            <a:off x="7132320" y="4800600"/>
            <a:ext cx="4114800" cy="868680"/>
          </a:xfrm>
          <a:prstGeom prst="rect">
            <a:avLst/>
          </a:prstGeom>
          <a:noFill/>
        </p:spPr>
        <p:txBody>
          <a:bodyPr wrap="square">
            <a:spAutoFit/>
          </a:bodyPr>
          <a:lstStyle/>
          <a:p>
            <a:r>
              <a:rPr sz="1400" b="0" i="0">
                <a:solidFill>
                  <a:srgbClr val="1B2330"/>
                </a:solidFill>
                <a:latin typeface="Montserrat"/>
              </a:rPr>
              <a:t>No hace falta ningún control</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016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02 · Plantas satélite de GNL (ITC-ICG 04)</a:t>
            </a:r>
          </a:p>
        </p:txBody>
      </p:sp>
      <p:sp>
        <p:nvSpPr>
          <p:cNvPr id="5" name="Rectangle 4"/>
          <p:cNvSpPr/>
          <p:nvPr/>
        </p:nvSpPr>
        <p:spPr>
          <a:xfrm>
            <a:off x="0" y="0"/>
            <a:ext cx="12191695" cy="1143000"/>
          </a:xfrm>
          <a:prstGeom prst="rect">
            <a:avLst/>
          </a:prstGeom>
          <a:solidFill>
            <a:srgbClr val="1E8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74320"/>
            <a:ext cx="10515600" cy="640080"/>
          </a:xfrm>
          <a:prstGeom prst="rect">
            <a:avLst/>
          </a:prstGeom>
          <a:noFill/>
        </p:spPr>
        <p:txBody>
          <a:bodyPr wrap="square">
            <a:spAutoFit/>
          </a:bodyPr>
          <a:lstStyle/>
          <a:p>
            <a:r>
              <a:rPr sz="2400" b="1" i="0">
                <a:solidFill>
                  <a:srgbClr val="FFFFFF"/>
                </a:solidFill>
                <a:latin typeface="Montserrat"/>
              </a:rPr>
              <a:t>✔  RESPUESTA:  C</a:t>
            </a:r>
          </a:p>
        </p:txBody>
      </p:sp>
      <p:sp>
        <p:nvSpPr>
          <p:cNvPr id="7" name="TextBox 6"/>
          <p:cNvSpPr txBox="1"/>
          <p:nvPr/>
        </p:nvSpPr>
        <p:spPr>
          <a:xfrm>
            <a:off x="822960" y="1417320"/>
            <a:ext cx="10515600" cy="914400"/>
          </a:xfrm>
          <a:prstGeom prst="rect">
            <a:avLst/>
          </a:prstGeom>
          <a:noFill/>
        </p:spPr>
        <p:txBody>
          <a:bodyPr wrap="square">
            <a:spAutoFit/>
          </a:bodyPr>
          <a:lstStyle/>
          <a:p>
            <a:r>
              <a:rPr sz="1800" b="1" i="0">
                <a:solidFill>
                  <a:srgbClr val="64748B"/>
                </a:solidFill>
                <a:latin typeface="Montserrat"/>
              </a:rPr>
              <a:t>En el control de una planta de GNL, si V × P supera 300, ¿quién debe hacerlo?</a:t>
            </a:r>
          </a:p>
        </p:txBody>
      </p:sp>
      <p:sp>
        <p:nvSpPr>
          <p:cNvPr id="8" name="Rounded Rectangle 7"/>
          <p:cNvSpPr/>
          <p:nvPr/>
        </p:nvSpPr>
        <p:spPr>
          <a:xfrm>
            <a:off x="822960" y="2514600"/>
            <a:ext cx="10515600" cy="914400"/>
          </a:xfrm>
          <a:prstGeom prst="roundRect">
            <a:avLst/>
          </a:prstGeom>
          <a:solidFill>
            <a:srgbClr val="E9F6EE"/>
          </a:solidFill>
          <a:ln w="12700">
            <a:solidFill>
              <a:srgbClr val="1E8E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697480"/>
            <a:ext cx="10058400" cy="640080"/>
          </a:xfrm>
          <a:prstGeom prst="rect">
            <a:avLst/>
          </a:prstGeom>
          <a:noFill/>
        </p:spPr>
        <p:txBody>
          <a:bodyPr wrap="square">
            <a:spAutoFit/>
          </a:bodyPr>
          <a:lstStyle/>
          <a:p>
            <a:r>
              <a:rPr sz="1800" b="1" i="0">
                <a:solidFill>
                  <a:srgbClr val="1E8E4B"/>
                </a:solidFill>
                <a:latin typeface="Montserrat"/>
              </a:rPr>
              <a:t>C.  </a:t>
            </a:r>
            <a:r>
              <a:rPr sz="1800" b="1" i="0">
                <a:solidFill>
                  <a:srgbClr val="1E2761"/>
                </a:solidFill>
                <a:latin typeface="Montserrat"/>
              </a:rPr>
              <a:t>Obligatoriamente un organismo de control</a:t>
            </a:r>
          </a:p>
        </p:txBody>
      </p:sp>
      <p:sp>
        <p:nvSpPr>
          <p:cNvPr id="10" name="TextBox 9"/>
          <p:cNvSpPr txBox="1"/>
          <p:nvPr/>
        </p:nvSpPr>
        <p:spPr>
          <a:xfrm>
            <a:off x="822960" y="3749039"/>
            <a:ext cx="10515600" cy="2194560"/>
          </a:xfrm>
          <a:prstGeom prst="rect">
            <a:avLst/>
          </a:prstGeom>
          <a:noFill/>
        </p:spPr>
        <p:txBody>
          <a:bodyPr wrap="square">
            <a:spAutoFit/>
          </a:bodyPr>
          <a:lstStyle/>
          <a:p>
            <a:r>
              <a:rPr sz="1500" b="1" i="0">
                <a:solidFill>
                  <a:srgbClr val="E8801A"/>
                </a:solidFill>
                <a:latin typeface="Montserrat"/>
              </a:rPr>
              <a:t>Por qué:  </a:t>
            </a:r>
            <a:r>
              <a:rPr sz="1500" b="0" i="0">
                <a:solidFill>
                  <a:srgbClr val="1B2330"/>
                </a:solidFill>
                <a:latin typeface="Montserrat"/>
              </a:rPr>
              <a:t>Con V × P mayor de 300 el control lo tiene que hacer sí o sí un organismo de control independiente.</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017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02 · Plantas satélite de GNL (ITC-ICG 04)</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6.2 · PRUEBA DE PRESIÓN</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Neumática, no hidráulica</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Prueba de presión cada 15 años</a:t>
            </a:r>
          </a:p>
          <a:p>
            <a:pPr>
              <a:spcAft>
                <a:spcPts val="1100"/>
              </a:spcAft>
            </a:pPr>
            <a:r>
              <a:rPr sz="1600" b="1" i="0">
                <a:solidFill>
                  <a:srgbClr val="E8801A"/>
                </a:solidFill>
                <a:latin typeface="Montserrat"/>
              </a:rPr>
              <a:t>▸  </a:t>
            </a:r>
            <a:r>
              <a:rPr sz="1600" b="0" i="0">
                <a:solidFill>
                  <a:srgbClr val="1B2330"/>
                </a:solidFill>
                <a:latin typeface="Montserrat"/>
              </a:rPr>
              <a:t>Neumática: con gas, no con agua</a:t>
            </a:r>
          </a:p>
          <a:p>
            <a:pPr>
              <a:spcAft>
                <a:spcPts val="1100"/>
              </a:spcAft>
            </a:pPr>
            <a:r>
              <a:rPr sz="1600" b="1" i="0">
                <a:solidFill>
                  <a:srgbClr val="E8801A"/>
                </a:solidFill>
                <a:latin typeface="Montserrat"/>
              </a:rPr>
              <a:t>▸  </a:t>
            </a:r>
            <a:r>
              <a:rPr sz="1600" b="0" i="0">
                <a:solidFill>
                  <a:srgbClr val="1B2330"/>
                </a:solidFill>
                <a:latin typeface="Montserrat"/>
              </a:rPr>
              <a:t>Evita meter humedad al depósito frío</a:t>
            </a:r>
          </a:p>
          <a:p>
            <a:pPr>
              <a:spcAft>
                <a:spcPts val="1100"/>
              </a:spcAft>
            </a:pPr>
            <a:r>
              <a:rPr sz="1600" b="1" i="0">
                <a:solidFill>
                  <a:srgbClr val="E8801A"/>
                </a:solidFill>
                <a:latin typeface="Montserrat"/>
              </a:rPr>
              <a:t>▸  </a:t>
            </a:r>
            <a:r>
              <a:rPr sz="1600" b="0" i="0">
                <a:solidFill>
                  <a:srgbClr val="1B2330"/>
                </a:solidFill>
                <a:latin typeface="Montserrat"/>
              </a:rPr>
              <a:t>GLP era hidráulica; GNL es neumática</a:t>
            </a:r>
          </a:p>
        </p:txBody>
      </p:sp>
      <p:sp>
        <p:nvSpPr>
          <p:cNvPr id="9" name="imgph" descr="IMGQ:nitrogen pressure test cryogenic equipment"/>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nitrogen pressure test cryogenic equipment</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018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02 · Plantas satélite de GNL (ITC-ICG 04)</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APARTADO 6.3 · RETIRADA</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Un año sin carga: inertizar</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Un año sin recibir GNL: inertizado</a:t>
            </a:r>
          </a:p>
          <a:p>
            <a:pPr>
              <a:spcAft>
                <a:spcPts val="1100"/>
              </a:spcAft>
            </a:pPr>
            <a:r>
              <a:rPr sz="1600" b="1" i="0">
                <a:solidFill>
                  <a:srgbClr val="E8801A"/>
                </a:solidFill>
                <a:latin typeface="Montserrat"/>
              </a:rPr>
              <a:t>▸  </a:t>
            </a:r>
            <a:r>
              <a:rPr sz="1600" b="0" i="0">
                <a:solidFill>
                  <a:srgbClr val="1B2330"/>
                </a:solidFill>
                <a:latin typeface="Montserrat"/>
              </a:rPr>
              <a:t>Con nitrógeno u otro gas inerte</a:t>
            </a:r>
          </a:p>
          <a:p>
            <a:pPr>
              <a:spcAft>
                <a:spcPts val="1100"/>
              </a:spcAft>
            </a:pPr>
            <a:r>
              <a:rPr sz="1600" b="1" i="0">
                <a:solidFill>
                  <a:srgbClr val="E8801A"/>
                </a:solidFill>
                <a:latin typeface="Montserrat"/>
              </a:rPr>
              <a:t>▸  </a:t>
            </a:r>
            <a:r>
              <a:rPr sz="1600" b="0" i="0">
                <a:solidFill>
                  <a:srgbClr val="1B2330"/>
                </a:solidFill>
                <a:latin typeface="Montserrat"/>
              </a:rPr>
              <a:t>Lo supervisa un organismo de control</a:t>
            </a:r>
          </a:p>
          <a:p>
            <a:pPr>
              <a:spcAft>
                <a:spcPts val="1100"/>
              </a:spcAft>
            </a:pPr>
            <a:r>
              <a:rPr sz="1600" b="1" i="0">
                <a:solidFill>
                  <a:srgbClr val="E8801A"/>
                </a:solidFill>
                <a:latin typeface="Montserrat"/>
              </a:rPr>
              <a:t>▸  </a:t>
            </a:r>
            <a:r>
              <a:rPr sz="1600" b="0" i="0">
                <a:solidFill>
                  <a:srgbClr val="1B2330"/>
                </a:solidFill>
                <a:latin typeface="Montserrat"/>
              </a:rPr>
              <a:t>Nunca desmontar sin inertizar antes</a:t>
            </a:r>
          </a:p>
        </p:txBody>
      </p:sp>
      <p:sp>
        <p:nvSpPr>
          <p:cNvPr id="9" name="imgph" descr="IMGQ:nitrogen purge industrial gas tank"/>
          <p:cNvSpPr/>
          <p:nvPr/>
        </p:nvSpPr>
        <p:spPr>
          <a:xfrm>
            <a:off x="60807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nitrogen purge industrial gas tank</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019 / 020</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02 · Plantas satélite de GNL (ITC-ICG 04)</a:t>
            </a:r>
          </a:p>
        </p:txBody>
      </p:sp>
      <p:sp>
        <p:nvSpPr>
          <p:cNvPr id="5" name="TextBox 4"/>
          <p:cNvSpPr txBox="1"/>
          <p:nvPr/>
        </p:nvSpPr>
        <p:spPr>
          <a:xfrm>
            <a:off x="822960" y="457200"/>
            <a:ext cx="10058400" cy="365760"/>
          </a:xfrm>
          <a:prstGeom prst="rect">
            <a:avLst/>
          </a:prstGeom>
          <a:noFill/>
        </p:spPr>
        <p:txBody>
          <a:bodyPr wrap="square">
            <a:spAutoFit/>
          </a:bodyPr>
          <a:lstStyle/>
          <a:p>
            <a:r>
              <a:rPr sz="1300" b="1" i="0">
                <a:solidFill>
                  <a:srgbClr val="E8801A"/>
                </a:solidFill>
                <a:latin typeface="Montserrat"/>
              </a:rPr>
              <a:t>REPASO RELÁMPAGO</a:t>
            </a:r>
          </a:p>
        </p:txBody>
      </p:sp>
      <p:sp>
        <p:nvSpPr>
          <p:cNvPr id="6" name="TextBox 5"/>
          <p:cNvSpPr txBox="1"/>
          <p:nvPr/>
        </p:nvSpPr>
        <p:spPr>
          <a:xfrm>
            <a:off x="822960" y="868680"/>
            <a:ext cx="10515600" cy="914400"/>
          </a:xfrm>
          <a:prstGeom prst="rect">
            <a:avLst/>
          </a:prstGeom>
          <a:noFill/>
        </p:spPr>
        <p:txBody>
          <a:bodyPr wrap="square">
            <a:spAutoFit/>
          </a:bodyPr>
          <a:lstStyle/>
          <a:p>
            <a:r>
              <a:rPr sz="2800" b="1" i="0">
                <a:solidFill>
                  <a:srgbClr val="1E2761"/>
                </a:solidFill>
                <a:latin typeface="Montserrat"/>
              </a:rPr>
              <a:t>GNL frente a GLP, en cinco líneas</a:t>
            </a:r>
          </a:p>
        </p:txBody>
      </p:sp>
      <p:sp>
        <p:nvSpPr>
          <p:cNvPr id="7" name="Rectangle 6"/>
          <p:cNvSpPr/>
          <p:nvPr/>
        </p:nvSpPr>
        <p:spPr>
          <a:xfrm>
            <a:off x="868680" y="1627632"/>
            <a:ext cx="2011680" cy="73152"/>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965960"/>
            <a:ext cx="5029200" cy="4206240"/>
          </a:xfrm>
          <a:prstGeom prst="rect">
            <a:avLst/>
          </a:prstGeom>
          <a:noFill/>
        </p:spPr>
        <p:txBody>
          <a:bodyPr wrap="square">
            <a:spAutoFit/>
          </a:bodyPr>
          <a:lstStyle/>
          <a:p>
            <a:pPr>
              <a:spcAft>
                <a:spcPts val="1100"/>
              </a:spcAft>
            </a:pPr>
            <a:r>
              <a:rPr sz="1600" b="1" i="0">
                <a:solidFill>
                  <a:srgbClr val="E8801A"/>
                </a:solidFill>
                <a:latin typeface="Montserrat"/>
              </a:rPr>
              <a:t>▸  </a:t>
            </a:r>
            <a:r>
              <a:rPr sz="1600" b="0" i="0">
                <a:solidFill>
                  <a:srgbClr val="1B2330"/>
                </a:solidFill>
                <a:latin typeface="Montserrat"/>
              </a:rPr>
              <a:t>GNL → UNE 60210 → criogénico</a:t>
            </a:r>
          </a:p>
          <a:p>
            <a:pPr>
              <a:spcAft>
                <a:spcPts val="1100"/>
              </a:spcAft>
            </a:pPr>
            <a:r>
              <a:rPr sz="1600" b="1" i="0">
                <a:solidFill>
                  <a:srgbClr val="E8801A"/>
                </a:solidFill>
                <a:latin typeface="Montserrat"/>
              </a:rPr>
              <a:t>▸  </a:t>
            </a:r>
            <a:r>
              <a:rPr sz="1600" b="0" i="0">
                <a:solidFill>
                  <a:srgbClr val="1B2330"/>
                </a:solidFill>
                <a:latin typeface="Montserrat"/>
              </a:rPr>
              <a:t>Autorización previa (salvo autoconsumo)</a:t>
            </a:r>
          </a:p>
          <a:p>
            <a:pPr>
              <a:spcAft>
                <a:spcPts val="1100"/>
              </a:spcAft>
            </a:pPr>
            <a:r>
              <a:rPr sz="1600" b="1" i="0">
                <a:solidFill>
                  <a:srgbClr val="E8801A"/>
                </a:solidFill>
                <a:latin typeface="Montserrat"/>
              </a:rPr>
              <a:t>▸  </a:t>
            </a:r>
            <a:r>
              <a:rPr sz="1600" b="0" i="0">
                <a:solidFill>
                  <a:srgbClr val="1B2330"/>
                </a:solidFill>
                <a:latin typeface="Montserrat"/>
              </a:rPr>
              <a:t>Siempre proyecto + planes de emergencia</a:t>
            </a:r>
          </a:p>
          <a:p>
            <a:pPr>
              <a:spcAft>
                <a:spcPts val="1100"/>
              </a:spcAft>
            </a:pPr>
            <a:r>
              <a:rPr sz="1600" b="1" i="0">
                <a:solidFill>
                  <a:srgbClr val="E8801A"/>
                </a:solidFill>
                <a:latin typeface="Montserrat"/>
              </a:rPr>
              <a:t>▸  </a:t>
            </a:r>
            <a:r>
              <a:rPr sz="1600" b="0" i="0">
                <a:solidFill>
                  <a:srgbClr val="1B2330"/>
                </a:solidFill>
                <a:latin typeface="Montserrat"/>
              </a:rPr>
              <a:t>Controles: 5 años · V × P · 300</a:t>
            </a:r>
          </a:p>
          <a:p>
            <a:pPr>
              <a:spcAft>
                <a:spcPts val="1100"/>
              </a:spcAft>
            </a:pPr>
            <a:r>
              <a:rPr sz="1600" b="1" i="0">
                <a:solidFill>
                  <a:srgbClr val="E8801A"/>
                </a:solidFill>
                <a:latin typeface="Montserrat"/>
              </a:rPr>
              <a:t>▸  </a:t>
            </a:r>
            <a:r>
              <a:rPr sz="1600" b="0" i="0">
                <a:solidFill>
                  <a:srgbClr val="1B2330"/>
                </a:solidFill>
                <a:latin typeface="Montserrat"/>
              </a:rPr>
              <a:t>Prueba neumática cada 15 años</a:t>
            </a:r>
          </a:p>
        </p:txBody>
      </p:sp>
      <p:sp>
        <p:nvSpPr>
          <p:cNvPr id="9" name="imgph" descr="IMGQ:LNG plant overview facility"/>
          <p:cNvSpPr/>
          <p:nvPr/>
        </p:nvSpPr>
        <p:spPr>
          <a:xfrm>
            <a:off x="822960" y="1965960"/>
            <a:ext cx="5303520" cy="457200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3611880"/>
            <a:ext cx="4754880" cy="1280160"/>
          </a:xfrm>
          <a:prstGeom prst="rect">
            <a:avLst/>
          </a:prstGeom>
          <a:noFill/>
        </p:spPr>
        <p:txBody>
          <a:bodyPr wrap="square">
            <a:spAutoFit/>
          </a:bodyPr>
          <a:lstStyle/>
          <a:p>
            <a:pPr algn="ctr"/>
            <a:r>
              <a:rPr sz="1400" b="1" i="0">
                <a:solidFill>
                  <a:srgbClr val="64748B"/>
                </a:solidFill>
                <a:latin typeface="Montserrat"/>
              </a:rPr>
              <a:t>IMAGEN</a:t>
            </a:r>
          </a:p>
          <a:p>
            <a:pPr algn="ctr"/>
            <a:r>
              <a:rPr sz="1100" b="0" i="1">
                <a:solidFill>
                  <a:srgbClr val="64748B"/>
                </a:solidFill>
                <a:latin typeface="Montserrat"/>
              </a:rPr>
              <a:t>LNG plant overview facility</a:t>
            </a:r>
          </a:p>
        </p:txBody>
      </p:sp>
    </p:spTree>
  </p:cSld>
  <p:clrMapOvr>
    <a:masterClrMapping/>
  </p:clrMapOvr>
  <mc:AlternateContent xmlns:mc="http://schemas.openxmlformats.org/markup-compatibility/2006">
    <mc:Choice xmlns:p14="http://schemas.microsoft.com/office/powerpoint/2010/main" Requires="p14">
      <p:transition spd="med" p14:dur="700">
        <p14:cube dir="l"/>
      </p:transition>
    </mc:Choice>
    <mc:Fallback>
      <p:transition spd="med">
        <p:push dir="l"/>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40080"/>
            <a:ext cx="10515600" cy="457200"/>
          </a:xfrm>
          <a:prstGeom prst="rect">
            <a:avLst/>
          </a:prstGeom>
          <a:noFill/>
        </p:spPr>
        <p:txBody>
          <a:bodyPr wrap="square">
            <a:spAutoFit/>
          </a:bodyPr>
          <a:lstStyle/>
          <a:p>
            <a:r>
              <a:rPr sz="1400" b="1" i="0">
                <a:solidFill>
                  <a:srgbClr val="F4A24C"/>
                </a:solidFill>
                <a:latin typeface="Montserrat"/>
              </a:rPr>
              <a:t>LO QUE YA DOMINAS</a:t>
            </a:r>
          </a:p>
        </p:txBody>
      </p:sp>
      <p:sp>
        <p:nvSpPr>
          <p:cNvPr id="4" name="Rectangle 3"/>
          <p:cNvSpPr/>
          <p:nvPr/>
        </p:nvSpPr>
        <p:spPr>
          <a:xfrm>
            <a:off x="868680" y="1051560"/>
            <a:ext cx="1463040" cy="82296"/>
          </a:xfrm>
          <a:prstGeom prst="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234440"/>
            <a:ext cx="10515600" cy="1097280"/>
          </a:xfrm>
          <a:prstGeom prst="rect">
            <a:avLst/>
          </a:prstGeom>
          <a:noFill/>
        </p:spPr>
        <p:txBody>
          <a:bodyPr wrap="square">
            <a:spAutoFit/>
          </a:bodyPr>
          <a:lstStyle/>
          <a:p>
            <a:r>
              <a:rPr sz="3400" b="1" i="0">
                <a:solidFill>
                  <a:srgbClr val="FFFFFF"/>
                </a:solidFill>
                <a:latin typeface="Montserrat"/>
              </a:rPr>
              <a:t>Has cerrado el almacenamiento de gas de punta a punta</a:t>
            </a:r>
          </a:p>
        </p:txBody>
      </p:sp>
      <p:sp>
        <p:nvSpPr>
          <p:cNvPr id="6" name="TextBox 5"/>
          <p:cNvSpPr txBox="1"/>
          <p:nvPr/>
        </p:nvSpPr>
        <p:spPr>
          <a:xfrm>
            <a:off x="822960" y="2606040"/>
            <a:ext cx="10515600" cy="2743200"/>
          </a:xfrm>
          <a:prstGeom prst="rect">
            <a:avLst/>
          </a:prstGeom>
          <a:noFill/>
        </p:spPr>
        <p:txBody>
          <a:bodyPr wrap="square">
            <a:spAutoFit/>
          </a:bodyPr>
          <a:lstStyle/>
          <a:p>
            <a:pPr>
              <a:spcAft>
                <a:spcPts val="1200"/>
              </a:spcAft>
            </a:pPr>
            <a:r>
              <a:rPr sz="2000" b="1" i="0">
                <a:solidFill>
                  <a:srgbClr val="F4A24C"/>
                </a:solidFill>
                <a:latin typeface="Montserrat"/>
              </a:rPr>
              <a:t>✓  </a:t>
            </a:r>
            <a:r>
              <a:rPr sz="1900" b="0" i="0">
                <a:solidFill>
                  <a:srgbClr val="FFFFFF"/>
                </a:solidFill>
                <a:latin typeface="Montserrat"/>
              </a:rPr>
              <a:t>Distingues GNL de GLP: norma, técnico y pruebas</a:t>
            </a:r>
          </a:p>
          <a:p>
            <a:pPr>
              <a:spcAft>
                <a:spcPts val="1200"/>
              </a:spcAft>
            </a:pPr>
            <a:r>
              <a:rPr sz="2000" b="1" i="0">
                <a:solidFill>
                  <a:srgbClr val="F4A24C"/>
                </a:solidFill>
                <a:latin typeface="Montserrat"/>
              </a:rPr>
              <a:t>✓  </a:t>
            </a:r>
            <a:r>
              <a:rPr sz="1900" b="0" i="0">
                <a:solidFill>
                  <a:srgbClr val="FFFFFF"/>
                </a:solidFill>
                <a:latin typeface="Montserrat"/>
              </a:rPr>
              <a:t>Sabes cuándo hay autorización, proyecto y qué plazo comunicar</a:t>
            </a:r>
          </a:p>
          <a:p>
            <a:pPr>
              <a:spcAft>
                <a:spcPts val="1200"/>
              </a:spcAft>
            </a:pPr>
            <a:r>
              <a:rPr sz="2000" b="1" i="0">
                <a:solidFill>
                  <a:srgbClr val="F4A24C"/>
                </a:solidFill>
                <a:latin typeface="Montserrat"/>
              </a:rPr>
              <a:t>✓  </a:t>
            </a:r>
            <a:r>
              <a:rPr sz="1900" b="0" i="0">
                <a:solidFill>
                  <a:srgbClr val="FFFFFF"/>
                </a:solidFill>
                <a:latin typeface="Montserrat"/>
              </a:rPr>
              <a:t>Aplicas la fórmula V × P y el corte en 300</a:t>
            </a:r>
          </a:p>
          <a:p>
            <a:pPr>
              <a:spcAft>
                <a:spcPts val="1200"/>
              </a:spcAft>
            </a:pPr>
            <a:r>
              <a:rPr sz="2000" b="1" i="0">
                <a:solidFill>
                  <a:srgbClr val="F4A24C"/>
                </a:solidFill>
                <a:latin typeface="Montserrat"/>
              </a:rPr>
              <a:t>✓  </a:t>
            </a:r>
            <a:r>
              <a:rPr sz="1900" b="0" i="0">
                <a:solidFill>
                  <a:srgbClr val="FFFFFF"/>
                </a:solidFill>
                <a:latin typeface="Montserrat"/>
              </a:rPr>
              <a:t>Cierras el tema: envases, depósitos fijos y plantas de GNL</a:t>
            </a:r>
          </a:p>
        </p:txBody>
      </p:sp>
      <p:sp>
        <p:nvSpPr>
          <p:cNvPr id="7" name="Rounded Rectangle 6"/>
          <p:cNvSpPr/>
          <p:nvPr/>
        </p:nvSpPr>
        <p:spPr>
          <a:xfrm>
            <a:off x="822960" y="5532120"/>
            <a:ext cx="10515600" cy="822960"/>
          </a:xfrm>
          <a:prstGeom prst="roundRect">
            <a:avLst/>
          </a:prstGeom>
          <a:solidFill>
            <a:srgbClr val="E88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5623560"/>
            <a:ext cx="10058400" cy="640080"/>
          </a:xfrm>
          <a:prstGeom prst="rect">
            <a:avLst/>
          </a:prstGeom>
          <a:noFill/>
        </p:spPr>
        <p:txBody>
          <a:bodyPr wrap="square">
            <a:spAutoFit/>
          </a:bodyPr>
          <a:lstStyle/>
          <a:p>
            <a:r>
              <a:rPr sz="1500" b="1" i="1">
                <a:solidFill>
                  <a:srgbClr val="1E2761"/>
                </a:solidFill>
                <a:latin typeface="Montserrat"/>
              </a:rPr>
              <a:t>Tema 02 completo. Ya dominas dónde y cómo se guarda el gas antes de llegar al usuario.</a:t>
            </a:r>
          </a:p>
        </p:txBody>
      </p:sp>
    </p:spTree>
  </p:cSld>
  <p:clrMapOvr>
    <a:masterClrMapping/>
  </p:clrMapOvr>
  <mc:AlternateContent xmlns:mc="http://schemas.openxmlformats.org/markup-compatibility/2006">
    <mc:Choice xmlns:p14="http://schemas.microsoft.com/office/powerpoint/2010/main" Requires="p14">
      <p:transition spd="med" p14:dur="700">
        <p14:cube dir="r"/>
      </p:transition>
    </mc:Choice>
    <mc:Fallback>
      <p:transition spd="med">
        <p:push dir="r"/>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
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pinta un gasista en una caravana? Más de lo que parece, ¿verdad?</a:t>
            </a:r>
          </a:p>
          <a:p>
            <a:r>
              <a:t>N2: Pues mira, esta es una de las instrucciones más cortas del Reglamento, pero cae muchísimo en el examen. Cuando una caravana o una autocaravana lleva cocina, calefacción o calentador alimentados con bombonas de GLP, es decir, de butano o propano, esa instalación tiene su propia norma: la ITC-ICG diez. En este vídeo la vamos a ver entera, apartado por apartado, sin saltarnos nada. Y quiero que te fijes en cinco datos que se preguntan tal cual: la norma que la rige, la prueba de estanquidad, la presión de trabajo, cada cuánto se revisa, y esa rareza de que aquí no hay que comunicar nada a la Administración. Si te llevas esos cinco, tienes el tema medio ganado. Vamos con ello.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solo pudiera memorizar tres números de este tema, ¿cuáles serían?</a:t>
            </a:r>
          </a:p>
          <a:p>
            <a:r>
              <a:t>N2: Estos tres, y no otros. El primero: quince minutos, que es el tiempo mínimo que la presión tiene que aguantar sin bajar para dar por buena la estanquidad, o sea, para dar por bueno que no se escapa gas. El segundo: treinta milibares, la presión a la que funcionan los aparatos de la caravana, la típica del butano y el propano con un regulador doméstico. Y el tercero: cuatro años, que es cada cuánto hay que revisar la instalación. Fíjate que ninguno es un año ni una fecha: son valores técnicos que el examinador suelta en las preguntas para ver si los tienes clavados. Con estos tres en la cabeza ya llevas media pregunta ganada. Los vamos viendo uno a uno.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dónde cuelga esta ITC dentro del Reglamento?</a:t>
            </a:r>
          </a:p>
          <a:p>
            <a:r>
              <a:t>N2: Acuérdate del Tema cero. El artículo dos del Reglamento listaba nueve tipos de instalaciones, cada una con una letra. La letra ge era justamente el GLP de uso doméstico en caravanas y autocaravanas. Pues esta ITC-ICG diez es la rama que desarrolla esa letra ge: coge ese renglón del Reglamento y lo explica al detalle. ¿Y qué fija? Los requisitos técnicos esenciales y las medidas de seguridad en cinco fases: el diseño, la construcción, las pruebas, la instalación y la utilización. Fíjate que cubre toda la vida de la instalación, desde que se piensa hasta que se usa. Así que si en el examen te preguntan de qué apartado del Reglamento cuelga la ITC-ICG diez, la respuesta es artículo dos punto uno, letra ge. Ese detallito lo preguntan más de lo que crees.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exactamente un vehículo habitable de recreo de carretera?</a:t>
            </a:r>
          </a:p>
          <a:p>
            <a:r>
              <a:t>N2: Es la definición fina de caravana o autocaravana: un vehículo pensado para vivir dentro y para circular por carretera. Fíjate en la palabra recreo, porque tiene truco: recreo significa ocio, no es una vivienda fija ni un vehículo industrial. Y ahora un matiz que se pregunta: las reglas de mantenimiento y control periódico se aplican tanto a las caravanas nuevas como a las que ya existían. ¿Por qué te lo subrayo? Porque es la lógica general del Reglamento: lo viejo no se obliga a rehacerlo por capricho, pero las revisiones periódicas caen igual, tenga la edad que tenga la caravana. Nadie se libra de la revisión por tener una caravana antigua, igual que nadie se libra de la ITV por tener un coche viejo.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 hornillo de camping con su cartucho, ¿lo tengo que certificar yo?</a:t>
            </a:r>
          </a:p>
          <a:p>
            <a:r>
              <a:t>N2: No, y este es justo el punto con el que quieren que te líes. Un hornillo de camping con su propio cartucho, o una estufa portátil de butano que lleva la bombona encima, no entra en esta ITC. ¿Por qué? Porque son aparatos portátiles que incorporan su propia alimentación de gas: son cacharros sueltos, no forman parte de una instalación. La ITC-ICG diez regula la instalación fija de la caravana, es decir, las tuberías, el regulador, las bombonas sujetas y los aparatos conectados a ellas por tubo. Lo que te llevas suelto dentro no es cosa tuya. Es la misma lógica del cacharro portátil que ya viste en el Reglamento con el límite de quince kilos: si el gas viaja con el propio aparato y no hay tubería, no lo certificas.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¿Cuál es la norma estrella de este tema, y quién puede montar la instalación?</a:t>
            </a:r>
          </a:p>
          <a:p>
            <a:r>
              <a:t>N2: La norma es la UNE-EN mil novecientos cuarenta y nueve. Grábatela, porque es LA norma de la ITC-ICG diez: manda en el diseño, en la construcción, en el montaje, en las pruebas previas y hasta en las recomendaciones de mantenimiento. Si te aparece esa norma en el examen, piensa automáticamente en caravanas. Y ojo, las normas UNE se citan sin año, así que la verás escrita a secas, sin ninguna fecha detrás. ¿Y quién la monta? No la monta cualquiera: la ejecuta una empresa instaladora de gas, habilitada según la ITC-ICG nueve. El dueño no puede ponerse a soldar tubos de gas en su autocaravana por su cuenta. Los aparatos, además, deben venir conformes a las directivas europeas de gas o a lo que diga la ITC-ICG ocho. Ejemplo de obra: si te llega una caravana montada por el cuñado, no la puedes certificar sin repasarla y probarla entera; el papel lo firmas tú, y respondes tú.</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sé que una instalación de caravana es estanca, es decir, que no se escapa ni una burbuja de gas?</a:t>
            </a:r>
          </a:p>
          <a:p>
            <a:r>
              <a:t>N2: Este apartado es una mina de preguntas, así que vamos dato a dato. Antes de la puesta en servicio, la instaladora hace las pruebas de la UNE-EN mil novecientos cuarenta y nueve para comprobar dos cosas: resistencia y estanquidad. Para la estanquidad se usa un manómetro, que es el reloj que mide la presión, de rango cero a uno bar, clase uno, con divisiones de escala de veinte milibares; o un manotermógrafo del mismo rango, que es lo mismo pero registrando en papel. ¿Qué es eso de clase uno? Es la clase de precisión, o sea, lo fino que hila el aparato, su margen de error: uno de clase uno es lo bastante preciso para cazar una pérdida pequeña. Y el criterio de éxito: la presión no debe bajar durante un tiempo no inferior a quince minutos desde la primera lectura. No inferior significa como mínimo: puedes esperar más, nunca menos. Truco visual: si la aguja cae, hay fuga; si se queda quieta un cuarto de hora, es estanca. En obra, si baja, repasas regulador, latiguillo y racores con agua jabonosa, y no das gas hasta que aguante.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Cronómetro en mano, ¿cuánto tiene que aguantar la aguja sin moverse?</a:t>
            </a:r>
          </a:p>
          <a:p>
            <a:r>
              <a:t>N2: Piensa en un cuarto de hora; ni un tiempo más corto vale, ni hace falta uno entero.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esa y no otra?</a:t>
            </a:r>
          </a:p>
          <a:p>
            <a:r>
              <a:t>N2: La norma dice no inferior a quince minutos, es decir, como mínimo quince. El truco está en la palabra: no inferior significa que puedes esperar más, pero nunca menos. Si la presión baja antes, hay fuga y no se cierra.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¿Cuántas copias del certificado se hacen y para quién?</a:t>
            </a:r>
          </a:p>
          <a:p>
            <a:r>
              <a:t>N2: Cuando la instaladora termina, rellena el certificado de instalación, que es el modelo IRV uno del anexo uno de la propia ITC. Y aquí viene el dato: se emite por triplicado, o sea, tres copias con tres destinos. Una se la queda la propia empresa instaladora, otra es para el titular, que es el dueño de la caravana, y otra para el órgano competente de la Comunidad Autónoma. Fíjate en una sutileza que gusta preguntar: el texto de la ITC solo nombra dos destinatarios de copia, el titular y la Comunidad Autónoma; pero como dice por triplicado, se entiende que la tercera se la queda la instaladora. Tres copias, tres manos. Y una pista para el examen: si ves las siglas IRV en una pregunta, ya sabes que hablan del certificado de la caravana.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puede el dueño pedir sus bombonas?</a:t>
            </a:r>
          </a:p>
          <a:p>
            <a:r>
              <a:t>N2: Piensa en el certificado como en la llave que abre el gas. Una vez que la instaladora lo ha expedido, la instalación se considera en disposición de servicio, es decir, lista y con garantías para funcionar. Y en ese momento, no antes, el titular puede solicitar al suministrador los envases de GLP, o sea, pedir sus bombonas. Hasta que la instaladora no firma, no hay puesta en servicio y no hay gas que valga. La secuencia es clarísima, y precisamente por eso la preguntan: primero el papel, luego el gas. Nunca al revés. Si alguien mete las bombonas antes de tener el certificado, esa instalación no está en servicio legalmente.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Aquí me huelo la trampa. ¿Hay que comunicar la puesta en servicio a la Administración?</a:t>
            </a:r>
          </a:p>
          <a:p>
            <a:r>
              <a:t>N2: No. Y esta es LA excepción que tienes que llevarte grabada. En casi todo el Reglamento, tras la puesta en servicio el titular tiene que comunicarlo a la Comunidad Autónoma dentro de un plazo; acuérdate de los treinta días del artículo cinco punto siete. Pues bien, en la caravana la cosa cambia: aquí no hay que comunicar nada. Lo único que se exige es que el titular guarde el certificado y lo tenga a mano por si la Administración se lo reclama. Nada de plazos, nada de registrar. ¿Por qué te insisto tanto? Porque el examinador lo usa de cebo: si ves una pregunta que dice que en las instalaciones de GLP de caravanas hay que comunicar a la Administración en treinta días, es falsa, tachada. No se comunica; solo se conserva el certificado. Es de sus trampas favoritas.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Ojo, que aquí hay una de las trampas favoritas del examen.</a:t>
            </a:r>
          </a:p>
          <a:p>
            <a:r>
              <a:t>N2: Compara con el régimen general del Reglamento y sus plazos; en la caravana la regla es justo la contraria.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esta?</a:t>
            </a:r>
          </a:p>
          <a:p>
            <a:r>
              <a:t>N2: A diferencia de casi todo el Reglamento, en la caravana no hay que comunicar nada a la Administración. El titular solo guarda el certificado y lo tiene a mano por si se lo piden. Si en la pregunta aparece un plazo de treinta días, ese es el cebo: es falso.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son tan importantes esos treinta milibares, y por qué se atan las bombonas?</a:t>
            </a:r>
          </a:p>
          <a:p>
            <a:r>
              <a:t>N2: Vamos por partes. Los aparatos de la caravana funcionan a treinta milibares, que es la presión típica del GLP con regulador doméstico. Es un valor fijo que se pregunta tal cual, pero no es un capricho: con la presión o el regulador equivocados aparece mala combustión, o sea, llama amarilla en vez de azul, tiznado y hollín en los aparatos, y lo grave de verdad, monóxido de carbono, un gas que no huele y que en pocos metros cúbicos, como los de una caravana, mata. Por eso, si un usuario se te queja de olores raros, de un aparato que ahúma o que se apaga solo, empieza mirando presión y ventilación: en una caravana una ventilación mal hecha mata. Y ahora las bombonas: siempre sujetas, llenas o vacías, dentro o fuera del habitáculo, tanto en uso como conduciendo. Piensa en un vehículo en marcha: una bombona suelta golpeando en una curva puede romper el grifo y provocar una fuga circulando. Detalle de examen: la obligación de amarrarlas aplica también a los envases vacíos. Y en estacionamientos largos, como el invernaje, se desconectan de la instalación: menos gas conectado sin vigilancia, menos riesgo.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¿Se puede enganchar la toma de tierra a la tubería de gas?</a:t>
            </a:r>
          </a:p>
          <a:p>
            <a:r>
              <a:t>N2: Jamás. Las tuberías de gas no se pueden usar nunca como conductor de puesta a tierra, ni como parte de una instalación eléctrica, ni de una de radio. Piénsalo un segundo: enganchar un cable eléctrico a la tubería de gas es meter una posible chispa justo donde hay combustible. Y en un habitáculo pequeño y cerrado como el de una caravana, eso es una receta directa para el incendio. Por eso el Reglamento lo prohíbe de plano. Este punto cae en examen, y la respuesta correcta siempre es que está prohibido, sin matices. En obra lo vas a ver en revisiones: gente que, por comodidad, ha atado el negativo de la batería o la tierra a un tubo de gas. Eso se corrige en el sitio, sí o sí, antes de firmar nada.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¿Cada cuánto se revisa, quién lo encarga, y por qué se llama revisión y no inspección?</a:t>
            </a:r>
          </a:p>
          <a:p>
            <a:r>
              <a:t>N2: Tres datos que se preguntan juntos, así que los atamos juntos. Primero, cada cuánto: cada cuatro años hay que revisar la instalación y los aparatos de la caravana. Segundo, quién manda hacerlo: el responsable del buen estado es el titular, el dueño, y en su defecto el usuario; y es el titular quien tiene que encargar la revisión a una empresa instaladora. La instaladora ejecuta y recomienda, pero quien responde de que la caravana esté en condiciones es el propietario, igual que con el coche: el taller te lo mira, pero llevarlo a pasar la ITV es cosa tuya. Y tercero, muy importante: aquí se llama revisión, no inspección. ¿Por qué esa palabra y no la otra? Porque, como viste en el artículo siete del Reglamento, la caravana funciona con bombonas propias y no cuelga de una red de distribución; y todo lo que no cuelga de la red se revisa, no se inspecciona. La chuleta es fácil: caravana, bombonas, sin red, revisión, cada cuatro años. Se documenta con el modelo IRV dos, que comprueba ventilaciones, evacuación de humos, estanquidad y funcionamiento de los aparatos según la UNE-EN mil novecientos cuarenta y nueve.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Dos trampas en una sola pregunta: el plazo y la palabra.</a:t>
            </a:r>
          </a:p>
          <a:p>
            <a:r>
              <a:t>N2: Acuérdate de que la caravana va con bombonas y no cuelga de ninguna red de distribución.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a:t>
            </a:r>
          </a:p>
          <a:p>
            <a:r>
              <a:t>N2: Todo lo que no cuelga de una red se revisa, no se inspecciona; y el plazo es cada cuatro años. La chuleta es fácil: caravana, bombonas, sin red, revisión, cada cuatro años.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diferencia hay entre el IRV-1 y el IRV-2? Se me lían.</a:t>
            </a:r>
          </a:p>
          <a:p>
            <a:r>
              <a:t>N2: Muy sencillo, y así no vuelves a confundirlos. La ITC trae en su anexo uno dos impresos oficiales, los dos con las siglas IRV, que quieren decir instalación receptora de vehículo. El primero, el IRV uno, es el certificado de instalación: lo rellena la empresa instaladora cuando termina de montar y probar la caravana, se emite por triplicado, y es la llave que pone el gas en servicio. El segundo, el IRV dos, es el certificado de revisión periódica: es el que se rellena cada cuatro años cuando toca revisar, y deja constancia de que se han comprobado ventilaciones, evacuación de humos, caducidad de componentes, estanquidad y funcionamiento de los aparatos según la UNE-EN mil novecientos cuarenta y nueve. Chuleta para el examen: el uno es para instalar, el dos es para revisar. No hace falta que te aprendas el impreso casilla a casilla; basta con saber que el modelo está normalizado en el anexo uno, y que en cuanto veas las siglas IRV en una pregunta, están hablando de la caravana.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Vale, es corta pero tiene mucha chicha. ¿Cómo lo ordeno todo en la cabeza para el examen?</a:t>
            </a:r>
          </a:p>
          <a:p>
            <a:r>
              <a:t>N2: Vamos a atar el hilo entero, que verás que encaja solo. Empieza por el sitio: la ITC-ICG diez desarrolla la letra ge del artículo dos punto uno del Reglamento, y regula la instalación fija de gas de caravanas y autocaravanas; los cacharros portátiles con su propio cartucho se quedan fuera. Su norma de cabecera, la que tienes que asociar siempre a caravanas, es la UNE-EN mil novecientos cuarenta y nueve, sin año. Segundo, la seguridad: antes de dar gas, prueba de estanquidad con manómetro de cero a uno bar, clase uno y escala de veinte milibares, y la presión no puede bajar en al menos quince minutos. ¿Por qué tanto detalle? Porque una fuga de GLP en un habitáculo cerrado que además circula es la avería más grave que vas a evitar. En uso, treinta milibares, bombonas siempre sujetas, llenas o vacías, y desconectadas en los parones largos; y la tubería de gas nunca como toma de tierra, que es poner una chispa donde hay combustible. Tercero, el papeleo y las dos trampas: la instaladora firma el certificado, modelo IRV uno, por triplicado, y eso es la puesta en servicio. Trampa uno, aquí no se comunica nada a la Administración, solo se guarda el certificado. Trampa dos, la revisión es cada cuatro años y se llama revisión, no inspección, porque la caravana va con bombonas y no cuelga de una red; se documenta con el IRV dos.</a:t>
            </a:r>
          </a:p>
          <a:p>
            <a:r>
              <a:t>N1: ¿Y cómo cae esto en el examen y en la obra?</a:t>
            </a:r>
          </a:p>
          <a:p>
            <a:r>
              <a:t>N2: En el examen te lo preguntan por datos sueltos: los quince minutos, los treinta milibares, los cuatro años, el artículo dos punto uno letra ge, y sobre todo las dos trampas, la de no comunicar y la de revisión y no inspección. En la obra lo vives en un boletín de revisión de caravana: compruebas la estanquidad con agua jabonosa en regulador y racores, miras que las bombonas vayan amarradas y que nadie haya colgado un cable de la tubería, corriges lo que falle y rellenas el IRV dos. Con esto cierras el tema y, de paso, cierras el bloque de las ITC. Hoy ya eres bastante más gasista que ayer: te has ganado el aprobado de este tema. Enhorabuena, y a por lo que venga.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1 DE 1</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GLP en caravanas y autocaravanas</a:t>
            </a:r>
          </a:p>
          <a:p>
            <a:r>
              <a:rPr sz="2200" b="0" i="0">
                <a:solidFill>
                  <a:srgbClr val="CADCFC"/>
                </a:solidFill>
                <a:latin typeface="Montserrat"/>
              </a:rPr>
              <a:t>ITC-ICG 10: la instalación fija de gas del vehículo de recreo</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07 · Reglamento · ITC-ICG 10</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15</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minutos mínimos de la prueba de estanquidad</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30</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mbar de presión de los aparatos</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4</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años entre revisiones de la instalación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Apartado 1</a:t>
            </a:r>
          </a:p>
          <a:p>
            <a:pPr>
              <a:spcAft>
                <a:spcPts val="900"/>
              </a:spcAft>
            </a:pPr>
            <a:r>
              <a:rPr sz="1800" b="1" i="0">
                <a:solidFill>
                  <a:srgbClr val="E8801A"/>
                </a:solidFill>
                <a:latin typeface="Montserrat"/>
              </a:rPr>
              <a:t>02   </a:t>
            </a:r>
            <a:r>
              <a:rPr sz="1700" b="0" i="0">
                <a:solidFill>
                  <a:srgbClr val="1B2330"/>
                </a:solidFill>
                <a:latin typeface="Montserrat"/>
              </a:rPr>
              <a:t>Apartado 2</a:t>
            </a:r>
          </a:p>
          <a:p>
            <a:pPr>
              <a:spcAft>
                <a:spcPts val="900"/>
              </a:spcAft>
            </a:pPr>
            <a:r>
              <a:rPr sz="1800" b="1" i="0">
                <a:solidFill>
                  <a:srgbClr val="E8801A"/>
                </a:solidFill>
                <a:latin typeface="Montserrat"/>
              </a:rPr>
              <a:t>03   </a:t>
            </a:r>
            <a:r>
              <a:rPr sz="1700" b="0" i="0">
                <a:solidFill>
                  <a:srgbClr val="1B2330"/>
                </a:solidFill>
                <a:latin typeface="Montserrat"/>
              </a:rPr>
              <a:t>Apartado 3</a:t>
            </a:r>
          </a:p>
          <a:p>
            <a:pPr>
              <a:spcAft>
                <a:spcPts val="900"/>
              </a:spcAft>
            </a:pPr>
            <a:r>
              <a:rPr sz="1800" b="1" i="0">
                <a:solidFill>
                  <a:srgbClr val="E8801A"/>
                </a:solidFill>
                <a:latin typeface="Montserrat"/>
              </a:rPr>
              <a:t>04   </a:t>
            </a:r>
            <a:r>
              <a:rPr sz="1700" b="0" i="0">
                <a:solidFill>
                  <a:srgbClr val="1B2330"/>
                </a:solidFill>
                <a:latin typeface="Montserrat"/>
              </a:rPr>
              <a:t>Apartado 4.1</a:t>
            </a:r>
          </a:p>
          <a:p>
            <a:pPr>
              <a:spcAft>
                <a:spcPts val="900"/>
              </a:spcAft>
            </a:pPr>
            <a:r>
              <a:rPr sz="1800" b="1" i="0">
                <a:solidFill>
                  <a:srgbClr val="E8801A"/>
                </a:solidFill>
                <a:latin typeface="Montserrat"/>
              </a:rPr>
              <a:t>05   </a:t>
            </a:r>
            <a:r>
              <a:rPr sz="1700" b="0" i="0">
                <a:solidFill>
                  <a:srgbClr val="1B2330"/>
                </a:solidFill>
                <a:latin typeface="Montserrat"/>
              </a:rPr>
              <a:t>Apartado 4.2</a:t>
            </a:r>
          </a:p>
          <a:p>
            <a:pPr>
              <a:spcAft>
                <a:spcPts val="900"/>
              </a:spcAft>
            </a:pPr>
            <a:r>
              <a:rPr sz="1800" b="1" i="0">
                <a:solidFill>
                  <a:srgbClr val="E8801A"/>
                </a:solidFill>
                <a:latin typeface="Montserrat"/>
              </a:rPr>
              <a:t>06   </a:t>
            </a:r>
            <a:r>
              <a:rPr sz="1700" b="0" i="0">
                <a:solidFill>
                  <a:srgbClr val="1B2330"/>
                </a:solidFill>
                <a:latin typeface="Montserrat"/>
              </a:rPr>
              <a:t>Apartado 4.3</a:t>
            </a:r>
          </a:p>
          <a:p>
            <a:pPr>
              <a:spcAft>
                <a:spcPts val="900"/>
              </a:spcAft>
            </a:pPr>
            <a:r>
              <a:rPr sz="1800" b="1" i="0">
                <a:solidFill>
                  <a:srgbClr val="E8801A"/>
                </a:solidFill>
                <a:latin typeface="Montserrat"/>
              </a:rPr>
              <a:t>07   </a:t>
            </a:r>
            <a:r>
              <a:rPr sz="1700" b="0" i="0">
                <a:solidFill>
                  <a:srgbClr val="1B2330"/>
                </a:solidFill>
                <a:latin typeface="Montserrat"/>
              </a:rPr>
              <a:t>Apartado 4.4</a:t>
            </a:r>
          </a:p>
          <a:p>
            <a:pPr>
              <a:spcAft>
                <a:spcPts val="900"/>
              </a:spcAft>
            </a:pPr>
            <a:r>
              <a:rPr sz="1800" b="1" i="0">
                <a:solidFill>
                  <a:srgbClr val="E8801A"/>
                </a:solidFill>
                <a:latin typeface="Montserrat"/>
              </a:rPr>
              <a:t>08   </a:t>
            </a:r>
            <a:r>
              <a:rPr sz="1700" b="0" i="0">
                <a:solidFill>
                  <a:srgbClr val="1B2330"/>
                </a:solidFill>
                <a:latin typeface="Montserrat"/>
              </a:rPr>
              <a:t>Apartado 5</a:t>
            </a:r>
          </a:p>
          <a:p>
            <a:pPr>
              <a:spcAft>
                <a:spcPts val="900"/>
              </a:spcAft>
            </a:pPr>
            <a:r>
              <a:rPr sz="1800" b="1" i="0">
                <a:solidFill>
                  <a:srgbClr val="E8801A"/>
                </a:solidFill>
                <a:latin typeface="Montserrat"/>
              </a:rPr>
              <a:t>09   </a:t>
            </a:r>
            <a:r>
              <a:rPr sz="1700" b="0" i="0">
                <a:solidFill>
                  <a:srgbClr val="1B2330"/>
                </a:solidFill>
                <a:latin typeface="Montserrat"/>
              </a:rPr>
              <a:t>Apartado 6</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1 · OBJETO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regula esta ITC?</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Requisitos técnicos y medidas de seguridad</a:t>
            </a:r>
          </a:p>
          <a:p>
            <a:pPr>
              <a:spcAft>
                <a:spcPts val="1100"/>
              </a:spcAft>
            </a:pPr>
            <a:r>
              <a:rPr sz="1600" b="1" i="0">
                <a:solidFill>
                  <a:srgbClr val="E8801A"/>
                </a:solidFill>
                <a:latin typeface="Montserrat"/>
              </a:rPr>
              <a:t>▸  </a:t>
            </a:r>
            <a:r>
              <a:rPr sz="1600" b="0" i="0">
                <a:solidFill>
                  <a:srgbClr val="1B2330"/>
                </a:solidFill>
                <a:latin typeface="Montserrat"/>
              </a:rPr>
              <a:t>Diseño, construcción, pruebas, instalación y uso</a:t>
            </a:r>
          </a:p>
          <a:p>
            <a:pPr>
              <a:spcAft>
                <a:spcPts val="1100"/>
              </a:spcAft>
            </a:pPr>
            <a:r>
              <a:rPr sz="1600" b="1" i="0">
                <a:solidFill>
                  <a:srgbClr val="E8801A"/>
                </a:solidFill>
                <a:latin typeface="Montserrat"/>
              </a:rPr>
              <a:t>▸  </a:t>
            </a:r>
            <a:r>
              <a:rPr sz="1600" b="0" i="0">
                <a:solidFill>
                  <a:srgbClr val="1B2330"/>
                </a:solidFill>
                <a:latin typeface="Montserrat"/>
              </a:rPr>
              <a:t>GLP doméstico en caravanas y autocaravanas</a:t>
            </a:r>
          </a:p>
          <a:p>
            <a:pPr>
              <a:spcAft>
                <a:spcPts val="1100"/>
              </a:spcAft>
            </a:pPr>
            <a:r>
              <a:rPr sz="1600" b="1" i="0">
                <a:solidFill>
                  <a:srgbClr val="E8801A"/>
                </a:solidFill>
                <a:latin typeface="Montserrat"/>
              </a:rPr>
              <a:t>▸  </a:t>
            </a:r>
            <a:r>
              <a:rPr sz="1600" b="0" i="0">
                <a:solidFill>
                  <a:srgbClr val="1B2330"/>
                </a:solidFill>
                <a:latin typeface="Montserrat"/>
              </a:rPr>
              <a:t>Desarrolla el artículo 2.1,g) del Reglamento</a:t>
            </a:r>
          </a:p>
        </p:txBody>
      </p:sp>
      <p:sp>
        <p:nvSpPr>
          <p:cNvPr id="9" name="imgph" descr="IMGQ:camper van gas installatio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camper van gas installation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CAMPO DE APLICACIÓN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 qué se aplica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Instalaciones y aparatos de GLP doméstico</a:t>
            </a:r>
          </a:p>
          <a:p>
            <a:pPr>
              <a:spcAft>
                <a:spcPts val="1100"/>
              </a:spcAft>
            </a:pPr>
            <a:r>
              <a:rPr sz="1600" b="1" i="0">
                <a:solidFill>
                  <a:srgbClr val="E8801A"/>
                </a:solidFill>
                <a:latin typeface="Montserrat"/>
              </a:rPr>
              <a:t>▸  </a:t>
            </a:r>
            <a:r>
              <a:rPr sz="1600" b="0" i="0">
                <a:solidFill>
                  <a:srgbClr val="1B2330"/>
                </a:solidFill>
                <a:latin typeface="Montserrat"/>
              </a:rPr>
              <a:t>Vehículos habitables de recreo de carretera</a:t>
            </a:r>
          </a:p>
          <a:p>
            <a:pPr>
              <a:spcAft>
                <a:spcPts val="1100"/>
              </a:spcAft>
            </a:pPr>
            <a:r>
              <a:rPr sz="1600" b="1" i="0">
                <a:solidFill>
                  <a:srgbClr val="E8801A"/>
                </a:solidFill>
                <a:latin typeface="Montserrat"/>
              </a:rPr>
              <a:t>▸  </a:t>
            </a:r>
            <a:r>
              <a:rPr sz="1600" b="0" i="0">
                <a:solidFill>
                  <a:srgbClr val="1B2330"/>
                </a:solidFill>
                <a:latin typeface="Montserrat"/>
              </a:rPr>
              <a:t>Mantenimiento: vale para nuevas y existentes</a:t>
            </a:r>
          </a:p>
        </p:txBody>
      </p:sp>
      <p:sp>
        <p:nvSpPr>
          <p:cNvPr id="9" name="imgph" descr="IMGQ:caravan interior kitchen stov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caravan interior kitchen stove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EXCLUSIONES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queda fuera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Aparatos portátiles con su propia alimentación</a:t>
            </a:r>
          </a:p>
          <a:p>
            <a:pPr>
              <a:spcAft>
                <a:spcPts val="1100"/>
              </a:spcAft>
            </a:pPr>
            <a:r>
              <a:rPr sz="1600" b="1" i="0">
                <a:solidFill>
                  <a:srgbClr val="E8801A"/>
                </a:solidFill>
                <a:latin typeface="Montserrat"/>
              </a:rPr>
              <a:t>▸  </a:t>
            </a:r>
            <a:r>
              <a:rPr sz="1600" b="0" i="0">
                <a:solidFill>
                  <a:srgbClr val="1B2330"/>
                </a:solidFill>
                <a:latin typeface="Montserrat"/>
              </a:rPr>
              <a:t>Hornillo de cartucho, estufa de camping</a:t>
            </a:r>
          </a:p>
          <a:p>
            <a:pPr>
              <a:spcAft>
                <a:spcPts val="1100"/>
              </a:spcAft>
            </a:pPr>
            <a:r>
              <a:rPr sz="1600" b="1" i="0">
                <a:solidFill>
                  <a:srgbClr val="E8801A"/>
                </a:solidFill>
                <a:latin typeface="Montserrat"/>
              </a:rPr>
              <a:t>▸  </a:t>
            </a:r>
            <a:r>
              <a:rPr sz="1600" b="0" i="0">
                <a:solidFill>
                  <a:srgbClr val="1B2330"/>
                </a:solidFill>
                <a:latin typeface="Montserrat"/>
              </a:rPr>
              <a:t>La ITC regula solo la instalación fija</a:t>
            </a:r>
          </a:p>
        </p:txBody>
      </p:sp>
      <p:sp>
        <p:nvSpPr>
          <p:cNvPr id="9" name="imgph" descr="IMGQ:portable camping gas stove cartridg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portable camping gas stove cartridge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 · DISEÑO Y EJECUCIÓN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norma y quién la monta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Diseño y montaje según UNE-EN 1949</a:t>
            </a:r>
          </a:p>
          <a:p>
            <a:pPr>
              <a:spcAft>
                <a:spcPts val="1100"/>
              </a:spcAft>
            </a:pPr>
            <a:r>
              <a:rPr sz="1600" b="1" i="0">
                <a:solidFill>
                  <a:srgbClr val="E8801A"/>
                </a:solidFill>
                <a:latin typeface="Montserrat"/>
              </a:rPr>
              <a:t>▸  </a:t>
            </a:r>
            <a:r>
              <a:rPr sz="1600" b="0" i="0">
                <a:solidFill>
                  <a:srgbClr val="1B2330"/>
                </a:solidFill>
                <a:latin typeface="Montserrat"/>
              </a:rPr>
              <a:t>Aparatos: directivas europeas o ITC-ICG 08</a:t>
            </a:r>
          </a:p>
          <a:p>
            <a:pPr>
              <a:spcAft>
                <a:spcPts val="1100"/>
              </a:spcAft>
            </a:pPr>
            <a:r>
              <a:rPr sz="1600" b="1" i="0">
                <a:solidFill>
                  <a:srgbClr val="E8801A"/>
                </a:solidFill>
                <a:latin typeface="Montserrat"/>
              </a:rPr>
              <a:t>▸  </a:t>
            </a:r>
            <a:r>
              <a:rPr sz="1600" b="0" i="0">
                <a:solidFill>
                  <a:srgbClr val="1B2330"/>
                </a:solidFill>
                <a:latin typeface="Montserrat"/>
              </a:rPr>
              <a:t>La ejecuta una empresa instaladora de gas</a:t>
            </a:r>
          </a:p>
        </p:txBody>
      </p:sp>
      <p:sp>
        <p:nvSpPr>
          <p:cNvPr id="9" name="imgph" descr="IMGQ:technician installing gas pip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technician installing gas pipe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4.1 · PRUEBAS PREVIAS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prueba de estanquidad</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Antes de la puesta en servicio</a:t>
            </a:r>
          </a:p>
          <a:p>
            <a:pPr>
              <a:spcAft>
                <a:spcPts val="1100"/>
              </a:spcAft>
            </a:pPr>
            <a:r>
              <a:rPr sz="1600" b="1" i="0">
                <a:solidFill>
                  <a:srgbClr val="E8801A"/>
                </a:solidFill>
                <a:latin typeface="Montserrat"/>
              </a:rPr>
              <a:t>▸  </a:t>
            </a:r>
            <a:r>
              <a:rPr sz="1600" b="0" i="0">
                <a:solidFill>
                  <a:srgbClr val="1B2330"/>
                </a:solidFill>
                <a:latin typeface="Montserrat"/>
              </a:rPr>
              <a:t>Manómetro 0-1 bar, clase 1</a:t>
            </a:r>
          </a:p>
          <a:p>
            <a:pPr>
              <a:spcAft>
                <a:spcPts val="1100"/>
              </a:spcAft>
            </a:pPr>
            <a:r>
              <a:rPr sz="1600" b="1" i="0">
                <a:solidFill>
                  <a:srgbClr val="E8801A"/>
                </a:solidFill>
                <a:latin typeface="Montserrat"/>
              </a:rPr>
              <a:t>▸  </a:t>
            </a:r>
            <a:r>
              <a:rPr sz="1600" b="0" i="0">
                <a:solidFill>
                  <a:srgbClr val="1B2330"/>
                </a:solidFill>
                <a:latin typeface="Montserrat"/>
              </a:rPr>
              <a:t>Escala de 20 mbar o manotermógrafo</a:t>
            </a:r>
          </a:p>
          <a:p>
            <a:pPr>
              <a:spcAft>
                <a:spcPts val="1100"/>
              </a:spcAft>
            </a:pPr>
            <a:r>
              <a:rPr sz="1600" b="1" i="0">
                <a:solidFill>
                  <a:srgbClr val="E8801A"/>
                </a:solidFill>
                <a:latin typeface="Montserrat"/>
              </a:rPr>
              <a:t>▸  </a:t>
            </a:r>
            <a:r>
              <a:rPr sz="1600" b="0" i="0">
                <a:solidFill>
                  <a:srgbClr val="1B2330"/>
                </a:solidFill>
                <a:latin typeface="Montserrat"/>
              </a:rPr>
              <a:t>Correcta si no baja en 15 min mínimo</a:t>
            </a:r>
          </a:p>
        </p:txBody>
      </p:sp>
      <p:sp>
        <p:nvSpPr>
          <p:cNvPr id="9" name="imgph" descr="IMGQ:pressure gauge manometer gas"/>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pressure gauge manometer gas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¿Durante cuánto tiempo, como mínimo, no debe bajar la presión en la prueba de estanquidad?</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5 minutos</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10 minutos</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15 minutos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30 minutos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¿Durante cuánto tiempo, como mínimo, no debe bajar la presión en la prueba de estanquidad?</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15 minutos</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ITC exige que la presión no disminuya durante un período no inferior a quince minutos desde la primera lectura.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4.2 · CERTIFICADOS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certificado de instalación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Modelo IRV-1 del anexo 1</a:t>
            </a:r>
          </a:p>
          <a:p>
            <a:pPr>
              <a:spcAft>
                <a:spcPts val="1100"/>
              </a:spcAft>
            </a:pPr>
            <a:r>
              <a:rPr sz="1600" b="1" i="0">
                <a:solidFill>
                  <a:srgbClr val="E8801A"/>
                </a:solidFill>
                <a:latin typeface="Montserrat"/>
              </a:rPr>
              <a:t>▸  </a:t>
            </a:r>
            <a:r>
              <a:rPr sz="1600" b="0" i="0">
                <a:solidFill>
                  <a:srgbClr val="1B2330"/>
                </a:solidFill>
                <a:latin typeface="Montserrat"/>
              </a:rPr>
              <a:t>Por triplicado</a:t>
            </a:r>
          </a:p>
          <a:p>
            <a:pPr>
              <a:spcAft>
                <a:spcPts val="1100"/>
              </a:spcAft>
            </a:pPr>
            <a:r>
              <a:rPr sz="1600" b="1" i="0">
                <a:solidFill>
                  <a:srgbClr val="E8801A"/>
                </a:solidFill>
                <a:latin typeface="Montserrat"/>
              </a:rPr>
              <a:t>▸  </a:t>
            </a:r>
            <a:r>
              <a:rPr sz="1600" b="0" i="0">
                <a:solidFill>
                  <a:srgbClr val="1B2330"/>
                </a:solidFill>
                <a:latin typeface="Montserrat"/>
              </a:rPr>
              <a:t>Copias: instaladora, titular y Comunidad Autónoma</a:t>
            </a:r>
          </a:p>
        </p:txBody>
      </p:sp>
      <p:sp>
        <p:nvSpPr>
          <p:cNvPr id="9" name="imgph" descr="IMGQ:installation certificate document signatur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installation certificate document signature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4.3 · PUESTA EN SERVICIO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papel abre el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 el certificado expedido, ya hay servicio</a:t>
            </a:r>
          </a:p>
          <a:p>
            <a:pPr>
              <a:spcAft>
                <a:spcPts val="1100"/>
              </a:spcAft>
            </a:pPr>
            <a:r>
              <a:rPr sz="1600" b="1" i="0">
                <a:solidFill>
                  <a:srgbClr val="E8801A"/>
                </a:solidFill>
                <a:latin typeface="Montserrat"/>
              </a:rPr>
              <a:t>▸  </a:t>
            </a:r>
            <a:r>
              <a:rPr sz="1600" b="0" i="0">
                <a:solidFill>
                  <a:srgbClr val="1B2330"/>
                </a:solidFill>
                <a:latin typeface="Montserrat"/>
              </a:rPr>
              <a:t>El titular pide los envases al suministrador</a:t>
            </a:r>
          </a:p>
          <a:p>
            <a:pPr>
              <a:spcAft>
                <a:spcPts val="1100"/>
              </a:spcAft>
            </a:pPr>
            <a:r>
              <a:rPr sz="1600" b="1" i="0">
                <a:solidFill>
                  <a:srgbClr val="E8801A"/>
                </a:solidFill>
                <a:latin typeface="Montserrat"/>
              </a:rPr>
              <a:t>▸  </a:t>
            </a:r>
            <a:r>
              <a:rPr sz="1600" b="0" i="0">
                <a:solidFill>
                  <a:srgbClr val="1B2330"/>
                </a:solidFill>
                <a:latin typeface="Montserrat"/>
              </a:rPr>
              <a:t>Primero el papel, luego el gas</a:t>
            </a:r>
          </a:p>
        </p:txBody>
      </p:sp>
      <p:sp>
        <p:nvSpPr>
          <p:cNvPr id="9" name="imgph" descr="IMGQ:propane gas cylinder delivery"/>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propane gas cylinder delivery</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4.4 · COMUNICACIÓN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excepción: no se comunica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No es precisa ninguna comunicación</a:t>
            </a:r>
          </a:p>
          <a:p>
            <a:pPr>
              <a:spcAft>
                <a:spcPts val="1100"/>
              </a:spcAft>
            </a:pPr>
            <a:r>
              <a:rPr sz="1600" b="1" i="0">
                <a:solidFill>
                  <a:srgbClr val="E8801A"/>
                </a:solidFill>
                <a:latin typeface="Montserrat"/>
              </a:rPr>
              <a:t>▸  </a:t>
            </a:r>
            <a:r>
              <a:rPr sz="1600" b="0" i="0">
                <a:solidFill>
                  <a:srgbClr val="1B2330"/>
                </a:solidFill>
                <a:latin typeface="Montserrat"/>
              </a:rPr>
              <a:t>El titular conserva el certificado</a:t>
            </a:r>
          </a:p>
          <a:p>
            <a:pPr>
              <a:spcAft>
                <a:spcPts val="1100"/>
              </a:spcAft>
            </a:pPr>
            <a:r>
              <a:rPr sz="1600" b="1" i="0">
                <a:solidFill>
                  <a:srgbClr val="E8801A"/>
                </a:solidFill>
                <a:latin typeface="Montserrat"/>
              </a:rPr>
              <a:t>▸  </a:t>
            </a:r>
            <a:r>
              <a:rPr sz="1600" b="0" i="0">
                <a:solidFill>
                  <a:srgbClr val="1B2330"/>
                </a:solidFill>
                <a:latin typeface="Montserrat"/>
              </a:rPr>
              <a:t>A disposición de la Administración si lo pide</a:t>
            </a:r>
          </a:p>
        </p:txBody>
      </p:sp>
      <p:sp>
        <p:nvSpPr>
          <p:cNvPr id="9" name="imgph" descr="IMGQ:filing documents folder cabine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filing documents folder cabinet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Tras la puesta en servicio de una instalación de GLP en caravana, ¿qué debe hacer el titular?</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Comunicarla a la Comunidad Autónoma en 30 días</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No comunicar nada y conservar el certificado</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Registrarla ante el Ministerio</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Solicitar una inspección oficial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Tras la puesta en servicio de una instalación de GLP en caravana, ¿qué debe hacer el titular?</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No comunicar nada y conservar el certificado</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En esta ITC no es precisa ninguna comunicación; basta con que el titular conserve el certificado a disposición de la Administración.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 · UTILIZACIÓN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Presión y bombonas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Presión de funcionamiento: 30 mbar</a:t>
            </a:r>
          </a:p>
          <a:p>
            <a:pPr>
              <a:spcAft>
                <a:spcPts val="1100"/>
              </a:spcAft>
            </a:pPr>
            <a:r>
              <a:rPr sz="1600" b="1" i="0">
                <a:solidFill>
                  <a:srgbClr val="E8801A"/>
                </a:solidFill>
                <a:latin typeface="Montserrat"/>
              </a:rPr>
              <a:t>▸  </a:t>
            </a:r>
            <a:r>
              <a:rPr sz="1600" b="0" i="0">
                <a:solidFill>
                  <a:srgbClr val="1B2330"/>
                </a:solidFill>
                <a:latin typeface="Montserrat"/>
              </a:rPr>
              <a:t>Envases siempre sujetos, llenos o vacíos</a:t>
            </a:r>
          </a:p>
          <a:p>
            <a:pPr>
              <a:spcAft>
                <a:spcPts val="1100"/>
              </a:spcAft>
            </a:pPr>
            <a:r>
              <a:rPr sz="1600" b="1" i="0">
                <a:solidFill>
                  <a:srgbClr val="E8801A"/>
                </a:solidFill>
                <a:latin typeface="Montserrat"/>
              </a:rPr>
              <a:t>▸  </a:t>
            </a:r>
            <a:r>
              <a:rPr sz="1600" b="0" i="0">
                <a:solidFill>
                  <a:srgbClr val="1B2330"/>
                </a:solidFill>
                <a:latin typeface="Montserrat"/>
              </a:rPr>
              <a:t>Dentro o fuera, en uso y en marcha</a:t>
            </a:r>
          </a:p>
          <a:p>
            <a:pPr>
              <a:spcAft>
                <a:spcPts val="1100"/>
              </a:spcAft>
            </a:pPr>
            <a:r>
              <a:rPr sz="1600" b="1" i="0">
                <a:solidFill>
                  <a:srgbClr val="E8801A"/>
                </a:solidFill>
                <a:latin typeface="Montserrat"/>
              </a:rPr>
              <a:t>▸  </a:t>
            </a:r>
            <a:r>
              <a:rPr sz="1600" b="0" i="0">
                <a:solidFill>
                  <a:srgbClr val="1B2330"/>
                </a:solidFill>
                <a:latin typeface="Montserrat"/>
              </a:rPr>
              <a:t>Desconectar en estacionamiento prolongado</a:t>
            </a:r>
          </a:p>
        </p:txBody>
      </p:sp>
      <p:sp>
        <p:nvSpPr>
          <p:cNvPr id="9" name="imgph" descr="IMGQ:propane gas cylinder strap secured"/>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propane gas cylinder strap secured</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 · PROHIBICIÓN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tubería no es un cable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Prohibido usarla como toma de tierra</a:t>
            </a:r>
          </a:p>
          <a:p>
            <a:pPr>
              <a:spcAft>
                <a:spcPts val="1100"/>
              </a:spcAft>
            </a:pPr>
            <a:r>
              <a:rPr sz="1600" b="1" i="0">
                <a:solidFill>
                  <a:srgbClr val="E8801A"/>
                </a:solidFill>
                <a:latin typeface="Montserrat"/>
              </a:rPr>
              <a:t>▸  </a:t>
            </a:r>
            <a:r>
              <a:rPr sz="1600" b="0" i="0">
                <a:solidFill>
                  <a:srgbClr val="1B2330"/>
                </a:solidFill>
                <a:latin typeface="Montserrat"/>
              </a:rPr>
              <a:t>Ni para instalaciones eléctricas</a:t>
            </a:r>
          </a:p>
          <a:p>
            <a:pPr>
              <a:spcAft>
                <a:spcPts val="1100"/>
              </a:spcAft>
            </a:pPr>
            <a:r>
              <a:rPr sz="1600" b="1" i="0">
                <a:solidFill>
                  <a:srgbClr val="E8801A"/>
                </a:solidFill>
                <a:latin typeface="Montserrat"/>
              </a:rPr>
              <a:t>▸  </a:t>
            </a:r>
            <a:r>
              <a:rPr sz="1600" b="0" i="0">
                <a:solidFill>
                  <a:srgbClr val="1B2330"/>
                </a:solidFill>
                <a:latin typeface="Montserrat"/>
              </a:rPr>
              <a:t>Ni para instalaciones radioeléctricas</a:t>
            </a:r>
          </a:p>
        </p:txBody>
      </p:sp>
      <p:sp>
        <p:nvSpPr>
          <p:cNvPr id="9" name="imgph" descr="IMGQ:electrical grounding wire clamp"/>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electrical grounding wire clamp</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 · MANTENIMIENTO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Revisión cada 4 años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El titular es el responsable</a:t>
            </a:r>
          </a:p>
          <a:p>
            <a:pPr>
              <a:spcAft>
                <a:spcPts val="1100"/>
              </a:spcAft>
            </a:pPr>
            <a:r>
              <a:rPr sz="1600" b="1" i="0">
                <a:solidFill>
                  <a:srgbClr val="E8801A"/>
                </a:solidFill>
                <a:latin typeface="Montserrat"/>
              </a:rPr>
              <a:t>▸  </a:t>
            </a:r>
            <a:r>
              <a:rPr sz="1600" b="0" i="0">
                <a:solidFill>
                  <a:srgbClr val="1B2330"/>
                </a:solidFill>
                <a:latin typeface="Montserrat"/>
              </a:rPr>
              <a:t>Encarga la revisión a una instaladora</a:t>
            </a:r>
          </a:p>
          <a:p>
            <a:pPr>
              <a:spcAft>
                <a:spcPts val="1100"/>
              </a:spcAft>
            </a:pPr>
            <a:r>
              <a:rPr sz="1600" b="1" i="0">
                <a:solidFill>
                  <a:srgbClr val="E8801A"/>
                </a:solidFill>
                <a:latin typeface="Montserrat"/>
              </a:rPr>
              <a:t>▸  </a:t>
            </a:r>
            <a:r>
              <a:rPr sz="1600" b="0" i="0">
                <a:solidFill>
                  <a:srgbClr val="1B2330"/>
                </a:solidFill>
                <a:latin typeface="Montserrat"/>
              </a:rPr>
              <a:t>Cada 4 años · es revisión, no inspección</a:t>
            </a:r>
          </a:p>
          <a:p>
            <a:pPr>
              <a:spcAft>
                <a:spcPts val="1100"/>
              </a:spcAft>
            </a:pPr>
            <a:r>
              <a:rPr sz="1600" b="1" i="0">
                <a:solidFill>
                  <a:srgbClr val="E8801A"/>
                </a:solidFill>
                <a:latin typeface="Montserrat"/>
              </a:rPr>
              <a:t>▸  </a:t>
            </a:r>
            <a:r>
              <a:rPr sz="1600" b="0" i="0">
                <a:solidFill>
                  <a:srgbClr val="1B2330"/>
                </a:solidFill>
                <a:latin typeface="Montserrat"/>
              </a:rPr>
              <a:t>Se documenta con el modelo IRV-2</a:t>
            </a:r>
          </a:p>
        </p:txBody>
      </p:sp>
      <p:sp>
        <p:nvSpPr>
          <p:cNvPr id="9" name="imgph" descr="IMGQ:technician checking gas installation carava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technician checking gas installation caravan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¿Cada cuánto y con qué nombre se controla periódicamente la instalación de una caravana?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Inspección cada 5 años</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Revisión cada 4 años</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Inspección cada 4 años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Revisión cada 2 años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¿Cada cuánto y con qué nombre se controla periódicamente la instalación de una caravana?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Revisión cada 4 años</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Al funcionar con bombonas propias y no colgar de una red, la instalación se revisa (no se inspecciona) cada cuatro años.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07 · ITC-ICG 10 · Caravanas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1 · MODELOS IRV</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Los dos impresos oficiales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IRV-1: certificado de instalación</a:t>
            </a:r>
          </a:p>
          <a:p>
            <a:pPr>
              <a:spcAft>
                <a:spcPts val="1100"/>
              </a:spcAft>
            </a:pPr>
            <a:r>
              <a:rPr sz="1600" b="1" i="0">
                <a:solidFill>
                  <a:srgbClr val="E8801A"/>
                </a:solidFill>
                <a:latin typeface="Montserrat"/>
              </a:rPr>
              <a:t>▸  </a:t>
            </a:r>
            <a:r>
              <a:rPr sz="1600" b="0" i="0">
                <a:solidFill>
                  <a:srgbClr val="1B2330"/>
                </a:solidFill>
                <a:latin typeface="Montserrat"/>
              </a:rPr>
              <a:t>IRV-2: certificado de revisión periódica</a:t>
            </a:r>
          </a:p>
          <a:p>
            <a:pPr>
              <a:spcAft>
                <a:spcPts val="1100"/>
              </a:spcAft>
            </a:pPr>
            <a:r>
              <a:rPr sz="1600" b="1" i="0">
                <a:solidFill>
                  <a:srgbClr val="E8801A"/>
                </a:solidFill>
                <a:latin typeface="Montserrat"/>
              </a:rPr>
              <a:t>▸  </a:t>
            </a:r>
            <a:r>
              <a:rPr sz="1600" b="0" i="0">
                <a:solidFill>
                  <a:srgbClr val="1B2330"/>
                </a:solidFill>
                <a:latin typeface="Montserrat"/>
              </a:rPr>
              <a:t>Modelos normalizados en el anexo 1</a:t>
            </a:r>
          </a:p>
          <a:p>
            <a:pPr>
              <a:spcAft>
                <a:spcPts val="1100"/>
              </a:spcAft>
            </a:pPr>
            <a:r>
              <a:rPr sz="1600" b="1" i="0">
                <a:solidFill>
                  <a:srgbClr val="E8801A"/>
                </a:solidFill>
                <a:latin typeface="Montserrat"/>
              </a:rPr>
              <a:t>▸  </a:t>
            </a:r>
            <a:r>
              <a:rPr sz="1600" b="0" i="0">
                <a:solidFill>
                  <a:srgbClr val="1B2330"/>
                </a:solidFill>
                <a:latin typeface="Montserrat"/>
              </a:rPr>
              <a:t>Si ves 'IRV', piensa en caravana</a:t>
            </a:r>
          </a:p>
        </p:txBody>
      </p:sp>
      <p:sp>
        <p:nvSpPr>
          <p:cNvPr id="9" name="imgph" descr="IMGQ:official gas installation certificate form"/>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official gas installation certificate form</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te sabes la ITC de las caravanas entera</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De dónde cuelga: artículo 2.1,g) y UNE-EN 1949</a:t>
            </a:r>
          </a:p>
          <a:p>
            <a:pPr>
              <a:spcAft>
                <a:spcPts val="1200"/>
              </a:spcAft>
            </a:pPr>
            <a:r>
              <a:rPr sz="2000" b="1" i="0">
                <a:solidFill>
                  <a:srgbClr val="F4A24C"/>
                </a:solidFill>
                <a:latin typeface="Montserrat"/>
              </a:rPr>
              <a:t>✓  </a:t>
            </a:r>
            <a:r>
              <a:rPr sz="1900" b="0" i="0">
                <a:solidFill>
                  <a:srgbClr val="FFFFFF"/>
                </a:solidFill>
                <a:latin typeface="Montserrat"/>
              </a:rPr>
              <a:t>Estanquidad: no baja en 15 min · uso a 30 mbar</a:t>
            </a:r>
          </a:p>
          <a:p>
            <a:pPr>
              <a:spcAft>
                <a:spcPts val="1200"/>
              </a:spcAft>
            </a:pPr>
            <a:r>
              <a:rPr sz="2000" b="1" i="0">
                <a:solidFill>
                  <a:srgbClr val="F4A24C"/>
                </a:solidFill>
                <a:latin typeface="Montserrat"/>
              </a:rPr>
              <a:t>✓  </a:t>
            </a:r>
            <a:r>
              <a:rPr sz="1900" b="0" i="0">
                <a:solidFill>
                  <a:srgbClr val="FFFFFF"/>
                </a:solidFill>
                <a:latin typeface="Montserrat"/>
              </a:rPr>
              <a:t>Bombonas sujetas · tubería nunca es cable</a:t>
            </a:r>
          </a:p>
          <a:p>
            <a:pPr>
              <a:spcAft>
                <a:spcPts val="1200"/>
              </a:spcAft>
            </a:pPr>
            <a:r>
              <a:rPr sz="2000" b="1" i="0">
                <a:solidFill>
                  <a:srgbClr val="F4A24C"/>
                </a:solidFill>
                <a:latin typeface="Montserrat"/>
              </a:rPr>
              <a:t>✓  </a:t>
            </a:r>
            <a:r>
              <a:rPr sz="1900" b="0" i="0">
                <a:solidFill>
                  <a:srgbClr val="FFFFFF"/>
                </a:solidFill>
                <a:latin typeface="Montserrat"/>
              </a:rPr>
              <a:t>No se comunica · revisión cada 4 años (IRV)</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Una ITC corta, pero de las que más caen. Ya es tuya.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
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¿Cómo se demuestra que un aparato es de fiar?</a:t>
            </a:r>
          </a:p>
          <a:p>
            <a:r>
              <a:t>N2: Con los procedimientos del anexo uno. Un organismo de control certifica que el aparato cumple lo que debe, por tres vías: el examen de tipo, que certifica el modelo; la verificación de conformidad de la producción, que vigila que la serie salga igual; y la verificación por unidad, que certifica un aparato concreto. Y cierra con la documentación de diseño que hay que presentar. Es la letra pequeña de la certificación que vimos en el apartado tres; aquí la desmenuzamos entera.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¿Qué números resumen el anexo uno?</a:t>
            </a:r>
          </a:p>
          <a:p>
            <a:r>
              <a:t>N2: Tres procedimientos de certificación: examen de tipo, verificación de la producción y verificación por unidad. Un año, que es el intervalo máximo entre controles sin aviso del examen de producto. Y dos listas de documentación de diseño, la del examen de tipo y la de la unidad, parecidas pero con truco. Ten estos tres números 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¿Quién certifica realmente un aparato?</a:t>
            </a:r>
          </a:p>
          <a:p>
            <a:r>
              <a:t>N2: Siempre hay un tercero independiente, el organismo de control, que examina la documentación de diseño, hace o manda hacer las pruebas y expide el certificado. El fabricante o su representante legal solo presenta la solicitud y pone a disposición el aparato representativo. Nunca se certifica a sí mismo. Cuando montas un aparato, ese respaldo es lo que hay detrás de su placa y su certificado: sin él, ni deberías instalarlo ni podrías responder ante un siniestro.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¿Se certifica cada aparato que sale de la fábrica?</a:t>
            </a:r>
          </a:p>
          <a:p>
            <a:r>
              <a:t>N2: No. El examen de tipo certifica un modelo representativo, el tipo, que es el molde de la serie. Se elige un aparato que representa a toda la producción y sobre él el organismo hace las pruebas necesarias para comprobar que cumple las normas o procedimientos aplicables. El tipo puede incluir distintas variantes siempre que no presenten características diferentes en cuanto a los tipos de riesgo. Idea: certificas el molde una vez, no unidad por unidad.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¿Y si el fabricante cambia algo del modelo ya aprobado?</a:t>
            </a:r>
          </a:p>
          <a:p>
            <a:r>
              <a:t>N2: Debe informar al organismo que emitió el certificado de todas las modificaciones que puedan incidir en el cumplimiento de los requisitos. Si esas modificaciones afectan a los requisitos de seguridad o a las condiciones prescritas de uso, necesitan una aprobación adicional, que se realiza como complemento al certificado de examen de tipo. Por eso no vale apañar un aparato con piezas distintas a las certificadas: el certificado viejo ya no lo cubre.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¿Basta con certificar el molde?</a:t>
            </a:r>
          </a:p>
          <a:p>
            <a:r>
              <a:t>N2: No. El examen de tipo demuestra que el modelo es bueno; la verificación de la producción demuestra que cada unidad que sale de fábrica es igual que ese modelo. Se hace a través de un organismo de control, antes de comercializar, y el fabricante elige entre dos caminos: el examen de producto o el aseguramiento de la calidad. Certificar el molde no sirve de nada si luego la cadena produce copias defectuosas.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¿En qué consiste la inspección sorpresa?</a:t>
            </a:r>
          </a:p>
          <a:p>
            <a:r>
              <a:t>N2: El organismo de control aparece sin avisar, a intervalos máximos de un año, coge un número adecuado de aparatos de la producción y sobre al menos uno realiza las pruebas necesarias. Cuando uno o más aparatos son rechazados, adopta las medidas apropiadas para evitar su comercialización. Retén el dato: intervalos máximos de un año y sin aviso previo. Este camino vigila los productos, unidad a unidad.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¿Y el otro camino de la producción?</a:t>
            </a:r>
          </a:p>
          <a:p>
            <a:r>
              <a:t>N2: En vez de vigilar los productos, se confía en que la fábrica tiene un sistema de calidad conforme a la ISO nueve mil uno, evaluado y certificado por un organismo acreditado. El fabricante envía cada año la documentación que acredita que mantiene el sistema, y el organismo, siempre y especialmente en caso de duda, puede pedir una muestra de la producción para verificarla. Aquí se vigila el proceso, no unidad a unidad. Asocia: camino dos dos igual a ISO nueve mil uno con seguimiento 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¿Y si solo se fabrica un aparato, a medida?</a:t>
            </a:r>
          </a:p>
          <a:p>
            <a:r>
              <a:t>N2: Es el camino alternativo, la letra c del apartado tres de la ITC. En vez de certificar un modelo de serie, el organismo comprueba y certifica un aparato en concreto y de forma independiente. La solicitud incluye el destino del aparato, dónde va a ir, y las pruebas pueden llevarse a cabo incluso tras la instalación. Es lógico: si solo hay un ejemplar, se examina ese, allí donde va a trabajar. Aquí tú, el instalador, puedes ser justo el punto donde el aparato queda montado antes de que el organismo lo ensaye.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¿Qué papeles pide el examen de tipo?</a:t>
            </a:r>
          </a:p>
          <a:p>
            <a:r>
              <a:t>N2: La documentación de diseño describe el modelo de serie: cámara de combustión, salida de humos, categoría del aparato, quemadores e inyectores con sus consumos, elementos de seguridad y de regulación con sus valores de tarado, planos de fabricación acotados y a escala, lista de normas aplicadas y los manuales. Como habla de un modelo en general, incluye los tipos de gases y presiones de utilización, el esquema de la instalación eléctrica interior y las piezas susceptibles de ser sustituidas.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¿En qué se diferencia esta lista de la del examen de tipo?</a:t>
            </a:r>
          </a:p>
          <a:p>
            <a:r>
              <a:t>N2: La de la unidad describe un aparato concreto en su sitio, así que añade datos de ese ejemplar y su emplazamiento: número de fabricación, domicilio de la instalación, plano de situación, esquema de la línea de gas instalada y el gas y la presión para el que ha sido regulado el aparato. La del tipo, en cambio, habla de gases y presiones en general y añade el esquema eléctrico interior y las piezas sustituibles. Regla: tipo es el modelo en general; unidad es este aparato en su sitio.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En estas listas aparece la categoría del aparato. ¿Qué significa?</a:t>
            </a:r>
          </a:p>
          <a:p>
            <a:r>
              <a:t>N2: Se refiere a la categoría de gases que admite el aparato, qué gases y presiones acepta, según la UNE-EN cuatrocientos treinta y siete. No es el tipo A, B o C, que va por la combustión, ni la categoría del carné del instalador. Son tres clasificaciones distintas que conviven y no debes mezclar. Elegir mal la categoría de gases para el suministro de esa vivienda es montar un aparato que no quemará bien ese 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N1: Lo esencial del anexo uno, ¿en tres trazos?</a:t>
            </a:r>
          </a:p>
          <a:p>
            <a:r>
              <a:t>N2: Primero, siempre hay un organismo de control independiente que examina, prueba y certifica; el fabricante solo solicita y aporta, y ese respaldo es lo que hay detrás de la placa y el certificado. Segundo, la serie se certifica con examen de tipo más verificación de la producción, ya sea por inspección sorpresa a intervalos máximos de un año o por sistema de calidad ISO nueve mil uno con seguimiento anual; y la pieza única, con verificación por unidad, que pide el destino y puede ensayarse ya instalada. Y tercero, no mezcles las tres clasificaciones: tipo por la combustión, categoría del aparato por los gases y categoría del instalador por el carné.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ADCFC"/>
                </a:solidFill>
                <a:latin typeface="Montserrat"/>
              </a:rPr>
              <a:t>VÍDEO 3 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ontserrat"/>
              </a:rPr>
              <a:t>Certificación de la conformidad</a:t>
            </a:r>
          </a:p>
          <a:p>
            <a:r>
              <a:rPr sz="2200" b="0" i="0">
                <a:solidFill>
                  <a:srgbClr val="CADCFC"/>
                </a:solidFill>
                <a:latin typeface="Montserrat"/>
              </a:rPr>
              <a:t>Anexo 1: examen de tipo, producción y unidad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CADCFC"/>
                </a:solidFill>
                <a:latin typeface="Montserrat"/>
              </a:rPr>
              <a:t>Tema 05 · Reglamento · ITC-ICG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002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E2761"/>
                </a:solidFill>
                <a:latin typeface="Montserrat"/>
              </a:rPr>
              <a:t>Sobre este vídeo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017520" cy="274320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E2761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11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B2330"/>
                </a:solidFill>
                <a:latin typeface="Montserrat"/>
              </a:rPr>
              <a:t>procedimientos de certificación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011680"/>
            <a:ext cx="3017520" cy="274320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33172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E2761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611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B2330"/>
                </a:solidFill>
                <a:latin typeface="Montserrat"/>
              </a:rPr>
              <a:t>año, intervalo máximo sin aviso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011680"/>
            <a:ext cx="3017520" cy="274320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33172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E2761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3611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B2330"/>
                </a:solidFill>
                <a:latin typeface="Montserrat"/>
              </a:rPr>
              <a:t>listas de documentación de diseño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003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4748B"/>
                </a:solidFill>
                <a:latin typeface="Montserrat"/>
              </a:rPr>
              <a:t>ANEXO 1 · REPARTO DE PAPELES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E2761"/>
                </a:solidFill>
                <a:latin typeface="Montserrat"/>
              </a:rPr>
              <a:t>Fabricante y organismo 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83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Fabricante: solicita y aporta el aparato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Organismo: examina, prueba y certifica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Nunca se certifica a sí mismo</a:t>
            </a:r>
          </a:p>
        </p:txBody>
      </p:sp>
      <p:sp>
        <p:nvSpPr>
          <p:cNvPr id="8" name="imgph" descr="IMGQ:laboratory testing equipment inspection"/>
          <p:cNvSpPr/>
          <p:nvPr/>
        </p:nvSpPr>
        <p:spPr>
          <a:xfrm>
            <a:off x="5806440" y="1051560"/>
            <a:ext cx="5298947" cy="462915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C7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726055"/>
            <a:ext cx="475030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Montserrat"/>
              </a:rPr>
              <a:t>IMAGEN REALISTA</a:t>
            </a:r>
          </a:p>
          <a:p>
            <a:pPr algn="ctr"/>
            <a:r>
              <a:rPr sz="1100" b="0" i="1">
                <a:solidFill>
                  <a:srgbClr val="64748B"/>
                </a:solidFill>
                <a:latin typeface="Montserrat"/>
              </a:rPr>
              <a:t>laboratory testing equipment inspection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004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4748B"/>
                </a:solidFill>
                <a:latin typeface="Montserrat"/>
              </a:rPr>
              <a:t>APARTADO 1 · EXAMEN DE 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E2761"/>
                </a:solidFill>
                <a:latin typeface="Montserrat"/>
              </a:rPr>
              <a:t>Certificar el molde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83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Certifica un aparato representativo (tipo)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Vale para toda la serie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Puede incluir variantes sin más riesgo</a:t>
            </a:r>
          </a:p>
        </p:txBody>
      </p:sp>
      <p:sp>
        <p:nvSpPr>
          <p:cNvPr id="8" name="imgph" descr="IMGQ:prototype appliance factory bench"/>
          <p:cNvSpPr/>
          <p:nvPr/>
        </p:nvSpPr>
        <p:spPr>
          <a:xfrm>
            <a:off x="5806440" y="1051560"/>
            <a:ext cx="5298947" cy="462915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C7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726055"/>
            <a:ext cx="475030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Montserrat"/>
              </a:rPr>
              <a:t>IMAGEN REALISTA</a:t>
            </a:r>
          </a:p>
          <a:p>
            <a:pPr algn="ctr"/>
            <a:r>
              <a:rPr sz="1100" b="0" i="1">
                <a:solidFill>
                  <a:srgbClr val="64748B"/>
                </a:solidFill>
                <a:latin typeface="Montserrat"/>
              </a:rPr>
              <a:t>prototype appliance factory bench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005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4748B"/>
                </a:solidFill>
                <a:latin typeface="Montserrat"/>
              </a:rPr>
              <a:t>APARTADO 1 · MODIFICACIONES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E2761"/>
                </a:solidFill>
                <a:latin typeface="Montserrat"/>
              </a:rPr>
              <a:t>Si cambias el molde, avisa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83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Informar de toda modificación del tipo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Si afecta a la seguridad: aprobación adicional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Se añade como complemento al certificado</a:t>
            </a:r>
          </a:p>
        </p:txBody>
      </p:sp>
      <p:sp>
        <p:nvSpPr>
          <p:cNvPr id="8" name="imgph" descr="IMGQ:engineer reviewing technical drawings"/>
          <p:cNvSpPr/>
          <p:nvPr/>
        </p:nvSpPr>
        <p:spPr>
          <a:xfrm>
            <a:off x="5806440" y="1051560"/>
            <a:ext cx="5298947" cy="462915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C7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726055"/>
            <a:ext cx="475030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Montserrat"/>
              </a:rPr>
              <a:t>IMAGEN REALISTA</a:t>
            </a:r>
          </a:p>
          <a:p>
            <a:pPr algn="ctr"/>
            <a:r>
              <a:rPr sz="1100" b="0" i="1">
                <a:solidFill>
                  <a:srgbClr val="64748B"/>
                </a:solidFill>
                <a:latin typeface="Montserrat"/>
              </a:rPr>
              <a:t>engineer reviewing technical drawings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006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4748B"/>
                </a:solidFill>
                <a:latin typeface="Montserrat"/>
              </a:rPr>
              <a:t>APARTADO 2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E2761"/>
                </a:solidFill>
                <a:latin typeface="Montserrat"/>
              </a:rPr>
              <a:t>Que cada unidad salga igual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83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Antes de comercializar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A elección del fabricante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Dos caminos: 2.1 o 2.2</a:t>
            </a:r>
          </a:p>
        </p:txBody>
      </p:sp>
      <p:sp>
        <p:nvSpPr>
          <p:cNvPr id="8" name="imgph" descr="IMGQ:boiler assembly production line"/>
          <p:cNvSpPr/>
          <p:nvPr/>
        </p:nvSpPr>
        <p:spPr>
          <a:xfrm>
            <a:off x="5806440" y="1051560"/>
            <a:ext cx="5298947" cy="462915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C7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726055"/>
            <a:ext cx="475030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Montserrat"/>
              </a:rPr>
              <a:t>IMAGEN REALISTA</a:t>
            </a:r>
          </a:p>
          <a:p>
            <a:pPr algn="ctr"/>
            <a:r>
              <a:rPr sz="1100" b="0" i="1">
                <a:solidFill>
                  <a:srgbClr val="64748B"/>
                </a:solidFill>
                <a:latin typeface="Montserrat"/>
              </a:rPr>
              <a:t>boiler assembly production 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007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4748B"/>
                </a:solidFill>
                <a:latin typeface="Montserrat"/>
              </a:rPr>
              <a:t>APARTADO 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E2761"/>
                </a:solidFill>
                <a:latin typeface="Montserrat"/>
              </a:rPr>
              <a:t>Examen de 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83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Controles in situ, sin aviso previo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Intervalos máximos de 1 año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Aparato rechazado → se bloquea su venta</a:t>
            </a:r>
          </a:p>
        </p:txBody>
      </p:sp>
      <p:sp>
        <p:nvSpPr>
          <p:cNvPr id="8" name="imgph" descr="IMGQ:inspector clipboard factory floor"/>
          <p:cNvSpPr/>
          <p:nvPr/>
        </p:nvSpPr>
        <p:spPr>
          <a:xfrm>
            <a:off x="5806440" y="1051560"/>
            <a:ext cx="5298947" cy="462915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C7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726055"/>
            <a:ext cx="475030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Montserrat"/>
              </a:rPr>
              <a:t>IMAGEN REALISTA</a:t>
            </a:r>
          </a:p>
          <a:p>
            <a:pPr algn="ctr"/>
            <a:r>
              <a:rPr sz="1100" b="0" i="1">
                <a:solidFill>
                  <a:srgbClr val="64748B"/>
                </a:solidFill>
                <a:latin typeface="Montserrat"/>
              </a:rPr>
              <a:t>inspector clipboard factory floor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008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4748B"/>
                </a:solidFill>
                <a:latin typeface="Montserrat"/>
              </a:rPr>
              <a:t>APARTADO 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E2761"/>
                </a:solidFill>
                <a:latin typeface="Montserrat"/>
              </a:rPr>
              <a:t>Aseguramiento de la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83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Sistema de calidad ISO 9001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Evaluado por organismo acreditado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Seguimiento anual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En caso de duda, pide muestra</a:t>
            </a:r>
          </a:p>
        </p:txBody>
      </p:sp>
      <p:sp>
        <p:nvSpPr>
          <p:cNvPr id="8" name="imgph" descr="IMGQ:quality management certificate document"/>
          <p:cNvSpPr/>
          <p:nvPr/>
        </p:nvSpPr>
        <p:spPr>
          <a:xfrm>
            <a:off x="5806440" y="1051560"/>
            <a:ext cx="5298947" cy="462915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C7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726055"/>
            <a:ext cx="475030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Montserrat"/>
              </a:rPr>
              <a:t>IMAGEN REALISTA</a:t>
            </a:r>
          </a:p>
          <a:p>
            <a:pPr algn="ctr"/>
            <a:r>
              <a:rPr sz="1100" b="0" i="1">
                <a:solidFill>
                  <a:srgbClr val="64748B"/>
                </a:solidFill>
                <a:latin typeface="Montserrat"/>
              </a:rPr>
              <a:t>quality management certificate document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009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4748B"/>
                </a:solidFill>
                <a:latin typeface="Montserrat"/>
              </a:rPr>
              <a:t>APARTADO 3 · VERIFICACIÓN POR UNIDAD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E2761"/>
                </a:solidFill>
                <a:latin typeface="Montserrat"/>
              </a:rPr>
              <a:t>La vía de la pieza única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83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Certifica un aparato concreto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La solicitud pide el destino del aparato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Pruebas incluso tras la instalación</a:t>
            </a:r>
          </a:p>
        </p:txBody>
      </p:sp>
      <p:sp>
        <p:nvSpPr>
          <p:cNvPr id="8" name="imgph" descr="IMGQ:custom industrial gas burner unit"/>
          <p:cNvSpPr/>
          <p:nvPr/>
        </p:nvSpPr>
        <p:spPr>
          <a:xfrm>
            <a:off x="5806440" y="1051560"/>
            <a:ext cx="5298947" cy="462915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C7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726055"/>
            <a:ext cx="475030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Montserrat"/>
              </a:rPr>
              <a:t>IMAGEN REALISTA</a:t>
            </a:r>
          </a:p>
          <a:p>
            <a:pPr algn="ctr"/>
            <a:r>
              <a:rPr sz="1100" b="0" i="1">
                <a:solidFill>
                  <a:srgbClr val="64748B"/>
                </a:solidFill>
                <a:latin typeface="Montserrat"/>
              </a:rPr>
              <a:t>custom industrial gas burner unit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010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4748B"/>
                </a:solidFill>
                <a:latin typeface="Montserrat"/>
              </a:rPr>
              <a:t>APARTADO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E2761"/>
                </a:solidFill>
                <a:latin typeface="Montserrat"/>
              </a:rPr>
              <a:t>Documentación del examen de 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83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Describe el modelo en general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Tipos de gases y presiones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Esquema eléctrico interior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Piezas sustituibles</a:t>
            </a:r>
          </a:p>
        </p:txBody>
      </p:sp>
      <p:sp>
        <p:nvSpPr>
          <p:cNvPr id="8" name="imgph" descr="IMGQ:technical blueprint appliance schematic"/>
          <p:cNvSpPr/>
          <p:nvPr/>
        </p:nvSpPr>
        <p:spPr>
          <a:xfrm>
            <a:off x="5806440" y="1051560"/>
            <a:ext cx="5298947" cy="462915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C7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726055"/>
            <a:ext cx="475030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Montserrat"/>
              </a:rPr>
              <a:t>IMAGEN REALISTA</a:t>
            </a:r>
          </a:p>
          <a:p>
            <a:pPr algn="ctr"/>
            <a:r>
              <a:rPr sz="1100" b="0" i="1">
                <a:solidFill>
                  <a:srgbClr val="64748B"/>
                </a:solidFill>
                <a:latin typeface="Montserrat"/>
              </a:rPr>
              <a:t>technical blueprint appliance schematic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011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4748B"/>
                </a:solidFill>
                <a:latin typeface="Montserrat"/>
              </a:rPr>
              <a:t>APARTADO 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E2761"/>
                </a:solidFill>
                <a:latin typeface="Montserrat"/>
              </a:rPr>
              <a:t>Documentación de la unidad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83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Describe este aparato concreto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Nº de fabricación y domicilio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Plano de situación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Gas y presión de reglaje</a:t>
            </a:r>
          </a:p>
        </p:txBody>
      </p:sp>
      <p:sp>
        <p:nvSpPr>
          <p:cNvPr id="8" name="imgph" descr="IMGQ:installation site location plan"/>
          <p:cNvSpPr/>
          <p:nvPr/>
        </p:nvSpPr>
        <p:spPr>
          <a:xfrm>
            <a:off x="5806440" y="1051560"/>
            <a:ext cx="5298947" cy="462915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C7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726055"/>
            <a:ext cx="475030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Montserrat"/>
              </a:rPr>
              <a:t>IMAGEN REALISTA</a:t>
            </a:r>
          </a:p>
          <a:p>
            <a:pPr algn="ctr"/>
            <a:r>
              <a:rPr sz="1100" b="0" i="1">
                <a:solidFill>
                  <a:srgbClr val="64748B"/>
                </a:solidFill>
                <a:latin typeface="Montserrat"/>
              </a:rPr>
              <a:t>installation site location 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012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4748B"/>
                </a:solidFill>
                <a:latin typeface="Montserrat"/>
              </a:rPr>
              <a:t>OJO CON LAS PALABRAS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E2761"/>
                </a:solidFill>
                <a:latin typeface="Montserrat"/>
              </a:rPr>
              <a:t>Tres clasificaciones que no se mezclan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83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Tipo A/B/C: por la combustión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Categoría del aparato: qué gases admite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3A80"/>
                </a:solidFill>
                <a:latin typeface="Montserrat"/>
              </a:rPr>
              <a:t>•  </a:t>
            </a:r>
            <a:r>
              <a:rPr sz="1600" b="0" i="0">
                <a:solidFill>
                  <a:srgbClr val="1B2330"/>
                </a:solidFill>
                <a:latin typeface="Montserrat"/>
              </a:rPr>
              <a:t>Categoría del instalador: el carné</a:t>
            </a:r>
          </a:p>
        </p:txBody>
      </p:sp>
      <p:sp>
        <p:nvSpPr>
          <p:cNvPr id="8" name="imgph" descr="IMGQ:gas type category label appliance"/>
          <p:cNvSpPr/>
          <p:nvPr/>
        </p:nvSpPr>
        <p:spPr>
          <a:xfrm>
            <a:off x="5806440" y="1051560"/>
            <a:ext cx="5298947" cy="462915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C7D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726055"/>
            <a:ext cx="475030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4748B"/>
                </a:solidFill>
                <a:latin typeface="Montserrat"/>
              </a:rPr>
              <a:t>IMAGEN REALISTA</a:t>
            </a:r>
          </a:p>
          <a:p>
            <a:pPr algn="ctr"/>
            <a:r>
              <a:rPr sz="1100" b="0" i="1">
                <a:solidFill>
                  <a:srgbClr val="64748B"/>
                </a:solidFill>
                <a:latin typeface="Montserrat"/>
              </a:rPr>
              <a:t>gas type category label appliance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0" y="320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Montserrat"/>
              </a:rPr>
              <a:t>013 /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Montserrat"/>
              </a:rPr>
              <a:t>Curso Gas B · Tema 05 · Aparatos de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E2761"/>
                </a:solidFill>
                <a:latin typeface="Montserrat"/>
              </a:rPr>
              <a:t>Qué me llevo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 i="0">
                <a:solidFill>
                  <a:srgbClr val="2E3A80"/>
                </a:solidFill>
                <a:latin typeface="Montserrat"/>
              </a:rPr>
              <a:t>✓  </a:t>
            </a:r>
            <a:r>
              <a:rPr sz="2000" b="0" i="0">
                <a:solidFill>
                  <a:srgbClr val="1B2330"/>
                </a:solidFill>
                <a:latin typeface="Montserrat"/>
              </a:rPr>
              <a:t>Organismo certifica; fabricante aporta</a:t>
            </a:r>
          </a:p>
          <a:p>
            <a:pPr>
              <a:spcAft>
                <a:spcPts val="1400"/>
              </a:spcAft>
            </a:pPr>
            <a:r>
              <a:rPr sz="2000" b="1" i="0">
                <a:solidFill>
                  <a:srgbClr val="2E3A80"/>
                </a:solidFill>
                <a:latin typeface="Montserrat"/>
              </a:rPr>
              <a:t>✓  </a:t>
            </a:r>
            <a:r>
              <a:rPr sz="2000" b="0" i="0">
                <a:solidFill>
                  <a:srgbClr val="1B2330"/>
                </a:solidFill>
                <a:latin typeface="Montserrat"/>
              </a:rPr>
              <a:t>Tipo + producción, o bien unidad</a:t>
            </a:r>
          </a:p>
          <a:p>
            <a:pPr>
              <a:spcAft>
                <a:spcPts val="1400"/>
              </a:spcAft>
            </a:pPr>
            <a:r>
              <a:rPr sz="2000" b="1" i="0">
                <a:solidFill>
                  <a:srgbClr val="2E3A80"/>
                </a:solidFill>
                <a:latin typeface="Montserrat"/>
              </a:rPr>
              <a:t>✓  </a:t>
            </a:r>
            <a:r>
              <a:rPr sz="2000" b="0" i="0">
                <a:solidFill>
                  <a:srgbClr val="1B2330"/>
                </a:solidFill>
                <a:latin typeface="Montserrat"/>
              </a:rPr>
              <a:t>Tipo ≠ categoría de aparato ≠ carné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
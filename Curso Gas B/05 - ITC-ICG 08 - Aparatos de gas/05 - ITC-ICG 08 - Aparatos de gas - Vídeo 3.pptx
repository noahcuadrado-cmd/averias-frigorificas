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demuestra, de verdad, que un aparato es de fiar?</a:t>
            </a:r>
          </a:p>
          <a:p>
            <a:r>
              <a:t>N2: Esa es la pregunta de este vídeo, y la responde el anexo uno. En el primer vídeo vimos la fórmula de la conformidad, a más b, o bien c; ahora abrimos esa letra pequeña. El anexo uno detalla los tres procedimientos con los que un organismo de control certifica que un aparato cumple lo que debe: el examen de tipo, que certifica el modelo; la verificación de conformidad de la producción, que vigila que la serie salga igual; y la verificación por unidad, que certifica un aparato concreto. Y cierra con la documentación de diseño que hay que presentar. Es denso, pero se entiende bien si seguimos la lógica de quién hace qué.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resumen el anexo uno?</a:t>
            </a:r>
          </a:p>
          <a:p>
            <a:r>
              <a:t>N2: Tres. Primero, tres procedimientos de certificación: examen de tipo, verificación de la producción y verificación por unidad. Segundo, un año, que es el intervalo máximo entre los controles sin aviso del organismo en el camino del examen de producto. Y tercero, dos listas de documentación de diseño: una para el examen de tipo y otra para la verificación por unidad, parecidas pero con truco. Con estos tres números tienes el esqueleto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entrar en los procedimientos, ¿quién hace cada cosa?</a:t>
            </a:r>
          </a:p>
          <a:p>
            <a:r>
              <a:t>N2: Esto es la clave que ordena todo el anexo, así que fíjalo primero. Hay dos actores. El organismo de control es un tercero independiente que examina la documentación, hace las pruebas y expide el certificado. El fabricante, o su representante legal, solo presenta la solicitud y pone el aparato a disposición. Es decir, el fabricante nunca se certifica a sí mismo: siempre hay alguien de fuera que da fe. ¿Por qué importa esto en obra? Porque cuando montas un aparato certificado, ese respaldo de un tercero independiente es lo que hay detrás de su placa y de su certificado. Sin él, ni deberías instalarlo ni podrías responder ante un siniestro.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el examen de tipo?</a:t>
            </a:r>
          </a:p>
          <a:p>
            <a:r>
              <a:t>N2: Piensa en el examen de tipo como certificar un molde. El fabricante pone a disposición uno o varios aparatos representativos de la producción, que se llaman el tipo. El organismo de control examina la documentación de diseño, comprueba que ese tipo se ha fabricado de acuerdo con ella, y realiza o hace realizar las pruebas necesarias para ver si cumple las normas o procedimientos aplicables. Si cumple todo, le expide al solicitante un certificado de examen de tipo. Un matiz: el tipo puede incluir varias variantes de producto, siempre que no presenten diferencias en cuanto a los tipos de riesgo. Es decir, se certifica el modelo una vez, no cada unidad.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el fabricante cambia algo del modelo después?</a:t>
            </a:r>
          </a:p>
          <a:p>
            <a:r>
              <a:t>N2: Buena pregunta, porque aquí está lo que más cae. El solicitante debe informar al organismo que emitió el certificado de todas las modificaciones introducidas en el tipo aprobado que puedan afectar al cumplimiento de los requisitos. Y si esas modificaciones afectan a los requisitos de seguridad o a las condiciones de utilización, no basta con avisar: necesitan una aprobación adicional del mismo organismo, que se añade como complemento al certificado de examen de tipo. La idea, para que se te quede: certificas el molde una vez, y avisas cada vez que retocas el molde. Por eso no vale apañar un aparato con piezas distintas a las certificadas.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el examen de tipo ya certifica el modelo, ¿para qué un segundo paso?</a:t>
            </a:r>
          </a:p>
          <a:p>
            <a:r>
              <a:t>N2: Porque certificar el molde no sirve de nada si luego la cadena produce copias defectuosas. El examen de tipo demuestra que el modelo es bueno; la verificación de conformidad de la producción demuestra que cada unidad que sale de fábrica es igual que ese modelo. Por eso van de la mano. El fabricante adopta las medidas para que la fabricación, incluidas la inspección y las pruebas finales, garantice la homogeneidad de la producción y la conformidad con el tipo. Y esta verificación se hace a través de un organismo de control, antes de comercializar, por uno de dos procedimientos que elige el fabricante: el examen de producto o el aseguramiento de la calidad. Los vemos ahora.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consiste el examen de producto?</a:t>
            </a:r>
          </a:p>
          <a:p>
            <a:r>
              <a:t>N2: Este camino se basa en pillar por sorpresa. El organismo de control aparece sin avisar, a intervalos máximos de un año, coge aparatos de la producción in situ, examina un número adecuado y, sobre al menos uno de los seleccionados, hace las pruebas necesarias. Él decide en cada caso si las pruebas se hacen total o parcialmente. ¿Y si alguno no pasa? Cuando uno o más aparatos son rechazados, el organismo adopta las medidas para evitar su comercialización, es decir, bloquea su venta. Retén los dos datos de examen: sin aviso previo, y a intervalos máximos de un año. Aquí se vigila el producto, unidad 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dato numérico del camino de la inspección sorpresa. La pregunta: en el examen de producto, ¿cada cuánto realiza el organismo los controles sin aviso previo? Opción a: a intervalos máximos de un año. Opción be: a intervalos máximos de dos años. Opción ce: cada seis meses, en fecha fija. Opción de: solo cuando el fabricante lo solicita. Piénsalo un momento... el organismo aparece sin avisar; la clave es el intervalo máximo entre una visita y la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a intervalos máximos de un año. El porqué: la norma fija controles in situ y sin aviso previo a intervalos máximos de un año; el organismo prueba al menos un aparato y, si lo rechaza, bloquea su comercialización. El truco: fíjate en que es intervalo máximo, es decir, como mucho un año; puede ser antes, pero nunca más.</a:t>
            </a:r>
          </a:p>
          <a:p>
            <a:r>
              <a:t>N1: Un año como máximo, y siempre por sorpresa.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otro camino, el de la calidad?</a:t>
            </a:r>
          </a:p>
          <a:p>
            <a:r>
              <a:t>N2: Aquí se confía en el proceso, no en pillar productos sueltos. El fabricante garantiza la conformidad mediante un sistema de calidad de la producción o del producto conforme a la norma ISO nueve mil uno, que es la norma internacional de gestión de la calidad; significa que hay procedimientos escritos, controles y auditorías. Ese sistema lo evalúa y certifica un organismo de control acreditado. Luego hay un seguimiento: el fabricante envía anualmente la documentación que acredita que mantiene el sistema aprobado, y el organismo, siempre y especialmente en caso de duda, puede pedir una muestra de la producción para verificarla. Compara los dos caminos: en el dos punto uno vigilan los productos con inspecciones sorpresa; en el dos punto dos, vigilan el proceso con un sistema de calidad y seguimiento anual.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solo se fabrica un aparato, no una serie?</a:t>
            </a:r>
          </a:p>
          <a:p>
            <a:r>
              <a:t>N2: Para eso está el camino alternativo, la c del apartado tres de la ITC: la verificación por unidad. En vez de certificar un modelo de serie, el organismo comprueba y certifica un aparato concreto, de forma independiente. Es lo típico de un aparato fabricado a medida o de una sola unidad. Fíjate en dos detalles diferenciadores que le gustan al examen: la solicitud pide el destino del aparato, es decir, dónde va a ir; y las pruebas pueden hacerse incluso tras la instalación del aparato. Es lógico: si solo hay un ejemplar, se examina ese, allí donde va a trabajar. Y aquí tú, el instalador, puedes ser justo el punto donde el aparato queda montado antes de que el organismo lo ensaye.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papeles hay que presentar para certificar?</a:t>
            </a:r>
          </a:p>
          <a:p>
            <a:r>
              <a:t>N2: Se llama documentación de diseño, y la del examen de tipo describe el modelo en general. Incluye marca, modelo, fabricante e importador; una descripción general del aparato con su cámara de combustión, la salida de humos, la categoría del aparato y los tipos de gases y presiones; los quemadores, inyectores y consumos; los elementos de seguridad y de regulación con sus valores de tarado y rangos; los datos para la instalación; los materiales; las piezas susceptibles de ser sustituidas; los esquemas de regulación y de seguridad, y el esquema de la instalación eléctrica interior. Más los planos acotados y a escala, la lista de normas aplicadas, la placa de características y los manuales. Es la carpeta completa del modelo.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Las dos listas se parecen mucho. ¿Cuál es la diferencia?</a:t>
            </a:r>
          </a:p>
          <a:p>
            <a:r>
              <a:t>N2: Ahí está el truco de examen. La documentación del examen de tipo, la cuatro punto uno, describe un modelo de serie en general. La de la verificación por unidad, la cuatro punto dos, describe un aparato concreto y añade datos de esa unidad y de su emplazamiento: el número de fabricación, el domicilio de la instalación, el plano de situación, el esquema de la línea de gas instalada, y el gas y la presión para el que ha sido regulado ese aparato. La cuatro punto uno, en cambio, habla de tipos de gases y presiones en general, y suma el esquema eléctrico interior y las piezas sustituibles. Regla para recordar: tipo, el modelo en general; unidad, este aparato en su sitio.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estas listas aparece categoría del aparato. ¿Es lo mismo que el tipo o el carné?</a:t>
            </a:r>
          </a:p>
          <a:p>
            <a:r>
              <a:t>N2: No, y esta es una confusión que hay que cortar de raíz porque conviven tres clasificaciones distintas. Una, la categoría del aparato: se refiere a la categoría de gases que admite el aparato, es decir, qué gases y presiones acepta, según la norma UNE-EN cuatrocientos treinta y siete. Dos, el tipo A, B o C: cómo quema y evacúa el aparato, su circuito de combustión, que vimos en el vídeo dos. Y tres, la categoría A, B o C del instalador: el nivel del carné. Son tres cosas que no tienen nada que ver. Y en obra importa: elegir mal la categoría de gases para el suministro de esa vivienda es montar un aparato que no quemará bien ese gas.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Cuidado, que aquí conviven tres clasificaciones que comparten palabras. La pregunta: la categoría del aparato que aparece en la documentación de diseño, ¿a qué se refiere? Opción a: al tipo de combustión a, be o ce. Opción be: a los gases y presiones que admite el aparato. Opción ce: al nivel del carné del instalador. Opción de: a la potencia útil en kilovatios. Tómate un momento y piensa qué describe exactamente la categoría del aparato...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be: a los gases y presiones que admite el aparato. El porqué: la categoría del aparato es la categoría de gases, qué gases y a qué presiones acepta, según la norma UNE-EN cuatrocientos treinta y siete. No la confundas: el tipo a, be o ce describe cómo quema, la combustión; y la categoría a, be o ce del carné es el nivel del instalador. Son tres cosas distintas. El truco: si la frase habla de gases, es la categoría del aparato.</a:t>
            </a:r>
          </a:p>
          <a:p>
            <a:r>
              <a:t>N1: Categoría del aparato, igual a qué gases admite.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 un vídeo técnico. ¿Cómo me quedo con lo importante?</a:t>
            </a:r>
          </a:p>
          <a:p>
            <a:r>
              <a:t>N2: Vamos a reconstruir el porqué, que es lo que de verdad se entiende. Todo el anexo se sostiene sobre una idea: siempre hay un organismo de control, un tercero independiente, que examina, prueba y certifica; el fabricante solo solicita y aporta. Sobre eso montamos los tres procedimientos. El examen de tipo certifica el molde de la serie, y si se toca el molde de forma que afecte a la seguridad, hace falta aprobación adicional. La verificación de la producción demuestra que cada unidad sale igual que el molde, por dos caminos a elección del fabricante: el examen de producto, con inspecciones sin aviso a intervalos máximos de un año, donde si un aparato falla se bloquea su venta; o el aseguramiento de la calidad, con sistema ISO nueve mil uno y seguimiento anual. Y la verificación por unidad certifica una pieza única, pidiendo su destino y pudiendo probarla ya instalada.</a:t>
            </a:r>
          </a:p>
          <a:p>
            <a:r>
              <a:t>N1: ¿Y cómo se pregunta esto y para qué me sirve en obra?</a:t>
            </a:r>
          </a:p>
          <a:p>
            <a:r>
              <a:t>N2: En el examen te preguntan quién certifica, cada cuánto es la inspección sorpresa, o qué distingue la documentación cuatro punto uno de la cuatro punto dos, esa del número de fabricación y el domicilio de la instalación. En la obra, este anexo es el porqué de que puedas fiarte: cuando montas un aparato certificado, detrás de su placa hay este respaldo de un tercero; y ojo con no confundir la categoría del aparato, que es qué gases admite, con el tipo de combustión o con tu carné. Hoy ya eres más gasista que ayer: sabes qué hay detrás del certificado que sostiene una instalación. Solo nos queda un paso para cerrar la ITC: leer la placa del aparato y las pruebas de seguridad del anexo tres. Vamos al último vídeo.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Certificación de la conformidad</a:t>
            </a:r>
          </a:p>
          <a:p>
            <a:r>
              <a:rPr sz="2200" b="0" i="0">
                <a:solidFill>
                  <a:srgbClr val="CADCFC"/>
                </a:solidFill>
                <a:latin typeface="Montserrat"/>
              </a:rPr>
              <a:t>Anexo 1: examen de tipo, producción y unidad</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05 · Reglamento · ITC-ICG 08</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procedimientos de certificación</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año: intervalo máximo de control</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listas de documentación de diseño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El reparto de papeles</a:t>
            </a:r>
          </a:p>
          <a:p>
            <a:pPr>
              <a:spcAft>
                <a:spcPts val="900"/>
              </a:spcAft>
            </a:pPr>
            <a:r>
              <a:rPr sz="1800" b="1" i="0">
                <a:solidFill>
                  <a:srgbClr val="E8801A"/>
                </a:solidFill>
                <a:latin typeface="Montserrat"/>
              </a:rPr>
              <a:t>02   </a:t>
            </a:r>
            <a:r>
              <a:rPr sz="1700" b="0" i="0">
                <a:solidFill>
                  <a:srgbClr val="1B2330"/>
                </a:solidFill>
                <a:latin typeface="Montserrat"/>
              </a:rPr>
              <a:t>Procedimiento 1</a:t>
            </a:r>
          </a:p>
          <a:p>
            <a:pPr>
              <a:spcAft>
                <a:spcPts val="900"/>
              </a:spcAft>
            </a:pPr>
            <a:r>
              <a:rPr sz="1800" b="1" i="0">
                <a:solidFill>
                  <a:srgbClr val="E8801A"/>
                </a:solidFill>
                <a:latin typeface="Montserrat"/>
              </a:rPr>
              <a:t>03   </a:t>
            </a:r>
            <a:r>
              <a:rPr sz="1700" b="0" i="0">
                <a:solidFill>
                  <a:srgbClr val="1B2330"/>
                </a:solidFill>
                <a:latin typeface="Montserrat"/>
              </a:rPr>
              <a:t>Examen de tipo</a:t>
            </a:r>
          </a:p>
          <a:p>
            <a:pPr>
              <a:spcAft>
                <a:spcPts val="900"/>
              </a:spcAft>
            </a:pPr>
            <a:r>
              <a:rPr sz="1800" b="1" i="0">
                <a:solidFill>
                  <a:srgbClr val="E8801A"/>
                </a:solidFill>
                <a:latin typeface="Montserrat"/>
              </a:rPr>
              <a:t>04   </a:t>
            </a:r>
            <a:r>
              <a:rPr sz="1700" b="0" i="0">
                <a:solidFill>
                  <a:srgbClr val="1B2330"/>
                </a:solidFill>
                <a:latin typeface="Montserrat"/>
              </a:rPr>
              <a:t>Procedimiento 2</a:t>
            </a:r>
          </a:p>
          <a:p>
            <a:pPr>
              <a:spcAft>
                <a:spcPts val="900"/>
              </a:spcAft>
            </a:pPr>
            <a:r>
              <a:rPr sz="1800" b="1" i="0">
                <a:solidFill>
                  <a:srgbClr val="E8801A"/>
                </a:solidFill>
                <a:latin typeface="Montserrat"/>
              </a:rPr>
              <a:t>05   </a:t>
            </a:r>
            <a:r>
              <a:rPr sz="1700" b="0" i="0">
                <a:solidFill>
                  <a:srgbClr val="1B2330"/>
                </a:solidFill>
                <a:latin typeface="Montserrat"/>
              </a:rPr>
              <a:t>Camino 2.1</a:t>
            </a:r>
          </a:p>
          <a:p>
            <a:pPr>
              <a:spcAft>
                <a:spcPts val="900"/>
              </a:spcAft>
            </a:pPr>
            <a:r>
              <a:rPr sz="1800" b="1" i="0">
                <a:solidFill>
                  <a:srgbClr val="E8801A"/>
                </a:solidFill>
                <a:latin typeface="Montserrat"/>
              </a:rPr>
              <a:t>06   </a:t>
            </a:r>
            <a:r>
              <a:rPr sz="1700" b="0" i="0">
                <a:solidFill>
                  <a:srgbClr val="1B2330"/>
                </a:solidFill>
                <a:latin typeface="Montserrat"/>
              </a:rPr>
              <a:t>Camino 2.2</a:t>
            </a:r>
          </a:p>
          <a:p>
            <a:pPr>
              <a:spcAft>
                <a:spcPts val="900"/>
              </a:spcAft>
            </a:pPr>
            <a:r>
              <a:rPr sz="1800" b="1" i="0">
                <a:solidFill>
                  <a:srgbClr val="E8801A"/>
                </a:solidFill>
                <a:latin typeface="Montserrat"/>
              </a:rPr>
              <a:t>07   </a:t>
            </a:r>
            <a:r>
              <a:rPr sz="1700" b="0" i="0">
                <a:solidFill>
                  <a:srgbClr val="1B2330"/>
                </a:solidFill>
                <a:latin typeface="Montserrat"/>
              </a:rPr>
              <a:t>Procedimiento 3</a:t>
            </a:r>
          </a:p>
          <a:p>
            <a:pPr>
              <a:spcAft>
                <a:spcPts val="900"/>
              </a:spcAft>
            </a:pPr>
            <a:r>
              <a:rPr sz="1800" b="1" i="0">
                <a:solidFill>
                  <a:srgbClr val="E8801A"/>
                </a:solidFill>
                <a:latin typeface="Montserrat"/>
              </a:rPr>
              <a:t>08   </a:t>
            </a:r>
            <a:r>
              <a:rPr sz="1700" b="0" i="0">
                <a:solidFill>
                  <a:srgbClr val="1B2330"/>
                </a:solidFill>
                <a:latin typeface="Montserrat"/>
              </a:rPr>
              <a:t>Documentación</a:t>
            </a:r>
          </a:p>
          <a:p>
            <a:pPr>
              <a:spcAft>
                <a:spcPts val="900"/>
              </a:spcAft>
            </a:pPr>
            <a:r>
              <a:rPr sz="1800" b="1" i="0">
                <a:solidFill>
                  <a:srgbClr val="E8801A"/>
                </a:solidFill>
                <a:latin typeface="Montserrat"/>
              </a:rPr>
              <a:t>09   </a:t>
            </a:r>
            <a:r>
              <a:rPr sz="1700" b="0" i="0">
                <a:solidFill>
                  <a:srgbClr val="1B2330"/>
                </a:solidFill>
                <a:latin typeface="Montserrat"/>
              </a:rPr>
              <a:t>Cuidado con las letras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REPARTO DE PAPELES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certifica y quién solicita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Organismo de control: examina, prueba y certifica</a:t>
            </a:r>
          </a:p>
          <a:p>
            <a:pPr>
              <a:spcAft>
                <a:spcPts val="1100"/>
              </a:spcAft>
            </a:pPr>
            <a:r>
              <a:rPr sz="1600" b="1" i="0">
                <a:solidFill>
                  <a:srgbClr val="E8801A"/>
                </a:solidFill>
                <a:latin typeface="Montserrat"/>
              </a:rPr>
              <a:t>▸  </a:t>
            </a:r>
            <a:r>
              <a:rPr sz="1600" b="0" i="0">
                <a:solidFill>
                  <a:srgbClr val="1B2330"/>
                </a:solidFill>
                <a:latin typeface="Montserrat"/>
              </a:rPr>
              <a:t>Fabricante: solicita y aporta el aparato</a:t>
            </a:r>
          </a:p>
          <a:p>
            <a:pPr>
              <a:spcAft>
                <a:spcPts val="1100"/>
              </a:spcAft>
            </a:pPr>
            <a:r>
              <a:rPr sz="1600" b="1" i="0">
                <a:solidFill>
                  <a:srgbClr val="E8801A"/>
                </a:solidFill>
                <a:latin typeface="Montserrat"/>
              </a:rPr>
              <a:t>▸  </a:t>
            </a:r>
            <a:r>
              <a:rPr sz="1600" b="0" i="0">
                <a:solidFill>
                  <a:srgbClr val="1B2330"/>
                </a:solidFill>
                <a:latin typeface="Montserrat"/>
              </a:rPr>
              <a:t>Nunca se certifica a sí mismo</a:t>
            </a:r>
          </a:p>
          <a:p>
            <a:pPr>
              <a:spcAft>
                <a:spcPts val="1100"/>
              </a:spcAft>
            </a:pPr>
            <a:r>
              <a:rPr sz="1600" b="1" i="0">
                <a:solidFill>
                  <a:srgbClr val="E8801A"/>
                </a:solidFill>
                <a:latin typeface="Montserrat"/>
              </a:rPr>
              <a:t>▸  </a:t>
            </a:r>
            <a:r>
              <a:rPr sz="1600" b="0" i="0">
                <a:solidFill>
                  <a:srgbClr val="1B2330"/>
                </a:solidFill>
                <a:latin typeface="Montserrat"/>
              </a:rPr>
              <a:t>Tercero independiente detrás de la placa</a:t>
            </a:r>
          </a:p>
        </p:txBody>
      </p:sp>
      <p:sp>
        <p:nvSpPr>
          <p:cNvPr id="9" name="imgph" descr="IMGQ:laboratory technician testing applianc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laboratory technician testing appliance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PROCEDIMIENTO 1 · EXAMEN DE TIPO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Certificar el molde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certifica un aparato representativo (el tipo)</a:t>
            </a:r>
          </a:p>
          <a:p>
            <a:pPr>
              <a:spcAft>
                <a:spcPts val="1100"/>
              </a:spcAft>
            </a:pPr>
            <a:r>
              <a:rPr sz="1600" b="1" i="0">
                <a:solidFill>
                  <a:srgbClr val="E8801A"/>
                </a:solidFill>
                <a:latin typeface="Montserrat"/>
              </a:rPr>
              <a:t>▸  </a:t>
            </a:r>
            <a:r>
              <a:rPr sz="1600" b="0" i="0">
                <a:solidFill>
                  <a:srgbClr val="1B2330"/>
                </a:solidFill>
                <a:latin typeface="Montserrat"/>
              </a:rPr>
              <a:t>El organismo examina, prueba y expide certificado</a:t>
            </a:r>
          </a:p>
          <a:p>
            <a:pPr>
              <a:spcAft>
                <a:spcPts val="1100"/>
              </a:spcAft>
            </a:pPr>
            <a:r>
              <a:rPr sz="1600" b="1" i="0">
                <a:solidFill>
                  <a:srgbClr val="E8801A"/>
                </a:solidFill>
                <a:latin typeface="Montserrat"/>
              </a:rPr>
              <a:t>▸  </a:t>
            </a:r>
            <a:r>
              <a:rPr sz="1600" b="0" i="0">
                <a:solidFill>
                  <a:srgbClr val="1B2330"/>
                </a:solidFill>
                <a:latin typeface="Montserrat"/>
              </a:rPr>
              <a:t>El tipo puede incluir variantes sin más riesgo</a:t>
            </a:r>
          </a:p>
        </p:txBody>
      </p:sp>
      <p:sp>
        <p:nvSpPr>
          <p:cNvPr id="9" name="imgph" descr="IMGQ:gas boiler prototype factory bench"/>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prototype factory bench</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EXAMEN DE TIPO · CAMBIOS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tocas el molde, avisas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fabricante informa de toda modificación</a:t>
            </a:r>
          </a:p>
          <a:p>
            <a:pPr>
              <a:spcAft>
                <a:spcPts val="1100"/>
              </a:spcAft>
            </a:pPr>
            <a:r>
              <a:rPr sz="1600" b="1" i="0">
                <a:solidFill>
                  <a:srgbClr val="E8801A"/>
                </a:solidFill>
                <a:latin typeface="Montserrat"/>
              </a:rPr>
              <a:t>▸  </a:t>
            </a:r>
            <a:r>
              <a:rPr sz="1600" b="0" i="0">
                <a:solidFill>
                  <a:srgbClr val="1B2330"/>
                </a:solidFill>
                <a:latin typeface="Montserrat"/>
              </a:rPr>
              <a:t>Si afecta a la seguridad: aprobación adicional</a:t>
            </a:r>
          </a:p>
          <a:p>
            <a:pPr>
              <a:spcAft>
                <a:spcPts val="1100"/>
              </a:spcAft>
            </a:pPr>
            <a:r>
              <a:rPr sz="1600" b="1" i="0">
                <a:solidFill>
                  <a:srgbClr val="E8801A"/>
                </a:solidFill>
                <a:latin typeface="Montserrat"/>
              </a:rPr>
              <a:t>▸  </a:t>
            </a:r>
            <a:r>
              <a:rPr sz="1600" b="0" i="0">
                <a:solidFill>
                  <a:srgbClr val="1B2330"/>
                </a:solidFill>
                <a:latin typeface="Montserrat"/>
              </a:rPr>
              <a:t>Va como complemento al certificado</a:t>
            </a:r>
          </a:p>
        </p:txBody>
      </p:sp>
      <p:sp>
        <p:nvSpPr>
          <p:cNvPr id="9" name="imgph" descr="IMGQ:engineer reviewing technical drawing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reviewing technical drawings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PROCEDIMIENTO 2 · PRODUCCIÓN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Que cada unidad salga igual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Garantiza homogeneidad de la serie</a:t>
            </a:r>
          </a:p>
          <a:p>
            <a:pPr>
              <a:spcAft>
                <a:spcPts val="1100"/>
              </a:spcAft>
            </a:pPr>
            <a:r>
              <a:rPr sz="1600" b="1" i="0">
                <a:solidFill>
                  <a:srgbClr val="E8801A"/>
                </a:solidFill>
                <a:latin typeface="Montserrat"/>
              </a:rPr>
              <a:t>▸  </a:t>
            </a:r>
            <a:r>
              <a:rPr sz="1600" b="0" i="0">
                <a:solidFill>
                  <a:srgbClr val="1B2330"/>
                </a:solidFill>
                <a:latin typeface="Montserrat"/>
              </a:rPr>
              <a:t>Conformidad con el tipo certificado</a:t>
            </a:r>
          </a:p>
          <a:p>
            <a:pPr>
              <a:spcAft>
                <a:spcPts val="1100"/>
              </a:spcAft>
            </a:pPr>
            <a:r>
              <a:rPr sz="1600" b="1" i="0">
                <a:solidFill>
                  <a:srgbClr val="E8801A"/>
                </a:solidFill>
                <a:latin typeface="Montserrat"/>
              </a:rPr>
              <a:t>▸  </a:t>
            </a:r>
            <a:r>
              <a:rPr sz="1600" b="0" i="0">
                <a:solidFill>
                  <a:srgbClr val="1B2330"/>
                </a:solidFill>
                <a:latin typeface="Montserrat"/>
              </a:rPr>
              <a:t>A elección del fabricante: 2.1 o 2.2</a:t>
            </a:r>
          </a:p>
          <a:p>
            <a:pPr>
              <a:spcAft>
                <a:spcPts val="1100"/>
              </a:spcAft>
            </a:pPr>
            <a:r>
              <a:rPr sz="1600" b="1" i="0">
                <a:solidFill>
                  <a:srgbClr val="E8801A"/>
                </a:solidFill>
                <a:latin typeface="Montserrat"/>
              </a:rPr>
              <a:t>▸  </a:t>
            </a:r>
            <a:r>
              <a:rPr sz="1600" b="0" i="0">
                <a:solidFill>
                  <a:srgbClr val="1B2330"/>
                </a:solidFill>
                <a:latin typeface="Montserrat"/>
              </a:rPr>
              <a:t>Antes de comercializar</a:t>
            </a:r>
          </a:p>
        </p:txBody>
      </p:sp>
      <p:sp>
        <p:nvSpPr>
          <p:cNvPr id="9" name="imgph" descr="IMGQ:boiler production assembly lin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boiler production assembly line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CAMINO 2.1 · EXAMEN DE PRODUCTO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inspección sorpresa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Controles in situ y sin aviso previo</a:t>
            </a:r>
          </a:p>
          <a:p>
            <a:pPr>
              <a:spcAft>
                <a:spcPts val="1100"/>
              </a:spcAft>
            </a:pPr>
            <a:r>
              <a:rPr sz="1600" b="1" i="0">
                <a:solidFill>
                  <a:srgbClr val="E8801A"/>
                </a:solidFill>
                <a:latin typeface="Montserrat"/>
              </a:rPr>
              <a:t>▸  </a:t>
            </a:r>
            <a:r>
              <a:rPr sz="1600" b="0" i="0">
                <a:solidFill>
                  <a:srgbClr val="1B2330"/>
                </a:solidFill>
                <a:latin typeface="Montserrat"/>
              </a:rPr>
              <a:t>Intervalos máximos de un año</a:t>
            </a:r>
          </a:p>
          <a:p>
            <a:pPr>
              <a:spcAft>
                <a:spcPts val="1100"/>
              </a:spcAft>
            </a:pPr>
            <a:r>
              <a:rPr sz="1600" b="1" i="0">
                <a:solidFill>
                  <a:srgbClr val="E8801A"/>
                </a:solidFill>
                <a:latin typeface="Montserrat"/>
              </a:rPr>
              <a:t>▸  </a:t>
            </a:r>
            <a:r>
              <a:rPr sz="1600" b="0" i="0">
                <a:solidFill>
                  <a:srgbClr val="1B2330"/>
                </a:solidFill>
                <a:latin typeface="Montserrat"/>
              </a:rPr>
              <a:t>Se prueba al menos un aparato</a:t>
            </a:r>
          </a:p>
          <a:p>
            <a:pPr>
              <a:spcAft>
                <a:spcPts val="1100"/>
              </a:spcAft>
            </a:pPr>
            <a:r>
              <a:rPr sz="1600" b="1" i="0">
                <a:solidFill>
                  <a:srgbClr val="E8801A"/>
                </a:solidFill>
                <a:latin typeface="Montserrat"/>
              </a:rPr>
              <a:t>▸  </a:t>
            </a:r>
            <a:r>
              <a:rPr sz="1600" b="0" i="0">
                <a:solidFill>
                  <a:srgbClr val="1B2330"/>
                </a:solidFill>
                <a:latin typeface="Montserrat"/>
              </a:rPr>
              <a:t>Si uno se rechaza: se bloquea la venta</a:t>
            </a:r>
          </a:p>
        </p:txBody>
      </p:sp>
      <p:sp>
        <p:nvSpPr>
          <p:cNvPr id="9" name="imgph" descr="IMGQ:quality inspector factory clipbo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quality inspector factory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el examen de producto, ¿cada cuánto realiza el organismo los controles sin aviso previo?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 intervalos máximos de un año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 intervalos máximos de dos años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Cada seis meses, en fecha fija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cuando el fabricante lo solicita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el examen de producto, ¿cada cuánto realiza el organismo los controles sin aviso previo?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A intervalos máximos de un año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organismo controla los aparatos in situ y sin aviso previo, a intervalos máximos de un año; si rechaza alguno, evita su comercialización.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CAMINO 2.2 · CALIDAD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Aseguramiento de la calidad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Sistema de calidad ISO 9001</a:t>
            </a:r>
          </a:p>
          <a:p>
            <a:pPr>
              <a:spcAft>
                <a:spcPts val="1100"/>
              </a:spcAft>
            </a:pPr>
            <a:r>
              <a:rPr sz="1600" b="1" i="0">
                <a:solidFill>
                  <a:srgbClr val="E8801A"/>
                </a:solidFill>
                <a:latin typeface="Montserrat"/>
              </a:rPr>
              <a:t>▸  </a:t>
            </a:r>
            <a:r>
              <a:rPr sz="1600" b="0" i="0">
                <a:solidFill>
                  <a:srgbClr val="1B2330"/>
                </a:solidFill>
                <a:latin typeface="Montserrat"/>
              </a:rPr>
              <a:t>Evaluado y certificado por organismo</a:t>
            </a:r>
          </a:p>
          <a:p>
            <a:pPr>
              <a:spcAft>
                <a:spcPts val="1100"/>
              </a:spcAft>
            </a:pPr>
            <a:r>
              <a:rPr sz="1600" b="1" i="0">
                <a:solidFill>
                  <a:srgbClr val="E8801A"/>
                </a:solidFill>
                <a:latin typeface="Montserrat"/>
              </a:rPr>
              <a:t>▸  </a:t>
            </a:r>
            <a:r>
              <a:rPr sz="1600" b="0" i="0">
                <a:solidFill>
                  <a:srgbClr val="1B2330"/>
                </a:solidFill>
                <a:latin typeface="Montserrat"/>
              </a:rPr>
              <a:t>Seguimiento anual del mantenimiento</a:t>
            </a:r>
          </a:p>
          <a:p>
            <a:pPr>
              <a:spcAft>
                <a:spcPts val="1100"/>
              </a:spcAft>
            </a:pPr>
            <a:r>
              <a:rPr sz="1600" b="1" i="0">
                <a:solidFill>
                  <a:srgbClr val="E8801A"/>
                </a:solidFill>
                <a:latin typeface="Montserrat"/>
              </a:rPr>
              <a:t>▸  </a:t>
            </a:r>
            <a:r>
              <a:rPr sz="1600" b="0" i="0">
                <a:solidFill>
                  <a:srgbClr val="1B2330"/>
                </a:solidFill>
                <a:latin typeface="Montserrat"/>
              </a:rPr>
              <a:t>Puede pedir una muestra si hay dudas</a:t>
            </a:r>
          </a:p>
        </p:txBody>
      </p:sp>
      <p:sp>
        <p:nvSpPr>
          <p:cNvPr id="9" name="imgph" descr="IMGQ:quality management office document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quality management office documents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PROCEDIMIENTO 3 · UNIDAD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vía de la pieza única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Certifica un aparato concreto</a:t>
            </a:r>
          </a:p>
          <a:p>
            <a:pPr>
              <a:spcAft>
                <a:spcPts val="1100"/>
              </a:spcAft>
            </a:pPr>
            <a:r>
              <a:rPr sz="1600" b="1" i="0">
                <a:solidFill>
                  <a:srgbClr val="E8801A"/>
                </a:solidFill>
                <a:latin typeface="Montserrat"/>
              </a:rPr>
              <a:t>▸  </a:t>
            </a:r>
            <a:r>
              <a:rPr sz="1600" b="0" i="0">
                <a:solidFill>
                  <a:srgbClr val="1B2330"/>
                </a:solidFill>
                <a:latin typeface="Montserrat"/>
              </a:rPr>
              <a:t>Típico de fabricación a medida</a:t>
            </a:r>
          </a:p>
          <a:p>
            <a:pPr>
              <a:spcAft>
                <a:spcPts val="1100"/>
              </a:spcAft>
            </a:pPr>
            <a:r>
              <a:rPr sz="1600" b="1" i="0">
                <a:solidFill>
                  <a:srgbClr val="E8801A"/>
                </a:solidFill>
                <a:latin typeface="Montserrat"/>
              </a:rPr>
              <a:t>▸  </a:t>
            </a:r>
            <a:r>
              <a:rPr sz="1600" b="0" i="0">
                <a:solidFill>
                  <a:srgbClr val="1B2330"/>
                </a:solidFill>
                <a:latin typeface="Montserrat"/>
              </a:rPr>
              <a:t>La solicitud pide el destino del aparato</a:t>
            </a:r>
          </a:p>
          <a:p>
            <a:pPr>
              <a:spcAft>
                <a:spcPts val="1100"/>
              </a:spcAft>
            </a:pPr>
            <a:r>
              <a:rPr sz="1600" b="1" i="0">
                <a:solidFill>
                  <a:srgbClr val="E8801A"/>
                </a:solidFill>
                <a:latin typeface="Montserrat"/>
              </a:rPr>
              <a:t>▸  </a:t>
            </a:r>
            <a:r>
              <a:rPr sz="1600" b="0" i="0">
                <a:solidFill>
                  <a:srgbClr val="1B2330"/>
                </a:solidFill>
                <a:latin typeface="Montserrat"/>
              </a:rPr>
              <a:t>Las pruebas, incluso tras instalarlo</a:t>
            </a:r>
          </a:p>
        </p:txBody>
      </p:sp>
      <p:sp>
        <p:nvSpPr>
          <p:cNvPr id="9" name="imgph" descr="IMGQ:custom industrial gas burner uni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custom industrial gas burner unit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DOCUMENTACIÓN · 4.1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Diseño para el examen de tipo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Describe el modelo en general</a:t>
            </a:r>
          </a:p>
          <a:p>
            <a:pPr>
              <a:spcAft>
                <a:spcPts val="1100"/>
              </a:spcAft>
            </a:pPr>
            <a:r>
              <a:rPr sz="1600" b="1" i="0">
                <a:solidFill>
                  <a:srgbClr val="E8801A"/>
                </a:solidFill>
                <a:latin typeface="Montserrat"/>
              </a:rPr>
              <a:t>▸  </a:t>
            </a:r>
            <a:r>
              <a:rPr sz="1600" b="0" i="0">
                <a:solidFill>
                  <a:srgbClr val="1B2330"/>
                </a:solidFill>
                <a:latin typeface="Montserrat"/>
              </a:rPr>
              <a:t>Cámara, salida de humos, gases y presiones</a:t>
            </a:r>
          </a:p>
          <a:p>
            <a:pPr>
              <a:spcAft>
                <a:spcPts val="1100"/>
              </a:spcAft>
            </a:pPr>
            <a:r>
              <a:rPr sz="1600" b="1" i="0">
                <a:solidFill>
                  <a:srgbClr val="E8801A"/>
                </a:solidFill>
                <a:latin typeface="Montserrat"/>
              </a:rPr>
              <a:t>▸  </a:t>
            </a:r>
            <a:r>
              <a:rPr sz="1600" b="0" i="0">
                <a:solidFill>
                  <a:srgbClr val="1B2330"/>
                </a:solidFill>
                <a:latin typeface="Montserrat"/>
              </a:rPr>
              <a:t>Quemadores, seguridad y regulación</a:t>
            </a:r>
          </a:p>
          <a:p>
            <a:pPr>
              <a:spcAft>
                <a:spcPts val="1100"/>
              </a:spcAft>
            </a:pPr>
            <a:r>
              <a:rPr sz="1600" b="1" i="0">
                <a:solidFill>
                  <a:srgbClr val="E8801A"/>
                </a:solidFill>
                <a:latin typeface="Montserrat"/>
              </a:rPr>
              <a:t>▸  </a:t>
            </a:r>
            <a:r>
              <a:rPr sz="1600" b="0" i="0">
                <a:solidFill>
                  <a:srgbClr val="1B2330"/>
                </a:solidFill>
                <a:latin typeface="Montserrat"/>
              </a:rPr>
              <a:t>Esquema eléctrico y piezas sustituibles</a:t>
            </a:r>
          </a:p>
        </p:txBody>
      </p:sp>
      <p:sp>
        <p:nvSpPr>
          <p:cNvPr id="9" name="imgph" descr="IMGQ:technical design blueprint fold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technical design blueprint folder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DOCUMENTACIÓN · 4.2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Diseño para la verificación por unidad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Describe este aparato en su sitio</a:t>
            </a:r>
          </a:p>
          <a:p>
            <a:pPr>
              <a:spcAft>
                <a:spcPts val="1100"/>
              </a:spcAft>
            </a:pPr>
            <a:r>
              <a:rPr sz="1600" b="1" i="0">
                <a:solidFill>
                  <a:srgbClr val="E8801A"/>
                </a:solidFill>
                <a:latin typeface="Montserrat"/>
              </a:rPr>
              <a:t>▸  </a:t>
            </a:r>
            <a:r>
              <a:rPr sz="1600" b="0" i="0">
                <a:solidFill>
                  <a:srgbClr val="1B2330"/>
                </a:solidFill>
                <a:latin typeface="Montserrat"/>
              </a:rPr>
              <a:t>Nº de fabricación y domicilio de la instalación</a:t>
            </a:r>
          </a:p>
          <a:p>
            <a:pPr>
              <a:spcAft>
                <a:spcPts val="1100"/>
              </a:spcAft>
            </a:pPr>
            <a:r>
              <a:rPr sz="1600" b="1" i="0">
                <a:solidFill>
                  <a:srgbClr val="E8801A"/>
                </a:solidFill>
                <a:latin typeface="Montserrat"/>
              </a:rPr>
              <a:t>▸  </a:t>
            </a:r>
            <a:r>
              <a:rPr sz="1600" b="0" i="0">
                <a:solidFill>
                  <a:srgbClr val="1B2330"/>
                </a:solidFill>
                <a:latin typeface="Montserrat"/>
              </a:rPr>
              <a:t>Plano de situación y línea de gas instalada</a:t>
            </a:r>
          </a:p>
          <a:p>
            <a:pPr>
              <a:spcAft>
                <a:spcPts val="1100"/>
              </a:spcAft>
            </a:pPr>
            <a:r>
              <a:rPr sz="1600" b="1" i="0">
                <a:solidFill>
                  <a:srgbClr val="E8801A"/>
                </a:solidFill>
                <a:latin typeface="Montserrat"/>
              </a:rPr>
              <a:t>▸  </a:t>
            </a:r>
            <a:r>
              <a:rPr sz="1600" b="0" i="0">
                <a:solidFill>
                  <a:srgbClr val="1B2330"/>
                </a:solidFill>
                <a:latin typeface="Montserrat"/>
              </a:rPr>
              <a:t>Gas y presión para el que se reguló</a:t>
            </a:r>
          </a:p>
        </p:txBody>
      </p:sp>
      <p:sp>
        <p:nvSpPr>
          <p:cNvPr id="9" name="imgph" descr="IMGQ:installed gas line meter si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installed gas line meter site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CUIDADO CON LAS LETRAS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Categoría del aparato ≠ tipo ≠ carné</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Categoría del aparato: qué gases admite</a:t>
            </a:r>
          </a:p>
          <a:p>
            <a:pPr>
              <a:spcAft>
                <a:spcPts val="1100"/>
              </a:spcAft>
            </a:pPr>
            <a:r>
              <a:rPr sz="1600" b="1" i="0">
                <a:solidFill>
                  <a:srgbClr val="E8801A"/>
                </a:solidFill>
                <a:latin typeface="Montserrat"/>
              </a:rPr>
              <a:t>▸  </a:t>
            </a:r>
            <a:r>
              <a:rPr sz="1600" b="0" i="0">
                <a:solidFill>
                  <a:srgbClr val="1B2330"/>
                </a:solidFill>
                <a:latin typeface="Montserrat"/>
              </a:rPr>
              <a:t>Según UNE-EN 437</a:t>
            </a:r>
          </a:p>
          <a:p>
            <a:pPr>
              <a:spcAft>
                <a:spcPts val="1100"/>
              </a:spcAft>
            </a:pPr>
            <a:r>
              <a:rPr sz="1600" b="1" i="0">
                <a:solidFill>
                  <a:srgbClr val="E8801A"/>
                </a:solidFill>
                <a:latin typeface="Montserrat"/>
              </a:rPr>
              <a:t>▸  </a:t>
            </a:r>
            <a:r>
              <a:rPr sz="1600" b="0" i="0">
                <a:solidFill>
                  <a:srgbClr val="1B2330"/>
                </a:solidFill>
                <a:latin typeface="Montserrat"/>
              </a:rPr>
              <a:t>Tipo A/B/C: cómo quema el aparato</a:t>
            </a:r>
          </a:p>
          <a:p>
            <a:pPr>
              <a:spcAft>
                <a:spcPts val="1100"/>
              </a:spcAft>
            </a:pPr>
            <a:r>
              <a:rPr sz="1600" b="1" i="0">
                <a:solidFill>
                  <a:srgbClr val="E8801A"/>
                </a:solidFill>
                <a:latin typeface="Montserrat"/>
              </a:rPr>
              <a:t>▸  </a:t>
            </a:r>
            <a:r>
              <a:rPr sz="1600" b="0" i="0">
                <a:solidFill>
                  <a:srgbClr val="1B2330"/>
                </a:solidFill>
                <a:latin typeface="Montserrat"/>
              </a:rPr>
              <a:t>Categoría A/B/C: el carné del instalador</a:t>
            </a:r>
          </a:p>
        </p:txBody>
      </p:sp>
      <p:sp>
        <p:nvSpPr>
          <p:cNvPr id="9" name="imgph" descr="IMGQ:gas appliance category label detai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category label detail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La categoría del aparato que aparece en la documentación de diseño, ¿a qué se refiere?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Al tipo de combustión A, B o C</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 los gases y presiones que admite el aparato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Al nivel del carné del instalador</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A la potencia útil en kilovatios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La categoría del aparato que aparece en la documentación de diseño, ¿a qué se refiere?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A los gases y presiones que admite el aparato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categoría del aparato indica qué gases y presiones acepta, según la UNE-EN 437; no es el tipo A/B/C de combustión ni la categoría del carné del instalador.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entiendes por qué te puedes fiar de un aparato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El organismo certifica; el fabricante solo solicita</a:t>
            </a:r>
          </a:p>
          <a:p>
            <a:pPr>
              <a:spcAft>
                <a:spcPts val="1200"/>
              </a:spcAft>
            </a:pPr>
            <a:r>
              <a:rPr sz="2000" b="1" i="0">
                <a:solidFill>
                  <a:srgbClr val="F4A24C"/>
                </a:solidFill>
                <a:latin typeface="Montserrat"/>
              </a:rPr>
              <a:t>✓  </a:t>
            </a:r>
            <a:r>
              <a:rPr sz="1900" b="0" i="0">
                <a:solidFill>
                  <a:srgbClr val="FFFFFF"/>
                </a:solidFill>
                <a:latin typeface="Montserrat"/>
              </a:rPr>
              <a:t>Examen de tipo = el molde; cambios = aprobación adicional</a:t>
            </a:r>
          </a:p>
          <a:p>
            <a:pPr>
              <a:spcAft>
                <a:spcPts val="1200"/>
              </a:spcAft>
            </a:pPr>
            <a:r>
              <a:rPr sz="2000" b="1" i="0">
                <a:solidFill>
                  <a:srgbClr val="F4A24C"/>
                </a:solidFill>
                <a:latin typeface="Montserrat"/>
              </a:rPr>
              <a:t>✓  </a:t>
            </a:r>
            <a:r>
              <a:rPr sz="1900" b="0" i="0">
                <a:solidFill>
                  <a:srgbClr val="FFFFFF"/>
                </a:solidFill>
                <a:latin typeface="Montserrat"/>
              </a:rPr>
              <a:t>Producción: inspección sorpresa (1 año) o ISO 9001</a:t>
            </a:r>
          </a:p>
          <a:p>
            <a:pPr>
              <a:spcAft>
                <a:spcPts val="1200"/>
              </a:spcAft>
            </a:pPr>
            <a:r>
              <a:rPr sz="2000" b="1" i="0">
                <a:solidFill>
                  <a:srgbClr val="F4A24C"/>
                </a:solidFill>
                <a:latin typeface="Montserrat"/>
              </a:rPr>
              <a:t>✓  </a:t>
            </a:r>
            <a:r>
              <a:rPr sz="1900" b="0" i="0">
                <a:solidFill>
                  <a:srgbClr val="FFFFFF"/>
                </a:solidFill>
                <a:latin typeface="Montserrat"/>
              </a:rPr>
              <a:t>Unidad = la pieza única, con su destino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sabes qué respalda la placa de un aparato. Solo nos queda leer esa placa y sus pruebas de seguridad.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
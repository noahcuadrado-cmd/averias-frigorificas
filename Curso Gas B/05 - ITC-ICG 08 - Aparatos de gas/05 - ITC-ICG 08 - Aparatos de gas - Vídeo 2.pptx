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Ya sé qué exige la norma de fábrica. ¿Y ahora qué toca?</a:t>
            </a:r>
          </a:p>
          <a:p>
            <a:r>
              <a:t>N2: Ahora empieza tu trabajo de verdad. Dejamos la fábrica y bajamos al piso. En este vídeo vemos cómo se clasifican los aparatos según por dónde respiran y expulsan humos, los tipos A, B y C; quién puede conectarlos, ponerlos en marcha, mantenerlos y adecuarlos; qué se comprueba al arrancarlos y qué certificado hay que entregar. Es el corazón práctico de la ITC-ICG cero ocho y una de las zonas más preguntadas del examen. Y una advertencia de oro desde ya: no vamos a confundir los tipos de aparato con las categorías de instalador.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¿Qué tres números marcan este vídeo?</a:t>
            </a:r>
          </a:p>
          <a:p>
            <a:r>
              <a:t>N2: Tres. Primero, tres tipos de aparato según el circuito de combustión: A, B y C. Segundo, veinticuatro coma cuatro kilovatios, que es la potencia que separa los aparatos exigentes de los normales, a la hora de decidir quién puede arrancarlos. Y tercero, cinco años, que es lo que tienes que guardar el certificado de puesta en marcha a disposición de la comunidad autónoma. Con estos tres números tienes las claves numéricas del vídeo.</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¿Por qué se clasifican los aparatos en tipos?</a:t>
            </a:r>
          </a:p>
          <a:p>
            <a:r>
              <a:t>N2: Porque todo aparato de gas necesita dos cosas: aire para quemar y una salida para los humos. Y según de dónde toma el aire y por dónde echa los humos, se clasifica en tipo A, B o C. Piénsalo con una frase que te va a salvar en el examen: de dónde respira y por dónde echa el humo. Esta clasificación es la que la propia ITC usa cuando habla de aparatos conducidos, así que domínala bien porque es materia fija. En las siguientes diapositivas vemos los tres tipos uno a uno.</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¿En qué se diferencian el A, el B y el C?</a:t>
            </a:r>
          </a:p>
          <a:p>
            <a:r>
              <a:t>N2: Vamos con la frase paso a paso. El tipo A es no conducido: coge el aire del local y devuelve los humos al local, no tiene conducto de evacuación; por eso exige que el recinto esté bien ventilado, como una cocina o un horno. El tipo B es conducido de cámara abierta: coge el aire de combustión del local donde está, pero evacúa los humos al exterior por un conducto; su cámara está abierta al ambiente, como un calentador o una caldera atmosférica. El tipo C es estanco: su circuito, entrada de aire, cámara y salida de humos, está aislado respecto al local; toma el aire de fuera y echa los humos fuera, sin intercambiar aire con la estancia. La lógica: cuanto más aislado del local, más seguro respecto al ambiente; por eso el C es el que menos depende de la ventilación de la estancia.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¿Cómo se leen de un vistazo los tres tipos de aparato?</a:t>
            </a:r>
          </a:p>
          <a:p>
            <a:r>
              <a:t>N2: Esta tabla es el mapa de la clasificación por combustión, y se lee con una frase: de dónde respira y por dónde echa el humo. Fila del tipo a, no conducido: respira del local y devuelve los humos al local, no tiene conducto; por eso exige buena ventilación, como una cocina o un horno. Fila del tipo be, conducido de cámara abierta: respira del local pero echa los humos fuera por un conducto, como un calentador atmosférico. Fila del tipo ce, estanco: respira del exterior y echa fuera, aislado del local, como una caldera estanca o de condensación. Los tipos be y ce son los conducidos. Ejemplo de obra: en un baño pequeño y poco ventilado, el tipo ce es la opción segura, porque no depende del aire de la estancia.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Con la tabla de los tipos fresca, una pregunta directa: ¿qué tipos de aparato son los que la ITC llama conducidos? Opción a: solo el tipo a, el no conducido. Opción be: los tipos be y ce, unidos a conducto. Opción ce: solo el tipo ce, el estanco. Opción de: los tipos a y be, de cámara abierta. Piénsalo un momento... ¿cuáles echaban los humos al exterior por un conducto? El que los suelta al propio local se queda fuera.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N2: La respuesta correcta es la opción be: los tipos be y ce, unidos a conducto. El porqué es claro: tanto el be como el ce evacúan los humos al exterior por un conducto de evacuación; en cambio, el tipo a no está unido a ningún conducto, devuelve los productos de la combustión al propio local. El truco: conducido es el que tiene conducto, y eso solo lo cumplen la be y la ce.</a:t>
            </a:r>
          </a:p>
          <a:p>
            <a:r>
              <a:t>N1: Be y ce, los conducidos. El a se queda fuera.</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Tipos A, B, C y categorías A, B, C. ¿No es fácil liarse?</a:t>
            </a:r>
          </a:p>
          <a:p>
            <a:r>
              <a:t>N2: Es la trampa clásica del examen, así que vamos a dejarlo clavado. Los aparatos de tipo B y C son los que la ITC llama aparatos conducidos, porque van unidos a un conducto de evacuación de humos. Ahora, no confundas los tipos de aparato con las categorías de instalador de la ITC-ICG cero nueve. Son cosas distintas que comparten letra para liarte. El tipo A, B o C describe cómo quema y evacúa el aparato, su circuito de combustión. La categoría A, B o C es el nivel del carné del instalador, qué instalaciones puede montar una persona. No tienen nada que ver una letra con la otra: un instalador de categoría B puede trabajar con aparatos de tipo A, B o C sin problema.</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Para colocar un aparato, ¿hay que pedir permiso a la Administración?</a:t>
            </a:r>
          </a:p>
          <a:p>
            <a:r>
              <a:t>N2: No. La instalación de los aparatos de gas no precisa autorización administrativa. Enlázalo con la lógica de todo el Reglamento de gas: lo normal es hacer y, cuando toca, comunicar; no pedir permiso y esperar de brazos cruzados. Y en el caso del aparato, la cosa va todavía más lejos, porque como veremos al final del apartado cinco, ni siquiera hay que comunicar. El único papel obligatorio será el certificado de puesta en marcha que le das al cliente.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¿Puede cualquiera conectar un aparato de gas?</a:t>
            </a:r>
          </a:p>
          <a:p>
            <a:r>
              <a:t>N2: La regla general es clara: la conexión de los aparatos a las instalaciones receptoras se hace según la norma UNE sesenta mil seiscientos setenta, parte siete, y siempre por un instalador. Pero hay una única excepción, y es muy práctica de conocer: cuando la conexión se hace con un tubo flexible elastomérico con abrazadera, que es el típico latiguillo de goma de una cocina de butano, la puede hacer el propio usuario. Por eso cualquiera puede cambiar el tubo de su cocina de gas, pero no conectar una caldera con tubería rígida: eso, sí o sí, es cosa del instalador.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¿Y los aparatos que no van conectados a la instalación receptora?</a:t>
            </a:r>
          </a:p>
          <a:p>
            <a:r>
              <a:t>N2: Distingue las dos normas gemelas, porque el examen las cruza. Los aparatos conectados a una instalación receptora van por la UNE sesenta mil seiscientos setenta, parte siete, la de conexión. Los no conectados, por ejemplo una estufa o un aparato suelto, deben cumplir las condiciones de ubicación del capítulo cuatro de la UNE sesenta mil seiscientos setenta, parte seis. La regla de bolsillo para no fallar: conectado, la parte siete; suelto, la parte seis.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¿Quién puede poner en marcha, mantener y reparar un aparato?</a:t>
            </a:r>
          </a:p>
          <a:p>
            <a:r>
              <a:t>N2: Aquí hay una línea que separa el aparato exigente del aparato normal, y es la potencia. Los aparatos conducidos, es decir tipo B y C, de más de veinticuatro coma cuatro kilovatios de potencia útil, y las vitrocerámicas a gas de fuegos cubiertos, solo los pueden poner en marcha, mantener o reparar el servicio técnico del fabricante con un sistema de calidad certificado, o instaladores de gas que cumplan el capítulo cuatro de la ITC-ICG cero nueve. Para todo lo demás, los de menor potencia o los de tipo A, basta con el servicio técnico del fabricante o una empresa instaladora. Truco: más de veinticuatro coma cuatro kilovatios y con humos conducidos, gente especialmente cualificada.</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Un número muy concreto que le encanta al examen. Escucha: ¿a partir de qué potencia un aparato conducido, tipo be o ce, solo lo pone en marcha personal especialmente cualificado? Opción a: más de veinte kilovatios de potencia útil. Opción be: más de veinticuatro coma cuatro kilovatios de potencia útil. Opción ce: más de treinta kilovatios de potencia útil. Opción de: más de quince kilovatios de potencia útil. Piensa la cifra exacta, y ojo, no la redondees...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N2: La respuesta correcta es la opción be: más de veinticuatro coma cuatro kilovatios de potencia útil. El porqué: la ITC fija ahí el umbral para los aparatos conducidos; por encima de veinticuatro coma cuatro kilovatios, y también las vitrocerámicas a gas de fuegos cubiertos, solo los toca el servicio técnico del fabricante con calidad certificada o un instalador que cumpla el capítulo cuatro de la ITC-ICG cero nueve. El truco para no fallar: memoriza veinticuatro coma cuatro, y no lo redondees a veinticinco.</a:t>
            </a:r>
          </a:p>
          <a:p>
            <a:r>
              <a:t>N1: Veinticuatro coma cuatro, ni un decimal de más.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¿Qué es adecuar un aparato por cambio de familia de gas?</a:t>
            </a:r>
          </a:p>
          <a:p>
            <a:r>
              <a:t>N2: Cambiar de familia es, ni más ni menos, cambiar el tipo de gas. Por ejemplo, pasar una caldera de gas natural, que es la segunda familia, a propano o butano, que es la tercera familia; hay que cambiar inyectores y reglajes. La ITC lo reserva a dos: al servicio técnico del fabricante con sistema de calidad certificado, o a instaladores de gas de categoría A o B que cumplan el capítulo cuatro de la ITC-ICG cero nueve. Fíjate en que aquí sí manda la categoría del carné: la categoría C no puede hacerlo. Y una condición de oro: los recambios deben ser de características idénticas a las aprobadas en la certificación de tipo. Nada de piezas que hacen el apaño, porque una mala adecuación te da llamas amarillas y monóxido de carbono.</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Al arrancar el aparato, ¿qué se comprueba y qué papel se entrega?</a:t>
            </a:r>
          </a:p>
          <a:p>
            <a:r>
              <a:t>N2: Dos cosas van juntas. Primero, las comprobaciones mínimas para la puesta en marcha de los aparatos conectados salen de la norma UNE sesenta mil seiscientos setenta, parte diez, más las indicaciones adicionales del fabricante. Nunca es solo la norma ni solo el manual: son las dos cosas, porque el fabricante conoce su aparato y puede exigir pasos extra. Segundo, no basta con dejarlo funcionando: el agente que hace la puesta en marcha debe emitir y entregar al cliente un certificado de puesta en marcha, según el modelo del anexo cuatro. Y guardarse una copia cinco años a disposición de la comunidad autónoma. Dos datos de examen que caen juntos: certificado de puesta en marcha, y cinco años de archivo.</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Después de instalar el aparato, ¿hay que comunicar algo a la Administración?</a:t>
            </a:r>
          </a:p>
          <a:p>
            <a:r>
              <a:t>N2: No se precisa ninguna comunicación. Cierra el círculo con lo que vimos en el cinco punto uno: instalar un aparato ni necesita autorización previa ni comunicación posterior. Lo único obligatorio es el certificado de puesta en marcha que le das al cliente y archivas tú. Pero ojo con no mezclar dos papeles: esto es del aparato. La comunicación de la instalación receptora es otra cosa, esa sí, la presenta el titular en un plazo de treinta días. Instalación y aparato tienen su propio papeleo; no los confundas.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¿Qué información mínima lleva ese certificado?</a:t>
            </a:r>
          </a:p>
          <a:p>
            <a:r>
              <a:t>N2: Tiene bloques fáciles de recordar, contesta a cuatro preguntas: quién arranca, el agente, con nombre, dirección, NIF y categoría; para quién, el cliente, con nombre y dirección; qué, el aparato, con tipo, marca, modelo, potencia y número de fabricación; y cómo salió, las pruebas realizadas y sus resultados. Y aquí un detalle que le encanta al examen: cuando procede, se adjunta la impresión del análisis de combustión, ese ticket de papel que escupe el analizador con el monóxido de carbono, el dióxido de carbono, el tiro y el rendimiento. Es la prueba física de que la combustión es correcta. Por último, lo firma el técnico, con sello de la empresa, y también lo firma el cliente.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Este vídeo es muy práctico. ¿Cómo lo ordeno en la cabeza?</a:t>
            </a:r>
          </a:p>
          <a:p>
            <a:r>
              <a:t>N2: Sigamos el hilo, que va del aparato al papel. Primero, aprendiste a clasificar por combustión: A respira del local y echa al local, B respira del local y echa fuera, C respira de fuera y echa fuera; B y C son los conducidos. Y no confundes eso con la categoría del carné, que es otra letra distinta. Segundo, quién conecta: siempre el instalador y según la parte siete, salvo el latiguillo de goma, que lo pone el usuario; y el suelto va por la parte seis. Tercero, quién arranca y repara: por encima de veinticuatro coma cuatro kilovatios y conducido, gente muy cualificada; y adecuar de familia de gas, categorías A o B con piezas idénticas. Y cuarto, cómo cierras: comprobaciones según la parte diez más el fabricante, certificado de puesta en marcha del anexo cuatro con el ticket del análisis de combustión, y cinco años de archivo.</a:t>
            </a:r>
          </a:p>
          <a:p>
            <a:r>
              <a:t>N1: ¿Y esto cómo aparece en el examen y en la obra?</a:t>
            </a:r>
          </a:p>
          <a:p>
            <a:r>
              <a:t>N2: En el examen te van a cruzar las letras a propósito, te van a preguntar quién puede conectar el latiguillo, o a partir de cuántos kilovatios hace falta gente cualificada, o cuántos años se archiva el certificado. En la obra es tu día a día: un flexible caducado es olor a gas asegurado, y sin el análisis de combustión no sabes si has dejado una avería dentro de casa. Hoy ya no eres solo teoría: sabes dejar un aparato en regla y con su papel firmado. En el siguiente vídeo entramos en la letra pequeña de la certificación, el anexo uno: cómo un organismo de control demuestra que ese aparato es de fiar. Vamos a por él.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731520"/>
            <a:ext cx="10515600" cy="548640"/>
          </a:xfrm>
          <a:prstGeom prst="rect">
            <a:avLst/>
          </a:prstGeom>
          <a:noFill/>
        </p:spPr>
        <p:txBody>
          <a:bodyPr wrap="square">
            <a:spAutoFit/>
          </a:bodyPr>
          <a:lstStyle/>
          <a:p>
            <a:r>
              <a:rPr sz="1400" b="1" i="0">
                <a:solidFill>
                  <a:srgbClr val="F4A24C"/>
                </a:solidFill>
                <a:latin typeface="Montserrat"/>
              </a:rPr>
              <a:t>VÍDEO 2 DE 4</a:t>
            </a:r>
          </a:p>
        </p:txBody>
      </p:sp>
      <p:sp>
        <p:nvSpPr>
          <p:cNvPr id="4" name="Rectangle 3"/>
          <p:cNvSpPr/>
          <p:nvPr/>
        </p:nvSpPr>
        <p:spPr>
          <a:xfrm>
            <a:off x="868680" y="2057400"/>
            <a:ext cx="1463040" cy="82296"/>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2286000"/>
            <a:ext cx="10515600" cy="2011680"/>
          </a:xfrm>
          <a:prstGeom prst="rect">
            <a:avLst/>
          </a:prstGeom>
          <a:noFill/>
        </p:spPr>
        <p:txBody>
          <a:bodyPr wrap="square">
            <a:spAutoFit/>
          </a:bodyPr>
          <a:lstStyle/>
          <a:p>
            <a:r>
              <a:rPr sz="4000" b="1" i="0">
                <a:solidFill>
                  <a:srgbClr val="FFFFFF"/>
                </a:solidFill>
                <a:latin typeface="Montserrat"/>
              </a:rPr>
              <a:t>Tipos, conexión y puesta en marcha</a:t>
            </a:r>
          </a:p>
          <a:p>
            <a:r>
              <a:rPr sz="2200" b="0" i="0">
                <a:solidFill>
                  <a:srgbClr val="CADCFC"/>
                </a:solidFill>
                <a:latin typeface="Montserrat"/>
              </a:rPr>
              <a:t>Aparatos A, B y C; quién conecta, arranca y certifica</a:t>
            </a:r>
          </a:p>
        </p:txBody>
      </p:sp>
      <p:sp>
        <p:nvSpPr>
          <p:cNvPr id="6" name="TextBox 5"/>
          <p:cNvSpPr txBox="1"/>
          <p:nvPr/>
        </p:nvSpPr>
        <p:spPr>
          <a:xfrm>
            <a:off x="822960" y="5852160"/>
            <a:ext cx="10515600" cy="548640"/>
          </a:xfrm>
          <a:prstGeom prst="rect">
            <a:avLst/>
          </a:prstGeom>
          <a:noFill/>
        </p:spPr>
        <p:txBody>
          <a:bodyPr wrap="square">
            <a:spAutoFit/>
          </a:bodyPr>
          <a:lstStyle/>
          <a:p>
            <a:r>
              <a:rPr sz="1300" b="0" i="0">
                <a:solidFill>
                  <a:srgbClr val="CADCFC"/>
                </a:solidFill>
                <a:latin typeface="Montserrat"/>
              </a:rPr>
              <a:t>Tema 05 · Reglamento · ITC-ICG 08</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002 / 020</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05 · Aparatos de gas</a:t>
            </a:r>
          </a:p>
        </p:txBody>
      </p:sp>
      <p:sp>
        <p:nvSpPr>
          <p:cNvPr id="5" name="TextBox 4"/>
          <p:cNvSpPr txBox="1"/>
          <p:nvPr/>
        </p:nvSpPr>
        <p:spPr>
          <a:xfrm>
            <a:off x="822960" y="502920"/>
            <a:ext cx="9144000" cy="914400"/>
          </a:xfrm>
          <a:prstGeom prst="rect">
            <a:avLst/>
          </a:prstGeom>
          <a:noFill/>
        </p:spPr>
        <p:txBody>
          <a:bodyPr wrap="square">
            <a:spAutoFit/>
          </a:bodyPr>
          <a:lstStyle/>
          <a:p>
            <a:r>
              <a:rPr sz="2700" b="1" i="0">
                <a:solidFill>
                  <a:srgbClr val="E8801A"/>
                </a:solidFill>
                <a:latin typeface="Montserrat"/>
              </a:rPr>
              <a:t>Sobre este vídeo</a:t>
            </a:r>
          </a:p>
        </p:txBody>
      </p:sp>
      <p:sp>
        <p:nvSpPr>
          <p:cNvPr id="6" name="Rectangle 5"/>
          <p:cNvSpPr/>
          <p:nvPr/>
        </p:nvSpPr>
        <p:spPr>
          <a:xfrm>
            <a:off x="868680" y="1234440"/>
            <a:ext cx="1463040" cy="73152"/>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22960" y="2011680"/>
            <a:ext cx="3017520" cy="2743200"/>
          </a:xfrm>
          <a:prstGeom prst="roundRect">
            <a:avLst/>
          </a:prstGeom>
          <a:solidFill>
            <a:srgbClr val="F3F6FB"/>
          </a:solidFill>
          <a:ln w="1270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22960" y="2011680"/>
            <a:ext cx="3017520" cy="128016"/>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377440"/>
            <a:ext cx="3017520" cy="1371600"/>
          </a:xfrm>
          <a:prstGeom prst="rect">
            <a:avLst/>
          </a:prstGeom>
          <a:noFill/>
        </p:spPr>
        <p:txBody>
          <a:bodyPr wrap="square">
            <a:spAutoFit/>
          </a:bodyPr>
          <a:lstStyle/>
          <a:p>
            <a:pPr algn="ctr"/>
            <a:r>
              <a:rPr sz="5800" b="1" i="0">
                <a:solidFill>
                  <a:srgbClr val="1E2761"/>
                </a:solidFill>
                <a:latin typeface="Montserrat"/>
              </a:rPr>
              <a:t>3</a:t>
            </a:r>
          </a:p>
        </p:txBody>
      </p:sp>
      <p:sp>
        <p:nvSpPr>
          <p:cNvPr id="10" name="TextBox 9"/>
          <p:cNvSpPr txBox="1"/>
          <p:nvPr/>
        </p:nvSpPr>
        <p:spPr>
          <a:xfrm>
            <a:off x="1051560" y="3657600"/>
            <a:ext cx="2560320" cy="1005840"/>
          </a:xfrm>
          <a:prstGeom prst="rect">
            <a:avLst/>
          </a:prstGeom>
          <a:noFill/>
        </p:spPr>
        <p:txBody>
          <a:bodyPr wrap="square">
            <a:spAutoFit/>
          </a:bodyPr>
          <a:lstStyle/>
          <a:p>
            <a:pPr algn="ctr"/>
            <a:r>
              <a:rPr sz="1400" b="0" i="0">
                <a:solidFill>
                  <a:srgbClr val="1B2330"/>
                </a:solidFill>
                <a:latin typeface="Montserrat"/>
              </a:rPr>
              <a:t>tipos de aparato por combustión</a:t>
            </a:r>
          </a:p>
        </p:txBody>
      </p:sp>
      <p:sp>
        <p:nvSpPr>
          <p:cNvPr id="11" name="Rounded Rectangle 10"/>
          <p:cNvSpPr/>
          <p:nvPr/>
        </p:nvSpPr>
        <p:spPr>
          <a:xfrm>
            <a:off x="4617720" y="2011680"/>
            <a:ext cx="3017520" cy="2743200"/>
          </a:xfrm>
          <a:prstGeom prst="roundRect">
            <a:avLst/>
          </a:prstGeom>
          <a:solidFill>
            <a:srgbClr val="F3F6FB"/>
          </a:solidFill>
          <a:ln w="1270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617720" y="2011680"/>
            <a:ext cx="3017520" cy="128016"/>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17720" y="2377440"/>
            <a:ext cx="3017520" cy="1371600"/>
          </a:xfrm>
          <a:prstGeom prst="rect">
            <a:avLst/>
          </a:prstGeom>
          <a:noFill/>
        </p:spPr>
        <p:txBody>
          <a:bodyPr wrap="square">
            <a:spAutoFit/>
          </a:bodyPr>
          <a:lstStyle/>
          <a:p>
            <a:pPr algn="ctr"/>
            <a:r>
              <a:rPr sz="5800" b="1" i="0">
                <a:solidFill>
                  <a:srgbClr val="1E2761"/>
                </a:solidFill>
                <a:latin typeface="Montserrat"/>
              </a:rPr>
              <a:t>24,4</a:t>
            </a:r>
          </a:p>
        </p:txBody>
      </p:sp>
      <p:sp>
        <p:nvSpPr>
          <p:cNvPr id="14" name="TextBox 13"/>
          <p:cNvSpPr txBox="1"/>
          <p:nvPr/>
        </p:nvSpPr>
        <p:spPr>
          <a:xfrm>
            <a:off x="4846320" y="3657600"/>
            <a:ext cx="2560320" cy="1005840"/>
          </a:xfrm>
          <a:prstGeom prst="rect">
            <a:avLst/>
          </a:prstGeom>
          <a:noFill/>
        </p:spPr>
        <p:txBody>
          <a:bodyPr wrap="square">
            <a:spAutoFit/>
          </a:bodyPr>
          <a:lstStyle/>
          <a:p>
            <a:pPr algn="ctr"/>
            <a:r>
              <a:rPr sz="1400" b="0" i="0">
                <a:solidFill>
                  <a:srgbClr val="1B2330"/>
                </a:solidFill>
                <a:latin typeface="Montserrat"/>
              </a:rPr>
              <a:t>kW: umbral de aparatos exigentes</a:t>
            </a:r>
          </a:p>
        </p:txBody>
      </p:sp>
      <p:sp>
        <p:nvSpPr>
          <p:cNvPr id="15" name="Rounded Rectangle 14"/>
          <p:cNvSpPr/>
          <p:nvPr/>
        </p:nvSpPr>
        <p:spPr>
          <a:xfrm>
            <a:off x="8412480" y="2011680"/>
            <a:ext cx="3017520" cy="2743200"/>
          </a:xfrm>
          <a:prstGeom prst="roundRect">
            <a:avLst/>
          </a:prstGeom>
          <a:solidFill>
            <a:srgbClr val="F3F6FB"/>
          </a:solidFill>
          <a:ln w="1270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412480" y="2011680"/>
            <a:ext cx="3017520" cy="128016"/>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12480" y="2377440"/>
            <a:ext cx="3017520" cy="1371600"/>
          </a:xfrm>
          <a:prstGeom prst="rect">
            <a:avLst/>
          </a:prstGeom>
          <a:noFill/>
        </p:spPr>
        <p:txBody>
          <a:bodyPr wrap="square">
            <a:spAutoFit/>
          </a:bodyPr>
          <a:lstStyle/>
          <a:p>
            <a:pPr algn="ctr"/>
            <a:r>
              <a:rPr sz="5800" b="1" i="0">
                <a:solidFill>
                  <a:srgbClr val="1E2761"/>
                </a:solidFill>
                <a:latin typeface="Montserrat"/>
              </a:rPr>
              <a:t>5</a:t>
            </a:r>
          </a:p>
        </p:txBody>
      </p:sp>
      <p:sp>
        <p:nvSpPr>
          <p:cNvPr id="18" name="TextBox 17"/>
          <p:cNvSpPr txBox="1"/>
          <p:nvPr/>
        </p:nvSpPr>
        <p:spPr>
          <a:xfrm>
            <a:off x="8641080" y="3657600"/>
            <a:ext cx="2560320" cy="1005840"/>
          </a:xfrm>
          <a:prstGeom prst="rect">
            <a:avLst/>
          </a:prstGeom>
          <a:noFill/>
        </p:spPr>
        <p:txBody>
          <a:bodyPr wrap="square">
            <a:spAutoFit/>
          </a:bodyPr>
          <a:lstStyle/>
          <a:p>
            <a:pPr algn="ctr"/>
            <a:r>
              <a:rPr sz="1400" b="0" i="0">
                <a:solidFill>
                  <a:srgbClr val="1B2330"/>
                </a:solidFill>
                <a:latin typeface="Montserrat"/>
              </a:rPr>
              <a:t>años archivando el certificado</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003 / 020</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05 · Aparatos de gas</a:t>
            </a:r>
          </a:p>
        </p:txBody>
      </p:sp>
      <p:sp>
        <p:nvSpPr>
          <p:cNvPr id="5" name="TextBox 4"/>
          <p:cNvSpPr txBox="1"/>
          <p:nvPr/>
        </p:nvSpPr>
        <p:spPr>
          <a:xfrm>
            <a:off x="822960" y="502920"/>
            <a:ext cx="8229600" cy="365760"/>
          </a:xfrm>
          <a:prstGeom prst="rect">
            <a:avLst/>
          </a:prstGeom>
          <a:noFill/>
        </p:spPr>
        <p:txBody>
          <a:bodyPr wrap="square">
            <a:spAutoFit/>
          </a:bodyPr>
          <a:lstStyle/>
          <a:p>
            <a:r>
              <a:rPr sz="1300" b="1" i="0">
                <a:solidFill>
                  <a:srgbClr val="E8801A"/>
                </a:solidFill>
                <a:latin typeface="Montserrat"/>
              </a:rPr>
              <a:t>PARTES DE ESTE VÍDEO</a:t>
            </a:r>
          </a:p>
        </p:txBody>
      </p:sp>
      <p:sp>
        <p:nvSpPr>
          <p:cNvPr id="6" name="TextBox 5"/>
          <p:cNvSpPr txBox="1"/>
          <p:nvPr/>
        </p:nvSpPr>
        <p:spPr>
          <a:xfrm>
            <a:off x="822960" y="914400"/>
            <a:ext cx="10515600" cy="914400"/>
          </a:xfrm>
          <a:prstGeom prst="rect">
            <a:avLst/>
          </a:prstGeom>
          <a:noFill/>
        </p:spPr>
        <p:txBody>
          <a:bodyPr wrap="square">
            <a:spAutoFit/>
          </a:bodyPr>
          <a:lstStyle/>
          <a:p>
            <a:r>
              <a:rPr sz="2700" b="1" i="0">
                <a:solidFill>
                  <a:srgbClr val="1E2761"/>
                </a:solidFill>
                <a:latin typeface="Montserrat"/>
              </a:rPr>
              <a:t>En este vídeo</a:t>
            </a:r>
          </a:p>
        </p:txBody>
      </p:sp>
      <p:sp>
        <p:nvSpPr>
          <p:cNvPr id="7" name="Rectangle 6"/>
          <p:cNvSpPr/>
          <p:nvPr/>
        </p:nvSpPr>
        <p:spPr>
          <a:xfrm>
            <a:off x="868680" y="167335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103120"/>
            <a:ext cx="10515600" cy="4023360"/>
          </a:xfrm>
          <a:prstGeom prst="rect">
            <a:avLst/>
          </a:prstGeom>
          <a:noFill/>
        </p:spPr>
        <p:txBody>
          <a:bodyPr wrap="square">
            <a:spAutoFit/>
          </a:bodyPr>
          <a:lstStyle/>
          <a:p>
            <a:pPr>
              <a:spcAft>
                <a:spcPts val="900"/>
              </a:spcAft>
            </a:pPr>
            <a:r>
              <a:rPr sz="1800" b="1" i="0">
                <a:solidFill>
                  <a:srgbClr val="E8801A"/>
                </a:solidFill>
                <a:latin typeface="Montserrat"/>
              </a:rPr>
              <a:t>01   </a:t>
            </a:r>
            <a:r>
              <a:rPr sz="1700" b="0" i="0">
                <a:solidFill>
                  <a:srgbClr val="1B2330"/>
                </a:solidFill>
                <a:latin typeface="Montserrat"/>
              </a:rPr>
              <a:t>Circuito de combustión</a:t>
            </a:r>
          </a:p>
          <a:p>
            <a:pPr>
              <a:spcAft>
                <a:spcPts val="900"/>
              </a:spcAft>
            </a:pPr>
            <a:r>
              <a:rPr sz="1800" b="1" i="0">
                <a:solidFill>
                  <a:srgbClr val="E8801A"/>
                </a:solidFill>
                <a:latin typeface="Montserrat"/>
              </a:rPr>
              <a:t>02   </a:t>
            </a:r>
            <a:r>
              <a:rPr sz="1700" b="0" i="0">
                <a:solidFill>
                  <a:srgbClr val="1B2330"/>
                </a:solidFill>
                <a:latin typeface="Montserrat"/>
              </a:rPr>
              <a:t>Tipos A</a:t>
            </a:r>
          </a:p>
          <a:p>
            <a:pPr>
              <a:spcAft>
                <a:spcPts val="900"/>
              </a:spcAft>
            </a:pPr>
            <a:r>
              <a:rPr sz="1800" b="1" i="0">
                <a:solidFill>
                  <a:srgbClr val="E8801A"/>
                </a:solidFill>
                <a:latin typeface="Montserrat"/>
              </a:rPr>
              <a:t>03   </a:t>
            </a:r>
            <a:r>
              <a:rPr sz="1700" b="0" i="0">
                <a:solidFill>
                  <a:srgbClr val="1B2330"/>
                </a:solidFill>
                <a:latin typeface="Montserrat"/>
              </a:rPr>
              <a:t>Conducidos vs. carné</a:t>
            </a:r>
          </a:p>
          <a:p>
            <a:pPr>
              <a:spcAft>
                <a:spcPts val="900"/>
              </a:spcAft>
            </a:pPr>
            <a:r>
              <a:rPr sz="1800" b="1" i="0">
                <a:solidFill>
                  <a:srgbClr val="E8801A"/>
                </a:solidFill>
                <a:latin typeface="Montserrat"/>
              </a:rPr>
              <a:t>04   </a:t>
            </a:r>
            <a:r>
              <a:rPr sz="1700" b="0" i="0">
                <a:solidFill>
                  <a:srgbClr val="1B2330"/>
                </a:solidFill>
                <a:latin typeface="Montserrat"/>
              </a:rPr>
              <a:t>Apartado 5.1</a:t>
            </a:r>
          </a:p>
          <a:p>
            <a:pPr>
              <a:spcAft>
                <a:spcPts val="900"/>
              </a:spcAft>
            </a:pPr>
            <a:r>
              <a:rPr sz="1800" b="1" i="0">
                <a:solidFill>
                  <a:srgbClr val="E8801A"/>
                </a:solidFill>
                <a:latin typeface="Montserrat"/>
              </a:rPr>
              <a:t>05   </a:t>
            </a:r>
            <a:r>
              <a:rPr sz="1700" b="0" i="0">
                <a:solidFill>
                  <a:srgbClr val="1B2330"/>
                </a:solidFill>
                <a:latin typeface="Montserrat"/>
              </a:rPr>
              <a:t>Apartado 5.2</a:t>
            </a:r>
          </a:p>
          <a:p>
            <a:pPr>
              <a:spcAft>
                <a:spcPts val="900"/>
              </a:spcAft>
            </a:pPr>
            <a:r>
              <a:rPr sz="1800" b="1" i="0">
                <a:solidFill>
                  <a:srgbClr val="E8801A"/>
                </a:solidFill>
                <a:latin typeface="Montserrat"/>
              </a:rPr>
              <a:t>06   </a:t>
            </a:r>
            <a:r>
              <a:rPr sz="1700" b="0" i="0">
                <a:solidFill>
                  <a:srgbClr val="1B2330"/>
                </a:solidFill>
                <a:latin typeface="Montserrat"/>
              </a:rPr>
              <a:t>Apartado 5.3.1</a:t>
            </a:r>
          </a:p>
          <a:p>
            <a:pPr>
              <a:spcAft>
                <a:spcPts val="900"/>
              </a:spcAft>
            </a:pPr>
            <a:r>
              <a:rPr sz="1800" b="1" i="0">
                <a:solidFill>
                  <a:srgbClr val="E8801A"/>
                </a:solidFill>
                <a:latin typeface="Montserrat"/>
              </a:rPr>
              <a:t>07   </a:t>
            </a:r>
            <a:r>
              <a:rPr sz="1700" b="0" i="0">
                <a:solidFill>
                  <a:srgbClr val="1B2330"/>
                </a:solidFill>
                <a:latin typeface="Montserrat"/>
              </a:rPr>
              <a:t>Apartado 5.3.2</a:t>
            </a:r>
          </a:p>
          <a:p>
            <a:pPr>
              <a:spcAft>
                <a:spcPts val="900"/>
              </a:spcAft>
            </a:pPr>
            <a:r>
              <a:rPr sz="1800" b="1" i="0">
                <a:solidFill>
                  <a:srgbClr val="E8801A"/>
                </a:solidFill>
                <a:latin typeface="Montserrat"/>
              </a:rPr>
              <a:t>08   </a:t>
            </a:r>
            <a:r>
              <a:rPr sz="1700" b="0" i="0">
                <a:solidFill>
                  <a:srgbClr val="1B2330"/>
                </a:solidFill>
                <a:latin typeface="Montserrat"/>
              </a:rPr>
              <a:t>Apartado 5.4</a:t>
            </a:r>
          </a:p>
          <a:p>
            <a:pPr>
              <a:spcAft>
                <a:spcPts val="900"/>
              </a:spcAft>
            </a:pPr>
            <a:r>
              <a:rPr sz="1800" b="1" i="0">
                <a:solidFill>
                  <a:srgbClr val="E8801A"/>
                </a:solidFill>
                <a:latin typeface="Montserrat"/>
              </a:rPr>
              <a:t>09   </a:t>
            </a:r>
            <a:r>
              <a:rPr sz="1700" b="0" i="0">
                <a:solidFill>
                  <a:srgbClr val="1B2330"/>
                </a:solidFill>
                <a:latin typeface="Montserrat"/>
              </a:rPr>
              <a:t>Apartado 5.5</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004 / 020</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05 · Aparatos de gas</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CIRCUITO DE COMBUSTIÓN</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De dónde respira y por dónde echa el humo</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Clasificación por combustión: A, B y C</a:t>
            </a:r>
          </a:p>
          <a:p>
            <a:pPr>
              <a:spcAft>
                <a:spcPts val="1100"/>
              </a:spcAft>
            </a:pPr>
            <a:r>
              <a:rPr sz="1600" b="1" i="0">
                <a:solidFill>
                  <a:srgbClr val="E8801A"/>
                </a:solidFill>
                <a:latin typeface="Montserrat"/>
              </a:rPr>
              <a:t>▸  </a:t>
            </a:r>
            <a:r>
              <a:rPr sz="1600" b="0" i="0">
                <a:solidFill>
                  <a:srgbClr val="1B2330"/>
                </a:solidFill>
                <a:latin typeface="Montserrat"/>
              </a:rPr>
              <a:t>Toma de aire y evacuación de humos</a:t>
            </a:r>
          </a:p>
          <a:p>
            <a:pPr>
              <a:spcAft>
                <a:spcPts val="1100"/>
              </a:spcAft>
            </a:pPr>
            <a:r>
              <a:rPr sz="1600" b="1" i="0">
                <a:solidFill>
                  <a:srgbClr val="E8801A"/>
                </a:solidFill>
                <a:latin typeface="Montserrat"/>
              </a:rPr>
              <a:t>▸  </a:t>
            </a:r>
            <a:r>
              <a:rPr sz="1600" b="0" i="0">
                <a:solidFill>
                  <a:srgbClr val="1B2330"/>
                </a:solidFill>
                <a:latin typeface="Montserrat"/>
              </a:rPr>
              <a:t>Materia fija de examen</a:t>
            </a:r>
          </a:p>
        </p:txBody>
      </p:sp>
      <p:sp>
        <p:nvSpPr>
          <p:cNvPr id="9" name="imgph" descr="IMGQ:condensing gas boiler flue pipe"/>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condensing gas boiler flue pipe</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005 / 020</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05 · Aparatos de gas</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TIPOS A · B · C</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Los tres tipos, uno a uno</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A: respira del local, echa al local</a:t>
            </a:r>
          </a:p>
          <a:p>
            <a:pPr>
              <a:spcAft>
                <a:spcPts val="1100"/>
              </a:spcAft>
            </a:pPr>
            <a:r>
              <a:rPr sz="1600" b="1" i="0">
                <a:solidFill>
                  <a:srgbClr val="E8801A"/>
                </a:solidFill>
                <a:latin typeface="Montserrat"/>
              </a:rPr>
              <a:t>▸  </a:t>
            </a:r>
            <a:r>
              <a:rPr sz="1600" b="0" i="0">
                <a:solidFill>
                  <a:srgbClr val="1B2330"/>
                </a:solidFill>
                <a:latin typeface="Montserrat"/>
              </a:rPr>
              <a:t>B: respira del local, echa fuera</a:t>
            </a:r>
          </a:p>
          <a:p>
            <a:pPr>
              <a:spcAft>
                <a:spcPts val="1100"/>
              </a:spcAft>
            </a:pPr>
            <a:r>
              <a:rPr sz="1600" b="1" i="0">
                <a:solidFill>
                  <a:srgbClr val="E8801A"/>
                </a:solidFill>
                <a:latin typeface="Montserrat"/>
              </a:rPr>
              <a:t>▸  </a:t>
            </a:r>
            <a:r>
              <a:rPr sz="1600" b="0" i="0">
                <a:solidFill>
                  <a:srgbClr val="1B2330"/>
                </a:solidFill>
                <a:latin typeface="Montserrat"/>
              </a:rPr>
              <a:t>C: respira de fuera, echa fuera (estanco)</a:t>
            </a:r>
          </a:p>
          <a:p>
            <a:pPr>
              <a:spcAft>
                <a:spcPts val="1100"/>
              </a:spcAft>
            </a:pPr>
            <a:r>
              <a:rPr sz="1600" b="1" i="0">
                <a:solidFill>
                  <a:srgbClr val="E8801A"/>
                </a:solidFill>
                <a:latin typeface="Montserrat"/>
              </a:rPr>
              <a:t>▸  </a:t>
            </a:r>
            <a:r>
              <a:rPr sz="1600" b="0" i="0">
                <a:solidFill>
                  <a:srgbClr val="1B2330"/>
                </a:solidFill>
                <a:latin typeface="Montserrat"/>
              </a:rPr>
              <a:t>Más aislado del local, más seguro</a:t>
            </a:r>
          </a:p>
        </p:txBody>
      </p:sp>
      <p:sp>
        <p:nvSpPr>
          <p:cNvPr id="9" name="imgph" descr="IMGQ:sealed balanced flue gas boiler"/>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sealed balanced flue gas boiler</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006 / 020</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05 · Aparatos de gas</a:t>
            </a:r>
          </a:p>
        </p:txBody>
      </p:sp>
      <p:sp>
        <p:nvSpPr>
          <p:cNvPr id="5" name="TextBox 4"/>
          <p:cNvSpPr txBox="1"/>
          <p:nvPr/>
        </p:nvSpPr>
        <p:spPr>
          <a:xfrm>
            <a:off x="822960" y="411480"/>
            <a:ext cx="10058400" cy="365760"/>
          </a:xfrm>
          <a:prstGeom prst="rect">
            <a:avLst/>
          </a:prstGeom>
          <a:noFill/>
        </p:spPr>
        <p:txBody>
          <a:bodyPr wrap="square">
            <a:spAutoFit/>
          </a:bodyPr>
          <a:lstStyle/>
          <a:p>
            <a:r>
              <a:rPr sz="1300" b="1" i="0">
                <a:solidFill>
                  <a:srgbClr val="E8801A"/>
                </a:solidFill>
                <a:latin typeface="Montserrat"/>
              </a:rPr>
              <a:t>TIPOS A · B · C</a:t>
            </a:r>
          </a:p>
        </p:txBody>
      </p:sp>
      <p:sp>
        <p:nvSpPr>
          <p:cNvPr id="6" name="TextBox 5"/>
          <p:cNvSpPr txBox="1"/>
          <p:nvPr/>
        </p:nvSpPr>
        <p:spPr>
          <a:xfrm>
            <a:off x="822960" y="777240"/>
            <a:ext cx="10515600" cy="822960"/>
          </a:xfrm>
          <a:prstGeom prst="rect">
            <a:avLst/>
          </a:prstGeom>
          <a:noFill/>
        </p:spPr>
        <p:txBody>
          <a:bodyPr wrap="square">
            <a:spAutoFit/>
          </a:bodyPr>
          <a:lstStyle/>
          <a:p>
            <a:r>
              <a:rPr sz="2600" b="1" i="0">
                <a:solidFill>
                  <a:srgbClr val="1E2761"/>
                </a:solidFill>
                <a:latin typeface="Montserrat"/>
              </a:rPr>
              <a:t>Clasificación por circuito de combustión</a:t>
            </a:r>
          </a:p>
        </p:txBody>
      </p:sp>
      <p:sp>
        <p:nvSpPr>
          <p:cNvPr id="7" name="Rectangle 6"/>
          <p:cNvSpPr/>
          <p:nvPr/>
        </p:nvSpPr>
        <p:spPr>
          <a:xfrm>
            <a:off x="868680" y="1481328"/>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8" name="Table 7"/>
          <p:cNvGraphicFramePr>
            <a:graphicFrameLocks noGrp="1"/>
          </p:cNvGraphicFramePr>
          <p:nvPr/>
        </p:nvGraphicFramePr>
        <p:xfrm>
          <a:off x="548640" y="1783080"/>
          <a:ext cx="11091672" cy="4023360"/>
        </p:xfrm>
        <a:graphic>
          <a:graphicData uri="http://schemas.openxmlformats.org/drawingml/2006/table">
            <a:tbl>
              <a:tblPr firstRow="1" bandRow="1">
                <a:tableStyleId>{5C22544A-7EE6-4342-B048-85BDC9FD1C3A}</a:tableStyleId>
              </a:tblPr>
              <a:tblGrid>
                <a:gridCol w="2218334"/>
                <a:gridCol w="2218334"/>
                <a:gridCol w="2218334"/>
                <a:gridCol w="2218334"/>
                <a:gridCol w="2218336"/>
              </a:tblGrid>
              <a:tr h="1005840">
                <a:tc>
                  <a:txBody>
                    <a:bodyPr/>
                    <a:lstStyle/>
                    <a:p>
                      <a:r>
                        <a:rPr sz="1100" b="1" i="0">
                          <a:solidFill>
                            <a:srgbClr val="FFFFFF"/>
                          </a:solidFill>
                          <a:latin typeface="Montserrat"/>
                        </a:rPr>
                        <a:t>Tipo</a:t>
                      </a:r>
                    </a:p>
                  </a:txBody>
                  <a:tcPr>
                    <a:solidFill>
                      <a:srgbClr val="1E2761"/>
                    </a:solidFill>
                  </a:tcPr>
                </a:tc>
                <a:tc>
                  <a:txBody>
                    <a:bodyPr/>
                    <a:lstStyle/>
                    <a:p>
                      <a:r>
                        <a:rPr sz="1100" b="1" i="0">
                          <a:solidFill>
                            <a:srgbClr val="FFFFFF"/>
                          </a:solidFill>
                          <a:latin typeface="Montserrat"/>
                        </a:rPr>
                        <a:t>Nombre</a:t>
                      </a:r>
                    </a:p>
                  </a:txBody>
                  <a:tcPr>
                    <a:solidFill>
                      <a:srgbClr val="1E2761"/>
                    </a:solidFill>
                  </a:tcPr>
                </a:tc>
                <a:tc>
                  <a:txBody>
                    <a:bodyPr/>
                    <a:lstStyle/>
                    <a:p>
                      <a:r>
                        <a:rPr sz="1100" b="1" i="0">
                          <a:solidFill>
                            <a:srgbClr val="FFFFFF"/>
                          </a:solidFill>
                          <a:latin typeface="Montserrat"/>
                        </a:rPr>
                        <a:t>Toma de aire</a:t>
                      </a:r>
                    </a:p>
                  </a:txBody>
                  <a:tcPr>
                    <a:solidFill>
                      <a:srgbClr val="1E2761"/>
                    </a:solidFill>
                  </a:tcPr>
                </a:tc>
                <a:tc>
                  <a:txBody>
                    <a:bodyPr/>
                    <a:lstStyle/>
                    <a:p>
                      <a:r>
                        <a:rPr sz="1100" b="1" i="0">
                          <a:solidFill>
                            <a:srgbClr val="FFFFFF"/>
                          </a:solidFill>
                          <a:latin typeface="Montserrat"/>
                        </a:rPr>
                        <a:t>Evacúa humos</a:t>
                      </a:r>
                    </a:p>
                  </a:txBody>
                  <a:tcPr>
                    <a:solidFill>
                      <a:srgbClr val="1E2761"/>
                    </a:solidFill>
                  </a:tcPr>
                </a:tc>
                <a:tc>
                  <a:txBody>
                    <a:bodyPr/>
                    <a:lstStyle/>
                    <a:p>
                      <a:r>
                        <a:rPr sz="1100" b="1" i="0">
                          <a:solidFill>
                            <a:srgbClr val="FFFFFF"/>
                          </a:solidFill>
                          <a:latin typeface="Montserrat"/>
                        </a:rPr>
                        <a:t>Ejemplos típicos</a:t>
                      </a:r>
                    </a:p>
                  </a:txBody>
                  <a:tcPr>
                    <a:solidFill>
                      <a:srgbClr val="1E2761"/>
                    </a:solidFill>
                  </a:tcPr>
                </a:tc>
              </a:tr>
              <a:tr h="1005840">
                <a:tc>
                  <a:txBody>
                    <a:bodyPr/>
                    <a:lstStyle/>
                    <a:p>
                      <a:r>
                        <a:rPr sz="1100" b="0" i="0">
                          <a:solidFill>
                            <a:srgbClr val="1B2330"/>
                          </a:solidFill>
                          <a:latin typeface="Montserrat"/>
                        </a:rPr>
                        <a:t>A</a:t>
                      </a:r>
                    </a:p>
                  </a:txBody>
                  <a:tcPr>
                    <a:solidFill>
                      <a:srgbClr val="F6F8FC"/>
                    </a:solidFill>
                  </a:tcPr>
                </a:tc>
                <a:tc>
                  <a:txBody>
                    <a:bodyPr/>
                    <a:lstStyle/>
                    <a:p>
                      <a:r>
                        <a:rPr sz="1100" b="0" i="0">
                          <a:solidFill>
                            <a:srgbClr val="1B2330"/>
                          </a:solidFill>
                          <a:latin typeface="Montserrat"/>
                        </a:rPr>
                        <a:t>No conducido</a:t>
                      </a:r>
                    </a:p>
                  </a:txBody>
                  <a:tcPr>
                    <a:solidFill>
                      <a:srgbClr val="F6F8FC"/>
                    </a:solidFill>
                  </a:tcPr>
                </a:tc>
                <a:tc>
                  <a:txBody>
                    <a:bodyPr/>
                    <a:lstStyle/>
                    <a:p>
                      <a:r>
                        <a:rPr sz="1100" b="0" i="0">
                          <a:solidFill>
                            <a:srgbClr val="1B2330"/>
                          </a:solidFill>
                          <a:latin typeface="Montserrat"/>
                        </a:rPr>
                        <a:t>Del local</a:t>
                      </a:r>
                    </a:p>
                  </a:txBody>
                  <a:tcPr>
                    <a:solidFill>
                      <a:srgbClr val="F6F8FC"/>
                    </a:solidFill>
                  </a:tcPr>
                </a:tc>
                <a:tc>
                  <a:txBody>
                    <a:bodyPr/>
                    <a:lstStyle/>
                    <a:p>
                      <a:r>
                        <a:rPr sz="1100" b="0" i="0">
                          <a:solidFill>
                            <a:srgbClr val="1B2330"/>
                          </a:solidFill>
                          <a:latin typeface="Montserrat"/>
                        </a:rPr>
                        <a:t>Al local (sin conducto de evacuación)</a:t>
                      </a:r>
                    </a:p>
                  </a:txBody>
                  <a:tcPr>
                    <a:solidFill>
                      <a:srgbClr val="F6F8FC"/>
                    </a:solidFill>
                  </a:tcPr>
                </a:tc>
                <a:tc>
                  <a:txBody>
                    <a:bodyPr/>
                    <a:lstStyle/>
                    <a:p>
                      <a:r>
                        <a:rPr sz="1100" b="0" i="0">
                          <a:solidFill>
                            <a:srgbClr val="1B2330"/>
                          </a:solidFill>
                          <a:latin typeface="Montserrat"/>
                        </a:rPr>
                        <a:t>Cocina, horno, encimera, calentadores pequeños</a:t>
                      </a:r>
                    </a:p>
                  </a:txBody>
                  <a:tcPr>
                    <a:solidFill>
                      <a:srgbClr val="F6F8FC"/>
                    </a:solidFill>
                  </a:tcPr>
                </a:tc>
              </a:tr>
              <a:tr h="1005840">
                <a:tc>
                  <a:txBody>
                    <a:bodyPr/>
                    <a:lstStyle/>
                    <a:p>
                      <a:r>
                        <a:rPr sz="1100" b="0" i="0">
                          <a:solidFill>
                            <a:srgbClr val="1B2330"/>
                          </a:solidFill>
                          <a:latin typeface="Montserrat"/>
                        </a:rPr>
                        <a:t>B</a:t>
                      </a:r>
                    </a:p>
                  </a:txBody>
                  <a:tcPr>
                    <a:solidFill>
                      <a:srgbClr val="FFFFFF"/>
                    </a:solidFill>
                  </a:tcPr>
                </a:tc>
                <a:tc>
                  <a:txBody>
                    <a:bodyPr/>
                    <a:lstStyle/>
                    <a:p>
                      <a:r>
                        <a:rPr sz="1100" b="0" i="0">
                          <a:solidFill>
                            <a:srgbClr val="1B2330"/>
                          </a:solidFill>
                          <a:latin typeface="Montserrat"/>
                        </a:rPr>
                        <a:t>Conducido de cámara abierta</a:t>
                      </a:r>
                    </a:p>
                  </a:txBody>
                  <a:tcPr>
                    <a:solidFill>
                      <a:srgbClr val="FFFFFF"/>
                    </a:solidFill>
                  </a:tcPr>
                </a:tc>
                <a:tc>
                  <a:txBody>
                    <a:bodyPr/>
                    <a:lstStyle/>
                    <a:p>
                      <a:r>
                        <a:rPr sz="1100" b="0" i="0">
                          <a:solidFill>
                            <a:srgbClr val="1B2330"/>
                          </a:solidFill>
                          <a:latin typeface="Montserrat"/>
                        </a:rPr>
                        <a:t>Del local</a:t>
                      </a:r>
                    </a:p>
                  </a:txBody>
                  <a:tcPr>
                    <a:solidFill>
                      <a:srgbClr val="FFFFFF"/>
                    </a:solidFill>
                  </a:tcPr>
                </a:tc>
                <a:tc>
                  <a:txBody>
                    <a:bodyPr/>
                    <a:lstStyle/>
                    <a:p>
                      <a:r>
                        <a:rPr sz="1100" b="0" i="0">
                          <a:solidFill>
                            <a:srgbClr val="1B2330"/>
                          </a:solidFill>
                          <a:latin typeface="Montserrat"/>
                        </a:rPr>
                        <a:t>Al exterior por conducto de humos</a:t>
                      </a:r>
                    </a:p>
                  </a:txBody>
                  <a:tcPr>
                    <a:solidFill>
                      <a:srgbClr val="FFFFFF"/>
                    </a:solidFill>
                  </a:tcPr>
                </a:tc>
                <a:tc>
                  <a:txBody>
                    <a:bodyPr/>
                    <a:lstStyle/>
                    <a:p>
                      <a:r>
                        <a:rPr sz="1100" b="0" i="0">
                          <a:solidFill>
                            <a:srgbClr val="1B2330"/>
                          </a:solidFill>
                          <a:latin typeface="Montserrat"/>
                        </a:rPr>
                        <a:t>Calentador atmosférico, caldera atmosférica</a:t>
                      </a:r>
                    </a:p>
                  </a:txBody>
                  <a:tcPr>
                    <a:solidFill>
                      <a:srgbClr val="FFFFFF"/>
                    </a:solidFill>
                  </a:tcPr>
                </a:tc>
              </a:tr>
              <a:tr h="1005840">
                <a:tc>
                  <a:txBody>
                    <a:bodyPr/>
                    <a:lstStyle/>
                    <a:p>
                      <a:r>
                        <a:rPr sz="1100" b="0" i="0">
                          <a:solidFill>
                            <a:srgbClr val="1B2330"/>
                          </a:solidFill>
                          <a:latin typeface="Montserrat"/>
                        </a:rPr>
                        <a:t>C</a:t>
                      </a:r>
                    </a:p>
                  </a:txBody>
                  <a:tcPr>
                    <a:solidFill>
                      <a:srgbClr val="F6F8FC"/>
                    </a:solidFill>
                  </a:tcPr>
                </a:tc>
                <a:tc>
                  <a:txBody>
                    <a:bodyPr/>
                    <a:lstStyle/>
                    <a:p>
                      <a:r>
                        <a:rPr sz="1100" b="0" i="0">
                          <a:solidFill>
                            <a:srgbClr val="1B2330"/>
                          </a:solidFill>
                          <a:latin typeface="Montserrat"/>
                        </a:rPr>
                        <a:t>Estanco</a:t>
                      </a:r>
                    </a:p>
                  </a:txBody>
                  <a:tcPr>
                    <a:solidFill>
                      <a:srgbClr val="F6F8FC"/>
                    </a:solidFill>
                  </a:tcPr>
                </a:tc>
                <a:tc>
                  <a:txBody>
                    <a:bodyPr/>
                    <a:lstStyle/>
                    <a:p>
                      <a:r>
                        <a:rPr sz="1100" b="0" i="0">
                          <a:solidFill>
                            <a:srgbClr val="1B2330"/>
                          </a:solidFill>
                          <a:latin typeface="Montserrat"/>
                        </a:rPr>
                        <a:t>Del exterior</a:t>
                      </a:r>
                    </a:p>
                  </a:txBody>
                  <a:tcPr>
                    <a:solidFill>
                      <a:srgbClr val="F6F8FC"/>
                    </a:solidFill>
                  </a:tcPr>
                </a:tc>
                <a:tc>
                  <a:txBody>
                    <a:bodyPr/>
                    <a:lstStyle/>
                    <a:p>
                      <a:r>
                        <a:rPr sz="1100" b="0" i="0">
                          <a:solidFill>
                            <a:srgbClr val="1B2330"/>
                          </a:solidFill>
                          <a:latin typeface="Montserrat"/>
                        </a:rPr>
                        <a:t>Al exterior (circuito estanco respecto al local)</a:t>
                      </a:r>
                    </a:p>
                  </a:txBody>
                  <a:tcPr>
                    <a:solidFill>
                      <a:srgbClr val="F6F8FC"/>
                    </a:solidFill>
                  </a:tcPr>
                </a:tc>
                <a:tc>
                  <a:txBody>
                    <a:bodyPr/>
                    <a:lstStyle/>
                    <a:p>
                      <a:r>
                        <a:rPr sz="1100" b="0" i="0">
                          <a:solidFill>
                            <a:srgbClr val="1B2330"/>
                          </a:solidFill>
                          <a:latin typeface="Montserrat"/>
                        </a:rPr>
                        <a:t>Caldera estanca, caldera de condensación estanca</a:t>
                      </a:r>
                    </a:p>
                  </a:txBody>
                  <a:tcPr>
                    <a:solidFill>
                      <a:srgbClr val="F6F8FC"/>
                    </a:solidFill>
                  </a:tcPr>
                </a:tc>
              </a:tr>
            </a:tbl>
          </a:graphicData>
        </a:graphic>
      </p:graphicFrame>
      <p:sp>
        <p:nvSpPr>
          <p:cNvPr id="9" name="Rounded Rectangle 8"/>
          <p:cNvSpPr/>
          <p:nvPr/>
        </p:nvSpPr>
        <p:spPr>
          <a:xfrm>
            <a:off x="548640" y="5943600"/>
            <a:ext cx="11091672" cy="384048"/>
          </a:xfrm>
          <a:prstGeom prst="roundRect">
            <a:avLst/>
          </a:prstGeom>
          <a:solidFill>
            <a:srgbClr val="F3F6FB"/>
          </a:solidFill>
          <a:ln w="1270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5961888"/>
            <a:ext cx="10789920" cy="365760"/>
          </a:xfrm>
          <a:prstGeom prst="rect">
            <a:avLst/>
          </a:prstGeom>
          <a:noFill/>
        </p:spPr>
        <p:txBody>
          <a:bodyPr wrap="square">
            <a:spAutoFit/>
          </a:bodyPr>
          <a:lstStyle/>
          <a:p>
            <a:r>
              <a:rPr sz="1100" b="1" i="0">
                <a:solidFill>
                  <a:srgbClr val="E8801A"/>
                </a:solidFill>
                <a:latin typeface="Montserrat"/>
              </a:rPr>
              <a:t>Qué significa:  </a:t>
            </a:r>
            <a:r>
              <a:rPr sz="1100" b="0" i="0">
                <a:solidFill>
                  <a:srgbClr val="1B2330"/>
                </a:solidFill>
                <a:latin typeface="Montserrat"/>
              </a:rPr>
              <a:t>Los tipos B y C son los aparatos conducidos: van unidos a un conducto de evacuación de los humos.</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007 / 020</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05 · Aparatos de gas</a:t>
            </a:r>
          </a:p>
        </p:txBody>
      </p:sp>
      <p:sp>
        <p:nvSpPr>
          <p:cNvPr id="5" name="Rectangle 4"/>
          <p:cNvSpPr/>
          <p:nvPr/>
        </p:nvSpPr>
        <p:spPr>
          <a:xfrm>
            <a:off x="0" y="0"/>
            <a:ext cx="12191695" cy="1143000"/>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74320"/>
            <a:ext cx="10515600" cy="640080"/>
          </a:xfrm>
          <a:prstGeom prst="rect">
            <a:avLst/>
          </a:prstGeom>
          <a:noFill/>
        </p:spPr>
        <p:txBody>
          <a:bodyPr wrap="square">
            <a:spAutoFit/>
          </a:bodyPr>
          <a:lstStyle/>
          <a:p>
            <a:r>
              <a:rPr sz="2400" b="1" i="0">
                <a:solidFill>
                  <a:srgbClr val="FFFFFF"/>
                </a:solidFill>
                <a:latin typeface="Montserrat"/>
              </a:rPr>
              <a:t>⚡  PREGUNTA RÁPIDA</a:t>
            </a:r>
          </a:p>
        </p:txBody>
      </p:sp>
      <p:sp>
        <p:nvSpPr>
          <p:cNvPr id="7" name="TextBox 6"/>
          <p:cNvSpPr txBox="1"/>
          <p:nvPr/>
        </p:nvSpPr>
        <p:spPr>
          <a:xfrm>
            <a:off x="822960" y="1508760"/>
            <a:ext cx="10515600" cy="1371600"/>
          </a:xfrm>
          <a:prstGeom prst="rect">
            <a:avLst/>
          </a:prstGeom>
          <a:noFill/>
        </p:spPr>
        <p:txBody>
          <a:bodyPr wrap="square">
            <a:spAutoFit/>
          </a:bodyPr>
          <a:lstStyle/>
          <a:p>
            <a:r>
              <a:rPr sz="2400" b="1" i="0">
                <a:solidFill>
                  <a:srgbClr val="1E2761"/>
                </a:solidFill>
                <a:latin typeface="Montserrat"/>
              </a:rPr>
              <a:t>¿Qué tipos de aparato son los que la ITC llama conducidos?</a:t>
            </a:r>
          </a:p>
        </p:txBody>
      </p:sp>
      <p:sp>
        <p:nvSpPr>
          <p:cNvPr id="8" name="Rounded Rectangle 7"/>
          <p:cNvSpPr/>
          <p:nvPr/>
        </p:nvSpPr>
        <p:spPr>
          <a:xfrm>
            <a:off x="822960" y="329184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22960" y="329184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3611880"/>
            <a:ext cx="640080" cy="548640"/>
          </a:xfrm>
          <a:prstGeom prst="rect">
            <a:avLst/>
          </a:prstGeom>
          <a:noFill/>
        </p:spPr>
        <p:txBody>
          <a:bodyPr wrap="square">
            <a:spAutoFit/>
          </a:bodyPr>
          <a:lstStyle/>
          <a:p>
            <a:pPr algn="ctr"/>
            <a:r>
              <a:rPr sz="2200" b="1" i="0">
                <a:solidFill>
                  <a:srgbClr val="FFFFFF"/>
                </a:solidFill>
                <a:latin typeface="Montserrat"/>
              </a:rPr>
              <a:t>A</a:t>
            </a:r>
          </a:p>
        </p:txBody>
      </p:sp>
      <p:sp>
        <p:nvSpPr>
          <p:cNvPr id="11" name="TextBox 10"/>
          <p:cNvSpPr txBox="1"/>
          <p:nvPr/>
        </p:nvSpPr>
        <p:spPr>
          <a:xfrm>
            <a:off x="1600200" y="3474720"/>
            <a:ext cx="4114800" cy="868680"/>
          </a:xfrm>
          <a:prstGeom prst="rect">
            <a:avLst/>
          </a:prstGeom>
          <a:noFill/>
        </p:spPr>
        <p:txBody>
          <a:bodyPr wrap="square">
            <a:spAutoFit/>
          </a:bodyPr>
          <a:lstStyle/>
          <a:p>
            <a:r>
              <a:rPr sz="1400" b="0" i="0">
                <a:solidFill>
                  <a:srgbClr val="1B2330"/>
                </a:solidFill>
                <a:latin typeface="Montserrat"/>
              </a:rPr>
              <a:t>Solo el tipo A, el no conducido</a:t>
            </a:r>
          </a:p>
        </p:txBody>
      </p:sp>
      <p:sp>
        <p:nvSpPr>
          <p:cNvPr id="12" name="Rounded Rectangle 11"/>
          <p:cNvSpPr/>
          <p:nvPr/>
        </p:nvSpPr>
        <p:spPr>
          <a:xfrm>
            <a:off x="6355080" y="329184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80" y="329184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3611880"/>
            <a:ext cx="640080" cy="548640"/>
          </a:xfrm>
          <a:prstGeom prst="rect">
            <a:avLst/>
          </a:prstGeom>
          <a:noFill/>
        </p:spPr>
        <p:txBody>
          <a:bodyPr wrap="square">
            <a:spAutoFit/>
          </a:bodyPr>
          <a:lstStyle/>
          <a:p>
            <a:pPr algn="ctr"/>
            <a:r>
              <a:rPr sz="2200" b="1" i="0">
                <a:solidFill>
                  <a:srgbClr val="FFFFFF"/>
                </a:solidFill>
                <a:latin typeface="Montserrat"/>
              </a:rPr>
              <a:t>B</a:t>
            </a:r>
          </a:p>
        </p:txBody>
      </p:sp>
      <p:sp>
        <p:nvSpPr>
          <p:cNvPr id="15" name="TextBox 14"/>
          <p:cNvSpPr txBox="1"/>
          <p:nvPr/>
        </p:nvSpPr>
        <p:spPr>
          <a:xfrm>
            <a:off x="7132320" y="3474720"/>
            <a:ext cx="4114800" cy="868680"/>
          </a:xfrm>
          <a:prstGeom prst="rect">
            <a:avLst/>
          </a:prstGeom>
          <a:noFill/>
        </p:spPr>
        <p:txBody>
          <a:bodyPr wrap="square">
            <a:spAutoFit/>
          </a:bodyPr>
          <a:lstStyle/>
          <a:p>
            <a:r>
              <a:rPr sz="1400" b="0" i="0">
                <a:solidFill>
                  <a:srgbClr val="1B2330"/>
                </a:solidFill>
                <a:latin typeface="Montserrat"/>
              </a:rPr>
              <a:t>Los tipos B y C, unidos a conducto</a:t>
            </a:r>
          </a:p>
        </p:txBody>
      </p:sp>
      <p:sp>
        <p:nvSpPr>
          <p:cNvPr id="16" name="Rounded Rectangle 15"/>
          <p:cNvSpPr/>
          <p:nvPr/>
        </p:nvSpPr>
        <p:spPr>
          <a:xfrm>
            <a:off x="822960" y="461772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22960" y="461772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4937760"/>
            <a:ext cx="640080" cy="548640"/>
          </a:xfrm>
          <a:prstGeom prst="rect">
            <a:avLst/>
          </a:prstGeom>
          <a:noFill/>
        </p:spPr>
        <p:txBody>
          <a:bodyPr wrap="square">
            <a:spAutoFit/>
          </a:bodyPr>
          <a:lstStyle/>
          <a:p>
            <a:pPr algn="ctr"/>
            <a:r>
              <a:rPr sz="2200" b="1" i="0">
                <a:solidFill>
                  <a:srgbClr val="FFFFFF"/>
                </a:solidFill>
                <a:latin typeface="Montserrat"/>
              </a:rPr>
              <a:t>C</a:t>
            </a:r>
          </a:p>
        </p:txBody>
      </p:sp>
      <p:sp>
        <p:nvSpPr>
          <p:cNvPr id="19" name="TextBox 18"/>
          <p:cNvSpPr txBox="1"/>
          <p:nvPr/>
        </p:nvSpPr>
        <p:spPr>
          <a:xfrm>
            <a:off x="1600200" y="4800600"/>
            <a:ext cx="4114800" cy="868680"/>
          </a:xfrm>
          <a:prstGeom prst="rect">
            <a:avLst/>
          </a:prstGeom>
          <a:noFill/>
        </p:spPr>
        <p:txBody>
          <a:bodyPr wrap="square">
            <a:spAutoFit/>
          </a:bodyPr>
          <a:lstStyle/>
          <a:p>
            <a:r>
              <a:rPr sz="1400" b="0" i="0">
                <a:solidFill>
                  <a:srgbClr val="1B2330"/>
                </a:solidFill>
                <a:latin typeface="Montserrat"/>
              </a:rPr>
              <a:t>Solo el tipo C, el estanco</a:t>
            </a:r>
          </a:p>
        </p:txBody>
      </p:sp>
      <p:sp>
        <p:nvSpPr>
          <p:cNvPr id="20" name="Rounded Rectangle 19"/>
          <p:cNvSpPr/>
          <p:nvPr/>
        </p:nvSpPr>
        <p:spPr>
          <a:xfrm>
            <a:off x="6355080" y="461772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80" y="461772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55080" y="4937760"/>
            <a:ext cx="640080" cy="548640"/>
          </a:xfrm>
          <a:prstGeom prst="rect">
            <a:avLst/>
          </a:prstGeom>
          <a:noFill/>
        </p:spPr>
        <p:txBody>
          <a:bodyPr wrap="square">
            <a:spAutoFit/>
          </a:bodyPr>
          <a:lstStyle/>
          <a:p>
            <a:pPr algn="ctr"/>
            <a:r>
              <a:rPr sz="2200" b="1" i="0">
                <a:solidFill>
                  <a:srgbClr val="FFFFFF"/>
                </a:solidFill>
                <a:latin typeface="Montserrat"/>
              </a:rPr>
              <a:t>D</a:t>
            </a:r>
          </a:p>
        </p:txBody>
      </p:sp>
      <p:sp>
        <p:nvSpPr>
          <p:cNvPr id="23" name="TextBox 22"/>
          <p:cNvSpPr txBox="1"/>
          <p:nvPr/>
        </p:nvSpPr>
        <p:spPr>
          <a:xfrm>
            <a:off x="7132320" y="4800600"/>
            <a:ext cx="4114800" cy="868680"/>
          </a:xfrm>
          <a:prstGeom prst="rect">
            <a:avLst/>
          </a:prstGeom>
          <a:noFill/>
        </p:spPr>
        <p:txBody>
          <a:bodyPr wrap="square">
            <a:spAutoFit/>
          </a:bodyPr>
          <a:lstStyle/>
          <a:p>
            <a:r>
              <a:rPr sz="1400" b="0" i="0">
                <a:solidFill>
                  <a:srgbClr val="1B2330"/>
                </a:solidFill>
                <a:latin typeface="Montserrat"/>
              </a:rPr>
              <a:t>Los tipos A y B, de cámara abierta</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008 / 020</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05 · Aparatos de gas</a:t>
            </a:r>
          </a:p>
        </p:txBody>
      </p:sp>
      <p:sp>
        <p:nvSpPr>
          <p:cNvPr id="5" name="Rectangle 4"/>
          <p:cNvSpPr/>
          <p:nvPr/>
        </p:nvSpPr>
        <p:spPr>
          <a:xfrm>
            <a:off x="0" y="0"/>
            <a:ext cx="12191695" cy="1143000"/>
          </a:xfrm>
          <a:prstGeom prst="rect">
            <a:avLst/>
          </a:prstGeom>
          <a:solidFill>
            <a:srgbClr val="1E8E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74320"/>
            <a:ext cx="10515600" cy="640080"/>
          </a:xfrm>
          <a:prstGeom prst="rect">
            <a:avLst/>
          </a:prstGeom>
          <a:noFill/>
        </p:spPr>
        <p:txBody>
          <a:bodyPr wrap="square">
            <a:spAutoFit/>
          </a:bodyPr>
          <a:lstStyle/>
          <a:p>
            <a:r>
              <a:rPr sz="2400" b="1" i="0">
                <a:solidFill>
                  <a:srgbClr val="FFFFFF"/>
                </a:solidFill>
                <a:latin typeface="Montserrat"/>
              </a:rPr>
              <a:t>✔  RESPUESTA:  B</a:t>
            </a:r>
          </a:p>
        </p:txBody>
      </p:sp>
      <p:sp>
        <p:nvSpPr>
          <p:cNvPr id="7" name="TextBox 6"/>
          <p:cNvSpPr txBox="1"/>
          <p:nvPr/>
        </p:nvSpPr>
        <p:spPr>
          <a:xfrm>
            <a:off x="822960" y="1417320"/>
            <a:ext cx="10515600" cy="914400"/>
          </a:xfrm>
          <a:prstGeom prst="rect">
            <a:avLst/>
          </a:prstGeom>
          <a:noFill/>
        </p:spPr>
        <p:txBody>
          <a:bodyPr wrap="square">
            <a:spAutoFit/>
          </a:bodyPr>
          <a:lstStyle/>
          <a:p>
            <a:r>
              <a:rPr sz="1800" b="1" i="0">
                <a:solidFill>
                  <a:srgbClr val="64748B"/>
                </a:solidFill>
                <a:latin typeface="Montserrat"/>
              </a:rPr>
              <a:t>¿Qué tipos de aparato son los que la ITC llama conducidos?</a:t>
            </a:r>
          </a:p>
        </p:txBody>
      </p:sp>
      <p:sp>
        <p:nvSpPr>
          <p:cNvPr id="8" name="Rounded Rectangle 7"/>
          <p:cNvSpPr/>
          <p:nvPr/>
        </p:nvSpPr>
        <p:spPr>
          <a:xfrm>
            <a:off x="822960" y="2514600"/>
            <a:ext cx="10515600" cy="914400"/>
          </a:xfrm>
          <a:prstGeom prst="roundRect">
            <a:avLst/>
          </a:prstGeom>
          <a:solidFill>
            <a:srgbClr val="E9F6EE"/>
          </a:solidFill>
          <a:ln w="12700">
            <a:solidFill>
              <a:srgbClr val="1E8E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697480"/>
            <a:ext cx="10058400" cy="640080"/>
          </a:xfrm>
          <a:prstGeom prst="rect">
            <a:avLst/>
          </a:prstGeom>
          <a:noFill/>
        </p:spPr>
        <p:txBody>
          <a:bodyPr wrap="square">
            <a:spAutoFit/>
          </a:bodyPr>
          <a:lstStyle/>
          <a:p>
            <a:r>
              <a:rPr sz="1800" b="1" i="0">
                <a:solidFill>
                  <a:srgbClr val="1E8E4B"/>
                </a:solidFill>
                <a:latin typeface="Montserrat"/>
              </a:rPr>
              <a:t>B.  </a:t>
            </a:r>
            <a:r>
              <a:rPr sz="1800" b="1" i="0">
                <a:solidFill>
                  <a:srgbClr val="1E2761"/>
                </a:solidFill>
                <a:latin typeface="Montserrat"/>
              </a:rPr>
              <a:t>Los tipos B y C, unidos a conducto</a:t>
            </a:r>
          </a:p>
        </p:txBody>
      </p:sp>
      <p:sp>
        <p:nvSpPr>
          <p:cNvPr id="10" name="TextBox 9"/>
          <p:cNvSpPr txBox="1"/>
          <p:nvPr/>
        </p:nvSpPr>
        <p:spPr>
          <a:xfrm>
            <a:off x="822960" y="3749039"/>
            <a:ext cx="10515600" cy="2194560"/>
          </a:xfrm>
          <a:prstGeom prst="rect">
            <a:avLst/>
          </a:prstGeom>
          <a:noFill/>
        </p:spPr>
        <p:txBody>
          <a:bodyPr wrap="square">
            <a:spAutoFit/>
          </a:bodyPr>
          <a:lstStyle/>
          <a:p>
            <a:r>
              <a:rPr sz="1500" b="1" i="0">
                <a:solidFill>
                  <a:srgbClr val="E8801A"/>
                </a:solidFill>
                <a:latin typeface="Montserrat"/>
              </a:rPr>
              <a:t>Por qué:  </a:t>
            </a:r>
            <a:r>
              <a:rPr sz="1500" b="0" i="0">
                <a:solidFill>
                  <a:srgbClr val="1B2330"/>
                </a:solidFill>
                <a:latin typeface="Montserrat"/>
              </a:rPr>
              <a:t>Los aparatos de tipo B y C van unidos a un conducto de evacuación de los productos de la combustión; el A no tiene conducto y devuelve los humos al local.</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009 / 020</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05 · Aparatos de gas</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CONDUCIDOS VS. CARNÉ</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No confundas tipo con categoría</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B y C = aparatos conducidos</a:t>
            </a:r>
          </a:p>
          <a:p>
            <a:pPr>
              <a:spcAft>
                <a:spcPts val="1100"/>
              </a:spcAft>
            </a:pPr>
            <a:r>
              <a:rPr sz="1600" b="1" i="0">
                <a:solidFill>
                  <a:srgbClr val="E8801A"/>
                </a:solidFill>
                <a:latin typeface="Montserrat"/>
              </a:rPr>
              <a:t>▸  </a:t>
            </a:r>
            <a:r>
              <a:rPr sz="1600" b="0" i="0">
                <a:solidFill>
                  <a:srgbClr val="1B2330"/>
                </a:solidFill>
                <a:latin typeface="Montserrat"/>
              </a:rPr>
              <a:t>Tipo A/B/C = cómo quema el aparato</a:t>
            </a:r>
          </a:p>
          <a:p>
            <a:pPr>
              <a:spcAft>
                <a:spcPts val="1100"/>
              </a:spcAft>
            </a:pPr>
            <a:r>
              <a:rPr sz="1600" b="1" i="0">
                <a:solidFill>
                  <a:srgbClr val="E8801A"/>
                </a:solidFill>
                <a:latin typeface="Montserrat"/>
              </a:rPr>
              <a:t>▸  </a:t>
            </a:r>
            <a:r>
              <a:rPr sz="1600" b="0" i="0">
                <a:solidFill>
                  <a:srgbClr val="1B2330"/>
                </a:solidFill>
                <a:latin typeface="Montserrat"/>
              </a:rPr>
              <a:t>Categoría A/B/C = carné del instalador</a:t>
            </a:r>
          </a:p>
          <a:p>
            <a:pPr>
              <a:spcAft>
                <a:spcPts val="1100"/>
              </a:spcAft>
            </a:pPr>
            <a:r>
              <a:rPr sz="1600" b="1" i="0">
                <a:solidFill>
                  <a:srgbClr val="E8801A"/>
                </a:solidFill>
                <a:latin typeface="Montserrat"/>
              </a:rPr>
              <a:t>▸  </a:t>
            </a:r>
            <a:r>
              <a:rPr sz="1600" b="0" i="0">
                <a:solidFill>
                  <a:srgbClr val="1B2330"/>
                </a:solidFill>
                <a:latin typeface="Montserrat"/>
              </a:rPr>
              <a:t>Con categoría B trabajas tipos A, B o C</a:t>
            </a:r>
          </a:p>
        </p:txBody>
      </p:sp>
      <p:sp>
        <p:nvSpPr>
          <p:cNvPr id="9" name="imgph" descr="IMGQ:gas installer certification card"/>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gas installer certification card</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010 / 020</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05 · Aparatos de gas</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APARTADO 5.1 · AUTORIZACIÓN</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Instalar un aparato no pide permiso</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No precisa autorización administrativa</a:t>
            </a:r>
          </a:p>
          <a:p>
            <a:pPr>
              <a:spcAft>
                <a:spcPts val="1100"/>
              </a:spcAft>
            </a:pPr>
            <a:r>
              <a:rPr sz="1600" b="1" i="0">
                <a:solidFill>
                  <a:srgbClr val="E8801A"/>
                </a:solidFill>
                <a:latin typeface="Montserrat"/>
              </a:rPr>
              <a:t>▸  </a:t>
            </a:r>
            <a:r>
              <a:rPr sz="1600" b="0" i="0">
                <a:solidFill>
                  <a:srgbClr val="1B2330"/>
                </a:solidFill>
                <a:latin typeface="Montserrat"/>
              </a:rPr>
              <a:t>En gas: hacer y, si toca, comunicar</a:t>
            </a:r>
          </a:p>
          <a:p>
            <a:pPr>
              <a:spcAft>
                <a:spcPts val="1100"/>
              </a:spcAft>
            </a:pPr>
            <a:r>
              <a:rPr sz="1600" b="1" i="0">
                <a:solidFill>
                  <a:srgbClr val="E8801A"/>
                </a:solidFill>
                <a:latin typeface="Montserrat"/>
              </a:rPr>
              <a:t>▸  </a:t>
            </a:r>
            <a:r>
              <a:rPr sz="1600" b="0" i="0">
                <a:solidFill>
                  <a:srgbClr val="1B2330"/>
                </a:solidFill>
                <a:latin typeface="Montserrat"/>
              </a:rPr>
              <a:t>Aquí ni siquiera hay que comunicar</a:t>
            </a:r>
          </a:p>
        </p:txBody>
      </p:sp>
      <p:sp>
        <p:nvSpPr>
          <p:cNvPr id="9" name="imgph" descr="IMGQ:gas boiler wall mounted kitchen"/>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gas boiler wall mounted kitchen</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011 / 020</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05 · Aparatos de gas</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APARTADO 5.2 · CONEXIÓN</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Quién conecta el aparato</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Regla: siempre un instalador</a:t>
            </a:r>
          </a:p>
          <a:p>
            <a:pPr>
              <a:spcAft>
                <a:spcPts val="1100"/>
              </a:spcAft>
            </a:pPr>
            <a:r>
              <a:rPr sz="1600" b="1" i="0">
                <a:solidFill>
                  <a:srgbClr val="E8801A"/>
                </a:solidFill>
                <a:latin typeface="Montserrat"/>
              </a:rPr>
              <a:t>▸  </a:t>
            </a:r>
            <a:r>
              <a:rPr sz="1600" b="0" i="0">
                <a:solidFill>
                  <a:srgbClr val="1B2330"/>
                </a:solidFill>
                <a:latin typeface="Montserrat"/>
              </a:rPr>
              <a:t>Conexión según UNE 60670-7</a:t>
            </a:r>
          </a:p>
          <a:p>
            <a:pPr>
              <a:spcAft>
                <a:spcPts val="1100"/>
              </a:spcAft>
            </a:pPr>
            <a:r>
              <a:rPr sz="1600" b="1" i="0">
                <a:solidFill>
                  <a:srgbClr val="E8801A"/>
                </a:solidFill>
                <a:latin typeface="Montserrat"/>
              </a:rPr>
              <a:t>▸  </a:t>
            </a:r>
            <a:r>
              <a:rPr sz="1600" b="0" i="0">
                <a:solidFill>
                  <a:srgbClr val="1B2330"/>
                </a:solidFill>
                <a:latin typeface="Montserrat"/>
              </a:rPr>
              <a:t>Excepción: tubo flexible con abrazadera</a:t>
            </a:r>
          </a:p>
          <a:p>
            <a:pPr>
              <a:spcAft>
                <a:spcPts val="1100"/>
              </a:spcAft>
            </a:pPr>
            <a:r>
              <a:rPr sz="1600" b="1" i="0">
                <a:solidFill>
                  <a:srgbClr val="E8801A"/>
                </a:solidFill>
                <a:latin typeface="Montserrat"/>
              </a:rPr>
              <a:t>▸  </a:t>
            </a:r>
            <a:r>
              <a:rPr sz="1600" b="0" i="0">
                <a:solidFill>
                  <a:srgbClr val="1B2330"/>
                </a:solidFill>
                <a:latin typeface="Montserrat"/>
              </a:rPr>
              <a:t>Ese lo puede poner el usuario</a:t>
            </a:r>
          </a:p>
        </p:txBody>
      </p:sp>
      <p:sp>
        <p:nvSpPr>
          <p:cNvPr id="9" name="imgph" descr="IMGQ:flexible gas hose stove connection"/>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flexible gas hose stove connection</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012 / 020</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05 · Aparatos de gas</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APARTADO 5.2 · NO CONECTADOS</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Los aparatos sueltos</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No conectados a instalación receptora</a:t>
            </a:r>
          </a:p>
          <a:p>
            <a:pPr>
              <a:spcAft>
                <a:spcPts val="1100"/>
              </a:spcAft>
            </a:pPr>
            <a:r>
              <a:rPr sz="1600" b="1" i="0">
                <a:solidFill>
                  <a:srgbClr val="E8801A"/>
                </a:solidFill>
                <a:latin typeface="Montserrat"/>
              </a:rPr>
              <a:t>▸  </a:t>
            </a:r>
            <a:r>
              <a:rPr sz="1600" b="0" i="0">
                <a:solidFill>
                  <a:srgbClr val="1B2330"/>
                </a:solidFill>
                <a:latin typeface="Montserrat"/>
              </a:rPr>
              <a:t>Condiciones de ubicación: UNE 60670-6</a:t>
            </a:r>
          </a:p>
          <a:p>
            <a:pPr>
              <a:spcAft>
                <a:spcPts val="1100"/>
              </a:spcAft>
            </a:pPr>
            <a:r>
              <a:rPr sz="1600" b="1" i="0">
                <a:solidFill>
                  <a:srgbClr val="E8801A"/>
                </a:solidFill>
                <a:latin typeface="Montserrat"/>
              </a:rPr>
              <a:t>▸  </a:t>
            </a:r>
            <a:r>
              <a:rPr sz="1600" b="0" i="0">
                <a:solidFill>
                  <a:srgbClr val="1B2330"/>
                </a:solidFill>
                <a:latin typeface="Montserrat"/>
              </a:rPr>
              <a:t>Regla: conectado → 7; suelto → 6</a:t>
            </a:r>
          </a:p>
        </p:txBody>
      </p:sp>
      <p:sp>
        <p:nvSpPr>
          <p:cNvPr id="9" name="imgph" descr="IMGQ:portable gas heater room"/>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portable gas heater room</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013 / 020</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05 · Aparatos de gas</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APARTADO 5.3.1 · QUIÉN ARRANCA</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El umbral de los 24,4 kW</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Conducidos (B y C) de más de 24,4 kW</a:t>
            </a:r>
          </a:p>
          <a:p>
            <a:pPr>
              <a:spcAft>
                <a:spcPts val="1100"/>
              </a:spcAft>
            </a:pPr>
            <a:r>
              <a:rPr sz="1600" b="1" i="0">
                <a:solidFill>
                  <a:srgbClr val="E8801A"/>
                </a:solidFill>
                <a:latin typeface="Montserrat"/>
              </a:rPr>
              <a:t>▸  </a:t>
            </a:r>
            <a:r>
              <a:rPr sz="1600" b="0" i="0">
                <a:solidFill>
                  <a:srgbClr val="1B2330"/>
                </a:solidFill>
                <a:latin typeface="Montserrat"/>
              </a:rPr>
              <a:t>Y vitrocerámicas de fuegos cubiertos</a:t>
            </a:r>
          </a:p>
          <a:p>
            <a:pPr>
              <a:spcAft>
                <a:spcPts val="1100"/>
              </a:spcAft>
            </a:pPr>
            <a:r>
              <a:rPr sz="1600" b="1" i="0">
                <a:solidFill>
                  <a:srgbClr val="E8801A"/>
                </a:solidFill>
                <a:latin typeface="Montserrat"/>
              </a:rPr>
              <a:t>▸  </a:t>
            </a:r>
            <a:r>
              <a:rPr sz="1600" b="0" i="0">
                <a:solidFill>
                  <a:srgbClr val="1B2330"/>
                </a:solidFill>
                <a:latin typeface="Montserrat"/>
              </a:rPr>
              <a:t>Solo SAT certificado o instalador cualificado</a:t>
            </a:r>
          </a:p>
          <a:p>
            <a:pPr>
              <a:spcAft>
                <a:spcPts val="1100"/>
              </a:spcAft>
            </a:pPr>
            <a:r>
              <a:rPr sz="1600" b="1" i="0">
                <a:solidFill>
                  <a:srgbClr val="E8801A"/>
                </a:solidFill>
                <a:latin typeface="Montserrat"/>
              </a:rPr>
              <a:t>▸  </a:t>
            </a:r>
            <a:r>
              <a:rPr sz="1600" b="0" i="0">
                <a:solidFill>
                  <a:srgbClr val="1B2330"/>
                </a:solidFill>
                <a:latin typeface="Montserrat"/>
              </a:rPr>
              <a:t>El resto: SAT o empresa instaladora</a:t>
            </a:r>
          </a:p>
        </p:txBody>
      </p:sp>
      <p:sp>
        <p:nvSpPr>
          <p:cNvPr id="9" name="imgph" descr="IMGQ:technician servicing gas boiler"/>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technician servicing gas boiler</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014 / 020</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05 · Aparatos de gas</a:t>
            </a:r>
          </a:p>
        </p:txBody>
      </p:sp>
      <p:sp>
        <p:nvSpPr>
          <p:cNvPr id="5" name="Rectangle 4"/>
          <p:cNvSpPr/>
          <p:nvPr/>
        </p:nvSpPr>
        <p:spPr>
          <a:xfrm>
            <a:off x="0" y="0"/>
            <a:ext cx="12191695" cy="1143000"/>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74320"/>
            <a:ext cx="10515600" cy="640080"/>
          </a:xfrm>
          <a:prstGeom prst="rect">
            <a:avLst/>
          </a:prstGeom>
          <a:noFill/>
        </p:spPr>
        <p:txBody>
          <a:bodyPr wrap="square">
            <a:spAutoFit/>
          </a:bodyPr>
          <a:lstStyle/>
          <a:p>
            <a:r>
              <a:rPr sz="2400" b="1" i="0">
                <a:solidFill>
                  <a:srgbClr val="FFFFFF"/>
                </a:solidFill>
                <a:latin typeface="Montserrat"/>
              </a:rPr>
              <a:t>⚡  PREGUNTA RÁPIDA</a:t>
            </a:r>
          </a:p>
        </p:txBody>
      </p:sp>
      <p:sp>
        <p:nvSpPr>
          <p:cNvPr id="7" name="TextBox 6"/>
          <p:cNvSpPr txBox="1"/>
          <p:nvPr/>
        </p:nvSpPr>
        <p:spPr>
          <a:xfrm>
            <a:off x="822960" y="1508760"/>
            <a:ext cx="10515600" cy="1371600"/>
          </a:xfrm>
          <a:prstGeom prst="rect">
            <a:avLst/>
          </a:prstGeom>
          <a:noFill/>
        </p:spPr>
        <p:txBody>
          <a:bodyPr wrap="square">
            <a:spAutoFit/>
          </a:bodyPr>
          <a:lstStyle/>
          <a:p>
            <a:r>
              <a:rPr sz="2400" b="1" i="0">
                <a:solidFill>
                  <a:srgbClr val="1E2761"/>
                </a:solidFill>
                <a:latin typeface="Montserrat"/>
              </a:rPr>
              <a:t>¿A partir de qué potencia un aparato conducido (tipo B o C) solo lo pone en marcha personal especialmente cualificado?</a:t>
            </a:r>
          </a:p>
        </p:txBody>
      </p:sp>
      <p:sp>
        <p:nvSpPr>
          <p:cNvPr id="8" name="Rounded Rectangle 7"/>
          <p:cNvSpPr/>
          <p:nvPr/>
        </p:nvSpPr>
        <p:spPr>
          <a:xfrm>
            <a:off x="822960" y="329184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22960" y="329184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3611880"/>
            <a:ext cx="640080" cy="548640"/>
          </a:xfrm>
          <a:prstGeom prst="rect">
            <a:avLst/>
          </a:prstGeom>
          <a:noFill/>
        </p:spPr>
        <p:txBody>
          <a:bodyPr wrap="square">
            <a:spAutoFit/>
          </a:bodyPr>
          <a:lstStyle/>
          <a:p>
            <a:pPr algn="ctr"/>
            <a:r>
              <a:rPr sz="2200" b="1" i="0">
                <a:solidFill>
                  <a:srgbClr val="FFFFFF"/>
                </a:solidFill>
                <a:latin typeface="Montserrat"/>
              </a:rPr>
              <a:t>A</a:t>
            </a:r>
          </a:p>
        </p:txBody>
      </p:sp>
      <p:sp>
        <p:nvSpPr>
          <p:cNvPr id="11" name="TextBox 10"/>
          <p:cNvSpPr txBox="1"/>
          <p:nvPr/>
        </p:nvSpPr>
        <p:spPr>
          <a:xfrm>
            <a:off x="1600200" y="3474720"/>
            <a:ext cx="4114800" cy="868680"/>
          </a:xfrm>
          <a:prstGeom prst="rect">
            <a:avLst/>
          </a:prstGeom>
          <a:noFill/>
        </p:spPr>
        <p:txBody>
          <a:bodyPr wrap="square">
            <a:spAutoFit/>
          </a:bodyPr>
          <a:lstStyle/>
          <a:p>
            <a:r>
              <a:rPr sz="1400" b="0" i="0">
                <a:solidFill>
                  <a:srgbClr val="1B2330"/>
                </a:solidFill>
                <a:latin typeface="Montserrat"/>
              </a:rPr>
              <a:t>Más de 20 kW de potencia útil</a:t>
            </a:r>
          </a:p>
        </p:txBody>
      </p:sp>
      <p:sp>
        <p:nvSpPr>
          <p:cNvPr id="12" name="Rounded Rectangle 11"/>
          <p:cNvSpPr/>
          <p:nvPr/>
        </p:nvSpPr>
        <p:spPr>
          <a:xfrm>
            <a:off x="6355080" y="329184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80" y="329184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3611880"/>
            <a:ext cx="640080" cy="548640"/>
          </a:xfrm>
          <a:prstGeom prst="rect">
            <a:avLst/>
          </a:prstGeom>
          <a:noFill/>
        </p:spPr>
        <p:txBody>
          <a:bodyPr wrap="square">
            <a:spAutoFit/>
          </a:bodyPr>
          <a:lstStyle/>
          <a:p>
            <a:pPr algn="ctr"/>
            <a:r>
              <a:rPr sz="2200" b="1" i="0">
                <a:solidFill>
                  <a:srgbClr val="FFFFFF"/>
                </a:solidFill>
                <a:latin typeface="Montserrat"/>
              </a:rPr>
              <a:t>B</a:t>
            </a:r>
          </a:p>
        </p:txBody>
      </p:sp>
      <p:sp>
        <p:nvSpPr>
          <p:cNvPr id="15" name="TextBox 14"/>
          <p:cNvSpPr txBox="1"/>
          <p:nvPr/>
        </p:nvSpPr>
        <p:spPr>
          <a:xfrm>
            <a:off x="7132320" y="3474720"/>
            <a:ext cx="4114800" cy="868680"/>
          </a:xfrm>
          <a:prstGeom prst="rect">
            <a:avLst/>
          </a:prstGeom>
          <a:noFill/>
        </p:spPr>
        <p:txBody>
          <a:bodyPr wrap="square">
            <a:spAutoFit/>
          </a:bodyPr>
          <a:lstStyle/>
          <a:p>
            <a:r>
              <a:rPr sz="1400" b="0" i="0">
                <a:solidFill>
                  <a:srgbClr val="1B2330"/>
                </a:solidFill>
                <a:latin typeface="Montserrat"/>
              </a:rPr>
              <a:t>Más de 24,4 kW de potencia útil</a:t>
            </a:r>
          </a:p>
        </p:txBody>
      </p:sp>
      <p:sp>
        <p:nvSpPr>
          <p:cNvPr id="16" name="Rounded Rectangle 15"/>
          <p:cNvSpPr/>
          <p:nvPr/>
        </p:nvSpPr>
        <p:spPr>
          <a:xfrm>
            <a:off x="822960" y="461772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22960" y="461772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4937760"/>
            <a:ext cx="640080" cy="548640"/>
          </a:xfrm>
          <a:prstGeom prst="rect">
            <a:avLst/>
          </a:prstGeom>
          <a:noFill/>
        </p:spPr>
        <p:txBody>
          <a:bodyPr wrap="square">
            <a:spAutoFit/>
          </a:bodyPr>
          <a:lstStyle/>
          <a:p>
            <a:pPr algn="ctr"/>
            <a:r>
              <a:rPr sz="2200" b="1" i="0">
                <a:solidFill>
                  <a:srgbClr val="FFFFFF"/>
                </a:solidFill>
                <a:latin typeface="Montserrat"/>
              </a:rPr>
              <a:t>C</a:t>
            </a:r>
          </a:p>
        </p:txBody>
      </p:sp>
      <p:sp>
        <p:nvSpPr>
          <p:cNvPr id="19" name="TextBox 18"/>
          <p:cNvSpPr txBox="1"/>
          <p:nvPr/>
        </p:nvSpPr>
        <p:spPr>
          <a:xfrm>
            <a:off x="1600200" y="4800600"/>
            <a:ext cx="4114800" cy="868680"/>
          </a:xfrm>
          <a:prstGeom prst="rect">
            <a:avLst/>
          </a:prstGeom>
          <a:noFill/>
        </p:spPr>
        <p:txBody>
          <a:bodyPr wrap="square">
            <a:spAutoFit/>
          </a:bodyPr>
          <a:lstStyle/>
          <a:p>
            <a:r>
              <a:rPr sz="1400" b="0" i="0">
                <a:solidFill>
                  <a:srgbClr val="1B2330"/>
                </a:solidFill>
                <a:latin typeface="Montserrat"/>
              </a:rPr>
              <a:t>Más de 30 kW de potencia útil</a:t>
            </a:r>
          </a:p>
        </p:txBody>
      </p:sp>
      <p:sp>
        <p:nvSpPr>
          <p:cNvPr id="20" name="Rounded Rectangle 19"/>
          <p:cNvSpPr/>
          <p:nvPr/>
        </p:nvSpPr>
        <p:spPr>
          <a:xfrm>
            <a:off x="6355080" y="461772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80" y="461772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55080" y="4937760"/>
            <a:ext cx="640080" cy="548640"/>
          </a:xfrm>
          <a:prstGeom prst="rect">
            <a:avLst/>
          </a:prstGeom>
          <a:noFill/>
        </p:spPr>
        <p:txBody>
          <a:bodyPr wrap="square">
            <a:spAutoFit/>
          </a:bodyPr>
          <a:lstStyle/>
          <a:p>
            <a:pPr algn="ctr"/>
            <a:r>
              <a:rPr sz="2200" b="1" i="0">
                <a:solidFill>
                  <a:srgbClr val="FFFFFF"/>
                </a:solidFill>
                <a:latin typeface="Montserrat"/>
              </a:rPr>
              <a:t>D</a:t>
            </a:r>
          </a:p>
        </p:txBody>
      </p:sp>
      <p:sp>
        <p:nvSpPr>
          <p:cNvPr id="23" name="TextBox 22"/>
          <p:cNvSpPr txBox="1"/>
          <p:nvPr/>
        </p:nvSpPr>
        <p:spPr>
          <a:xfrm>
            <a:off x="7132320" y="4800600"/>
            <a:ext cx="4114800" cy="868680"/>
          </a:xfrm>
          <a:prstGeom prst="rect">
            <a:avLst/>
          </a:prstGeom>
          <a:noFill/>
        </p:spPr>
        <p:txBody>
          <a:bodyPr wrap="square">
            <a:spAutoFit/>
          </a:bodyPr>
          <a:lstStyle/>
          <a:p>
            <a:r>
              <a:rPr sz="1400" b="0" i="0">
                <a:solidFill>
                  <a:srgbClr val="1B2330"/>
                </a:solidFill>
                <a:latin typeface="Montserrat"/>
              </a:rPr>
              <a:t>Más de 15 kW de potencia útil</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015 / 020</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05 · Aparatos de gas</a:t>
            </a:r>
          </a:p>
        </p:txBody>
      </p:sp>
      <p:sp>
        <p:nvSpPr>
          <p:cNvPr id="5" name="Rectangle 4"/>
          <p:cNvSpPr/>
          <p:nvPr/>
        </p:nvSpPr>
        <p:spPr>
          <a:xfrm>
            <a:off x="0" y="0"/>
            <a:ext cx="12191695" cy="1143000"/>
          </a:xfrm>
          <a:prstGeom prst="rect">
            <a:avLst/>
          </a:prstGeom>
          <a:solidFill>
            <a:srgbClr val="1E8E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74320"/>
            <a:ext cx="10515600" cy="640080"/>
          </a:xfrm>
          <a:prstGeom prst="rect">
            <a:avLst/>
          </a:prstGeom>
          <a:noFill/>
        </p:spPr>
        <p:txBody>
          <a:bodyPr wrap="square">
            <a:spAutoFit/>
          </a:bodyPr>
          <a:lstStyle/>
          <a:p>
            <a:r>
              <a:rPr sz="2400" b="1" i="0">
                <a:solidFill>
                  <a:srgbClr val="FFFFFF"/>
                </a:solidFill>
                <a:latin typeface="Montserrat"/>
              </a:rPr>
              <a:t>✔  RESPUESTA:  B</a:t>
            </a:r>
          </a:p>
        </p:txBody>
      </p:sp>
      <p:sp>
        <p:nvSpPr>
          <p:cNvPr id="7" name="TextBox 6"/>
          <p:cNvSpPr txBox="1"/>
          <p:nvPr/>
        </p:nvSpPr>
        <p:spPr>
          <a:xfrm>
            <a:off x="822960" y="1417320"/>
            <a:ext cx="10515600" cy="914400"/>
          </a:xfrm>
          <a:prstGeom prst="rect">
            <a:avLst/>
          </a:prstGeom>
          <a:noFill/>
        </p:spPr>
        <p:txBody>
          <a:bodyPr wrap="square">
            <a:spAutoFit/>
          </a:bodyPr>
          <a:lstStyle/>
          <a:p>
            <a:r>
              <a:rPr sz="1800" b="1" i="0">
                <a:solidFill>
                  <a:srgbClr val="64748B"/>
                </a:solidFill>
                <a:latin typeface="Montserrat"/>
              </a:rPr>
              <a:t>¿A partir de qué potencia un aparato conducido (tipo B o C) solo lo pone en marcha personal especialmente cualificado?</a:t>
            </a:r>
          </a:p>
        </p:txBody>
      </p:sp>
      <p:sp>
        <p:nvSpPr>
          <p:cNvPr id="8" name="Rounded Rectangle 7"/>
          <p:cNvSpPr/>
          <p:nvPr/>
        </p:nvSpPr>
        <p:spPr>
          <a:xfrm>
            <a:off x="822960" y="2514600"/>
            <a:ext cx="10515600" cy="914400"/>
          </a:xfrm>
          <a:prstGeom prst="roundRect">
            <a:avLst/>
          </a:prstGeom>
          <a:solidFill>
            <a:srgbClr val="E9F6EE"/>
          </a:solidFill>
          <a:ln w="12700">
            <a:solidFill>
              <a:srgbClr val="1E8E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697480"/>
            <a:ext cx="10058400" cy="640080"/>
          </a:xfrm>
          <a:prstGeom prst="rect">
            <a:avLst/>
          </a:prstGeom>
          <a:noFill/>
        </p:spPr>
        <p:txBody>
          <a:bodyPr wrap="square">
            <a:spAutoFit/>
          </a:bodyPr>
          <a:lstStyle/>
          <a:p>
            <a:r>
              <a:rPr sz="1800" b="1" i="0">
                <a:solidFill>
                  <a:srgbClr val="1E8E4B"/>
                </a:solidFill>
                <a:latin typeface="Montserrat"/>
              </a:rPr>
              <a:t>B.  </a:t>
            </a:r>
            <a:r>
              <a:rPr sz="1800" b="1" i="0">
                <a:solidFill>
                  <a:srgbClr val="1E2761"/>
                </a:solidFill>
                <a:latin typeface="Montserrat"/>
              </a:rPr>
              <a:t>Más de 24,4 kW de potencia útil</a:t>
            </a:r>
          </a:p>
        </p:txBody>
      </p:sp>
      <p:sp>
        <p:nvSpPr>
          <p:cNvPr id="10" name="TextBox 9"/>
          <p:cNvSpPr txBox="1"/>
          <p:nvPr/>
        </p:nvSpPr>
        <p:spPr>
          <a:xfrm>
            <a:off x="822960" y="3749039"/>
            <a:ext cx="10515600" cy="2194560"/>
          </a:xfrm>
          <a:prstGeom prst="rect">
            <a:avLst/>
          </a:prstGeom>
          <a:noFill/>
        </p:spPr>
        <p:txBody>
          <a:bodyPr wrap="square">
            <a:spAutoFit/>
          </a:bodyPr>
          <a:lstStyle/>
          <a:p>
            <a:r>
              <a:rPr sz="1500" b="1" i="0">
                <a:solidFill>
                  <a:srgbClr val="E8801A"/>
                </a:solidFill>
                <a:latin typeface="Montserrat"/>
              </a:rPr>
              <a:t>Por qué:  </a:t>
            </a:r>
            <a:r>
              <a:rPr sz="1500" b="0" i="0">
                <a:solidFill>
                  <a:srgbClr val="1B2330"/>
                </a:solidFill>
                <a:latin typeface="Montserrat"/>
              </a:rPr>
              <a:t>Los conducidos de tipo B y C de más de 24,4 kW y las vitrocerámicas de fuegos cubiertos solo los atiende el SAT del fabricante con calidad certificada o un instalador que cumpla el capítulo 4 de la ITC-ICG 09.</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016 / 020</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05 · Aparatos de gas</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APARTADO 5.3.2 · ADECUACIÓN</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Cambiar de familia de gas</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Ejemplo: de natural a propano/butano</a:t>
            </a:r>
          </a:p>
          <a:p>
            <a:pPr>
              <a:spcAft>
                <a:spcPts val="1100"/>
              </a:spcAft>
            </a:pPr>
            <a:r>
              <a:rPr sz="1600" b="1" i="0">
                <a:solidFill>
                  <a:srgbClr val="E8801A"/>
                </a:solidFill>
                <a:latin typeface="Montserrat"/>
              </a:rPr>
              <a:t>▸  </a:t>
            </a:r>
            <a:r>
              <a:rPr sz="1600" b="0" i="0">
                <a:solidFill>
                  <a:srgbClr val="1B2330"/>
                </a:solidFill>
                <a:latin typeface="Montserrat"/>
              </a:rPr>
              <a:t>Solo SAT certificado o categorías A o B</a:t>
            </a:r>
          </a:p>
          <a:p>
            <a:pPr>
              <a:spcAft>
                <a:spcPts val="1100"/>
              </a:spcAft>
            </a:pPr>
            <a:r>
              <a:rPr sz="1600" b="1" i="0">
                <a:solidFill>
                  <a:srgbClr val="E8801A"/>
                </a:solidFill>
                <a:latin typeface="Montserrat"/>
              </a:rPr>
              <a:t>▸  </a:t>
            </a:r>
            <a:r>
              <a:rPr sz="1600" b="0" i="0">
                <a:solidFill>
                  <a:srgbClr val="1B2330"/>
                </a:solidFill>
                <a:latin typeface="Montserrat"/>
              </a:rPr>
              <a:t>La categoría C no puede</a:t>
            </a:r>
          </a:p>
          <a:p>
            <a:pPr>
              <a:spcAft>
                <a:spcPts val="1100"/>
              </a:spcAft>
            </a:pPr>
            <a:r>
              <a:rPr sz="1600" b="1" i="0">
                <a:solidFill>
                  <a:srgbClr val="E8801A"/>
                </a:solidFill>
                <a:latin typeface="Montserrat"/>
              </a:rPr>
              <a:t>▸  </a:t>
            </a:r>
            <a:r>
              <a:rPr sz="1600" b="0" i="0">
                <a:solidFill>
                  <a:srgbClr val="1B2330"/>
                </a:solidFill>
                <a:latin typeface="Montserrat"/>
              </a:rPr>
              <a:t>Componentes idénticos a los certificados</a:t>
            </a:r>
          </a:p>
        </p:txBody>
      </p:sp>
      <p:sp>
        <p:nvSpPr>
          <p:cNvPr id="9" name="imgph" descr="IMGQ:gas burner injector nozzle replacement"/>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gas burner injector nozzle replacement</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017 / 020</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05 · Aparatos de gas</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APARTADO 5.4 · COMPROBACIONES</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El papel que cierra el trabajo</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Comprobaciones: UNE 60670-10 + fabricante</a:t>
            </a:r>
          </a:p>
          <a:p>
            <a:pPr>
              <a:spcAft>
                <a:spcPts val="1100"/>
              </a:spcAft>
            </a:pPr>
            <a:r>
              <a:rPr sz="1600" b="1" i="0">
                <a:solidFill>
                  <a:srgbClr val="E8801A"/>
                </a:solidFill>
                <a:latin typeface="Montserrat"/>
              </a:rPr>
              <a:t>▸  </a:t>
            </a:r>
            <a:r>
              <a:rPr sz="1600" b="0" i="0">
                <a:solidFill>
                  <a:srgbClr val="1B2330"/>
                </a:solidFill>
                <a:latin typeface="Montserrat"/>
              </a:rPr>
              <a:t>Emites certificado de puesta en marcha</a:t>
            </a:r>
          </a:p>
          <a:p>
            <a:pPr>
              <a:spcAft>
                <a:spcPts val="1100"/>
              </a:spcAft>
            </a:pPr>
            <a:r>
              <a:rPr sz="1600" b="1" i="0">
                <a:solidFill>
                  <a:srgbClr val="E8801A"/>
                </a:solidFill>
                <a:latin typeface="Montserrat"/>
              </a:rPr>
              <a:t>▸  </a:t>
            </a:r>
            <a:r>
              <a:rPr sz="1600" b="0" i="0">
                <a:solidFill>
                  <a:srgbClr val="1B2330"/>
                </a:solidFill>
                <a:latin typeface="Montserrat"/>
              </a:rPr>
              <a:t>Modelo del anexo 4; lo firma el cliente</a:t>
            </a:r>
          </a:p>
          <a:p>
            <a:pPr>
              <a:spcAft>
                <a:spcPts val="1100"/>
              </a:spcAft>
            </a:pPr>
            <a:r>
              <a:rPr sz="1600" b="1" i="0">
                <a:solidFill>
                  <a:srgbClr val="E8801A"/>
                </a:solidFill>
                <a:latin typeface="Montserrat"/>
              </a:rPr>
              <a:t>▸  </a:t>
            </a:r>
            <a:r>
              <a:rPr sz="1600" b="0" i="0">
                <a:solidFill>
                  <a:srgbClr val="1B2330"/>
                </a:solidFill>
                <a:latin typeface="Montserrat"/>
              </a:rPr>
              <a:t>Archivas 5 años (comunidad autónoma)</a:t>
            </a:r>
          </a:p>
        </p:txBody>
      </p:sp>
      <p:sp>
        <p:nvSpPr>
          <p:cNvPr id="9" name="imgph" descr="IMGQ:flue gas combustion analyzer boiler"/>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flue gas combustion analyzer boiler</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018 / 020</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05 · Aparatos de gas</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APARTADO 5.5 · COMUNICACIÓN</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Ni permiso antes, ni aviso después</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El aparato no precisa comunicación</a:t>
            </a:r>
          </a:p>
          <a:p>
            <a:pPr>
              <a:spcAft>
                <a:spcPts val="1100"/>
              </a:spcAft>
            </a:pPr>
            <a:r>
              <a:rPr sz="1600" b="1" i="0">
                <a:solidFill>
                  <a:srgbClr val="E8801A"/>
                </a:solidFill>
                <a:latin typeface="Montserrat"/>
              </a:rPr>
              <a:t>▸  </a:t>
            </a:r>
            <a:r>
              <a:rPr sz="1600" b="0" i="0">
                <a:solidFill>
                  <a:srgbClr val="1B2330"/>
                </a:solidFill>
                <a:latin typeface="Montserrat"/>
              </a:rPr>
              <a:t>Sí es obligatorio el certificado al cliente</a:t>
            </a:r>
          </a:p>
          <a:p>
            <a:pPr>
              <a:spcAft>
                <a:spcPts val="1100"/>
              </a:spcAft>
            </a:pPr>
            <a:r>
              <a:rPr sz="1600" b="1" i="0">
                <a:solidFill>
                  <a:srgbClr val="E8801A"/>
                </a:solidFill>
                <a:latin typeface="Montserrat"/>
              </a:rPr>
              <a:t>▸  </a:t>
            </a:r>
            <a:r>
              <a:rPr sz="1600" b="0" i="0">
                <a:solidFill>
                  <a:srgbClr val="1B2330"/>
                </a:solidFill>
                <a:latin typeface="Montserrat"/>
              </a:rPr>
              <a:t>No confundir con la instalación receptora</a:t>
            </a:r>
          </a:p>
        </p:txBody>
      </p:sp>
      <p:sp>
        <p:nvSpPr>
          <p:cNvPr id="9" name="imgph" descr="IMGQ:gas installation paperwork clipboard"/>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gas installation paperwork clipboard</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019 / 020</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05 · Aparatos de gas</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ANEXO 4 · CERTIFICADO</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Qué lleva el certificado</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Agente, cliente y datos del aparato</a:t>
            </a:r>
          </a:p>
          <a:p>
            <a:pPr>
              <a:spcAft>
                <a:spcPts val="1100"/>
              </a:spcAft>
            </a:pPr>
            <a:r>
              <a:rPr sz="1600" b="1" i="0">
                <a:solidFill>
                  <a:srgbClr val="E8801A"/>
                </a:solidFill>
                <a:latin typeface="Montserrat"/>
              </a:rPr>
              <a:t>▸  </a:t>
            </a:r>
            <a:r>
              <a:rPr sz="1600" b="0" i="0">
                <a:solidFill>
                  <a:srgbClr val="1B2330"/>
                </a:solidFill>
                <a:latin typeface="Montserrat"/>
              </a:rPr>
              <a:t>Pruebas y sus resultados</a:t>
            </a:r>
          </a:p>
          <a:p>
            <a:pPr>
              <a:spcAft>
                <a:spcPts val="1100"/>
              </a:spcAft>
            </a:pPr>
            <a:r>
              <a:rPr sz="1600" b="1" i="0">
                <a:solidFill>
                  <a:srgbClr val="E8801A"/>
                </a:solidFill>
                <a:latin typeface="Montserrat"/>
              </a:rPr>
              <a:t>▸  </a:t>
            </a:r>
            <a:r>
              <a:rPr sz="1600" b="0" i="0">
                <a:solidFill>
                  <a:srgbClr val="1B2330"/>
                </a:solidFill>
                <a:latin typeface="Montserrat"/>
              </a:rPr>
              <a:t>Ticket del análisis de combustión</a:t>
            </a:r>
          </a:p>
          <a:p>
            <a:pPr>
              <a:spcAft>
                <a:spcPts val="1100"/>
              </a:spcAft>
            </a:pPr>
            <a:r>
              <a:rPr sz="1600" b="1" i="0">
                <a:solidFill>
                  <a:srgbClr val="E8801A"/>
                </a:solidFill>
                <a:latin typeface="Montserrat"/>
              </a:rPr>
              <a:t>▸  </a:t>
            </a:r>
            <a:r>
              <a:rPr sz="1600" b="0" i="0">
                <a:solidFill>
                  <a:srgbClr val="1B2330"/>
                </a:solidFill>
                <a:latin typeface="Montserrat"/>
              </a:rPr>
              <a:t>Firma del técnico, sello y firma del cliente</a:t>
            </a:r>
          </a:p>
        </p:txBody>
      </p:sp>
      <p:sp>
        <p:nvSpPr>
          <p:cNvPr id="9" name="imgph" descr="IMGQ:signed technical certificate document"/>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signed technical certificate document</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640080"/>
            <a:ext cx="10515600" cy="457200"/>
          </a:xfrm>
          <a:prstGeom prst="rect">
            <a:avLst/>
          </a:prstGeom>
          <a:noFill/>
        </p:spPr>
        <p:txBody>
          <a:bodyPr wrap="square">
            <a:spAutoFit/>
          </a:bodyPr>
          <a:lstStyle/>
          <a:p>
            <a:r>
              <a:rPr sz="1400" b="1" i="0">
                <a:solidFill>
                  <a:srgbClr val="F4A24C"/>
                </a:solidFill>
                <a:latin typeface="Montserrat"/>
              </a:rPr>
              <a:t>LO QUE YA DOMINAS</a:t>
            </a:r>
          </a:p>
        </p:txBody>
      </p:sp>
      <p:sp>
        <p:nvSpPr>
          <p:cNvPr id="4" name="Rectangle 3"/>
          <p:cNvSpPr/>
          <p:nvPr/>
        </p:nvSpPr>
        <p:spPr>
          <a:xfrm>
            <a:off x="868680" y="1051560"/>
            <a:ext cx="1463040" cy="82296"/>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234440"/>
            <a:ext cx="10515600" cy="1097280"/>
          </a:xfrm>
          <a:prstGeom prst="rect">
            <a:avLst/>
          </a:prstGeom>
          <a:noFill/>
        </p:spPr>
        <p:txBody>
          <a:bodyPr wrap="square">
            <a:spAutoFit/>
          </a:bodyPr>
          <a:lstStyle/>
          <a:p>
            <a:r>
              <a:rPr sz="3400" b="1" i="0">
                <a:solidFill>
                  <a:srgbClr val="FFFFFF"/>
                </a:solidFill>
                <a:latin typeface="Montserrat"/>
              </a:rPr>
              <a:t>Ya sabes clasificar, conectar y certificar</a:t>
            </a:r>
          </a:p>
        </p:txBody>
      </p:sp>
      <p:sp>
        <p:nvSpPr>
          <p:cNvPr id="6" name="TextBox 5"/>
          <p:cNvSpPr txBox="1"/>
          <p:nvPr/>
        </p:nvSpPr>
        <p:spPr>
          <a:xfrm>
            <a:off x="822960" y="2606040"/>
            <a:ext cx="10515600" cy="2743200"/>
          </a:xfrm>
          <a:prstGeom prst="rect">
            <a:avLst/>
          </a:prstGeom>
          <a:noFill/>
        </p:spPr>
        <p:txBody>
          <a:bodyPr wrap="square">
            <a:spAutoFit/>
          </a:bodyPr>
          <a:lstStyle/>
          <a:p>
            <a:pPr>
              <a:spcAft>
                <a:spcPts val="1200"/>
              </a:spcAft>
            </a:pPr>
            <a:r>
              <a:rPr sz="2000" b="1" i="0">
                <a:solidFill>
                  <a:srgbClr val="F4A24C"/>
                </a:solidFill>
                <a:latin typeface="Montserrat"/>
              </a:rPr>
              <a:t>✓  </a:t>
            </a:r>
            <a:r>
              <a:rPr sz="1900" b="0" i="0">
                <a:solidFill>
                  <a:srgbClr val="FFFFFF"/>
                </a:solidFill>
                <a:latin typeface="Montserrat"/>
              </a:rPr>
              <a:t>Tipos A, B y C: de dónde respira y por dónde echa el humo</a:t>
            </a:r>
          </a:p>
          <a:p>
            <a:pPr>
              <a:spcAft>
                <a:spcPts val="1200"/>
              </a:spcAft>
            </a:pPr>
            <a:r>
              <a:rPr sz="2000" b="1" i="0">
                <a:solidFill>
                  <a:srgbClr val="F4A24C"/>
                </a:solidFill>
                <a:latin typeface="Montserrat"/>
              </a:rPr>
              <a:t>✓  </a:t>
            </a:r>
            <a:r>
              <a:rPr sz="1900" b="0" i="0">
                <a:solidFill>
                  <a:srgbClr val="FFFFFF"/>
                </a:solidFill>
                <a:latin typeface="Montserrat"/>
              </a:rPr>
              <a:t>Tipo de aparato ≠ categoría del carné</a:t>
            </a:r>
          </a:p>
          <a:p>
            <a:pPr>
              <a:spcAft>
                <a:spcPts val="1200"/>
              </a:spcAft>
            </a:pPr>
            <a:r>
              <a:rPr sz="2000" b="1" i="0">
                <a:solidFill>
                  <a:srgbClr val="F4A24C"/>
                </a:solidFill>
                <a:latin typeface="Montserrat"/>
              </a:rPr>
              <a:t>✓  </a:t>
            </a:r>
            <a:r>
              <a:rPr sz="1900" b="0" i="0">
                <a:solidFill>
                  <a:srgbClr val="FFFFFF"/>
                </a:solidFill>
                <a:latin typeface="Montserrat"/>
              </a:rPr>
              <a:t>Conectado → 7; suelto → 6; latiguillo lo pone el usuario</a:t>
            </a:r>
          </a:p>
          <a:p>
            <a:pPr>
              <a:spcAft>
                <a:spcPts val="1200"/>
              </a:spcAft>
            </a:pPr>
            <a:r>
              <a:rPr sz="2000" b="1" i="0">
                <a:solidFill>
                  <a:srgbClr val="F4A24C"/>
                </a:solidFill>
                <a:latin typeface="Montserrat"/>
              </a:rPr>
              <a:t>✓  </a:t>
            </a:r>
            <a:r>
              <a:rPr sz="1900" b="0" i="0">
                <a:solidFill>
                  <a:srgbClr val="FFFFFF"/>
                </a:solidFill>
                <a:latin typeface="Montserrat"/>
              </a:rPr>
              <a:t>Arrancas, certificas (anexo 4) y archivas 5 años</a:t>
            </a:r>
          </a:p>
        </p:txBody>
      </p:sp>
      <p:sp>
        <p:nvSpPr>
          <p:cNvPr id="7" name="Rounded Rectangle 6"/>
          <p:cNvSpPr/>
          <p:nvPr/>
        </p:nvSpPr>
        <p:spPr>
          <a:xfrm>
            <a:off x="822960" y="5532120"/>
            <a:ext cx="10515600" cy="822960"/>
          </a:xfrm>
          <a:prstGeom prst="round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5623560"/>
            <a:ext cx="10058400" cy="640080"/>
          </a:xfrm>
          <a:prstGeom prst="rect">
            <a:avLst/>
          </a:prstGeom>
          <a:noFill/>
        </p:spPr>
        <p:txBody>
          <a:bodyPr wrap="square">
            <a:spAutoFit/>
          </a:bodyPr>
          <a:lstStyle/>
          <a:p>
            <a:r>
              <a:rPr sz="1500" b="1" i="1">
                <a:solidFill>
                  <a:srgbClr val="1E2761"/>
                </a:solidFill>
                <a:latin typeface="Montserrat"/>
              </a:rPr>
              <a:t>Ya no eres solo teoría: sabes dejar un aparato en regla. Vamos a la letra pequeña de la certificación.</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
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aparato tiene que llevar su DNI y aguantar lo que promete. ¿Dónde lo dice?</a:t>
            </a:r>
          </a:p>
          <a:p>
            <a:r>
              <a:t>N2: En los dos últimos anexos de la ITC-ICG cero ocho, y con ellos cerramos el tema. El anexo dos fija qué datos lleva la placa de características y cómo se comprueba que ese marcado no se borra. El anexo tres recoge las prescripciones de seguridad y las pruebas que debe superar un aparato cuando no existe una norma específica para él: el listado largo de exigencias de diseño, los famosos dos punto tres, y las pruebas de estanquidad y funcionamiento. Es denso, pero cae en el examen a base de detalles, así que vamos a ordenarlo bien.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cierran la ITC?</a:t>
            </a:r>
          </a:p>
          <a:p>
            <a:r>
              <a:t>N2: Tres. Primero, veinte prescripciones de seguridad en el anexo tres, del dos tres uno al dos tres veinte, que agruparemos por ideas para no perdernos. Segundo, dos anexos, que son los que vemos hoy: el de la placa y el de las prescripciones. Y tercero, una sola norma, la UNE sesenta mil setecientos cincuenta, con la que se verifica todo lo de la placa: indelebilidad, corrosión y adherencia. Con estos tres números tienes el mapa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tanta exigencia con la placa?</a:t>
            </a:r>
          </a:p>
          <a:p>
            <a:r>
              <a:t>N2: Empecemos por la idea sencilla y luego la afinamos. Igual que un coche lleva su ficha técnica, cada aparato lleva su placa de características con lo esencial. La norma exige que vaya fijada de forma sólida y duradera, visible y legible, y con caracteres indelebles, es decir, que no se borran. ¿Por qué indelebles? Porque dentro de años alguien tendrá que leerla para revisar o reparar el aparato. Una placa que se borra es un DNI inservible.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lees exactamente en la placa?</a:t>
            </a:r>
          </a:p>
          <a:p>
            <a:r>
              <a:t>N2: Los datos mínimos, y conviene sabérselos porque son los que usas a diario. El nombre o marca del fabricante y, en su caso, el importador. La denominación comercial, con marca y modelo. El número de serie o fabricación. La categoría del aparato, que recuerda, es la de los gases que admite. El tipo de gas en relación con la presión, indicando solo la presión del reglaje actual. El consumo calorífico nominal en kilovatios, referido al poder calorífico inferior. Y los datos eléctricos: naturaleza y tensión de la corriente y potencia máxima absorbida, en voltios, amperios, hercios y kilovatios. Son, ni más ni menos, los datos que necesitas para regular, revisar y rellenar el certificado de puesta en marcha.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placa la escribe solo la fábrica?</a:t>
            </a:r>
          </a:p>
          <a:p>
            <a:r>
              <a:t>N2: No del todo, y este detalle gusta al examen. En los aparatos de consumo calorífico regulable, la placa deja un espacio libre para que tú, el instalador, sitúes la indicación del valor del consumo al que lo has dejado regulado durante la puesta en marcha. Es, en cierto modo, tu firma técnica sobre el propio aparato. Y aprovechemos para traducir unas siglas que salen aquí: el consumo se expresa en kilovatios referidos al poder calorífico inferior, el PCI, que es la energía que da el gas sin aprovechar el calor del vapor de agua de los humos. Basta con reconocer las siglas: PCI, poder calorífico inferior, la referencia estándar del sector.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frases obliga a poner la norma en el aparato?</a:t>
            </a:r>
          </a:p>
          <a:p>
            <a:r>
              <a:t>N2: Dos, y el examen puede citarte la literal, así que quédate con la idea. La advertencia general viene a decir: instalar de acuerdo con las normas en vigor, utilizar únicamente en lugares suficientemente ventilados y consultar las instrucciones antes de instalar y usar. Y si el aparato es de uso exclusivo al aire libre, lleva además esa frase, que puede ir en la propia placa o en una placa independiente. Y no es adorno burocrático: meter en un local cerrado un aparato pensado solo para exterior es la receta directa de la intoxicación por monóxido de carbono.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comprueba que la placa aguanta con el tiempo?</a:t>
            </a:r>
          </a:p>
          <a:p>
            <a:r>
              <a:t>N2: No te compliques, porque todo apunta a la misma norma. La indelebilidad de los caracteres, la resistencia a la corrosión cuando la placa es metálica, y la adherencia cuando es adhesiva, se verifican con la UNE sesenta mil setecientos cincuenta. La lógica de fondo es simple: la placa tiene que durar tanto como el aparato, aunque la froten, se moje o se caliente. Y por eso la norma exige que, tras todos los ensayos, los caracteres sigan legibles, la placa no se haya deformado y no se despegue fácilmente. De poco sirve un DNI que se borra al segundo año.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sola norma resume toda la placa.</a:t>
            </a:r>
          </a:p>
          <a:p>
            <a:r>
              <a:t>N2: No te dejes liar por otras normas del tema. Piensa en la que garantiza que el marcado no se borra, no se corroe y no se despega.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esa norma?</a:t>
            </a:r>
          </a:p>
          <a:p>
            <a:r>
              <a:t>N2: Porque la ITC remite las tres cualidades de la placa, indelebilidad, corrosión y adherencia, a la misma norma, la une sesenta mil setecientos cincuenta. El truco: la parte siete es de conexión, la nueve mil uno es de calidad y la cuatrocientos treinta y siete es de gases; la de la placa es la sesenta mil setecientos cincuenta.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entra en juego el anexo tres?</a:t>
            </a:r>
          </a:p>
          <a:p>
            <a:r>
              <a:t>N2: Recuerda la lógica del apartado tres, la de la conformidad: primero la norma UNE o EN, y si no hay, el anexo tres. Pues este anexo es justo ese plan B: establece los requisitos y las pruebas para certificar un aparato huérfano de norma, uno para el que no existe una norma específica. Y tiene una exclusión que tiene su lógica: quedan fuera los aparatos ya homologados que vayan a usar un gas de distinta familia, siempre que ese cambio ya estuviera considerado en la homologación inicial. Si el cambio ya estaba previsto, no hay que pasar otra vez por aquí.</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qué idea base arranca el anexo tres?</a:t>
            </a:r>
          </a:p>
          <a:p>
            <a:r>
              <a:t>N2: Con dos, sencillas de entender. La primera: el diseño y la fabricación deben ser tales que el aparato funcione con seguridad total y no entrañe peligro para las personas, los animales domésticos ni los bienes, siempre que se use en condiciones normales de funcionamiento, esas tres patas que ya conoces del primer vídeo. La segunda: los materiales deben ser adecuados y resistentes a las condiciones mecánicas, químicas y térmicas a las que se sometan, y sus propiedades importantes para la seguridad las garantiza el fabricante o el proveedor. Y un detalle: estas prescripciones valen también para los equipos componentes cuando existe el riesgo correspondiente.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Son veinte puntos. ¿Cómo los digiero sin perderme?</a:t>
            </a:r>
          </a:p>
          <a:p>
            <a:r>
              <a:t>N2: No los memorices sueltos: agrúpalos en seis ideas y colocas cualquiera. Uno, aguantar el uso: sin desajuste, deformación ni rotura, y resistiendo la presión. Dos, sobrevivir a imprevistos: la condensación, un incendio de origen externo, y los cortes o fluctuaciones de la energía auxiliar, sin que nada de eso sea fuente de peligro. Tres, nada de fugas peligrosas: ni al encender, ni acumuladas. Cuatro, fallar sin peligro: si se rompe un dispositivo de seguridad, control o regulación, no debe haber peligro. Cinco, encender y quemar bien: encendido suave y cruzado, llama estable, combustión sin escapes. Y seis, no quemar al usuario: las temperaturas de mandos y superficies próximas se mantienen controladas. Seis cajones, y cada punto cae en uno.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¿Cuál es el punto que más cae del anexo tres?</a:t>
            </a:r>
          </a:p>
          <a:p>
            <a:r>
              <a:t>N2: El dos, tres, quince, y no es casualidad, porque enlaza todo el tema. Los aparatos destinados a usarse en locales disponen de un dispositivo específico que evita la acumulación peligrosa de gas no quemado en el local. Y los que no llevan ese dispositivo solo se pueden usar en locales con ventilación suficiente, o son de uso exclusivo al aire libre. Fíjate en que es el mismo criterio que ya viste en el manual técnico del primer vídeo y en las advertencias del aparato y del embalaje: todo encaja como un puzle. En la práctica, este punto es lo que evita las fugas acumuladas, el revoco de humos y el monóxido de carbono.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se prueba que el aparato no tiene fugas?</a:t>
            </a:r>
          </a:p>
          <a:p>
            <a:r>
              <a:t>N2: Ojo al tramo exacto, porque el examen lo pregunta. Se comprueba la estanquidad del circuito de gas entre la llave del aparato y el quemador, a la presión máxima de utilización. Y además, que no existe fuga interior a través de las válvulas de corte, es decir, que cuando están cerradas no dejan pasar ni una burbuja de gas. Estanquidad, traducido, es que el gas no se escape por ningún lado. Es la garantía de que el aparato retiene el gas tanto por fuera como por dentro; esta es la prueba que caza las fugas.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tramo muy concreto que el examen pregunta tal cual.</a:t>
            </a:r>
          </a:p>
          <a:p>
            <a:r>
              <a:t>N2: Piensa en el circuito interno del aparato, no en la instalación de la casa. ¿Dónde empieza y dónde acaba ese tramo?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ese tramo?</a:t>
            </a:r>
          </a:p>
          <a:p>
            <a:r>
              <a:t>N2: Porque la prueba de estanquidad va entre la llave del aparato y el quemador, a presión máxima de utilización, y además comprueba que las válvulas de corte no dejen fuga interior. El truco: es el circuito de gas dentro del aparato, no la instalación receptora entera.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se comprueba con el aparato ya trabajando?</a:t>
            </a:r>
          </a:p>
          <a:p>
            <a:r>
              <a:t>N2: Dos bloques, y ayuda separarlos. El arranque: que prenda bien, con un barrido eficaz de la cámara si hace falta, encendido e interencendido correctos, sin fenómenos anómalos en la estabilidad de las llamas ni golpes de presión en el hogar ni en la instalación, respetando las secuencias del programador y los tiempos máximos de seguridad. Y la marcha: que los dispositivos hagan su trabajo, el control de llama, el control de presión de gas y de aire, el control de tiro, el consumo calorífico y el análisis de los productos de la combustión al consumo nominal. Mientras la estanquidad cazaba las fugas, estas pruebas cazan la mala combustión y el monóxido de carbono.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importan tanto los tiempos máximos de seguridad?</a:t>
            </a:r>
          </a:p>
          <a:p>
            <a:r>
              <a:t>N2: Porque son críticos, y por eso aparecen dos veces, en el encendido y en la marcha. El tiempo máximo de seguridad es lo que el aparato puede tardar en cortar el gas si algo va mal: si no prende, si se apaga la llama, si falla el tiro. Si tardara de más, se acumularía gas sin quemar y tendrías el peligro dentro de casa. Que una válvula automática cierre a tiempo ante un fallo detectado es de lo más importante que se prueba. Y como remate, un control visual: que ni el elemento receptor ni el equipo de combustión se hayan deformado o deteriorado, y que los marcados e instrucciones sigan legibles. Todo tiene que quedar tal y como promete la placa.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 el último vídeo del tema. ¿Cómo lo cierro en la cabeza?</a:t>
            </a:r>
          </a:p>
          <a:p>
            <a:r>
              <a:t>N2: Reconstruyamos el hilo completo, porque hoy cierras la ITC entera. En este vídeo has aprendido dos cosas. Una, la placa: es el DNI del aparato, visible, legible e indeleble, y de ella lees fabricante e importador, marca y modelo, número de serie, categoría del aparato, gas y presión de reglaje, consumo en kilovatios sobre PCI y datos eléctricos; y toda ella, indelebilidad, corrosión y adherencia, se verifica con una sola norma, la UNE sesenta mil setecientos cincuenta, porque la placa tiene que durar tanto como el aparato. Dos, el anexo tres, la red de seguridad para aparatos sin norma propia: veinte prescripciones que agrupamos en seis ideas, con el punto de oro dos tres quince, el dispositivo anti-acumulación o, si no lo lleva, solo local ventilado o exterior; y las pruebas, la de estanquidad, entre la llave y el quemador a presión máxima, que caza las fugas, y las de funcionamiento, que cazan la mala combustión y el monóxido de carbono, con la válvula automática cortando a tiempo.</a:t>
            </a:r>
          </a:p>
          <a:p>
            <a:r>
              <a:t>N1: ¿Y cómo se traduce todo el tema en el examen y en la obra?</a:t>
            </a:r>
          </a:p>
          <a:p>
            <a:r>
              <a:t>N2: Enlázalo con lo anterior, que ahí está la fuerza. En el vídeo uno viste qué exige la norma de fábrica; en el dos, cómo se clasifica, conecta y arranca un aparato, con su certificado de puesta en marcha; en el tres, quién y cómo certifica que es de fiar; y hoy, cómo se marca y qué pruebas de seguridad supera. En el examen todo esto cae cruzado: la placa con el anexo dos, las pruebas con el anexo tres, el dos tres quince con las advertencias. En la obra, es tu oficio entero: llega el aparato, lees su placa, lo conectas y lo arrancas, compruebas la combustión con el analizador y firmas el certificado. Hoy ya lees un aparato como un profesional, de la placa al ticket del análisis de combustión. Enhorabuena: has cerrado la ITC-ICG cero ocho de principio a fin, y eres mucho más gasista que cuando empezaste el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4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Placa de características y seguridad</a:t>
            </a:r>
          </a:p>
          <a:p>
            <a:r>
              <a:rPr sz="2200" b="0" i="0">
                <a:solidFill>
                  <a:srgbClr val="CADCFC"/>
                </a:solidFill>
                <a:latin typeface="Montserrat"/>
              </a:rPr>
              <a:t>Anexos 2 y 3: marcado, prescripciones y pruebas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05 · Reglamento · ITC-ICG 08</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20</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prescripciones de seguridad</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2</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anexos: placa y prescripciones</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1</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norma para toda la placa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Anexo 2</a:t>
            </a:r>
          </a:p>
          <a:p>
            <a:pPr>
              <a:spcAft>
                <a:spcPts val="900"/>
              </a:spcAft>
            </a:pPr>
            <a:r>
              <a:rPr sz="1800" b="1" i="0">
                <a:solidFill>
                  <a:srgbClr val="E8801A"/>
                </a:solidFill>
                <a:latin typeface="Montserrat"/>
              </a:rPr>
              <a:t>02   </a:t>
            </a:r>
            <a:r>
              <a:rPr sz="1700" b="0" i="0">
                <a:solidFill>
                  <a:srgbClr val="1B2330"/>
                </a:solidFill>
                <a:latin typeface="Montserrat"/>
              </a:rPr>
              <a:t>Anexo 3</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PLACA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placa es el DNI del aparato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Fijada sólida y duraderamente</a:t>
            </a:r>
          </a:p>
          <a:p>
            <a:pPr>
              <a:spcAft>
                <a:spcPts val="1100"/>
              </a:spcAft>
            </a:pPr>
            <a:r>
              <a:rPr sz="1600" b="1" i="0">
                <a:solidFill>
                  <a:srgbClr val="E8801A"/>
                </a:solidFill>
                <a:latin typeface="Montserrat"/>
              </a:rPr>
              <a:t>▸  </a:t>
            </a:r>
            <a:r>
              <a:rPr sz="1600" b="0" i="0">
                <a:solidFill>
                  <a:srgbClr val="1B2330"/>
                </a:solidFill>
                <a:latin typeface="Montserrat"/>
              </a:rPr>
              <a:t>Visible y legible</a:t>
            </a:r>
          </a:p>
          <a:p>
            <a:pPr>
              <a:spcAft>
                <a:spcPts val="1100"/>
              </a:spcAft>
            </a:pPr>
            <a:r>
              <a:rPr sz="1600" b="1" i="0">
                <a:solidFill>
                  <a:srgbClr val="E8801A"/>
                </a:solidFill>
                <a:latin typeface="Montserrat"/>
              </a:rPr>
              <a:t>▸  </a:t>
            </a:r>
            <a:r>
              <a:rPr sz="1600" b="0" i="0">
                <a:solidFill>
                  <a:srgbClr val="1B2330"/>
                </a:solidFill>
                <a:latin typeface="Montserrat"/>
              </a:rPr>
              <a:t>Caracteres indelebles</a:t>
            </a:r>
          </a:p>
        </p:txBody>
      </p:sp>
      <p:sp>
        <p:nvSpPr>
          <p:cNvPr id="9" name="imgph" descr="IMGQ:gas appliance metal namepla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metal nameplate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CONTENIDO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datos lleva la placa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Fabricante e importador</a:t>
            </a:r>
          </a:p>
          <a:p>
            <a:pPr>
              <a:spcAft>
                <a:spcPts val="1100"/>
              </a:spcAft>
            </a:pPr>
            <a:r>
              <a:rPr sz="1600" b="1" i="0">
                <a:solidFill>
                  <a:srgbClr val="E8801A"/>
                </a:solidFill>
                <a:latin typeface="Montserrat"/>
              </a:rPr>
              <a:t>▸  </a:t>
            </a:r>
            <a:r>
              <a:rPr sz="1600" b="0" i="0">
                <a:solidFill>
                  <a:srgbClr val="1B2330"/>
                </a:solidFill>
                <a:latin typeface="Montserrat"/>
              </a:rPr>
              <a:t>Marca, modelo y nº de serie</a:t>
            </a:r>
          </a:p>
          <a:p>
            <a:pPr>
              <a:spcAft>
                <a:spcPts val="1100"/>
              </a:spcAft>
            </a:pPr>
            <a:r>
              <a:rPr sz="1600" b="1" i="0">
                <a:solidFill>
                  <a:srgbClr val="E8801A"/>
                </a:solidFill>
                <a:latin typeface="Montserrat"/>
              </a:rPr>
              <a:t>▸  </a:t>
            </a:r>
            <a:r>
              <a:rPr sz="1600" b="0" i="0">
                <a:solidFill>
                  <a:srgbClr val="1B2330"/>
                </a:solidFill>
                <a:latin typeface="Montserrat"/>
              </a:rPr>
              <a:t>Categoría del aparato</a:t>
            </a:r>
          </a:p>
          <a:p>
            <a:pPr>
              <a:spcAft>
                <a:spcPts val="1100"/>
              </a:spcAft>
            </a:pPr>
            <a:r>
              <a:rPr sz="1600" b="1" i="0">
                <a:solidFill>
                  <a:srgbClr val="E8801A"/>
                </a:solidFill>
                <a:latin typeface="Montserrat"/>
              </a:rPr>
              <a:t>▸  </a:t>
            </a:r>
            <a:r>
              <a:rPr sz="1600" b="0" i="0">
                <a:solidFill>
                  <a:srgbClr val="1B2330"/>
                </a:solidFill>
                <a:latin typeface="Montserrat"/>
              </a:rPr>
              <a:t>Gas y presión de reglaje</a:t>
            </a:r>
          </a:p>
          <a:p>
            <a:pPr>
              <a:spcAft>
                <a:spcPts val="1100"/>
              </a:spcAft>
            </a:pPr>
            <a:r>
              <a:rPr sz="1600" b="1" i="0">
                <a:solidFill>
                  <a:srgbClr val="E8801A"/>
                </a:solidFill>
                <a:latin typeface="Montserrat"/>
              </a:rPr>
              <a:t>▸  </a:t>
            </a:r>
            <a:r>
              <a:rPr sz="1600" b="0" i="0">
                <a:solidFill>
                  <a:srgbClr val="1B2330"/>
                </a:solidFill>
                <a:latin typeface="Montserrat"/>
              </a:rPr>
              <a:t>Consumo (kW/PCI) y datos eléctricos</a:t>
            </a:r>
          </a:p>
        </p:txBody>
      </p:sp>
      <p:sp>
        <p:nvSpPr>
          <p:cNvPr id="9" name="imgph" descr="IMGQ:boiler rating plate data closeu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boiler rating plate data closeup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DETALLES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hueco para tu anotación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Consumo regulable: espacio libre</a:t>
            </a:r>
          </a:p>
          <a:p>
            <a:pPr>
              <a:spcAft>
                <a:spcPts val="1100"/>
              </a:spcAft>
            </a:pPr>
            <a:r>
              <a:rPr sz="1600" b="1" i="0">
                <a:solidFill>
                  <a:srgbClr val="E8801A"/>
                </a:solidFill>
                <a:latin typeface="Montserrat"/>
              </a:rPr>
              <a:t>▸  </a:t>
            </a:r>
            <a:r>
              <a:rPr sz="1600" b="0" i="0">
                <a:solidFill>
                  <a:srgbClr val="1B2330"/>
                </a:solidFill>
                <a:latin typeface="Montserrat"/>
              </a:rPr>
              <a:t>Anotas el consumo que has regulado</a:t>
            </a:r>
          </a:p>
          <a:p>
            <a:pPr>
              <a:spcAft>
                <a:spcPts val="1100"/>
              </a:spcAft>
            </a:pPr>
            <a:r>
              <a:rPr sz="1600" b="1" i="0">
                <a:solidFill>
                  <a:srgbClr val="E8801A"/>
                </a:solidFill>
                <a:latin typeface="Montserrat"/>
              </a:rPr>
              <a:t>▸  </a:t>
            </a:r>
            <a:r>
              <a:rPr sz="1600" b="0" i="0">
                <a:solidFill>
                  <a:srgbClr val="1B2330"/>
                </a:solidFill>
                <a:latin typeface="Montserrat"/>
              </a:rPr>
              <a:t>Consumo en kW sobre PCI</a:t>
            </a:r>
          </a:p>
        </p:txBody>
      </p:sp>
      <p:sp>
        <p:nvSpPr>
          <p:cNvPr id="9" name="imgph" descr="IMGQ:technician writing on appliance labe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writing on appliance label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ADVERTENCIAS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dos advertencias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General: normas + lugar ventilado</a:t>
            </a:r>
          </a:p>
          <a:p>
            <a:pPr>
              <a:spcAft>
                <a:spcPts val="1100"/>
              </a:spcAft>
            </a:pPr>
            <a:r>
              <a:rPr sz="1600" b="1" i="0">
                <a:solidFill>
                  <a:srgbClr val="E8801A"/>
                </a:solidFill>
                <a:latin typeface="Montserrat"/>
              </a:rPr>
              <a:t>▸  </a:t>
            </a:r>
            <a:r>
              <a:rPr sz="1600" b="0" i="0">
                <a:solidFill>
                  <a:srgbClr val="1B2330"/>
                </a:solidFill>
                <a:latin typeface="Montserrat"/>
              </a:rPr>
              <a:t>General: consultar instrucciones</a:t>
            </a:r>
          </a:p>
          <a:p>
            <a:pPr>
              <a:spcAft>
                <a:spcPts val="1100"/>
              </a:spcAft>
            </a:pPr>
            <a:r>
              <a:rPr sz="1600" b="1" i="0">
                <a:solidFill>
                  <a:srgbClr val="E8801A"/>
                </a:solidFill>
                <a:latin typeface="Montserrat"/>
              </a:rPr>
              <a:t>▸  </a:t>
            </a:r>
            <a:r>
              <a:rPr sz="1600" b="0" i="0">
                <a:solidFill>
                  <a:srgbClr val="1B2330"/>
                </a:solidFill>
                <a:latin typeface="Montserrat"/>
              </a:rPr>
              <a:t>Exterior: uso exclusivo al aire libre</a:t>
            </a:r>
          </a:p>
        </p:txBody>
      </p:sp>
      <p:sp>
        <p:nvSpPr>
          <p:cNvPr id="9" name="imgph" descr="IMGQ:outdoor patio gas heat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outdoor patio gas heater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VERIFICACIÓN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Que la placa dure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Indelebilidad, corrosión y adherencia</a:t>
            </a:r>
          </a:p>
          <a:p>
            <a:pPr>
              <a:spcAft>
                <a:spcPts val="1100"/>
              </a:spcAft>
            </a:pPr>
            <a:r>
              <a:rPr sz="1600" b="1" i="0">
                <a:solidFill>
                  <a:srgbClr val="E8801A"/>
                </a:solidFill>
                <a:latin typeface="Montserrat"/>
              </a:rPr>
              <a:t>▸  </a:t>
            </a:r>
            <a:r>
              <a:rPr sz="1600" b="0" i="0">
                <a:solidFill>
                  <a:srgbClr val="1B2330"/>
                </a:solidFill>
                <a:latin typeface="Montserrat"/>
              </a:rPr>
              <a:t>Todo con la UNE 60750</a:t>
            </a:r>
          </a:p>
          <a:p>
            <a:pPr>
              <a:spcAft>
                <a:spcPts val="1100"/>
              </a:spcAft>
            </a:pPr>
            <a:r>
              <a:rPr sz="1600" b="1" i="0">
                <a:solidFill>
                  <a:srgbClr val="E8801A"/>
                </a:solidFill>
                <a:latin typeface="Montserrat"/>
              </a:rPr>
              <a:t>▸  </a:t>
            </a:r>
            <a:r>
              <a:rPr sz="1600" b="0" i="0">
                <a:solidFill>
                  <a:srgbClr val="1B2330"/>
                </a:solidFill>
                <a:latin typeface="Montserrat"/>
              </a:rPr>
              <a:t>Resiste frotamiento, humedad y calor</a:t>
            </a:r>
          </a:p>
        </p:txBody>
      </p:sp>
      <p:sp>
        <p:nvSpPr>
          <p:cNvPr id="9" name="imgph" descr="IMGQ:durability testing metal pla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durability testing metal plate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¿Con qué norma se verifican la indelebilidad, la corrosión y la adherencia de la placa de características?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UNE 60670-7</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UNE 60750</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UNE-EN ISO 9001</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UNE-EN 437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¿Con qué norma se verifican la indelebilidad, la corrosión y la adherencia de la placa de características?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UNE 60750</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Toda la placa (indelebilidad de los caracteres, resistencia a la corrosión y adherencia) se comprueba con la UNE 60750.</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red de seguridad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Aparatos sin norma específica</a:t>
            </a:r>
          </a:p>
          <a:p>
            <a:pPr>
              <a:spcAft>
                <a:spcPts val="1100"/>
              </a:spcAft>
            </a:pPr>
            <a:r>
              <a:rPr sz="1600" b="1" i="0">
                <a:solidFill>
                  <a:srgbClr val="E8801A"/>
                </a:solidFill>
                <a:latin typeface="Montserrat"/>
              </a:rPr>
              <a:t>▸  </a:t>
            </a:r>
            <a:r>
              <a:rPr sz="1600" b="0" i="0">
                <a:solidFill>
                  <a:srgbClr val="1B2330"/>
                </a:solidFill>
                <a:latin typeface="Montserrat"/>
              </a:rPr>
              <a:t>Requisitos y pruebas mínimas</a:t>
            </a:r>
          </a:p>
          <a:p>
            <a:pPr>
              <a:spcAft>
                <a:spcPts val="1100"/>
              </a:spcAft>
            </a:pPr>
            <a:r>
              <a:rPr sz="1600" b="1" i="0">
                <a:solidFill>
                  <a:srgbClr val="E8801A"/>
                </a:solidFill>
                <a:latin typeface="Montserrat"/>
              </a:rPr>
              <a:t>▸  </a:t>
            </a:r>
            <a:r>
              <a:rPr sz="1600" b="0" i="0">
                <a:solidFill>
                  <a:srgbClr val="1B2330"/>
                </a:solidFill>
                <a:latin typeface="Montserrat"/>
              </a:rPr>
              <a:t>Excluye homologados que cambian de familia</a:t>
            </a:r>
          </a:p>
        </p:txBody>
      </p:sp>
      <p:sp>
        <p:nvSpPr>
          <p:cNvPr id="9" name="imgph" descr="IMGQ:gas appliance safety inspec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safety inspection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2.1-2.2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Condiciones generales y materiales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Seguridad total en uso normal</a:t>
            </a:r>
          </a:p>
          <a:p>
            <a:pPr>
              <a:spcAft>
                <a:spcPts val="1100"/>
              </a:spcAft>
            </a:pPr>
            <a:r>
              <a:rPr sz="1600" b="1" i="0">
                <a:solidFill>
                  <a:srgbClr val="E8801A"/>
                </a:solidFill>
                <a:latin typeface="Montserrat"/>
              </a:rPr>
              <a:t>▸  </a:t>
            </a:r>
            <a:r>
              <a:rPr sz="1600" b="0" i="0">
                <a:solidFill>
                  <a:srgbClr val="1B2330"/>
                </a:solidFill>
                <a:latin typeface="Montserrat"/>
              </a:rPr>
              <a:t>Materiales: mecánica, química, térmica</a:t>
            </a:r>
          </a:p>
          <a:p>
            <a:pPr>
              <a:spcAft>
                <a:spcPts val="1100"/>
              </a:spcAft>
            </a:pPr>
            <a:r>
              <a:rPr sz="1600" b="1" i="0">
                <a:solidFill>
                  <a:srgbClr val="E8801A"/>
                </a:solidFill>
                <a:latin typeface="Montserrat"/>
              </a:rPr>
              <a:t>▸  </a:t>
            </a:r>
            <a:r>
              <a:rPr sz="1600" b="0" i="0">
                <a:solidFill>
                  <a:srgbClr val="1B2330"/>
                </a:solidFill>
                <a:latin typeface="Montserrat"/>
              </a:rPr>
              <a:t>Propiedades garantizadas por el fabricante</a:t>
            </a:r>
          </a:p>
        </p:txBody>
      </p:sp>
      <p:sp>
        <p:nvSpPr>
          <p:cNvPr id="9" name="imgph" descr="IMGQ:stainless steel burner materia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stainless steel burner material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2.3.1-2.3.20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Veinte prescripciones, seis ideas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Aguantar el uso, sin roturas</a:t>
            </a:r>
          </a:p>
          <a:p>
            <a:pPr>
              <a:spcAft>
                <a:spcPts val="1100"/>
              </a:spcAft>
            </a:pPr>
            <a:r>
              <a:rPr sz="1600" b="1" i="0">
                <a:solidFill>
                  <a:srgbClr val="E8801A"/>
                </a:solidFill>
                <a:latin typeface="Montserrat"/>
              </a:rPr>
              <a:t>▸  </a:t>
            </a:r>
            <a:r>
              <a:rPr sz="1600" b="0" i="0">
                <a:solidFill>
                  <a:srgbClr val="1B2330"/>
                </a:solidFill>
                <a:latin typeface="Montserrat"/>
              </a:rPr>
              <a:t>Sobrevivir a imprevistos (luz, incendio)</a:t>
            </a:r>
          </a:p>
          <a:p>
            <a:pPr>
              <a:spcAft>
                <a:spcPts val="1100"/>
              </a:spcAft>
            </a:pPr>
            <a:r>
              <a:rPr sz="1600" b="1" i="0">
                <a:solidFill>
                  <a:srgbClr val="E8801A"/>
                </a:solidFill>
                <a:latin typeface="Montserrat"/>
              </a:rPr>
              <a:t>▸  </a:t>
            </a:r>
            <a:r>
              <a:rPr sz="1600" b="0" i="0">
                <a:solidFill>
                  <a:srgbClr val="1B2330"/>
                </a:solidFill>
                <a:latin typeface="Montserrat"/>
              </a:rPr>
              <a:t>Nada de fugas peligrosas</a:t>
            </a:r>
          </a:p>
          <a:p>
            <a:pPr>
              <a:spcAft>
                <a:spcPts val="1100"/>
              </a:spcAft>
            </a:pPr>
            <a:r>
              <a:rPr sz="1600" b="1" i="0">
                <a:solidFill>
                  <a:srgbClr val="E8801A"/>
                </a:solidFill>
                <a:latin typeface="Montserrat"/>
              </a:rPr>
              <a:t>▸  </a:t>
            </a:r>
            <a:r>
              <a:rPr sz="1600" b="0" i="0">
                <a:solidFill>
                  <a:srgbClr val="1B2330"/>
                </a:solidFill>
                <a:latin typeface="Montserrat"/>
              </a:rPr>
              <a:t>Fallar sin peligro</a:t>
            </a:r>
          </a:p>
          <a:p>
            <a:pPr>
              <a:spcAft>
                <a:spcPts val="1100"/>
              </a:spcAft>
            </a:pPr>
            <a:r>
              <a:rPr sz="1600" b="1" i="0">
                <a:solidFill>
                  <a:srgbClr val="E8801A"/>
                </a:solidFill>
                <a:latin typeface="Montserrat"/>
              </a:rPr>
              <a:t>▸  </a:t>
            </a:r>
            <a:r>
              <a:rPr sz="1600" b="0" i="0">
                <a:solidFill>
                  <a:srgbClr val="1B2330"/>
                </a:solidFill>
                <a:latin typeface="Montserrat"/>
              </a:rPr>
              <a:t>Quemar bien; no quemar al usuario</a:t>
            </a:r>
          </a:p>
        </p:txBody>
      </p:sp>
      <p:sp>
        <p:nvSpPr>
          <p:cNvPr id="9" name="imgph" descr="IMGQ:gas safety valve mechanis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safety valve mechanism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PUNTO DE ORO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dispositivo del 2.3.15</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Interior: dispositivo anti-acumulación</a:t>
            </a:r>
          </a:p>
          <a:p>
            <a:pPr>
              <a:spcAft>
                <a:spcPts val="1100"/>
              </a:spcAft>
            </a:pPr>
            <a:r>
              <a:rPr sz="1600" b="1" i="0">
                <a:solidFill>
                  <a:srgbClr val="E8801A"/>
                </a:solidFill>
                <a:latin typeface="Montserrat"/>
              </a:rPr>
              <a:t>▸  </a:t>
            </a:r>
            <a:r>
              <a:rPr sz="1600" b="0" i="0">
                <a:solidFill>
                  <a:srgbClr val="1B2330"/>
                </a:solidFill>
                <a:latin typeface="Montserrat"/>
              </a:rPr>
              <a:t>Sin él: solo local bien ventilado</a:t>
            </a:r>
          </a:p>
          <a:p>
            <a:pPr>
              <a:spcAft>
                <a:spcPts val="1100"/>
              </a:spcAft>
            </a:pPr>
            <a:r>
              <a:rPr sz="1600" b="1" i="0">
                <a:solidFill>
                  <a:srgbClr val="E8801A"/>
                </a:solidFill>
                <a:latin typeface="Montserrat"/>
              </a:rPr>
              <a:t>▸  </a:t>
            </a:r>
            <a:r>
              <a:rPr sz="1600" b="0" i="0">
                <a:solidFill>
                  <a:srgbClr val="1B2330"/>
                </a:solidFill>
                <a:latin typeface="Montserrat"/>
              </a:rPr>
              <a:t>O uso exclusivo al aire libre</a:t>
            </a:r>
          </a:p>
        </p:txBody>
      </p:sp>
      <p:sp>
        <p:nvSpPr>
          <p:cNvPr id="9" name="imgph" descr="IMGQ:kitchen ventilation grille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kitchen ventilation grille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3.1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Prueba de estanquidad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Entre la llave del aparato y el quemador</a:t>
            </a:r>
          </a:p>
          <a:p>
            <a:pPr>
              <a:spcAft>
                <a:spcPts val="1100"/>
              </a:spcAft>
            </a:pPr>
            <a:r>
              <a:rPr sz="1600" b="1" i="0">
                <a:solidFill>
                  <a:srgbClr val="E8801A"/>
                </a:solidFill>
                <a:latin typeface="Montserrat"/>
              </a:rPr>
              <a:t>▸  </a:t>
            </a:r>
            <a:r>
              <a:rPr sz="1600" b="0" i="0">
                <a:solidFill>
                  <a:srgbClr val="1B2330"/>
                </a:solidFill>
                <a:latin typeface="Montserrat"/>
              </a:rPr>
              <a:t>A presión máxima de utilización</a:t>
            </a:r>
          </a:p>
          <a:p>
            <a:pPr>
              <a:spcAft>
                <a:spcPts val="1100"/>
              </a:spcAft>
            </a:pPr>
            <a:r>
              <a:rPr sz="1600" b="1" i="0">
                <a:solidFill>
                  <a:srgbClr val="E8801A"/>
                </a:solidFill>
                <a:latin typeface="Montserrat"/>
              </a:rPr>
              <a:t>▸  </a:t>
            </a:r>
            <a:r>
              <a:rPr sz="1600" b="0" i="0">
                <a:solidFill>
                  <a:srgbClr val="1B2330"/>
                </a:solidFill>
                <a:latin typeface="Montserrat"/>
              </a:rPr>
              <a:t>Válvulas de corte: sin fuga interior</a:t>
            </a:r>
          </a:p>
        </p:txBody>
      </p:sp>
      <p:sp>
        <p:nvSpPr>
          <p:cNvPr id="9" name="imgph" descr="IMGQ:gas pipe pressure test gaug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pressure test gauge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qué tramo se comprueba la estanquidad del aparato en la prueba del anexo 3?</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Entre el contador y la llave de acometida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Entre la llave del aparato y el quemador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En toda la instalación receptora de la vivienda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en el conducto de evacuación de humos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qué tramo se comprueba la estanquidad del aparato en la prueba del anexo 3?</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Entre la llave del aparato y el quemador</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prueba comprueba la estanquidad del circuito de gas entre la llave del aparato y el quemador, a la presión máxima de utilización, y que las válvulas de corte no tengan fuga interior.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3.2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Pruebas de funcionamiento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Encendido: sin golpes de presión</a:t>
            </a:r>
          </a:p>
          <a:p>
            <a:pPr>
              <a:spcAft>
                <a:spcPts val="1100"/>
              </a:spcAft>
            </a:pPr>
            <a:r>
              <a:rPr sz="1600" b="1" i="0">
                <a:solidFill>
                  <a:srgbClr val="E8801A"/>
                </a:solidFill>
                <a:latin typeface="Montserrat"/>
              </a:rPr>
              <a:t>▸  </a:t>
            </a:r>
            <a:r>
              <a:rPr sz="1600" b="0" i="0">
                <a:solidFill>
                  <a:srgbClr val="1B2330"/>
                </a:solidFill>
                <a:latin typeface="Montserrat"/>
              </a:rPr>
              <a:t>Barrido de cámara y tiempos de seguridad</a:t>
            </a:r>
          </a:p>
          <a:p>
            <a:pPr>
              <a:spcAft>
                <a:spcPts val="1100"/>
              </a:spcAft>
            </a:pPr>
            <a:r>
              <a:rPr sz="1600" b="1" i="0">
                <a:solidFill>
                  <a:srgbClr val="E8801A"/>
                </a:solidFill>
                <a:latin typeface="Montserrat"/>
              </a:rPr>
              <a:t>▸  </a:t>
            </a:r>
            <a:r>
              <a:rPr sz="1600" b="0" i="0">
                <a:solidFill>
                  <a:srgbClr val="1B2330"/>
                </a:solidFill>
                <a:latin typeface="Montserrat"/>
              </a:rPr>
              <a:t>Marcha: control de llama, presión y tiro</a:t>
            </a:r>
          </a:p>
          <a:p>
            <a:pPr>
              <a:spcAft>
                <a:spcPts val="1100"/>
              </a:spcAft>
            </a:pPr>
            <a:r>
              <a:rPr sz="1600" b="1" i="0">
                <a:solidFill>
                  <a:srgbClr val="E8801A"/>
                </a:solidFill>
                <a:latin typeface="Montserrat"/>
              </a:rPr>
              <a:t>▸  </a:t>
            </a:r>
            <a:r>
              <a:rPr sz="1600" b="0" i="0">
                <a:solidFill>
                  <a:srgbClr val="1B2330"/>
                </a:solidFill>
                <a:latin typeface="Montserrat"/>
              </a:rPr>
              <a:t>Consumo y análisis de combustión</a:t>
            </a:r>
          </a:p>
        </p:txBody>
      </p:sp>
      <p:sp>
        <p:nvSpPr>
          <p:cNvPr id="9" name="imgph" descr="IMGQ:boiler flame ignition sequen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boiler flame ignition sequence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3 · CIERRE DE PRUEBAS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Tiempos de seguridad y repaso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Válvula automática corta a tiempo</a:t>
            </a:r>
          </a:p>
          <a:p>
            <a:pPr>
              <a:spcAft>
                <a:spcPts val="1100"/>
              </a:spcAft>
            </a:pPr>
            <a:r>
              <a:rPr sz="1600" b="1" i="0">
                <a:solidFill>
                  <a:srgbClr val="E8801A"/>
                </a:solidFill>
                <a:latin typeface="Montserrat"/>
              </a:rPr>
              <a:t>▸  </a:t>
            </a:r>
            <a:r>
              <a:rPr sz="1600" b="0" i="0">
                <a:solidFill>
                  <a:srgbClr val="1B2330"/>
                </a:solidFill>
                <a:latin typeface="Montserrat"/>
              </a:rPr>
              <a:t>Ante fallo: no prende, se apaga, falla el tiro</a:t>
            </a:r>
          </a:p>
          <a:p>
            <a:pPr>
              <a:spcAft>
                <a:spcPts val="1100"/>
              </a:spcAft>
            </a:pPr>
            <a:r>
              <a:rPr sz="1600" b="1" i="0">
                <a:solidFill>
                  <a:srgbClr val="E8801A"/>
                </a:solidFill>
                <a:latin typeface="Montserrat"/>
              </a:rPr>
              <a:t>▸  </a:t>
            </a:r>
            <a:r>
              <a:rPr sz="1600" b="0" i="0">
                <a:solidFill>
                  <a:srgbClr val="1B2330"/>
                </a:solidFill>
                <a:latin typeface="Montserrat"/>
              </a:rPr>
              <a:t>Control visual: sin deformaciones</a:t>
            </a:r>
          </a:p>
          <a:p>
            <a:pPr>
              <a:spcAft>
                <a:spcPts val="1100"/>
              </a:spcAft>
            </a:pPr>
            <a:r>
              <a:rPr sz="1600" b="1" i="0">
                <a:solidFill>
                  <a:srgbClr val="E8801A"/>
                </a:solidFill>
                <a:latin typeface="Montserrat"/>
              </a:rPr>
              <a:t>▸  </a:t>
            </a:r>
            <a:r>
              <a:rPr sz="1600" b="0" i="0">
                <a:solidFill>
                  <a:srgbClr val="1B2330"/>
                </a:solidFill>
                <a:latin typeface="Montserrat"/>
              </a:rPr>
              <a:t>Marcados legibles</a:t>
            </a:r>
          </a:p>
        </p:txBody>
      </p:sp>
      <p:sp>
        <p:nvSpPr>
          <p:cNvPr id="9" name="imgph" descr="IMGQ:automatic gas shutoff val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automatic gas shutoff valve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Has cerrado la ITC-ICG 08 de principio a fin</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placa: DNI indeleble; toda ella se verifica con la UNE 60750</a:t>
            </a:r>
          </a:p>
          <a:p>
            <a:pPr>
              <a:spcAft>
                <a:spcPts val="1200"/>
              </a:spcAft>
            </a:pPr>
            <a:r>
              <a:rPr sz="2000" b="1" i="0">
                <a:solidFill>
                  <a:srgbClr val="F4A24C"/>
                </a:solidFill>
                <a:latin typeface="Montserrat"/>
              </a:rPr>
              <a:t>✓  </a:t>
            </a:r>
            <a:r>
              <a:rPr sz="1900" b="0" i="0">
                <a:solidFill>
                  <a:srgbClr val="FFFFFF"/>
                </a:solidFill>
                <a:latin typeface="Montserrat"/>
              </a:rPr>
              <a:t>Anexo 3: la red de seguridad sin norma propia</a:t>
            </a:r>
          </a:p>
          <a:p>
            <a:pPr>
              <a:spcAft>
                <a:spcPts val="1200"/>
              </a:spcAft>
            </a:pPr>
            <a:r>
              <a:rPr sz="2000" b="1" i="0">
                <a:solidFill>
                  <a:srgbClr val="F4A24C"/>
                </a:solidFill>
                <a:latin typeface="Montserrat"/>
              </a:rPr>
              <a:t>✓  </a:t>
            </a:r>
            <a:r>
              <a:rPr sz="1900" b="0" i="0">
                <a:solidFill>
                  <a:srgbClr val="FFFFFF"/>
                </a:solidFill>
                <a:latin typeface="Montserrat"/>
              </a:rPr>
              <a:t>2.3.15: dispositivo anti-acumulación o local ventilado</a:t>
            </a:r>
          </a:p>
          <a:p>
            <a:pPr>
              <a:spcAft>
                <a:spcPts val="1200"/>
              </a:spcAft>
            </a:pPr>
            <a:r>
              <a:rPr sz="2000" b="1" i="0">
                <a:solidFill>
                  <a:srgbClr val="F4A24C"/>
                </a:solidFill>
                <a:latin typeface="Montserrat"/>
              </a:rPr>
              <a:t>✓  </a:t>
            </a:r>
            <a:r>
              <a:rPr sz="1900" b="0" i="0">
                <a:solidFill>
                  <a:srgbClr val="FFFFFF"/>
                </a:solidFill>
                <a:latin typeface="Montserrat"/>
              </a:rPr>
              <a:t>Estanquidad caza fugas; funcionamiento caza el CO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lees un aparato como un profesional: de la placa al análisis de combustión. Enhorabuena, has cerrado el tema.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
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tiene que llevar su DNI y aguantar lo que promete. ¿Dónde lo dice?</a:t>
            </a:r>
          </a:p>
          <a:p>
            <a:r>
              <a:t>N2: En los dos últimos anexos de la ITC-ICG cero ocho. El anexo dos fija qué datos lleva la placa de características y cómo se comprueba que ese marcado no se borra. El anexo tres recoge las prescripciones de seguridad y las pruebas que debe superar un aparato cuando no existe una norma específica para él: el listado largo de exigencias de diseño, los famosos dos punto tres, y las pruebas de estanquidad y funcionamiento. Es denso, pero cae en el examen a base de detalles.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el cierre de la ITC?</a:t>
            </a:r>
          </a:p>
          <a:p>
            <a:r>
              <a:t>N2: Siete datos mínimos en la placa de características. Veinte prescripciones de seguridad en el anexo tres, del dos tres uno al dos tres veinte. Y dos pruebas mínimas: la de estanquidad y la de funcionamiento. Con estos tres números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exigencia con la placa?</a:t>
            </a:r>
          </a:p>
          <a:p>
            <a:r>
              <a:t>N2: Cada aparato incorpora una placa de características fijada de forma sólida y duradera, visible y legible, con caracteres indelebles, es decir, que no se borran. ¿Por qué indelebles? Porque dentro de años alguien tendrá que leerla para revisar o reparar el aparato. Igual que un coche lleva su ficha técnica, cada aparato lleva su placa con lo esencial.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lees exactamente en la placa?</a:t>
            </a:r>
          </a:p>
          <a:p>
            <a:r>
              <a:t>N2: Los datos mínimos son el nombre o marca del fabricante y, en su caso, el importador; la denominación comercial con marca y modelo; el número de serie o fabricación; la categoría del aparato; el tipo de gas en relación con la presión, indicando solo la presión del reglaje actual; el consumo calorífico nominal en kilovatios sobre PCI; y la naturaleza y tensión de la corriente eléctrica con la potencia máxima absorbida, en voltios, amperios, hercios y kilovatios. Son los datos que necesitas para regular, revisar y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placa la escribe solo la fábrica?</a:t>
            </a:r>
          </a:p>
          <a:p>
            <a:r>
              <a:t>N2: No del todo. En los aparatos de consumo calorífico regulable, la placa deja un espacio libre para que tú, el instalador, sitúes la indicación del valor del consumo al que lo has dejado regulado durante la puesta en marcha: es tu firma técnica sobre el propio aparato. Y ojo a las siglas: el consumo se expresa en kilovatios referidos al poder calorífico inferior, el PCI, que es la energía que da el gas sin aprovechar el calor del vapor de agua de los humos. Es la referencia estándar del sector.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frases obliga a poner la norma en el aparato?</a:t>
            </a:r>
          </a:p>
          <a:p>
            <a:r>
              <a:t>N2: La advertencia general dice, en esencia, instalar de acuerdo con las normas en vigor, utilizar únicamente en lugares suficientemente ventilados y consultar las instrucciones antes de instalar y usar. Y si el aparato es de uso exclusivo al aire libre, lleva además esa frase, que puede ir en la propia placa o en una placa independiente. No es adorno: meter en un local cerrado un aparato pensado para exterior es la receta de la intoxicación por 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comprueba que la placa aguanta con el tiempo?</a:t>
            </a:r>
          </a:p>
          <a:p>
            <a:r>
              <a:t>N2: No te compliques: la indelebilidad de los caracteres, la resistencia a la corrosión si la placa es metálica y la adherencia si es adhesiva se verifican con la misma norma, la UNE sesenta mil setecientos cincuenta. La lógica es sencilla: la placa tiene que durar tanto como el aparato aunque la froten, se moje o se caliente, y tras todos los ensayos debe seguir legible, sin deformarse y sin despegarse. De poco sirve un DNI que se borra al segundo año.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entra en juego el anexo tres?</a:t>
            </a:r>
          </a:p>
          <a:p>
            <a:r>
              <a:t>N2: Es el plan B de la conformidad que viste en el apartado tres: si no hay norma UNE o EN específica, se aplican los requisitos y pruebas del anexo tres para certificar un aparato huérfano de norma. Y la exclusión tiene su lógica: quedan fuera los aparatos ya homologados que vayan a usar un gas de distinta familia, siempre que ese cambio ya estuviera considerado en la homologación inicial. Si ya estaba previsto, no hay que pasar otra vez por aquí.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idea base arranca el anexo tres?</a:t>
            </a:r>
          </a:p>
          <a:p>
            <a:r>
              <a:t>N2: Con dos. Primera: el diseño y la fabricación deben ser tales que el aparato funcione con seguridad total y no entrañe peligro para personas, animales domésticos ni bienes, siempre que se use en condiciones normales de funcionamiento. Segunda: los materiales deben ser adecuados y resistentes a las condiciones mecánicas, químicas y térmicas a las que se sometan, y sus propiedades importantes para la seguridad las garantiza el fabricante o el proveedor. Estas prescripciones valen también para los equipos componentes cuando existe el riesgo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digiero veinte puntos sin perderme?</a:t>
            </a:r>
          </a:p>
          <a:p>
            <a:r>
              <a:t>N2: No los memorices sueltos, agrúpalos por idea. Aguantar el uso: sin desajuste, deformación ni rotura, y aguantando la presión. Sobrevivir a imprevistos: condensación, incendio de origen externo, cortes o fluctuaciones de la energía auxiliar. Nada de fugas peligrosas, ni por encendido ni acumuladas. Fallar sin peligro: si se rompe un dispositivo de seguridad, no debe haber peligro. Encender y quemar bien: encendido suave y cruzado, llama estable, combustión sin escapes. Y no quemar al usuario: temperaturas de mandos y superficies controladas. Con estos bloques colocas cualquier punto.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punto que más cae del anexo tres?</a:t>
            </a:r>
          </a:p>
          <a:p>
            <a:r>
              <a:t>N2: El dos, tres, quince. Los aparatos destinados a usarse en locales disponen de un dispositivo específico que evita la acumulación peligrosa de gas no quemado en el local; los que no lo llevan solo se usan en locales con ventilación suficiente o son de uso exclusivo al aire libre. Es el mismo criterio que ya veías en el manual técnico del vídeo uno y en las advertencias del aparato y del embalaje: todo encaja. Es lo que evita las fugas acumuladas, el revoco de humos y el 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prueba que el aparato no tiene fugas?</a:t>
            </a:r>
          </a:p>
          <a:p>
            <a:r>
              <a:t>N2: Ojo al tramo: se comprueba la estanquidad del circuito de gas entre la llave del aparato y el quemador, a la presión máxima de utilización. Y además, que no existe fuga interior a través de las válvulas de corte, es decir, que cuando están cerradas no dejan pasar gas. Es la garantía de que el aparato retiene el gas tanto por fuera como por dentro. Esta prueba es la que caza las fugas.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comprueba con el aparato trabajando?</a:t>
            </a:r>
          </a:p>
          <a:p>
            <a:r>
              <a:t>N2: Dos bloques. El arranque: que prenda bien, con barrido eficaz de la cámara si hace falta, encendido e interencendido correctos, sin fenómenos anómalos en la estabilidad de las llamas ni golpes de presión, respetando las secuencias del programador y los tiempos máximos de seguridad. Y la marcha: que los dispositivos hagan su trabajo, control de llama, control de presión de gas y de aire, control de tiro, consumo calorífico y análisis de los productos de la combustión al consumo nominal. Estas pruebas cazan la mala combustión y el CO.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importan tanto los tiempos máximos de seguridad?</a:t>
            </a:r>
          </a:p>
          <a:p>
            <a:r>
              <a:t>N2: Aparecen dos veces, en el encendido y en la marcha, porque son críticos: es el tiempo que el aparato puede tardar en cortar el gas si algo va mal, no prende, se apaga la llama o falla el tiro. Si tardara de más, se acumularía gas. Que una válvula automática cierre a tiempo ante un fallo detectado es de lo más importante que se prueba. Y al final, un control visual: que ni el elemento receptor ni el equipo de combustión se hayan deformado ni deteriorado, y que los marcados e instrucciones sigan legibles.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que cierra la ITC-ICG cero ocho, ¿en tres trazos?</a:t>
            </a:r>
          </a:p>
          <a:p>
            <a:r>
              <a:t>N2: Primero, la placa es el DNI del aparato: visible, legible e indeleble, y de ella sacas fabricante e importador, marca y modelo, número de serie, categoría, gas y presión de reglaje, consumo en kilovatios sobre PCI y datos eléctricos; si falta o está borrada, te quedas sin datos para trabajar. Segundo, el punto dos, tres, quince es de oro: aparato de interior con dispositivo anti-acumulación, o solo local bien ventilado o exterior. Y tercero, las pruebas separan un aparato seguro de una avería: la de estanquidad caza las fugas, entre la llave y el quemador a presión máxima; y las de funcionamiento cazan la mala combustión y el CO, con la válvula automática cortando a tiempo.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4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Placa de características y seguridad</a:t>
            </a:r>
          </a:p>
          <a:p>
            <a:r>
              <a:rPr sz="2200" b="0" i="0">
                <a:solidFill>
                  <a:srgbClr val="CADCFC"/>
                </a:solidFill>
                <a:latin typeface="Montserrat"/>
              </a:rPr>
              <a:t>Anexos 2 y 3: marcado, prescripciones y pruebas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datos mínimos de la placa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prescripciones de seguridad</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pruebas mínimas del aparato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PLACA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placa es el DNI del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Fijada sólida y duraderamente</a:t>
            </a:r>
          </a:p>
          <a:p>
            <a:pPr>
              <a:spcAft>
                <a:spcPts val="1000"/>
              </a:spcAft>
            </a:pPr>
            <a:r>
              <a:rPr sz="1600" b="1" i="0">
                <a:solidFill>
                  <a:srgbClr val="2E3A80"/>
                </a:solidFill>
                <a:latin typeface="Montserrat"/>
              </a:rPr>
              <a:t>•  </a:t>
            </a:r>
            <a:r>
              <a:rPr sz="1600" b="0" i="0">
                <a:solidFill>
                  <a:srgbClr val="1B2330"/>
                </a:solidFill>
                <a:latin typeface="Montserrat"/>
              </a:rPr>
              <a:t>Visible y legible</a:t>
            </a:r>
          </a:p>
          <a:p>
            <a:pPr>
              <a:spcAft>
                <a:spcPts val="1000"/>
              </a:spcAft>
            </a:pPr>
            <a:r>
              <a:rPr sz="1600" b="1" i="0">
                <a:solidFill>
                  <a:srgbClr val="2E3A80"/>
                </a:solidFill>
                <a:latin typeface="Montserrat"/>
              </a:rPr>
              <a:t>•  </a:t>
            </a:r>
            <a:r>
              <a:rPr sz="1600" b="0" i="0">
                <a:solidFill>
                  <a:srgbClr val="1B2330"/>
                </a:solidFill>
                <a:latin typeface="Montserrat"/>
              </a:rPr>
              <a:t>Caracteres indelebles</a:t>
            </a:r>
          </a:p>
        </p:txBody>
      </p:sp>
      <p:sp>
        <p:nvSpPr>
          <p:cNvPr id="8" name="imgph" descr="IMGQ:gas appliance metal name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metal nameplate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datos lleva la placa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Fabricante e importador</a:t>
            </a:r>
          </a:p>
          <a:p>
            <a:pPr>
              <a:spcAft>
                <a:spcPts val="1000"/>
              </a:spcAft>
            </a:pPr>
            <a:r>
              <a:rPr sz="1600" b="1" i="0">
                <a:solidFill>
                  <a:srgbClr val="2E3A80"/>
                </a:solidFill>
                <a:latin typeface="Montserrat"/>
              </a:rPr>
              <a:t>•  </a:t>
            </a:r>
            <a:r>
              <a:rPr sz="1600" b="0" i="0">
                <a:solidFill>
                  <a:srgbClr val="1B2330"/>
                </a:solidFill>
                <a:latin typeface="Montserrat"/>
              </a:rPr>
              <a:t>Marca y modelo; nº de serie</a:t>
            </a:r>
          </a:p>
          <a:p>
            <a:pPr>
              <a:spcAft>
                <a:spcPts val="1000"/>
              </a:spcAft>
            </a:pPr>
            <a:r>
              <a:rPr sz="1600" b="1" i="0">
                <a:solidFill>
                  <a:srgbClr val="2E3A80"/>
                </a:solidFill>
                <a:latin typeface="Montserrat"/>
              </a:rPr>
              <a:t>•  </a:t>
            </a:r>
            <a:r>
              <a:rPr sz="1600" b="0" i="0">
                <a:solidFill>
                  <a:srgbClr val="1B2330"/>
                </a:solidFill>
                <a:latin typeface="Montserrat"/>
              </a:rPr>
              <a:t>Categoría del aparato</a:t>
            </a:r>
          </a:p>
          <a:p>
            <a:pPr>
              <a:spcAft>
                <a:spcPts val="1000"/>
              </a:spcAft>
            </a:pPr>
            <a:r>
              <a:rPr sz="1600" b="1" i="0">
                <a:solidFill>
                  <a:srgbClr val="2E3A80"/>
                </a:solidFill>
                <a:latin typeface="Montserrat"/>
              </a:rPr>
              <a:t>•  </a:t>
            </a:r>
            <a:r>
              <a:rPr sz="1600" b="0" i="0">
                <a:solidFill>
                  <a:srgbClr val="1B2330"/>
                </a:solidFill>
                <a:latin typeface="Montserrat"/>
              </a:rPr>
              <a:t>Gas y presión de reglaje</a:t>
            </a:r>
          </a:p>
          <a:p>
            <a:pPr>
              <a:spcAft>
                <a:spcPts val="1000"/>
              </a:spcAft>
            </a:pPr>
            <a:r>
              <a:rPr sz="1600" b="1" i="0">
                <a:solidFill>
                  <a:srgbClr val="2E3A80"/>
                </a:solidFill>
                <a:latin typeface="Montserrat"/>
              </a:rPr>
              <a:t>•  </a:t>
            </a:r>
            <a:r>
              <a:rPr sz="1600" b="0" i="0">
                <a:solidFill>
                  <a:srgbClr val="1B2330"/>
                </a:solidFill>
                <a:latin typeface="Montserrat"/>
              </a:rPr>
              <a:t>Consumo (kW/PCI) y datos eléctricos</a:t>
            </a:r>
          </a:p>
        </p:txBody>
      </p:sp>
      <p:sp>
        <p:nvSpPr>
          <p:cNvPr id="8" name="imgph" descr="IMGQ:boiler rating plate data"/>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rating plate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DETALLES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hueco para tu anotación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Consumo regulable: espacio libre</a:t>
            </a:r>
          </a:p>
          <a:p>
            <a:pPr>
              <a:spcAft>
                <a:spcPts val="1000"/>
              </a:spcAft>
            </a:pPr>
            <a:r>
              <a:rPr sz="1600" b="1" i="0">
                <a:solidFill>
                  <a:srgbClr val="2E3A80"/>
                </a:solidFill>
                <a:latin typeface="Montserrat"/>
              </a:rPr>
              <a:t>•  </a:t>
            </a:r>
            <a:r>
              <a:rPr sz="1600" b="0" i="0">
                <a:solidFill>
                  <a:srgbClr val="1B2330"/>
                </a:solidFill>
                <a:latin typeface="Montserrat"/>
              </a:rPr>
              <a:t>Anotas el consumo que has regulado</a:t>
            </a:r>
          </a:p>
          <a:p>
            <a:pPr>
              <a:spcAft>
                <a:spcPts val="1000"/>
              </a:spcAft>
            </a:pPr>
            <a:r>
              <a:rPr sz="1600" b="1" i="0">
                <a:solidFill>
                  <a:srgbClr val="2E3A80"/>
                </a:solidFill>
                <a:latin typeface="Montserrat"/>
              </a:rPr>
              <a:t>•  </a:t>
            </a:r>
            <a:r>
              <a:rPr sz="1600" b="0" i="0">
                <a:solidFill>
                  <a:srgbClr val="1B2330"/>
                </a:solidFill>
                <a:latin typeface="Montserrat"/>
              </a:rPr>
              <a:t>Consumo en kW sobre PCI</a:t>
            </a:r>
          </a:p>
        </p:txBody>
      </p:sp>
      <p:sp>
        <p:nvSpPr>
          <p:cNvPr id="8" name="imgph" descr="IMGQ:technician writing on appliance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writing on appliance label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dos advertencias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General: normas + lugar ventilado</a:t>
            </a:r>
          </a:p>
          <a:p>
            <a:pPr>
              <a:spcAft>
                <a:spcPts val="1000"/>
              </a:spcAft>
            </a:pPr>
            <a:r>
              <a:rPr sz="1600" b="1" i="0">
                <a:solidFill>
                  <a:srgbClr val="2E3A80"/>
                </a:solidFill>
                <a:latin typeface="Montserrat"/>
              </a:rPr>
              <a:t>•  </a:t>
            </a:r>
            <a:r>
              <a:rPr sz="1600" b="0" i="0">
                <a:solidFill>
                  <a:srgbClr val="1B2330"/>
                </a:solidFill>
                <a:latin typeface="Montserrat"/>
              </a:rPr>
              <a:t>General: consultar instrucciones</a:t>
            </a:r>
          </a:p>
          <a:p>
            <a:pPr>
              <a:spcAft>
                <a:spcPts val="1000"/>
              </a:spcAft>
            </a:pPr>
            <a:r>
              <a:rPr sz="1600" b="1" i="0">
                <a:solidFill>
                  <a:srgbClr val="2E3A80"/>
                </a:solidFill>
                <a:latin typeface="Montserrat"/>
              </a:rPr>
              <a:t>•  </a:t>
            </a:r>
            <a:r>
              <a:rPr sz="1600" b="0" i="0">
                <a:solidFill>
                  <a:srgbClr val="1B2330"/>
                </a:solidFill>
                <a:latin typeface="Montserrat"/>
              </a:rPr>
              <a:t>Exterior: uso exclusivo al aire libre</a:t>
            </a:r>
          </a:p>
        </p:txBody>
      </p:sp>
      <p:sp>
        <p:nvSpPr>
          <p:cNvPr id="8" name="imgph" descr="IMGQ:outdoor patio gas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patio gas heater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2 · VERIFICACIÓN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 la placa dure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Indelebilidad, corrosión y adherencia</a:t>
            </a:r>
          </a:p>
          <a:p>
            <a:pPr>
              <a:spcAft>
                <a:spcPts val="1000"/>
              </a:spcAft>
            </a:pPr>
            <a:r>
              <a:rPr sz="1600" b="1" i="0">
                <a:solidFill>
                  <a:srgbClr val="2E3A80"/>
                </a:solidFill>
                <a:latin typeface="Montserrat"/>
              </a:rPr>
              <a:t>•  </a:t>
            </a:r>
            <a:r>
              <a:rPr sz="1600" b="0" i="0">
                <a:solidFill>
                  <a:srgbClr val="1B2330"/>
                </a:solidFill>
                <a:latin typeface="Montserrat"/>
              </a:rPr>
              <a:t>Todo con la UNE 60750</a:t>
            </a:r>
          </a:p>
          <a:p>
            <a:pPr>
              <a:spcAft>
                <a:spcPts val="1000"/>
              </a:spcAft>
            </a:pPr>
            <a:r>
              <a:rPr sz="1600" b="1" i="0">
                <a:solidFill>
                  <a:srgbClr val="2E3A80"/>
                </a:solidFill>
                <a:latin typeface="Montserrat"/>
              </a:rPr>
              <a:t>•  </a:t>
            </a:r>
            <a:r>
              <a:rPr sz="1600" b="0" i="0">
                <a:solidFill>
                  <a:srgbClr val="1B2330"/>
                </a:solidFill>
                <a:latin typeface="Montserrat"/>
              </a:rPr>
              <a:t>Resiste frotamiento, humedad y calor</a:t>
            </a:r>
          </a:p>
        </p:txBody>
      </p:sp>
      <p:sp>
        <p:nvSpPr>
          <p:cNvPr id="8" name="imgph" descr="IMGQ:durability testing metal 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durability testing metal plate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red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Aparatos sin norma específica</a:t>
            </a:r>
          </a:p>
          <a:p>
            <a:pPr>
              <a:spcAft>
                <a:spcPts val="1000"/>
              </a:spcAft>
            </a:pPr>
            <a:r>
              <a:rPr sz="1600" b="1" i="0">
                <a:solidFill>
                  <a:srgbClr val="2E3A80"/>
                </a:solidFill>
                <a:latin typeface="Montserrat"/>
              </a:rPr>
              <a:t>•  </a:t>
            </a:r>
            <a:r>
              <a:rPr sz="1600" b="0" i="0">
                <a:solidFill>
                  <a:srgbClr val="1B2330"/>
                </a:solidFill>
                <a:latin typeface="Montserrat"/>
              </a:rPr>
              <a:t>Requisitos y pruebas mínimas</a:t>
            </a:r>
          </a:p>
          <a:p>
            <a:pPr>
              <a:spcAft>
                <a:spcPts val="1000"/>
              </a:spcAft>
            </a:pPr>
            <a:r>
              <a:rPr sz="1600" b="1" i="0">
                <a:solidFill>
                  <a:srgbClr val="2E3A80"/>
                </a:solidFill>
                <a:latin typeface="Montserrat"/>
              </a:rPr>
              <a:t>•  </a:t>
            </a:r>
            <a:r>
              <a:rPr sz="1600" b="0" i="0">
                <a:solidFill>
                  <a:srgbClr val="1B2330"/>
                </a:solidFill>
                <a:latin typeface="Montserrat"/>
              </a:rPr>
              <a:t>Excluye homologados que cambian de familia</a:t>
            </a:r>
          </a:p>
        </p:txBody>
      </p:sp>
      <p:sp>
        <p:nvSpPr>
          <p:cNvPr id="8" name="imgph" descr="IMGQ:gas appliance safety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safety inspection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2.1-2.2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Condiciones generales y materiales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Seguridad total en uso normal</a:t>
            </a:r>
          </a:p>
          <a:p>
            <a:pPr>
              <a:spcAft>
                <a:spcPts val="1000"/>
              </a:spcAft>
            </a:pPr>
            <a:r>
              <a:rPr sz="1600" b="1" i="0">
                <a:solidFill>
                  <a:srgbClr val="2E3A80"/>
                </a:solidFill>
                <a:latin typeface="Montserrat"/>
              </a:rPr>
              <a:t>•  </a:t>
            </a:r>
            <a:r>
              <a:rPr sz="1600" b="0" i="0">
                <a:solidFill>
                  <a:srgbClr val="1B2330"/>
                </a:solidFill>
                <a:latin typeface="Montserrat"/>
              </a:rPr>
              <a:t>Materiales: mecánica, química, térmica</a:t>
            </a:r>
          </a:p>
          <a:p>
            <a:pPr>
              <a:spcAft>
                <a:spcPts val="1000"/>
              </a:spcAft>
            </a:pPr>
            <a:r>
              <a:rPr sz="1600" b="1" i="0">
                <a:solidFill>
                  <a:srgbClr val="2E3A80"/>
                </a:solidFill>
                <a:latin typeface="Montserrat"/>
              </a:rPr>
              <a:t>•  </a:t>
            </a:r>
            <a:r>
              <a:rPr sz="1600" b="0" i="0">
                <a:solidFill>
                  <a:srgbClr val="1B2330"/>
                </a:solidFill>
                <a:latin typeface="Montserrat"/>
              </a:rPr>
              <a:t>Propiedades garantizadas por el fabricante</a:t>
            </a:r>
          </a:p>
        </p:txBody>
      </p:sp>
      <p:sp>
        <p:nvSpPr>
          <p:cNvPr id="8" name="imgph" descr="IMGQ:stainless steel burner mate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burner material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2.3.1-2.3.20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Veinte prescripciones, seis ideas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Aguantar el uso, sin roturas</a:t>
            </a:r>
          </a:p>
          <a:p>
            <a:pPr>
              <a:spcAft>
                <a:spcPts val="1000"/>
              </a:spcAft>
            </a:pPr>
            <a:r>
              <a:rPr sz="1600" b="1" i="0">
                <a:solidFill>
                  <a:srgbClr val="2E3A80"/>
                </a:solidFill>
                <a:latin typeface="Montserrat"/>
              </a:rPr>
              <a:t>•  </a:t>
            </a:r>
            <a:r>
              <a:rPr sz="1600" b="0" i="0">
                <a:solidFill>
                  <a:srgbClr val="1B2330"/>
                </a:solidFill>
                <a:latin typeface="Montserrat"/>
              </a:rPr>
              <a:t>Sobrevivir a imprevistos (luz, incendio)</a:t>
            </a:r>
          </a:p>
          <a:p>
            <a:pPr>
              <a:spcAft>
                <a:spcPts val="1000"/>
              </a:spcAft>
            </a:pPr>
            <a:r>
              <a:rPr sz="1600" b="1" i="0">
                <a:solidFill>
                  <a:srgbClr val="2E3A80"/>
                </a:solidFill>
                <a:latin typeface="Montserrat"/>
              </a:rPr>
              <a:t>•  </a:t>
            </a:r>
            <a:r>
              <a:rPr sz="1600" b="0" i="0">
                <a:solidFill>
                  <a:srgbClr val="1B2330"/>
                </a:solidFill>
                <a:latin typeface="Montserrat"/>
              </a:rPr>
              <a:t>Nada de fugas peligrosas</a:t>
            </a:r>
          </a:p>
          <a:p>
            <a:pPr>
              <a:spcAft>
                <a:spcPts val="1000"/>
              </a:spcAft>
            </a:pPr>
            <a:r>
              <a:rPr sz="1600" b="1" i="0">
                <a:solidFill>
                  <a:srgbClr val="2E3A80"/>
                </a:solidFill>
                <a:latin typeface="Montserrat"/>
              </a:rPr>
              <a:t>•  </a:t>
            </a:r>
            <a:r>
              <a:rPr sz="1600" b="0" i="0">
                <a:solidFill>
                  <a:srgbClr val="1B2330"/>
                </a:solidFill>
                <a:latin typeface="Montserrat"/>
              </a:rPr>
              <a:t>Fallar sin peligro</a:t>
            </a:r>
          </a:p>
          <a:p>
            <a:pPr>
              <a:spcAft>
                <a:spcPts val="1000"/>
              </a:spcAft>
            </a:pPr>
            <a:r>
              <a:rPr sz="1600" b="1" i="0">
                <a:solidFill>
                  <a:srgbClr val="2E3A80"/>
                </a:solidFill>
                <a:latin typeface="Montserrat"/>
              </a:rPr>
              <a:t>•  </a:t>
            </a:r>
            <a:r>
              <a:rPr sz="1600" b="0" i="0">
                <a:solidFill>
                  <a:srgbClr val="1B2330"/>
                </a:solidFill>
                <a:latin typeface="Montserrat"/>
              </a:rPr>
              <a:t>Encender y quemar bien; no quemar al usuario</a:t>
            </a:r>
          </a:p>
        </p:txBody>
      </p:sp>
      <p:sp>
        <p:nvSpPr>
          <p:cNvPr id="8" name="imgph" descr="IMGQ:gas safety valve mechanis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valve mechanism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PUNTO DE ORO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dispositivo del 2.3.15</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Interior: dispositivo anti-acumulación</a:t>
            </a:r>
          </a:p>
          <a:p>
            <a:pPr>
              <a:spcAft>
                <a:spcPts val="1000"/>
              </a:spcAft>
            </a:pPr>
            <a:r>
              <a:rPr sz="1600" b="1" i="0">
                <a:solidFill>
                  <a:srgbClr val="2E3A80"/>
                </a:solidFill>
                <a:latin typeface="Montserrat"/>
              </a:rPr>
              <a:t>•  </a:t>
            </a:r>
            <a:r>
              <a:rPr sz="1600" b="0" i="0">
                <a:solidFill>
                  <a:srgbClr val="1B2330"/>
                </a:solidFill>
                <a:latin typeface="Montserrat"/>
              </a:rPr>
              <a:t>Sin él: solo local bien ventilado</a:t>
            </a:r>
          </a:p>
          <a:p>
            <a:pPr>
              <a:spcAft>
                <a:spcPts val="1000"/>
              </a:spcAft>
            </a:pPr>
            <a:r>
              <a:rPr sz="1600" b="1" i="0">
                <a:solidFill>
                  <a:srgbClr val="2E3A80"/>
                </a:solidFill>
                <a:latin typeface="Montserrat"/>
              </a:rPr>
              <a:t>•  </a:t>
            </a:r>
            <a:r>
              <a:rPr sz="1600" b="0" i="0">
                <a:solidFill>
                  <a:srgbClr val="1B2330"/>
                </a:solidFill>
                <a:latin typeface="Montserrat"/>
              </a:rPr>
              <a:t>O uso exclusivo al aire libre</a:t>
            </a:r>
          </a:p>
        </p:txBody>
      </p:sp>
      <p:sp>
        <p:nvSpPr>
          <p:cNvPr id="8" name="imgph" descr="IMGQ:kitchen ventilation grill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ventilation grille wall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3.1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 de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Entre la llave del aparato y el quemador</a:t>
            </a:r>
          </a:p>
          <a:p>
            <a:pPr>
              <a:spcAft>
                <a:spcPts val="1000"/>
              </a:spcAft>
            </a:pPr>
            <a:r>
              <a:rPr sz="1600" b="1" i="0">
                <a:solidFill>
                  <a:srgbClr val="2E3A80"/>
                </a:solidFill>
                <a:latin typeface="Montserrat"/>
              </a:rPr>
              <a:t>•  </a:t>
            </a:r>
            <a:r>
              <a:rPr sz="1600" b="0" i="0">
                <a:solidFill>
                  <a:srgbClr val="1B2330"/>
                </a:solidFill>
                <a:latin typeface="Montserrat"/>
              </a:rPr>
              <a:t>A presión máxima de utilización</a:t>
            </a:r>
          </a:p>
          <a:p>
            <a:pPr>
              <a:spcAft>
                <a:spcPts val="1000"/>
              </a:spcAft>
            </a:pPr>
            <a:r>
              <a:rPr sz="1600" b="1" i="0">
                <a:solidFill>
                  <a:srgbClr val="2E3A80"/>
                </a:solidFill>
                <a:latin typeface="Montserrat"/>
              </a:rPr>
              <a:t>•  </a:t>
            </a:r>
            <a:r>
              <a:rPr sz="1600" b="0" i="0">
                <a:solidFill>
                  <a:srgbClr val="1B2330"/>
                </a:solidFill>
                <a:latin typeface="Montserrat"/>
              </a:rPr>
              <a:t>Válvulas de corte: sin fuga interior</a:t>
            </a:r>
          </a:p>
        </p:txBody>
      </p:sp>
      <p:sp>
        <p:nvSpPr>
          <p:cNvPr id="8"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3.2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Pruebas de funcionamiento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Encendido: sin golpes de presión</a:t>
            </a:r>
          </a:p>
          <a:p>
            <a:pPr>
              <a:spcAft>
                <a:spcPts val="1000"/>
              </a:spcAft>
            </a:pPr>
            <a:r>
              <a:rPr sz="1600" b="1" i="0">
                <a:solidFill>
                  <a:srgbClr val="2E3A80"/>
                </a:solidFill>
                <a:latin typeface="Montserrat"/>
              </a:rPr>
              <a:t>•  </a:t>
            </a:r>
            <a:r>
              <a:rPr sz="1600" b="0" i="0">
                <a:solidFill>
                  <a:srgbClr val="1B2330"/>
                </a:solidFill>
                <a:latin typeface="Montserrat"/>
              </a:rPr>
              <a:t>Barrido de cámara y tiempos de seguridad</a:t>
            </a:r>
          </a:p>
          <a:p>
            <a:pPr>
              <a:spcAft>
                <a:spcPts val="1000"/>
              </a:spcAft>
            </a:pPr>
            <a:r>
              <a:rPr sz="1600" b="1" i="0">
                <a:solidFill>
                  <a:srgbClr val="2E3A80"/>
                </a:solidFill>
                <a:latin typeface="Montserrat"/>
              </a:rPr>
              <a:t>•  </a:t>
            </a:r>
            <a:r>
              <a:rPr sz="1600" b="0" i="0">
                <a:solidFill>
                  <a:srgbClr val="1B2330"/>
                </a:solidFill>
                <a:latin typeface="Montserrat"/>
              </a:rPr>
              <a:t>Marcha: control de llama, presión y tiro</a:t>
            </a:r>
          </a:p>
          <a:p>
            <a:pPr>
              <a:spcAft>
                <a:spcPts val="1000"/>
              </a:spcAft>
            </a:pPr>
            <a:r>
              <a:rPr sz="1600" b="1" i="0">
                <a:solidFill>
                  <a:srgbClr val="2E3A80"/>
                </a:solidFill>
                <a:latin typeface="Montserrat"/>
              </a:rPr>
              <a:t>•  </a:t>
            </a:r>
            <a:r>
              <a:rPr sz="1600" b="0" i="0">
                <a:solidFill>
                  <a:srgbClr val="1B2330"/>
                </a:solidFill>
                <a:latin typeface="Montserrat"/>
              </a:rPr>
              <a:t>Consumo y análisis de combustión</a:t>
            </a:r>
          </a:p>
        </p:txBody>
      </p:sp>
      <p:sp>
        <p:nvSpPr>
          <p:cNvPr id="8" name="imgph" descr="IMGQ:boiler flame ignition seque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flame ignition 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3 · CIERRE DE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Tiempos de seguridad y repaso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Válvula automática corta a tiempo</a:t>
            </a:r>
          </a:p>
          <a:p>
            <a:pPr>
              <a:spcAft>
                <a:spcPts val="1000"/>
              </a:spcAft>
            </a:pPr>
            <a:r>
              <a:rPr sz="1600" b="1" i="0">
                <a:solidFill>
                  <a:srgbClr val="2E3A80"/>
                </a:solidFill>
                <a:latin typeface="Montserrat"/>
              </a:rPr>
              <a:t>•  </a:t>
            </a:r>
            <a:r>
              <a:rPr sz="1600" b="0" i="0">
                <a:solidFill>
                  <a:srgbClr val="1B2330"/>
                </a:solidFill>
                <a:latin typeface="Montserrat"/>
              </a:rPr>
              <a:t>Ante fallo: no prende, se apaga, falla el tiro</a:t>
            </a:r>
          </a:p>
          <a:p>
            <a:pPr>
              <a:spcAft>
                <a:spcPts val="1000"/>
              </a:spcAft>
            </a:pPr>
            <a:r>
              <a:rPr sz="1600" b="1" i="0">
                <a:solidFill>
                  <a:srgbClr val="2E3A80"/>
                </a:solidFill>
                <a:latin typeface="Montserrat"/>
              </a:rPr>
              <a:t>•  </a:t>
            </a:r>
            <a:r>
              <a:rPr sz="1600" b="0" i="0">
                <a:solidFill>
                  <a:srgbClr val="1B2330"/>
                </a:solidFill>
                <a:latin typeface="Montserrat"/>
              </a:rPr>
              <a:t>Control visual: sin deformaciones</a:t>
            </a:r>
          </a:p>
          <a:p>
            <a:pPr>
              <a:spcAft>
                <a:spcPts val="1000"/>
              </a:spcAft>
            </a:pPr>
            <a:r>
              <a:rPr sz="1600" b="1" i="0">
                <a:solidFill>
                  <a:srgbClr val="2E3A80"/>
                </a:solidFill>
                <a:latin typeface="Montserrat"/>
              </a:rPr>
              <a:t>•  </a:t>
            </a:r>
            <a:r>
              <a:rPr sz="1600" b="0" i="0">
                <a:solidFill>
                  <a:srgbClr val="1B2330"/>
                </a:solidFill>
                <a:latin typeface="Montserrat"/>
              </a:rPr>
              <a:t>Marcados legibles</a:t>
            </a:r>
          </a:p>
        </p:txBody>
      </p:sp>
      <p:sp>
        <p:nvSpPr>
          <p:cNvPr id="8" name="imgph" descr="IMGQ:automatic gas shut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automatic gas shutoff valve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Placa = DNI indeleble (anexo 2)</a:t>
            </a:r>
          </a:p>
          <a:p>
            <a:pPr>
              <a:spcAft>
                <a:spcPts val="1400"/>
              </a:spcAft>
            </a:pPr>
            <a:r>
              <a:rPr sz="2000" b="1" i="0">
                <a:solidFill>
                  <a:srgbClr val="2E3A80"/>
                </a:solidFill>
                <a:latin typeface="Montserrat"/>
              </a:rPr>
              <a:t>✓  </a:t>
            </a:r>
            <a:r>
              <a:rPr sz="2000" b="0" i="0">
                <a:solidFill>
                  <a:srgbClr val="1B2330"/>
                </a:solidFill>
                <a:latin typeface="Montserrat"/>
              </a:rPr>
              <a:t>2.3.15: anti-acumulación o ventilado</a:t>
            </a:r>
          </a:p>
          <a:p>
            <a:pPr>
              <a:spcAft>
                <a:spcPts val="1400"/>
              </a:spcAft>
            </a:pPr>
            <a:r>
              <a:rPr sz="2000" b="1" i="0">
                <a:solidFill>
                  <a:srgbClr val="2E3A80"/>
                </a:solidFill>
                <a:latin typeface="Montserrat"/>
              </a:rPr>
              <a:t>✓  </a:t>
            </a:r>
            <a:r>
              <a:rPr sz="2000" b="0" i="0">
                <a:solidFill>
                  <a:srgbClr val="1B2330"/>
                </a:solidFill>
                <a:latin typeface="Montserrat"/>
              </a:rPr>
              <a:t>Estanquidad y funcionamiento: sin fugas ni 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
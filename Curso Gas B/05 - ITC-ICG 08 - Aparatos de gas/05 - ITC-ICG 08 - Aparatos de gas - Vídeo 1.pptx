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gas lo quema el aparato. ¿Y quién manda sobre el aparato?</a:t>
            </a:r>
          </a:p>
          <a:p>
            <a:r>
              <a:t>N2: Manda esta instrucción, la ITC-ICG cero ocho. Hasta ahora hemos hablado mucho del tubo, de la instalación; ahora nos vamos al final del recorrido, a la caldera o al calentador que quema el gas. Esta norma regula cuatro cosas: qué aparatos pueden venderse, cómo se demuestra que son seguros, qué papeles y advertencias los acompañan, y cómo se marcan. En este primer vídeo vemos la parte más de fábrica: objeto, comercialización, conformidad y marcado. Es decir, todo lo que la norma exige antes de que el aparato llegue a tus manos.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números conviene tener en la cabeza antes de empezar?</a:t>
            </a:r>
          </a:p>
          <a:p>
            <a:r>
              <a:t>N2: Tres. Cuatro apartados, que son objeto, comercialización, conformidad y marcado, el esqueleto del vídeo. Dos manuales distintos que van con todo aparato: el técnico, para ti, y el de uso, para el cliente. Y tres patas, las tres condiciones que se tienen que dar a la vez para que un aparato esté en condiciones normales de funcionamiento. Si retienes estos tres números, el vídeo entra solo.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qué va exactamente esta instrucción?</a:t>
            </a:r>
          </a:p>
          <a:p>
            <a:r>
              <a:t>N2: Empecemos por lo más básico: hasta ahora, cada ITC regulaba una parte de la instalación, la tubería, la acometida, el contador. Esta va del aparato en sí, la caldera, el calentador, el quemador. Fija tres cosas: los criterios técnicos y documentales, los requisitos esenciales de seguridad y los medios de certificación. Y aquí está la clave: deja fuera de la parte de seguridad los aparatos que ya tienen su propia directiva europea, los que llevan marcado CE por esa directiva, porque esos ya van certificados por otro camino. Ejemplo: una caldera doméstica con CE por su directiva ya está cubierta; un aparato sin directiva específica cae aquí.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 qué aparatos se les aplica cada parte de la norma?</a:t>
            </a:r>
          </a:p>
          <a:p>
            <a:r>
              <a:t>N2: Aquí hay que fijarse, porque tiene truco. La ITC tiene dos puertas. La parte de seguridad y certificación solo se aplica a los aparatos que no están cubiertos por una directiva europea propia. Pero la parte de documentación y puesta en marcha se aplica a todos los aparatos a gas, tengan CE o no. Regla mental: seguridad de fábrica, solo a los que no tienen directiva propia; arrancar el aparato en casa del cliente, a todos. Y una palabra importante: la puesta en marcha es verificar que el aparato funciona según los parámetros del fabricante en su ubicación e instalación definitivas. Es decir, no en el taller ni en la tienda, sino ya montado y conectado en su sitio, porque el tiro, la ventilación y la presión reales mandan. Un calentador que va fino en el mostrador puede darte llama amarilla, hollín y monóxido de carbono en un baño mal ventilado.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se permite vender y arrancar un aparato?</a:t>
            </a:r>
          </a:p>
          <a:p>
            <a:r>
              <a:t>N2: La idea es de sentido común y luego la norma la afina. Solo se permite comercializar y poner en marcha aparatos que, en condiciones normales de funcionamiento, no pongan en peligro la seguridad de personas, animales ni bienes. La otra cara: si un aparato cumple esta ITC, nadie puede prohibir, limitar ni obstaculizar su venta; sería competencia desleal. Pero si se comprueba que un aparato entraña riesgos, la Administración competente, que es la comunidad autónoma, adopta medidas para retirarlo del mercado o restringir su comercialización. Ejemplo: un modelo con un defecto de fábrica que provoca fugas puede ser retirado de las tiendas por la comunidad autónoma.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Esa fórmula, condiciones normales de funcionamiento, se repite por toda la ITC. ¿Qué significa?</a:t>
            </a:r>
          </a:p>
          <a:p>
            <a:r>
              <a:t>N2: Grábate que son tres patas, y tienen que darse las tres a la vez. Una: que esté bien instalado y con mantenimiento periódico, según las instrucciones del fabricante. Dos: que se use con el gas correcto, dentro del Índice de Wobbe y la presión de suministro previstos. Y tres: que se use para lo que es, sus fines previstos. El Índice de Wobbe, para que nos entendamos, es un número que mide la energía que entrega un gas por el quemador; no necesitas calcularlo, solo saber que define qué gases valen para ese aparato. Si el gas de la red se sale de ese rango, el aparato deja de estar en condiciones normales. Ejemplo: enganchar un aparato preparado para butano a una red de gas natural sin adecuarlo te da llamas amarillas e inquemados.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papeles tienen que acompañar al aparato cuando se vende?</a:t>
            </a:r>
          </a:p>
          <a:p>
            <a:r>
              <a:t>N2: Piénsalo así: un aparato no se vende solo, se vende con su documentación. Y son dos manuales distintos que conviene no confundir. El manual de información técnica, que es para ti, el instalador: cómo instalar, regular y mantener. Y el manual de instrucciones de uso y mantenimiento, que es para el cliente: cómo encenderlo y usarlo sin peligro. Más las advertencias, que van en el propio aparato y en su embalaje. Y todo, como mínimo, en español. Truco de examen: si te ofrecen la opción de que basta con que venga en inglés, es falsa.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manual técnico trae una lista larguísima. ¿Qué datos no pueden faltar?</a:t>
            </a:r>
          </a:p>
          <a:p>
            <a:r>
              <a:t>N2: Es verdad que la lista es larga, pero no todo pesa igual. Quédate con las estrellas: tipo de gas, presión de suministro, consumo nominal, aire de combustión, evacuación de los gases y datos eléctricos con el esquema de bornes. ¿Por qué esos? Porque son los datos que necesitas sí o sí para montar y regular el aparato. El resto, como el caudal másico en gramos por segundo para el cálculo de chimeneas, o las combinaciones de quemadores de aire forzado, son detalles que la norma añade para casos concretos. Ejemplo: sin la presión de suministro no sabes a qué presión regular la caldera, y sin el aire de combustión no sabes qué ventilación exige el local.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manual que se queda el usuario, qué le cuenta?</a:t>
            </a:r>
          </a:p>
          <a:p>
            <a:r>
              <a:t>N2: Está escrito a prueba de sustos, pensando en una persona que no es técnica. Le explica las restricciones de uso, cómo encender y usar los elementos regulables, la limpieza y el mantenimiento básico, y le avisa de que un experto cualificado debe revisarlo periódicamente. Y hay una expresión de examen: la advertencia contra falsas maniobras, que es no tocar lo que no se debe tocar. Cuando entregas un aparato, este manual va con él: forma parte de dejar la instalación en regla. Si el cliente lo pierde, es fácil que acabe haciendo maniobras raras que provocan una avería.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advertencias en el aparato y en la caja. ¿Dónde va cada cosa?</a:t>
            </a:r>
          </a:p>
          <a:p>
            <a:r>
              <a:t>N2: Ojo a no mezclarlas, porque el examen juega con eso. Las advertencias que van en el aparato siguen las reglas del anexo dos, que es la placa de características; lo veremos entero en el cuarto vídeo. Las advertencias que van en el embalaje, en la caja, llevan como mínimo tres cosas: tipo de gas, presión de suministro y las restricciones de uso, en particular la de no instalar el aparato en locales sin ventilación suficiente o al aire libre, según proceda. Truco para recordarlo: en la caja te fijas en qué gas, a qué presión y dónde no lo puedo poner.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norma habla de aparatos y también de equipos. ¿Qué diferencia hay?</a:t>
            </a:r>
          </a:p>
          <a:p>
            <a:r>
              <a:t>N2: Es una distinción sencilla pero que conviene tener clara. El aparato es el conjunto terminado, la caldera completa. El equipo es una pieza que se integra dentro de él: un quemador, una válvula, un programador. Pues bien, la norma exige que cada equipo, por separado, también venga con sus instrucciones de instalación, regulación, empleo y mantenimiento, y que funcione bien montado según manda su fabricante. ¿Por qué? Porque la seguridad del aparato final no se puede romper por una pieza mal documentada o mal montada. La cadena es tan fuerte como su eslabón más débil.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demuestra un aparato que es de fiar?</a:t>
            </a:r>
          </a:p>
          <a:p>
            <a:r>
              <a:t>N2: Vamos por partes. Primero, qué tiene que cumplir: el orden manda. Se busca la norma española UNE, la UNE-EN o la europea EN que le aplique; y solo si no existe ninguna, se recurre a las prescripciones de seguridad del anexo tres. Es la misma lógica de todo el Reglamento: la norma técnica primero, y las reglas propias de la ITC como red de seguridad. Segundo, cómo se certifica: hay dos caminos, no tres sueltos. El camino de la serie, que es examen de tipo, la a, más verificación de la producción, la b. O el camino de la pieza única, la verificación por unidad, la c. La fórmula que tienes que memorizar es a más b, o bien c. Los detalles de cada procedimiento están en el anexo uno, y los desmenuzamos en el vídeo tres.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para cerrar el vídeo, ¿qué obliga la ITC en cuanto a marcado?</a:t>
            </a:r>
          </a:p>
          <a:p>
            <a:r>
              <a:t>N2: Solo dos obligaciones, cortas pero importantes. Una: una placa de características en lugar visible, cuyo contenido detallado está en el anexo dos. Dos: instrucciones, cuyo contenido está en las normas que apliquen o, si no hay, como mínimo en el anexo tres. Fíjate en que es una sección puente: te dice que hay que marcar e instruir, y te manda a los anexos para el qué y el cómo. Asocia siempre placa con anexo dos, e instrucciones con normas o anexo tres. Y recuerda para qué sirve la placa: es el DNI del aparato; de ella sacas el gas, la presión de reglaje y la potencia que necesitarás para rellenar el certificado de puesta en marcha.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me quedo con lo esencial de este primer vídeo, ¿qué es?</a:t>
            </a:r>
          </a:p>
          <a:p>
            <a:r>
              <a:t>N2: Reconstruyamos el hilo, que así se te queda. Empezamos situando la norma: la ITC-ICG cero ocho es la del aparato en sí, no la de la tubería; y tiene dos puertas, seguridad solo para los que no tienen directiva europea propia, pero documentación y puesta en marcha para todos. De ahí salió lo segundo: antes de tocar nada exiges los dos manuales, el técnico y el de uso, y la placa, todo en español, porque sin esos papeles no puedes ni regular ni dejar la instalación en regla. Lo tercero, las condiciones normales: bien instalado, con el gas correcto en Wobbe y presión, y usado para su fin; si falla una pata, la combustión se descontrola. Y lo cuarto, la conformidad: normas UNE o EN, y si no hay, el anexo tres; certificada con a más b, o bien c.</a:t>
            </a:r>
          </a:p>
          <a:p>
            <a:r>
              <a:t>N1: ¿Y cómo se traduce esto en el examen y en la obra?</a:t>
            </a:r>
          </a:p>
          <a:p>
            <a:r>
              <a:t>N2: En el examen te lo preguntan cruzado: te ponen un aparato en inglés, o te dicen que basta un solo manual, o mezclan la placa con el embalaje, a ver si caes. En la obra la regla es tajante: no montes ni pongas en marcha un aparato sin certificar, porque no podrás emitir el certificado de puesta en marcha ni responder si hay un siniestro. Hoy ya eres más gasista que ayer: sabes qué exige la norma antes de que el aparato llegue a tus manos. En el siguiente vídeo dejamos la fábrica y bajamos al piso: los tipos A, B y C, quién conecta y arranca, y el papel que cierra el trabajo.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1 DE 4</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Aparatos de gas (ITC-ICG 08)</a:t>
            </a:r>
          </a:p>
          <a:p>
            <a:r>
              <a:rPr sz="2200" b="0" i="0">
                <a:solidFill>
                  <a:srgbClr val="CADCFC"/>
                </a:solidFill>
                <a:latin typeface="Montserrat"/>
              </a:rPr>
              <a:t>Objeto, comercialización, conformidad y marcado</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05 · Reglamento · ITC-ICG 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4</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apartados que vemos hoy</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2</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manuales que acompañan al aparato</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3</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patas de condiciones normales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regula la ITC-ICG 08</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La norma del aparato, no del tubo</a:t>
            </a:r>
          </a:p>
          <a:p>
            <a:pPr>
              <a:spcAft>
                <a:spcPts val="1000"/>
              </a:spcAft>
            </a:pPr>
            <a:r>
              <a:rPr sz="1600" b="1" i="0">
                <a:solidFill>
                  <a:srgbClr val="2E3A80"/>
                </a:solidFill>
                <a:latin typeface="Montserrat"/>
              </a:rPr>
              <a:t>•  </a:t>
            </a:r>
            <a:r>
              <a:rPr sz="1600" b="0" i="0">
                <a:solidFill>
                  <a:srgbClr val="1B2330"/>
                </a:solidFill>
                <a:latin typeface="Montserrat"/>
              </a:rPr>
              <a:t>Criterios técnicos y de seguridad</a:t>
            </a:r>
          </a:p>
          <a:p>
            <a:pPr>
              <a:spcAft>
                <a:spcPts val="1000"/>
              </a:spcAft>
            </a:pPr>
            <a:r>
              <a:rPr sz="1600" b="1" i="0">
                <a:solidFill>
                  <a:srgbClr val="2E3A80"/>
                </a:solidFill>
                <a:latin typeface="Montserrat"/>
              </a:rPr>
              <a:t>•  </a:t>
            </a:r>
            <a:r>
              <a:rPr sz="1600" b="0" i="0">
                <a:solidFill>
                  <a:srgbClr val="1B2330"/>
                </a:solidFill>
                <a:latin typeface="Montserrat"/>
              </a:rPr>
              <a:t>Medios de certificación</a:t>
            </a:r>
          </a:p>
          <a:p>
            <a:pPr>
              <a:spcAft>
                <a:spcPts val="1000"/>
              </a:spcAft>
            </a:pPr>
            <a:r>
              <a:rPr sz="1600" b="1" i="0">
                <a:solidFill>
                  <a:srgbClr val="2E3A80"/>
                </a:solidFill>
                <a:latin typeface="Montserrat"/>
              </a:rPr>
              <a:t>•  </a:t>
            </a:r>
            <a:r>
              <a:rPr sz="1600" b="0" i="0">
                <a:solidFill>
                  <a:srgbClr val="1B2330"/>
                </a:solidFill>
                <a:latin typeface="Montserrat"/>
              </a:rPr>
              <a:t>Excluye aparatos con directiva CE propia</a:t>
            </a:r>
          </a:p>
        </p:txBody>
      </p:sp>
      <p:sp>
        <p:nvSpPr>
          <p:cNvPr id="8" name="imgph" descr="IMGQ:gas boiler installati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boiler installation wall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1 · ALCANCE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Dos puertas y la puesta en marcha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Seguridad: solo sin directiva propia</a:t>
            </a:r>
          </a:p>
          <a:p>
            <a:pPr>
              <a:spcAft>
                <a:spcPts val="1000"/>
              </a:spcAft>
            </a:pPr>
            <a:r>
              <a:rPr sz="1600" b="1" i="0">
                <a:solidFill>
                  <a:srgbClr val="2E3A80"/>
                </a:solidFill>
                <a:latin typeface="Montserrat"/>
              </a:rPr>
              <a:t>•  </a:t>
            </a:r>
            <a:r>
              <a:rPr sz="1600" b="0" i="0">
                <a:solidFill>
                  <a:srgbClr val="1B2330"/>
                </a:solidFill>
                <a:latin typeface="Montserrat"/>
              </a:rPr>
              <a:t>Documentación y arranque: a TODOS</a:t>
            </a:r>
          </a:p>
          <a:p>
            <a:pPr>
              <a:spcAft>
                <a:spcPts val="1000"/>
              </a:spcAft>
            </a:pPr>
            <a:r>
              <a:rPr sz="1600" b="1" i="0">
                <a:solidFill>
                  <a:srgbClr val="2E3A80"/>
                </a:solidFill>
                <a:latin typeface="Montserrat"/>
              </a:rPr>
              <a:t>•  </a:t>
            </a:r>
            <a:r>
              <a:rPr sz="1600" b="0" i="0">
                <a:solidFill>
                  <a:srgbClr val="1B2330"/>
                </a:solidFill>
                <a:latin typeface="Montserrat"/>
              </a:rPr>
              <a:t>Se arranca en su ubicación definitiva</a:t>
            </a:r>
          </a:p>
        </p:txBody>
      </p:sp>
      <p:sp>
        <p:nvSpPr>
          <p:cNvPr id="8" name="imgph" descr="IMGQ:technician commissioning gas boil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commissioning gas boiler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 · COMERCIALIZACIÓN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aparatos pueden venderse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Sin peligro para personas, animales y bienes</a:t>
            </a:r>
          </a:p>
          <a:p>
            <a:pPr>
              <a:spcAft>
                <a:spcPts val="1000"/>
              </a:spcAft>
            </a:pPr>
            <a:r>
              <a:rPr sz="1600" b="1" i="0">
                <a:solidFill>
                  <a:srgbClr val="2E3A80"/>
                </a:solidFill>
                <a:latin typeface="Montserrat"/>
              </a:rPr>
              <a:t>•  </a:t>
            </a:r>
            <a:r>
              <a:rPr sz="1600" b="0" i="0">
                <a:solidFill>
                  <a:srgbClr val="1B2330"/>
                </a:solidFill>
                <a:latin typeface="Montserrat"/>
              </a:rPr>
              <a:t>Si cumple la ITC, no se puede vetar</a:t>
            </a:r>
          </a:p>
          <a:p>
            <a:pPr>
              <a:spcAft>
                <a:spcPts val="1000"/>
              </a:spcAft>
            </a:pPr>
            <a:r>
              <a:rPr sz="1600" b="1" i="0">
                <a:solidFill>
                  <a:srgbClr val="2E3A80"/>
                </a:solidFill>
                <a:latin typeface="Montserrat"/>
              </a:rPr>
              <a:t>•  </a:t>
            </a:r>
            <a:r>
              <a:rPr sz="1600" b="0" i="0">
                <a:solidFill>
                  <a:srgbClr val="1B2330"/>
                </a:solidFill>
                <a:latin typeface="Montserrat"/>
              </a:rPr>
              <a:t>Con riesgo: la Administración lo retira</a:t>
            </a:r>
          </a:p>
        </p:txBody>
      </p:sp>
      <p:sp>
        <p:nvSpPr>
          <p:cNvPr id="8" name="imgph" descr="IMGQ:gas appliances store shelf"/>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appliances store shelf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 · CONDICIONES NORMALES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Las tres patas del funcionamiento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Bien instalado y mantenido</a:t>
            </a:r>
          </a:p>
          <a:p>
            <a:pPr>
              <a:spcAft>
                <a:spcPts val="1000"/>
              </a:spcAft>
            </a:pPr>
            <a:r>
              <a:rPr sz="1600" b="1" i="0">
                <a:solidFill>
                  <a:srgbClr val="2E3A80"/>
                </a:solidFill>
                <a:latin typeface="Montserrat"/>
              </a:rPr>
              <a:t>•  </a:t>
            </a:r>
            <a:r>
              <a:rPr sz="1600" b="0" i="0">
                <a:solidFill>
                  <a:srgbClr val="1B2330"/>
                </a:solidFill>
                <a:latin typeface="Montserrat"/>
              </a:rPr>
              <a:t>Gas correcto: Wobbe y presión</a:t>
            </a:r>
          </a:p>
          <a:p>
            <a:pPr>
              <a:spcAft>
                <a:spcPts val="1000"/>
              </a:spcAft>
            </a:pPr>
            <a:r>
              <a:rPr sz="1600" b="1" i="0">
                <a:solidFill>
                  <a:srgbClr val="2E3A80"/>
                </a:solidFill>
                <a:latin typeface="Montserrat"/>
              </a:rPr>
              <a:t>•  </a:t>
            </a:r>
            <a:r>
              <a:rPr sz="1600" b="0" i="0">
                <a:solidFill>
                  <a:srgbClr val="1B2330"/>
                </a:solidFill>
                <a:latin typeface="Montserrat"/>
              </a:rPr>
              <a:t>Usado para su fin</a:t>
            </a:r>
          </a:p>
        </p:txBody>
      </p:sp>
      <p:sp>
        <p:nvSpPr>
          <p:cNvPr id="8" name="imgph" descr="IMGQ:blue gas flame burn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blue gas flame burner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 · PUESTA EN EL MERCADO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Dos manuales y advertencias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Manual técnico (instalador)</a:t>
            </a:r>
          </a:p>
          <a:p>
            <a:pPr>
              <a:spcAft>
                <a:spcPts val="1000"/>
              </a:spcAft>
            </a:pPr>
            <a:r>
              <a:rPr sz="1600" b="1" i="0">
                <a:solidFill>
                  <a:srgbClr val="2E3A80"/>
                </a:solidFill>
                <a:latin typeface="Montserrat"/>
              </a:rPr>
              <a:t>•  </a:t>
            </a:r>
            <a:r>
              <a:rPr sz="1600" b="0" i="0">
                <a:solidFill>
                  <a:srgbClr val="1B2330"/>
                </a:solidFill>
                <a:latin typeface="Montserrat"/>
              </a:rPr>
              <a:t>Manual de uso (usuario)</a:t>
            </a:r>
          </a:p>
          <a:p>
            <a:pPr>
              <a:spcAft>
                <a:spcPts val="1000"/>
              </a:spcAft>
            </a:pPr>
            <a:r>
              <a:rPr sz="1600" b="1" i="0">
                <a:solidFill>
                  <a:srgbClr val="2E3A80"/>
                </a:solidFill>
                <a:latin typeface="Montserrat"/>
              </a:rPr>
              <a:t>•  </a:t>
            </a:r>
            <a:r>
              <a:rPr sz="1600" b="0" i="0">
                <a:solidFill>
                  <a:srgbClr val="1B2330"/>
                </a:solidFill>
                <a:latin typeface="Montserrat"/>
              </a:rPr>
              <a:t>Advertencias en aparato y embalaje</a:t>
            </a:r>
          </a:p>
          <a:p>
            <a:pPr>
              <a:spcAft>
                <a:spcPts val="1000"/>
              </a:spcAft>
            </a:pPr>
            <a:r>
              <a:rPr sz="1600" b="1" i="0">
                <a:solidFill>
                  <a:srgbClr val="2E3A80"/>
                </a:solidFill>
                <a:latin typeface="Montserrat"/>
              </a:rPr>
              <a:t>•  </a:t>
            </a:r>
            <a:r>
              <a:rPr sz="1600" b="0" i="0">
                <a:solidFill>
                  <a:srgbClr val="1B2330"/>
                </a:solidFill>
                <a:latin typeface="Montserrat"/>
              </a:rPr>
              <a:t>Todo, como mínimo, en español</a:t>
            </a:r>
          </a:p>
        </p:txBody>
      </p:sp>
      <p:sp>
        <p:nvSpPr>
          <p:cNvPr id="8" name="imgph" descr="IMGQ:boiler instruction manual bookle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boiler instruction manual booklet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2.2.1 · MANUAL TÉCNICO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libro del profesional</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Tipo de gas y presión de suministro</a:t>
            </a:r>
          </a:p>
          <a:p>
            <a:pPr>
              <a:spcAft>
                <a:spcPts val="1000"/>
              </a:spcAft>
            </a:pPr>
            <a:r>
              <a:rPr sz="1600" b="1" i="0">
                <a:solidFill>
                  <a:srgbClr val="2E3A80"/>
                </a:solidFill>
                <a:latin typeface="Montserrat"/>
              </a:rPr>
              <a:t>•  </a:t>
            </a:r>
            <a:r>
              <a:rPr sz="1600" b="0" i="0">
                <a:solidFill>
                  <a:srgbClr val="1B2330"/>
                </a:solidFill>
                <a:latin typeface="Montserrat"/>
              </a:rPr>
              <a:t>Consumo nominal</a:t>
            </a:r>
          </a:p>
          <a:p>
            <a:pPr>
              <a:spcAft>
                <a:spcPts val="1000"/>
              </a:spcAft>
            </a:pPr>
            <a:r>
              <a:rPr sz="1600" b="1" i="0">
                <a:solidFill>
                  <a:srgbClr val="2E3A80"/>
                </a:solidFill>
                <a:latin typeface="Montserrat"/>
              </a:rPr>
              <a:t>•  </a:t>
            </a:r>
            <a:r>
              <a:rPr sz="1600" b="0" i="0">
                <a:solidFill>
                  <a:srgbClr val="1B2330"/>
                </a:solidFill>
                <a:latin typeface="Montserrat"/>
              </a:rPr>
              <a:t>Aire de combustión</a:t>
            </a:r>
          </a:p>
          <a:p>
            <a:pPr>
              <a:spcAft>
                <a:spcPts val="1000"/>
              </a:spcAft>
            </a:pPr>
            <a:r>
              <a:rPr sz="1600" b="1" i="0">
                <a:solidFill>
                  <a:srgbClr val="2E3A80"/>
                </a:solidFill>
                <a:latin typeface="Montserrat"/>
              </a:rPr>
              <a:t>•  </a:t>
            </a:r>
            <a:r>
              <a:rPr sz="1600" b="0" i="0">
                <a:solidFill>
                  <a:srgbClr val="1B2330"/>
                </a:solidFill>
                <a:latin typeface="Montserrat"/>
              </a:rPr>
              <a:t>Evacuación de humos</a:t>
            </a:r>
          </a:p>
          <a:p>
            <a:pPr>
              <a:spcAft>
                <a:spcPts val="1000"/>
              </a:spcAft>
            </a:pPr>
            <a:r>
              <a:rPr sz="1600" b="1" i="0">
                <a:solidFill>
                  <a:srgbClr val="2E3A80"/>
                </a:solidFill>
                <a:latin typeface="Montserrat"/>
              </a:rPr>
              <a:t>•  </a:t>
            </a:r>
            <a:r>
              <a:rPr sz="1600" b="0" i="0">
                <a:solidFill>
                  <a:srgbClr val="1B2330"/>
                </a:solidFill>
                <a:latin typeface="Montserrat"/>
              </a:rPr>
              <a:t>Datos eléctricos y bornes</a:t>
            </a:r>
          </a:p>
        </p:txBody>
      </p:sp>
      <p:sp>
        <p:nvSpPr>
          <p:cNvPr id="8" name="imgph" descr="IMGQ:gas boiler wiring diagra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boiler wiring diagram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2.2.2 · MANUAL DE USO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manual del cliente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Restricciones de uso</a:t>
            </a:r>
          </a:p>
          <a:p>
            <a:pPr>
              <a:spcAft>
                <a:spcPts val="1000"/>
              </a:spcAft>
            </a:pPr>
            <a:r>
              <a:rPr sz="1600" b="1" i="0">
                <a:solidFill>
                  <a:srgbClr val="2E3A80"/>
                </a:solidFill>
                <a:latin typeface="Montserrat"/>
              </a:rPr>
              <a:t>•  </a:t>
            </a:r>
            <a:r>
              <a:rPr sz="1600" b="0" i="0">
                <a:solidFill>
                  <a:srgbClr val="1B2330"/>
                </a:solidFill>
                <a:latin typeface="Montserrat"/>
              </a:rPr>
              <a:t>Encendido y elementos regulables</a:t>
            </a:r>
          </a:p>
          <a:p>
            <a:pPr>
              <a:spcAft>
                <a:spcPts val="1000"/>
              </a:spcAft>
            </a:pPr>
            <a:r>
              <a:rPr sz="1600" b="1" i="0">
                <a:solidFill>
                  <a:srgbClr val="2E3A80"/>
                </a:solidFill>
                <a:latin typeface="Montserrat"/>
              </a:rPr>
              <a:t>•  </a:t>
            </a:r>
            <a:r>
              <a:rPr sz="1600" b="0" i="0">
                <a:solidFill>
                  <a:srgbClr val="1B2330"/>
                </a:solidFill>
                <a:latin typeface="Montserrat"/>
              </a:rPr>
              <a:t>Limpieza y mantenimiento básico</a:t>
            </a:r>
          </a:p>
          <a:p>
            <a:pPr>
              <a:spcAft>
                <a:spcPts val="1000"/>
              </a:spcAft>
            </a:pPr>
            <a:r>
              <a:rPr sz="1600" b="1" i="0">
                <a:solidFill>
                  <a:srgbClr val="2E3A80"/>
                </a:solidFill>
                <a:latin typeface="Montserrat"/>
              </a:rPr>
              <a:t>•  </a:t>
            </a:r>
            <a:r>
              <a:rPr sz="1600" b="0" i="0">
                <a:solidFill>
                  <a:srgbClr val="1B2330"/>
                </a:solidFill>
                <a:latin typeface="Montserrat"/>
              </a:rPr>
              <a:t>Aviso contra falsas maniobras</a:t>
            </a:r>
          </a:p>
        </p:txBody>
      </p:sp>
      <p:sp>
        <p:nvSpPr>
          <p:cNvPr id="8" name="imgph" descr="IMGQ:person lighting gas stov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person lighting gas stove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APARTADOS 2.2.3-2.2.4 · ADVERTENCIAS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Aparato y embalaje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En el aparato: placa (anexo 2)</a:t>
            </a:r>
          </a:p>
          <a:p>
            <a:pPr>
              <a:spcAft>
                <a:spcPts val="1000"/>
              </a:spcAft>
            </a:pPr>
            <a:r>
              <a:rPr sz="1600" b="1" i="0">
                <a:solidFill>
                  <a:srgbClr val="2E3A80"/>
                </a:solidFill>
                <a:latin typeface="Montserrat"/>
              </a:rPr>
              <a:t>•  </a:t>
            </a:r>
            <a:r>
              <a:rPr sz="1600" b="0" i="0">
                <a:solidFill>
                  <a:srgbClr val="1B2330"/>
                </a:solidFill>
                <a:latin typeface="Montserrat"/>
              </a:rPr>
              <a:t>En la caja: tipo de gas y presión</a:t>
            </a:r>
          </a:p>
          <a:p>
            <a:pPr>
              <a:spcAft>
                <a:spcPts val="1000"/>
              </a:spcAft>
            </a:pPr>
            <a:r>
              <a:rPr sz="1600" b="1" i="0">
                <a:solidFill>
                  <a:srgbClr val="2E3A80"/>
                </a:solidFill>
                <a:latin typeface="Montserrat"/>
              </a:rPr>
              <a:t>•  </a:t>
            </a:r>
            <a:r>
              <a:rPr sz="1600" b="0" i="0">
                <a:solidFill>
                  <a:srgbClr val="1B2330"/>
                </a:solidFill>
                <a:latin typeface="Montserrat"/>
              </a:rPr>
              <a:t>En la caja: restricciones de uso</a:t>
            </a:r>
          </a:p>
        </p:txBody>
      </p:sp>
      <p:sp>
        <p:nvSpPr>
          <p:cNvPr id="8" name="imgph" descr="IMGQ:gas appliance rating labe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appliance rating label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2.3 · EQUIPOS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Aparato frente a equipo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Aparato = conjunto terminado (caldera)</a:t>
            </a:r>
          </a:p>
          <a:p>
            <a:pPr>
              <a:spcAft>
                <a:spcPts val="1000"/>
              </a:spcAft>
            </a:pPr>
            <a:r>
              <a:rPr sz="1600" b="1" i="0">
                <a:solidFill>
                  <a:srgbClr val="2E3A80"/>
                </a:solidFill>
                <a:latin typeface="Montserrat"/>
              </a:rPr>
              <a:t>•  </a:t>
            </a:r>
            <a:r>
              <a:rPr sz="1600" b="0" i="0">
                <a:solidFill>
                  <a:srgbClr val="1B2330"/>
                </a:solidFill>
                <a:latin typeface="Montserrat"/>
              </a:rPr>
              <a:t>Equipo = pieza integrada (quemador, válvula)</a:t>
            </a:r>
          </a:p>
          <a:p>
            <a:pPr>
              <a:spcAft>
                <a:spcPts val="1000"/>
              </a:spcAft>
            </a:pPr>
            <a:r>
              <a:rPr sz="1600" b="1" i="0">
                <a:solidFill>
                  <a:srgbClr val="2E3A80"/>
                </a:solidFill>
                <a:latin typeface="Montserrat"/>
              </a:rPr>
              <a:t>•  </a:t>
            </a:r>
            <a:r>
              <a:rPr sz="1600" b="0" i="0">
                <a:solidFill>
                  <a:srgbClr val="1B2330"/>
                </a:solidFill>
                <a:latin typeface="Montserrat"/>
              </a:rPr>
              <a:t>Cada equipo, con sus instrucciones</a:t>
            </a:r>
          </a:p>
        </p:txBody>
      </p:sp>
      <p:sp>
        <p:nvSpPr>
          <p:cNvPr id="8" name="imgph" descr="IMGQ:gas valve compon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valve component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 · CONFORMIDAD</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Cómo se certifica el aparato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Cumple normas UNE / UNE-EN / EN</a:t>
            </a:r>
          </a:p>
          <a:p>
            <a:pPr>
              <a:spcAft>
                <a:spcPts val="1000"/>
              </a:spcAft>
            </a:pPr>
            <a:r>
              <a:rPr sz="1600" b="1" i="0">
                <a:solidFill>
                  <a:srgbClr val="2E3A80"/>
                </a:solidFill>
                <a:latin typeface="Montserrat"/>
              </a:rPr>
              <a:t>•  </a:t>
            </a:r>
            <a:r>
              <a:rPr sz="1600" b="0" i="0">
                <a:solidFill>
                  <a:srgbClr val="1B2330"/>
                </a:solidFill>
                <a:latin typeface="Montserrat"/>
              </a:rPr>
              <a:t>Sin norma: anexo 3</a:t>
            </a:r>
          </a:p>
          <a:p>
            <a:pPr>
              <a:spcAft>
                <a:spcPts val="1000"/>
              </a:spcAft>
            </a:pPr>
            <a:r>
              <a:rPr sz="1600" b="1" i="0">
                <a:solidFill>
                  <a:srgbClr val="2E3A80"/>
                </a:solidFill>
                <a:latin typeface="Montserrat"/>
              </a:rPr>
              <a:t>•  </a:t>
            </a:r>
            <a:r>
              <a:rPr sz="1600" b="0" i="0">
                <a:solidFill>
                  <a:srgbClr val="1B2330"/>
                </a:solidFill>
                <a:latin typeface="Montserrat"/>
              </a:rPr>
              <a:t>Camino: a + b, o bien c</a:t>
            </a:r>
          </a:p>
        </p:txBody>
      </p:sp>
      <p:sp>
        <p:nvSpPr>
          <p:cNvPr id="8" name="imgph" descr="IMGQ:quality control inspection factory"/>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quality control inspection factory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05 · Aparatos de gas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MARCADO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Placa e instrucciones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Placa visible → anexo 2</a:t>
            </a:r>
          </a:p>
          <a:p>
            <a:pPr>
              <a:spcAft>
                <a:spcPts val="1000"/>
              </a:spcAft>
            </a:pPr>
            <a:r>
              <a:rPr sz="1600" b="1" i="0">
                <a:solidFill>
                  <a:srgbClr val="2E3A80"/>
                </a:solidFill>
                <a:latin typeface="Montserrat"/>
              </a:rPr>
              <a:t>•  </a:t>
            </a:r>
            <a:r>
              <a:rPr sz="1600" b="0" i="0">
                <a:solidFill>
                  <a:srgbClr val="1B2330"/>
                </a:solidFill>
                <a:latin typeface="Montserrat"/>
              </a:rPr>
              <a:t>Instrucciones → normas o anexo 3</a:t>
            </a:r>
          </a:p>
        </p:txBody>
      </p:sp>
      <p:sp>
        <p:nvSpPr>
          <p:cNvPr id="8" name="imgph" descr="IMGQ:gas meter cabinet nameplat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meter cabinet nameplate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controlas el aparato antes de tocarlo</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La ITC-ICG 08 es la norma del aparato, no del tubo</a:t>
            </a:r>
          </a:p>
          <a:p>
            <a:pPr>
              <a:spcAft>
                <a:spcPts val="1200"/>
              </a:spcAft>
            </a:pPr>
            <a:r>
              <a:rPr sz="2000" b="1" i="0">
                <a:solidFill>
                  <a:srgbClr val="CADCFC"/>
                </a:solidFill>
                <a:latin typeface="Montserrat"/>
              </a:rPr>
              <a:t>✓  </a:t>
            </a:r>
            <a:r>
              <a:rPr sz="1900" b="0" i="0">
                <a:solidFill>
                  <a:srgbClr val="FFFFFF"/>
                </a:solidFill>
                <a:latin typeface="Montserrat"/>
              </a:rPr>
              <a:t>Exiges dos manuales y placa, en español</a:t>
            </a:r>
          </a:p>
          <a:p>
            <a:pPr>
              <a:spcAft>
                <a:spcPts val="1200"/>
              </a:spcAft>
            </a:pPr>
            <a:r>
              <a:rPr sz="2000" b="1" i="0">
                <a:solidFill>
                  <a:srgbClr val="CADCFC"/>
                </a:solidFill>
                <a:latin typeface="Montserrat"/>
              </a:rPr>
              <a:t>✓  </a:t>
            </a:r>
            <a:r>
              <a:rPr sz="1900" b="0" i="0">
                <a:solidFill>
                  <a:srgbClr val="FFFFFF"/>
                </a:solidFill>
                <a:latin typeface="Montserrat"/>
              </a:rPr>
              <a:t>Reconoces las tres patas del funcionamiento</a:t>
            </a:r>
          </a:p>
          <a:p>
            <a:pPr>
              <a:spcAft>
                <a:spcPts val="1200"/>
              </a:spcAft>
            </a:pPr>
            <a:r>
              <a:rPr sz="2000" b="1" i="0">
                <a:solidFill>
                  <a:srgbClr val="CADCFC"/>
                </a:solidFill>
                <a:latin typeface="Montserrat"/>
              </a:rPr>
              <a:t>✓  </a:t>
            </a:r>
            <a:r>
              <a:rPr sz="1900" b="0" i="0">
                <a:solidFill>
                  <a:srgbClr val="FFFFFF"/>
                </a:solidFill>
                <a:latin typeface="Montserrat"/>
              </a:rPr>
              <a:t>Certificas con la fórmula: a + b, o bien c</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Hoy ya eres más gasista que ayer. En el siguiente vídeo bajamos al piso: a conectar y arrancar el aparato.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
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gas lo quema el aparato. ¿Y quién manda sobre el aparato?</a:t>
            </a:r>
          </a:p>
          <a:p>
            <a:r>
              <a:t>N2: Esta instrucción, la ITC-ICG cero ocho. Regula qué aparatos pueden venderse, cómo se demuestra que son seguros, qué papeles y advertencias los acompañan y cómo se marcan. En este primer vídeo vemos las cuatro primeras piezas, la parte más de fábrica: objeto, comercialización, conformidad y marcado. Es lo que la norma exige antes de que el aparato llegue a tus manos.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números conviene tener en la cabeza al empezar?</a:t>
            </a:r>
          </a:p>
          <a:p>
            <a:r>
              <a:t>N2: Cuatro apartados: objeto, comercialización, conformidad y marcado. Dos manuales distintos que van con todo aparato, el técnico y el de uso. Y tres patas para estar en condiciones normales de funcionamiento. Si retienes estos tres números, el vídeo entra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va exactamente esta instrucción?</a:t>
            </a:r>
          </a:p>
          <a:p>
            <a:r>
              <a:t>N2: Va del aparato en sí: calderas, calentadores, quemadores, no de la tubería. Fija los criterios técnicos y documentales, los requisitos esenciales de seguridad y los medios de certificación. Y deja fuera los aparatos que ya tienen su propia directiva europea, los que llevan marcado CE por su directiva, porque esos van por otro camino. Ejemplo: una caldera doméstica con CE por su directiva ya está cubierta; un aparato sin directiva específica cae aquí.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aparatos se les aplica cada parte de la ITC?</a:t>
            </a:r>
          </a:p>
          <a:p>
            <a:r>
              <a:t>N2: Fíjate en la doble puerta. La parte de seguridad y certificación solo se aplica a los aparatos que no están cubiertos por una directiva europea propia. Pero la parte de documentación y puesta en marcha se aplica a todos los aparatos a gas, tengan CE o no. Y la puesta en marcha es verificar que el aparato funciona según los parámetros del fabricante en su ubicación e instalación definitivas: no en el taller ni en la tienda, sino montado y conectado en su sitio. Un calentador que va fino en el mostrador puede darte llama amarilla, hollín y CO en un baño mal ventilado.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permite vender y arrancar un aparato?</a:t>
            </a:r>
          </a:p>
          <a:p>
            <a:r>
              <a:t>N2: Solo si, en condiciones normales de funcionamiento, no pone en peligro la seguridad de personas, animales ni bienes. Si un aparato cumple esta ITC, nadie puede prohibir, limitar ni obstaculizar su venta. Pero si se comprueba que entraña riesgos, la Administración competente adopta medidas para retirarlo del mercado o restringir su comercialización. Ejemplo: un modelo con un defecto de fábrica que provoca fugas puede ser retirado por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fórmula se repite por toda la ITC. ¿Cuáles son sus tres patas?</a:t>
            </a:r>
          </a:p>
          <a:p>
            <a:r>
              <a:t>N2: Estar en condiciones normales exige cumplir las tres a la vez: bien instalado y con mantenimiento periódico según el fabricante; usado con el gas dentro del Índice de Wobbe y la presión de suministro previstos; y empleado para sus fines. El Índice de Wobbe mide la energía que entrega el gas por el quemador; si el gas de la red se sale del rango, el aparato deja de estar en condiciones normales. No hace falta saber calcularlo: basta con saber que define qué gases valen. Ejemplo: enganchar un aparato de butano a una red de natural sin adecuarlo da llamas amarillas e inquemados.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tienen que acompañar al aparato en la venta?</a:t>
            </a:r>
          </a:p>
          <a:p>
            <a:r>
              <a:t>N2: Son dos manuales distintos que conviene no confundir: el técnico, para ti el instalador, con cómo instalar, regular y mantener; y el de uso y mantenimiento, para el cliente, con cómo encenderlo y usarlo sin peligro. Más las advertencias en el propio aparato y en su embalaje. Y todo, como mínimo, en español. Si en un examen te dicen que basta con que venga en inglés, es falso.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el listado del manual técnico, ¿qué datos no pueden faltar?</a:t>
            </a:r>
          </a:p>
          <a:p>
            <a:r>
              <a:t>N2: Las estrellas son tipo de gas, presión de suministro, consumo nominal, aire de combustión, evacuación de humos y datos eléctricos con el esquema de bornes. Son los datos que necesitas sí o sí para montar y regular. El resto, como el caudal másico en gramos por segundo para el cálculo de chimeneas o las combinaciones de quemadores de aire forzado, son detalles que la norma añade para casos concretos. Ejemplo: sin la presión de suministro no sabes a qué regular la caldera.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manual que se queda el usuario, qué le cuenta?</a:t>
            </a:r>
          </a:p>
          <a:p>
            <a:r>
              <a:t>N2: Está escrito a prueba de sustos: encender bien, usar los elementos regulables, no tocar lo que no toca (eso son las falsas maniobras) y llamar a un experto cualificado para el mantenimiento serio. Cuando entregas un aparato, este manual va con él: forma parte de dejar la instalación en regla. Si el cliente lo pierde, es fácil que acabe haciendo maniobras raras que provocan una avería.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va cada advertencia y qué dice?</a:t>
            </a:r>
          </a:p>
          <a:p>
            <a:r>
              <a:t>N2: Ojo a dónde va cada cosa. Las advertencias del aparato siguen las reglas del anexo dos, la placa de características. Las del embalaje llevan como mínimo tipo de gas, presión de suministro y las restricciones de uso, en particular no instalar el aparato en locales sin ventilación suficiente o al aire libre según proceda. Truco: en la caja te fijas en qué gas, a qué presión y dónde no lo puedo poner.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norma habla de aparatos y de equipos. ¿Qué diferencia hay?</a:t>
            </a:r>
          </a:p>
          <a:p>
            <a:r>
              <a:t>N2: El aparato es el conjunto terminado, la caldera. El equipo es una pieza que se integra en él: un quemador, una válvula, un programador. La norma exige que cada equipo, por separado, venga también con sus instrucciones de instalación, regulación, empleo y mantenimiento, y funcione bien montado según manda su fabricante. Así, la seguridad del aparato final no se rompe por una pieza mal documentada.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demuestra un aparato que es de fiar?</a:t>
            </a:r>
          </a:p>
          <a:p>
            <a:r>
              <a:t>N2: El orden manda. Primero se busca la norma UNE, UNE-EN o EN que le aplique; solo si no existe se recurre a las prescripciones del anexo tres. Y se certifica por dos caminos, no por tres sueltos: el de la serie, examen de tipo más verificación de la producción, que es la a más la b; o el de la pieza única, la verificación por unidad, que es la c. Fórmula para memorizar: a más b, o bien c. Los detalles de cada uno están en el anexo uno, que verás en el vídeo tres.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obliga la ITC en cuanto a marcado?</a:t>
            </a:r>
          </a:p>
          <a:p>
            <a:r>
              <a:t>N2: Dos obligaciones cortas. Una placa de características en lugar visible, cuyo contenido está en el anexo dos. E instrucciones, cuyo contenido está en las normas que apliquen o, si no hay, como mínimo en el anexo tres. Es una sección puente: te dice que hay que marcar e instruir y te manda a los anexos para el qué y el cómo. La placa es el DNI del aparato: de ella sacas el gas, la presión de reglaje y la potencia que necesitarás para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cosas de este vídeo, ¿cuáles serían?</a:t>
            </a:r>
          </a:p>
          <a:p>
            <a:r>
              <a:t>N2: Primero, esta ITC es la norma del aparato, no del tubo: regula su seguridad y certificación solo para los que no tienen directiva europea propia, y la documentación y puesta en marcha de todos los aparatos a gas. Segundo, antes de tocar nada exige los dos manuales y la placa, en español, y arranca el aparato en su ubicación definitiva, porque el tiro, la ventilación y la presión reales mandan. Y tercero, no montes ni pongas en marcha un aparato sin certificar: sin eso no podrás emitir el certificado de puesta en marcha ni responder si hay un siniestro.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Aparatos de gas (ITC-ICG 08)</a:t>
            </a:r>
          </a:p>
          <a:p>
            <a:r>
              <a:rPr sz="2200" b="0" i="0">
                <a:solidFill>
                  <a:srgbClr val="CADCFC"/>
                </a:solidFill>
                <a:latin typeface="Montserrat"/>
              </a:rPr>
              <a:t>Objeto, comercialización, conformidad y marcado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apartados que vemos hoy</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manuales que acompañan al aparato</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patas de condiciones normales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la ITC-ICG 08</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norma del aparato, no del tubo</a:t>
            </a:r>
          </a:p>
          <a:p>
            <a:pPr>
              <a:spcAft>
                <a:spcPts val="1000"/>
              </a:spcAft>
            </a:pPr>
            <a:r>
              <a:rPr sz="1600" b="1" i="0">
                <a:solidFill>
                  <a:srgbClr val="2E3A80"/>
                </a:solidFill>
                <a:latin typeface="Montserrat"/>
              </a:rPr>
              <a:t>•  </a:t>
            </a:r>
            <a:r>
              <a:rPr sz="1600" b="0" i="0">
                <a:solidFill>
                  <a:srgbClr val="1B2330"/>
                </a:solidFill>
                <a:latin typeface="Montserrat"/>
              </a:rPr>
              <a:t>Criterios técnicos y de seguridad</a:t>
            </a:r>
          </a:p>
          <a:p>
            <a:pPr>
              <a:spcAft>
                <a:spcPts val="1000"/>
              </a:spcAft>
            </a:pPr>
            <a:r>
              <a:rPr sz="1600" b="1" i="0">
                <a:solidFill>
                  <a:srgbClr val="2E3A80"/>
                </a:solidFill>
                <a:latin typeface="Montserrat"/>
              </a:rPr>
              <a:t>•  </a:t>
            </a:r>
            <a:r>
              <a:rPr sz="1600" b="0" i="0">
                <a:solidFill>
                  <a:srgbClr val="1B2330"/>
                </a:solidFill>
                <a:latin typeface="Montserrat"/>
              </a:rPr>
              <a:t>Medios de certificación</a:t>
            </a:r>
          </a:p>
          <a:p>
            <a:pPr>
              <a:spcAft>
                <a:spcPts val="1000"/>
              </a:spcAft>
            </a:pPr>
            <a:r>
              <a:rPr sz="1600" b="1" i="0">
                <a:solidFill>
                  <a:srgbClr val="2E3A80"/>
                </a:solidFill>
                <a:latin typeface="Montserrat"/>
              </a:rPr>
              <a:t>•  </a:t>
            </a:r>
            <a:r>
              <a:rPr sz="1600" b="0" i="0">
                <a:solidFill>
                  <a:srgbClr val="1B2330"/>
                </a:solidFill>
                <a:latin typeface="Montserrat"/>
              </a:rPr>
              <a:t>Excluye aparatos con directiva CE propia</a:t>
            </a:r>
          </a:p>
        </p:txBody>
      </p:sp>
      <p:sp>
        <p:nvSpPr>
          <p:cNvPr id="8" name="imgph" descr="IMGQ:gas boiler installati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puertas y la puesta en marcha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Seguridad y certificación: solo sin directiva propia</a:t>
            </a:r>
          </a:p>
          <a:p>
            <a:pPr>
              <a:spcAft>
                <a:spcPts val="1000"/>
              </a:spcAft>
            </a:pPr>
            <a:r>
              <a:rPr sz="1600" b="1" i="0">
                <a:solidFill>
                  <a:srgbClr val="2E3A80"/>
                </a:solidFill>
                <a:latin typeface="Montserrat"/>
              </a:rPr>
              <a:t>•  </a:t>
            </a:r>
            <a:r>
              <a:rPr sz="1600" b="0" i="0">
                <a:solidFill>
                  <a:srgbClr val="1B2330"/>
                </a:solidFill>
                <a:latin typeface="Montserrat"/>
              </a:rPr>
              <a:t>Documentación y puesta en marcha: a TODOS</a:t>
            </a:r>
          </a:p>
          <a:p>
            <a:pPr>
              <a:spcAft>
                <a:spcPts val="1000"/>
              </a:spcAft>
            </a:pPr>
            <a:r>
              <a:rPr sz="1600" b="1" i="0">
                <a:solidFill>
                  <a:srgbClr val="2E3A80"/>
                </a:solidFill>
                <a:latin typeface="Montserrat"/>
              </a:rPr>
              <a:t>•  </a:t>
            </a:r>
            <a:r>
              <a:rPr sz="1600" b="0" i="0">
                <a:solidFill>
                  <a:srgbClr val="1B2330"/>
                </a:solidFill>
                <a:latin typeface="Montserrat"/>
              </a:rPr>
              <a:t>Se arranca en su ubicación definitiva</a:t>
            </a:r>
          </a:p>
        </p:txBody>
      </p:sp>
      <p:sp>
        <p:nvSpPr>
          <p:cNvPr id="8" name="imgph" descr="IMGQ:technician commission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commissioning gas boiler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COMERCIALIZACIÓN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aparatos pueden venderse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Sin peligro para personas, animales y bienes</a:t>
            </a:r>
          </a:p>
          <a:p>
            <a:pPr>
              <a:spcAft>
                <a:spcPts val="1000"/>
              </a:spcAft>
            </a:pPr>
            <a:r>
              <a:rPr sz="1600" b="1" i="0">
                <a:solidFill>
                  <a:srgbClr val="2E3A80"/>
                </a:solidFill>
                <a:latin typeface="Montserrat"/>
              </a:rPr>
              <a:t>•  </a:t>
            </a:r>
            <a:r>
              <a:rPr sz="1600" b="0" i="0">
                <a:solidFill>
                  <a:srgbClr val="1B2330"/>
                </a:solidFill>
                <a:latin typeface="Montserrat"/>
              </a:rPr>
              <a:t>Si cumple la ITC, no se puede vetar</a:t>
            </a:r>
          </a:p>
          <a:p>
            <a:pPr>
              <a:spcAft>
                <a:spcPts val="1000"/>
              </a:spcAft>
            </a:pPr>
            <a:r>
              <a:rPr sz="1600" b="1" i="0">
                <a:solidFill>
                  <a:srgbClr val="2E3A80"/>
                </a:solidFill>
                <a:latin typeface="Montserrat"/>
              </a:rPr>
              <a:t>•  </a:t>
            </a:r>
            <a:r>
              <a:rPr sz="1600" b="0" i="0">
                <a:solidFill>
                  <a:srgbClr val="1B2330"/>
                </a:solidFill>
                <a:latin typeface="Montserrat"/>
              </a:rPr>
              <a:t>Con riesgo: la Administración lo retira</a:t>
            </a:r>
          </a:p>
        </p:txBody>
      </p:sp>
      <p:sp>
        <p:nvSpPr>
          <p:cNvPr id="8" name="imgph" descr="IMGQ:gas appliances store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appliances store shelf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CONDICIONES NORMALES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tres patas del funcionamiento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Bien instalado y mantenido</a:t>
            </a:r>
          </a:p>
          <a:p>
            <a:pPr>
              <a:spcAft>
                <a:spcPts val="1000"/>
              </a:spcAft>
            </a:pPr>
            <a:r>
              <a:rPr sz="1600" b="1" i="0">
                <a:solidFill>
                  <a:srgbClr val="2E3A80"/>
                </a:solidFill>
                <a:latin typeface="Montserrat"/>
              </a:rPr>
              <a:t>•  </a:t>
            </a:r>
            <a:r>
              <a:rPr sz="1600" b="0" i="0">
                <a:solidFill>
                  <a:srgbClr val="1B2330"/>
                </a:solidFill>
                <a:latin typeface="Montserrat"/>
              </a:rPr>
              <a:t>Gas correcto: Wobbe y presión</a:t>
            </a:r>
          </a:p>
          <a:p>
            <a:pPr>
              <a:spcAft>
                <a:spcPts val="1000"/>
              </a:spcAft>
            </a:pPr>
            <a:r>
              <a:rPr sz="1600" b="1" i="0">
                <a:solidFill>
                  <a:srgbClr val="2E3A80"/>
                </a:solidFill>
                <a:latin typeface="Montserrat"/>
              </a:rPr>
              <a:t>•  </a:t>
            </a:r>
            <a:r>
              <a:rPr sz="1600" b="0" i="0">
                <a:solidFill>
                  <a:srgbClr val="1B2330"/>
                </a:solidFill>
                <a:latin typeface="Montserrat"/>
              </a:rPr>
              <a:t>Usado para su fin</a:t>
            </a:r>
          </a:p>
        </p:txBody>
      </p:sp>
      <p:sp>
        <p:nvSpPr>
          <p:cNvPr id="8" name="imgph" descr="IMGQ:blue gas flame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burner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 · PUESTA EN EL MERCADO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manuales y advertencias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Manual técnico (instalador)</a:t>
            </a:r>
          </a:p>
          <a:p>
            <a:pPr>
              <a:spcAft>
                <a:spcPts val="1000"/>
              </a:spcAft>
            </a:pPr>
            <a:r>
              <a:rPr sz="1600" b="1" i="0">
                <a:solidFill>
                  <a:srgbClr val="2E3A80"/>
                </a:solidFill>
                <a:latin typeface="Montserrat"/>
              </a:rPr>
              <a:t>•  </a:t>
            </a:r>
            <a:r>
              <a:rPr sz="1600" b="0" i="0">
                <a:solidFill>
                  <a:srgbClr val="1B2330"/>
                </a:solidFill>
                <a:latin typeface="Montserrat"/>
              </a:rPr>
              <a:t>Manual de uso (usuario)</a:t>
            </a:r>
          </a:p>
          <a:p>
            <a:pPr>
              <a:spcAft>
                <a:spcPts val="1000"/>
              </a:spcAft>
            </a:pPr>
            <a:r>
              <a:rPr sz="1600" b="1" i="0">
                <a:solidFill>
                  <a:srgbClr val="2E3A80"/>
                </a:solidFill>
                <a:latin typeface="Montserrat"/>
              </a:rPr>
              <a:t>•  </a:t>
            </a:r>
            <a:r>
              <a:rPr sz="1600" b="0" i="0">
                <a:solidFill>
                  <a:srgbClr val="1B2330"/>
                </a:solidFill>
                <a:latin typeface="Montserrat"/>
              </a:rPr>
              <a:t>Advertencias en aparato y embalaje</a:t>
            </a:r>
          </a:p>
          <a:p>
            <a:pPr>
              <a:spcAft>
                <a:spcPts val="1000"/>
              </a:spcAft>
            </a:pPr>
            <a:r>
              <a:rPr sz="1600" b="1" i="0">
                <a:solidFill>
                  <a:srgbClr val="2E3A80"/>
                </a:solidFill>
                <a:latin typeface="Montserrat"/>
              </a:rPr>
              <a:t>•  </a:t>
            </a:r>
            <a:r>
              <a:rPr sz="1600" b="0" i="0">
                <a:solidFill>
                  <a:srgbClr val="1B2330"/>
                </a:solidFill>
                <a:latin typeface="Montserrat"/>
              </a:rPr>
              <a:t>Todo, como mínimo, en español</a:t>
            </a:r>
          </a:p>
        </p:txBody>
      </p:sp>
      <p:sp>
        <p:nvSpPr>
          <p:cNvPr id="8" name="imgph" descr="IMGQ:boiler instruction manual book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instruction manual booklet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2.2.1 · MANUAL TÉCNICO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libro del profesional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de gas y presión de suministro</a:t>
            </a:r>
          </a:p>
          <a:p>
            <a:pPr>
              <a:spcAft>
                <a:spcPts val="1000"/>
              </a:spcAft>
            </a:pPr>
            <a:r>
              <a:rPr sz="1600" b="1" i="0">
                <a:solidFill>
                  <a:srgbClr val="2E3A80"/>
                </a:solidFill>
                <a:latin typeface="Montserrat"/>
              </a:rPr>
              <a:t>•  </a:t>
            </a:r>
            <a:r>
              <a:rPr sz="1600" b="0" i="0">
                <a:solidFill>
                  <a:srgbClr val="1B2330"/>
                </a:solidFill>
                <a:latin typeface="Montserrat"/>
              </a:rPr>
              <a:t>Consumo nominal</a:t>
            </a:r>
          </a:p>
          <a:p>
            <a:pPr>
              <a:spcAft>
                <a:spcPts val="1000"/>
              </a:spcAft>
            </a:pPr>
            <a:r>
              <a:rPr sz="1600" b="1" i="0">
                <a:solidFill>
                  <a:srgbClr val="2E3A80"/>
                </a:solidFill>
                <a:latin typeface="Montserrat"/>
              </a:rPr>
              <a:t>•  </a:t>
            </a:r>
            <a:r>
              <a:rPr sz="1600" b="0" i="0">
                <a:solidFill>
                  <a:srgbClr val="1B2330"/>
                </a:solidFill>
                <a:latin typeface="Montserrat"/>
              </a:rPr>
              <a:t>Aire de combustión</a:t>
            </a:r>
          </a:p>
          <a:p>
            <a:pPr>
              <a:spcAft>
                <a:spcPts val="1000"/>
              </a:spcAft>
            </a:pPr>
            <a:r>
              <a:rPr sz="1600" b="1" i="0">
                <a:solidFill>
                  <a:srgbClr val="2E3A80"/>
                </a:solidFill>
                <a:latin typeface="Montserrat"/>
              </a:rPr>
              <a:t>•  </a:t>
            </a:r>
            <a:r>
              <a:rPr sz="1600" b="0" i="0">
                <a:solidFill>
                  <a:srgbClr val="1B2330"/>
                </a:solidFill>
                <a:latin typeface="Montserrat"/>
              </a:rPr>
              <a:t>Evacuación de humos</a:t>
            </a:r>
          </a:p>
          <a:p>
            <a:pPr>
              <a:spcAft>
                <a:spcPts val="1000"/>
              </a:spcAft>
            </a:pPr>
            <a:r>
              <a:rPr sz="1600" b="1" i="0">
                <a:solidFill>
                  <a:srgbClr val="2E3A80"/>
                </a:solidFill>
                <a:latin typeface="Montserrat"/>
              </a:rPr>
              <a:t>•  </a:t>
            </a:r>
            <a:r>
              <a:rPr sz="1600" b="0" i="0">
                <a:solidFill>
                  <a:srgbClr val="1B2330"/>
                </a:solidFill>
                <a:latin typeface="Montserrat"/>
              </a:rPr>
              <a:t>Datos eléctricos y bornes</a:t>
            </a:r>
          </a:p>
        </p:txBody>
      </p:sp>
      <p:sp>
        <p:nvSpPr>
          <p:cNvPr id="8" name="imgph" descr="IMGQ:gas boiler wiring diagra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wiring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2.2.2 · MANUAL DE USO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manual del cliente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Restricciones de uso</a:t>
            </a:r>
          </a:p>
          <a:p>
            <a:pPr>
              <a:spcAft>
                <a:spcPts val="1000"/>
              </a:spcAft>
            </a:pPr>
            <a:r>
              <a:rPr sz="1600" b="1" i="0">
                <a:solidFill>
                  <a:srgbClr val="2E3A80"/>
                </a:solidFill>
                <a:latin typeface="Montserrat"/>
              </a:rPr>
              <a:t>•  </a:t>
            </a:r>
            <a:r>
              <a:rPr sz="1600" b="0" i="0">
                <a:solidFill>
                  <a:srgbClr val="1B2330"/>
                </a:solidFill>
                <a:latin typeface="Montserrat"/>
              </a:rPr>
              <a:t>Encendido y elementos regulables</a:t>
            </a:r>
          </a:p>
          <a:p>
            <a:pPr>
              <a:spcAft>
                <a:spcPts val="1000"/>
              </a:spcAft>
            </a:pPr>
            <a:r>
              <a:rPr sz="1600" b="1" i="0">
                <a:solidFill>
                  <a:srgbClr val="2E3A80"/>
                </a:solidFill>
                <a:latin typeface="Montserrat"/>
              </a:rPr>
              <a:t>•  </a:t>
            </a:r>
            <a:r>
              <a:rPr sz="1600" b="0" i="0">
                <a:solidFill>
                  <a:srgbClr val="1B2330"/>
                </a:solidFill>
                <a:latin typeface="Montserrat"/>
              </a:rPr>
              <a:t>Limpieza y mantenimiento básico</a:t>
            </a:r>
          </a:p>
          <a:p>
            <a:pPr>
              <a:spcAft>
                <a:spcPts val="1000"/>
              </a:spcAft>
            </a:pPr>
            <a:r>
              <a:rPr sz="1600" b="1" i="0">
                <a:solidFill>
                  <a:srgbClr val="2E3A80"/>
                </a:solidFill>
                <a:latin typeface="Montserrat"/>
              </a:rPr>
              <a:t>•  </a:t>
            </a:r>
            <a:r>
              <a:rPr sz="1600" b="0" i="0">
                <a:solidFill>
                  <a:srgbClr val="1B2330"/>
                </a:solidFill>
                <a:latin typeface="Montserrat"/>
              </a:rPr>
              <a:t>Aviso contra falsas maniobras</a:t>
            </a:r>
          </a:p>
        </p:txBody>
      </p:sp>
      <p:sp>
        <p:nvSpPr>
          <p:cNvPr id="8" name="imgph" descr="IMGQ:person lighting gas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lighting gas stove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2.2.3-2.2.4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Aparato y embalaje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 el aparato: placa (anexo 2)</a:t>
            </a:r>
          </a:p>
          <a:p>
            <a:pPr>
              <a:spcAft>
                <a:spcPts val="1000"/>
              </a:spcAft>
            </a:pPr>
            <a:r>
              <a:rPr sz="1600" b="1" i="0">
                <a:solidFill>
                  <a:srgbClr val="2E3A80"/>
                </a:solidFill>
                <a:latin typeface="Montserrat"/>
              </a:rPr>
              <a:t>•  </a:t>
            </a:r>
            <a:r>
              <a:rPr sz="1600" b="0" i="0">
                <a:solidFill>
                  <a:srgbClr val="1B2330"/>
                </a:solidFill>
                <a:latin typeface="Montserrat"/>
              </a:rPr>
              <a:t>En la caja: tipo de gas y presión</a:t>
            </a:r>
          </a:p>
          <a:p>
            <a:pPr>
              <a:spcAft>
                <a:spcPts val="1000"/>
              </a:spcAft>
            </a:pPr>
            <a:r>
              <a:rPr sz="1600" b="1" i="0">
                <a:solidFill>
                  <a:srgbClr val="2E3A80"/>
                </a:solidFill>
                <a:latin typeface="Montserrat"/>
              </a:rPr>
              <a:t>•  </a:t>
            </a:r>
            <a:r>
              <a:rPr sz="1600" b="0" i="0">
                <a:solidFill>
                  <a:srgbClr val="1B2330"/>
                </a:solidFill>
                <a:latin typeface="Montserrat"/>
              </a:rPr>
              <a:t>En la caja: restricciones de uso</a:t>
            </a:r>
          </a:p>
        </p:txBody>
      </p:sp>
      <p:sp>
        <p:nvSpPr>
          <p:cNvPr id="8" name="imgph" descr="IMGQ:gas appliance rating lab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rating label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2.3 · EQUIPOS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Aparato frente a equipo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Aparato = conjunto terminado (caldera)</a:t>
            </a:r>
          </a:p>
          <a:p>
            <a:pPr>
              <a:spcAft>
                <a:spcPts val="1000"/>
              </a:spcAft>
            </a:pPr>
            <a:r>
              <a:rPr sz="1600" b="1" i="0">
                <a:solidFill>
                  <a:srgbClr val="2E3A80"/>
                </a:solidFill>
                <a:latin typeface="Montserrat"/>
              </a:rPr>
              <a:t>•  </a:t>
            </a:r>
            <a:r>
              <a:rPr sz="1600" b="0" i="0">
                <a:solidFill>
                  <a:srgbClr val="1B2330"/>
                </a:solidFill>
                <a:latin typeface="Montserrat"/>
              </a:rPr>
              <a:t>Equipo = pieza integrada (quemador, válvula)</a:t>
            </a:r>
          </a:p>
          <a:p>
            <a:pPr>
              <a:spcAft>
                <a:spcPts val="1000"/>
              </a:spcAft>
            </a:pPr>
            <a:r>
              <a:rPr sz="1600" b="1" i="0">
                <a:solidFill>
                  <a:srgbClr val="2E3A80"/>
                </a:solidFill>
                <a:latin typeface="Montserrat"/>
              </a:rPr>
              <a:t>•  </a:t>
            </a:r>
            <a:r>
              <a:rPr sz="1600" b="0" i="0">
                <a:solidFill>
                  <a:srgbClr val="1B2330"/>
                </a:solidFill>
                <a:latin typeface="Montserrat"/>
              </a:rPr>
              <a:t>Cada equipo, con sus instrucciones</a:t>
            </a:r>
          </a:p>
        </p:txBody>
      </p:sp>
      <p:sp>
        <p:nvSpPr>
          <p:cNvPr id="8" name="imgph" descr="IMGQ:gas valve compon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component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CONFORMIDAD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Cómo se certifica el aparato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Cumple normas UNE / UNE-EN / EN</a:t>
            </a:r>
          </a:p>
          <a:p>
            <a:pPr>
              <a:spcAft>
                <a:spcPts val="1000"/>
              </a:spcAft>
            </a:pPr>
            <a:r>
              <a:rPr sz="1600" b="1" i="0">
                <a:solidFill>
                  <a:srgbClr val="2E3A80"/>
                </a:solidFill>
                <a:latin typeface="Montserrat"/>
              </a:rPr>
              <a:t>•  </a:t>
            </a:r>
            <a:r>
              <a:rPr sz="1600" b="0" i="0">
                <a:solidFill>
                  <a:srgbClr val="1B2330"/>
                </a:solidFill>
                <a:latin typeface="Montserrat"/>
              </a:rPr>
              <a:t>Sin norma: anexo 3</a:t>
            </a:r>
          </a:p>
          <a:p>
            <a:pPr>
              <a:spcAft>
                <a:spcPts val="1000"/>
              </a:spcAft>
            </a:pPr>
            <a:r>
              <a:rPr sz="1600" b="1" i="0">
                <a:solidFill>
                  <a:srgbClr val="2E3A80"/>
                </a:solidFill>
                <a:latin typeface="Montserrat"/>
              </a:rPr>
              <a:t>•  </a:t>
            </a:r>
            <a:r>
              <a:rPr sz="1600" b="0" i="0">
                <a:solidFill>
                  <a:srgbClr val="1B2330"/>
                </a:solidFill>
                <a:latin typeface="Montserrat"/>
              </a:rPr>
              <a:t>Camino: a + b, o bien c</a:t>
            </a:r>
          </a:p>
        </p:txBody>
      </p:sp>
      <p:sp>
        <p:nvSpPr>
          <p:cNvPr id="8" name="imgph" descr="IMGQ:quality control inspection facto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quality control inspection factory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MARCADO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Placa e instrucciones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Placa visible → anexo 2</a:t>
            </a:r>
          </a:p>
          <a:p>
            <a:pPr>
              <a:spcAft>
                <a:spcPts val="1000"/>
              </a:spcAft>
            </a:pPr>
            <a:r>
              <a:rPr sz="1600" b="1" i="0">
                <a:solidFill>
                  <a:srgbClr val="2E3A80"/>
                </a:solidFill>
                <a:latin typeface="Montserrat"/>
              </a:rPr>
              <a:t>•  </a:t>
            </a:r>
            <a:r>
              <a:rPr sz="1600" b="0" i="0">
                <a:solidFill>
                  <a:srgbClr val="1B2330"/>
                </a:solidFill>
                <a:latin typeface="Montserrat"/>
              </a:rPr>
              <a:t>Instrucciones → normas o anexo 3</a:t>
            </a:r>
          </a:p>
        </p:txBody>
      </p:sp>
      <p:sp>
        <p:nvSpPr>
          <p:cNvPr id="8" name="imgph" descr="IMGQ:gas meter cabinet name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nameplate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ITC-ICG 08 = norma del aparato</a:t>
            </a:r>
          </a:p>
          <a:p>
            <a:pPr>
              <a:spcAft>
                <a:spcPts val="1400"/>
              </a:spcAft>
            </a:pPr>
            <a:r>
              <a:rPr sz="2000" b="1" i="0">
                <a:solidFill>
                  <a:srgbClr val="2E3A80"/>
                </a:solidFill>
                <a:latin typeface="Montserrat"/>
              </a:rPr>
              <a:t>✓  </a:t>
            </a:r>
            <a:r>
              <a:rPr sz="2000" b="0" i="0">
                <a:solidFill>
                  <a:srgbClr val="1B2330"/>
                </a:solidFill>
                <a:latin typeface="Montserrat"/>
              </a:rPr>
              <a:t>Dos manuales y placa, en español</a:t>
            </a:r>
          </a:p>
          <a:p>
            <a:pPr>
              <a:spcAft>
                <a:spcPts val="1400"/>
              </a:spcAft>
            </a:pPr>
            <a:r>
              <a:rPr sz="2000" b="1" i="0">
                <a:solidFill>
                  <a:srgbClr val="2E3A80"/>
                </a:solidFill>
                <a:latin typeface="Montserrat"/>
              </a:rPr>
              <a:t>✓  </a:t>
            </a:r>
            <a:r>
              <a:rPr sz="2000" b="0" i="0">
                <a:solidFill>
                  <a:srgbClr val="1B2330"/>
                </a:solidFill>
                <a:latin typeface="Montserrat"/>
              </a:rPr>
              <a:t>Conformidad: a + b, o bien 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
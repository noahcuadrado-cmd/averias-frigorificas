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Profe, ¿de qué va exactamente este tema?</a:t>
            </a:r>
          </a:p>
          <a:p>
            <a:r>
              <a:t>N2: Mira, hasta ahora hemos montado tuberías, contadores, ventilaciones... Este tema es el final del recorrido: el momento de colgar el aparato del gas. La norma nos dice tres cosas: dónde puede ir el aparato, a qué distancia del calor, y con qué tipo de tubo lo unimos a la instalación o a la bombona. En este primer vídeo montamos el mapa: qué regula la norma, las reglas de dónde va cada aparato y las dos tablas que deciden qué conexión vale. Piénsalo como el último metro de la instalación, el que más vas a pisar en obra.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estas cifras qué me dicen del vídeo?</a:t>
            </a:r>
          </a:p>
          <a:p>
            <a:r>
              <a:t>N2: Te ubican de un vistazo. La primera: toda la norma de instalaciones receptoras se parte en trece cuadernos, y nosotros vivimos en el número siete, el del último metro. La segunda: cinco bar es la presión máxima de la que hablamos, la presión más alta que puede llevar en marcha una instalación receptora; por encima de eso ya es otro mundo. Y la tercera, cuarenta centímetros, es la distancia estrella del vídeo: lo que tiene que separar un calentador colgado encima de una cocina del fuego de abajo. Si te quedas con estas tres, ya sabes de qué palo va todo.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trece partes? ¿No cabía en una?</a:t>
            </a:r>
          </a:p>
          <a:p>
            <a:r>
              <a:t>N2: Es que la norma cubre toda la vida de una instalación receptora: diseñarla, construirla, ampliarla, probarla, ponerla en servicio y revisarla año tras año. Para no hacer un mamotreto único, lo reparten en trece cuadernos. Si la instalación fuera un edificio, hay un cuaderno para los tubos, otro para el diseño, otro para la prueba de estanquidad... y nosotros estudiamos el cuaderno siete, el de instalar y conectar los aparatos. Un dato que sí conviene retener: todo esto vale para instalaciones cuya presión máxima de operación, que es la presión más alta que puede llevar en funcionamiento, sea igual o menor a cinco bar. Por encima de cinco bar ya no manda esta norma.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qué tiene de especial la parte siete?</a:t>
            </a:r>
          </a:p>
          <a:p>
            <a:r>
              <a:t>N2: Que es el tramo final, el que une tu instalación con el aparato de verdad. Acuérdate del tema del reglamento: la instalación receptora termina en la llave de conexión de aparato, esa llavecita que cierra el paso justo antes de la caldera o la cocina. Pues bien, todo lo que viene después de esa llave, el tubo que va hasta el aparato, es lo que gobierna la parte siete. Por eso digo que es el último metro: el punto exacto donde el gas se enchufa al aparato. Y fíjate en la ventaja práctica: si cierras esa llave, el aparato queda aislado y puedes desmontarlo o cambiar el tubo sin ningún peligro.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Entonces, ¿esto solo vale para el gas natural de la calle?</a:t>
            </a:r>
          </a:p>
          <a:p>
            <a:r>
              <a:t>N2: No, y este detalle cae mucho. La parte siete manda en dos situaciones. Una, cuando el aparato cuelga de la instalación receptora, el gas de ciudad que llega por la tubería. Y dos, cuando cuelga de una bombona, un envase de gas licuado del petróleo, butano o propano, de contenido igual o menor a quince kilos. Por eso a lo largo del tema oirás una y otra vez «instalación receptora o envase de GLP»: son los dos sitios de donde puede salir el gas, y para los dos valen las mismas reglas de conexión. La bombona de la caravana y la caldera del piso comparten normativa en este punto.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obligan a que estén fijos?</a:t>
            </a:r>
          </a:p>
          <a:p>
            <a:r>
              <a:t>N2: Piensa en qué es cada tipo. Un aparato tipo B o tipo C es de los que tienen conducto para sacar los humos fuera, como una caldera o un calentador estanco. Un aparato así no puede andar suelto de un lado a otro: tiene que ir anclado, fijo, porque su conducto de evacuación va conectado a un sitio concreto. Lo que sí puede moverse es el tipo A, el que no tiene conducto de humos y respira del propio cuarto: un hornillo de camping, una estufa de butano. Y esto no es un capricho: enlaza directo con las tablas de conexión. Lo fijo admite tubo rígido; lo móvil, casi siempre, tubo flexible. Fíjate cómo una cosa lleva a la otra.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dónde sale eso de los cuarenta centímetros?</a:t>
            </a:r>
          </a:p>
          <a:p>
            <a:r>
              <a:t>N2: Imagínate un calentador de los de circuito abierto, esos que cogen el aire del cuarto, colgado justo encima de la encimera. Cuando enciendes los fuegos de abajo para cocinar, sube una columna de calor que le da de lleno al calentador y lo puede achicharrar. Para evitarlo, la norma exige que el extremo más cercano del calentador guarde cuarenta centímetros en horizontal respecto al quemador más próximo de la cocina. ¿Y si no tengo tanto sitio? Entonces pones una pantalla, una protección que corte ese calor, y con eso puedes bajar hasta diez centímetros. La regla para el examen es facilísima: cuarenta sin protección, diez con protección.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por qué el tipo C se libra con solo diez?</a:t>
            </a:r>
          </a:p>
          <a:p>
            <a:r>
              <a:t>N2: Porque el tipo C es el listo de la clase: es un aparato estanco. Estanco quiere decir que está sellado respecto a la habitación; coge el aire de fuera y expulsa los humos por su propio conducto, sin respirar del cuarto donde está. Como no depende del aire de la habitación y está mucho más protegido de ese golpe de calor de los fuegos, la norma se conforma con diez centímetros siempre, tenga pantalla o no la tenga. Resumen para que no se te olvide: circuito abierto, cuarenta o diez según la pantalla; tipo C, diez fijos y a otra cosa.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 pregunta rápida, que esta cae seguro. Calentador de circuito abierto colgado justo encima de los fuegos y sin pantalla, ¿cuánto tiene que separarse del quemador más cercano?</a:t>
            </a:r>
          </a:p>
          <a:p>
            <a:r>
              <a:t>N2: Piensa en la columna de calor que sube de la cocina; la norma quiere el calentador lo bastante lejos para que no lo achicharre.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esa y no otra?</a:t>
            </a:r>
          </a:p>
          <a:p>
            <a:r>
              <a:t>N2: Sin protección manda la cifra grande, cuarenta centímetros en horizontal al quemador más cercano. Si metes una pantalla que corte el calor, puedes bajar hasta diez. Y no lo confundas con el tipo C, que por ser estanco se queda en diez fijos, lleve pantalla o no. El truco: cuarenta sin protección, diez con protección.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¿y cómo elijo el tubo que une la llave con el aparato?</a:t>
            </a:r>
          </a:p>
          <a:p>
            <a:r>
              <a:t>N2: Con dos tablas, y no hay más misterio. La conexión se hace siempre a partir de la llave de conexión de aparato, esa frontera de la que hablábamos. Para los aparatos normales, cocinas, calderas, calentadores, secadoras, usas la tabla uno. Para mecheros de laboratorio y sopletes, la tabla dos. Cada tabla te dice qué tipos de tubo valen. Y una regla de oro que está por encima de todo: cuando el aparato vibra al funcionar, una secadora, un equipo con motor, se recomienda tubo flexible. ¿Por qué? Porque un tubo rígido soldado a algo que tiembla acaba fatigándose y agrietándose, igual que un alambre que doblas muchas veces se acaba partiendo. El flexible absorbe ese temblor.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tabla tiene un montón de casillas, ¿me las aprendo todas?</a:t>
            </a:r>
          </a:p>
          <a:p>
            <a:r>
              <a:t>N2: Ni de broma, no memorices treinta casillas. Quédate con la lógica y colocas casi cualquier pregunta. Primera idea: la conexión rígida vale solo para aparatos fijos, dé igual que sea una casa o una industria; para algo móvil, rígida jamás. Segunda idea: los dos tubos que llevan enchufe de seguridad son solo de uso doméstico, de casa, pero sirven tanto para fijo como para móvil. Tercera idea: los tubos de elastómero, la goma, son el mundo de lo móvil y de las bombonas de GLP. Con esas tres frases resuelves la tabla uno sin empollarla.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 ver, profe, esta tabla tiene un montón de casillas. ¿Me la explicas?</a:t>
            </a:r>
          </a:p>
          <a:p>
            <a:r>
              <a:t>N2: Tranquilo, que no hay que memorizar treinta y dos casillas, solo leerla con lógica. Cada fila es un tipo de conexión con su norma, y las cuatro columnas de la derecha te dicen si vale para aparato fijo o móvil, y dentro de cada uno para uso doméstico o no doméstico. Fíjate en tres cosas y colocas casi todo. Uno: la rígida y los aceros corrugados de arriba solo dicen que sí en fijos, nunca en móvil. Dos: las dos filas con enchufe de seguridad, la espirometálica y el acero corrugado con enchufe, solo tienen sí en las columnas domésticas, valgan para fijo o para móvil. Y tres: los elastómeros de abajo son el mundo de lo móvil y del gas licuado. Un ejemplo de obra: te llega una cocina de gas suelta en una vivienda, o sea aparato móvil doméstico; miras la columna de móvil doméstico y ves que la rígida es que no, y que te vale, por ejemplo, un flexible con enchufe de seguridad o de elastómero. Las llamadas uno, dos y tres son matices del gas licuado, ahí abajo las tienes.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Otra de examen. La conexión rígida, ese tubo firme, ¿con qué aparato no la puedes usar jamás?</a:t>
            </a:r>
          </a:p>
          <a:p>
            <a:r>
              <a:t>N2: Acuérdate de la lógica de la primera tabla: el tubo rígido no acompaña el movimiento.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el móvil?</a:t>
            </a:r>
          </a:p>
          <a:p>
            <a:r>
              <a:t>N2: La rígida sirve solo para aparatos fijos, tanto en casa como en industria; en cambio, para cualquier aparato que se mueva se recurre al flexible, que absorbe el desplazamiento. Regla corta: rígida, solo fijos.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exactamente ese enchufe de seguridad?</a:t>
            </a:r>
          </a:p>
          <a:p>
            <a:r>
              <a:t>N2: Es una conexión rápida, tipo enganche, que tiene un truco: al desenchufar el aparato, corta el gas ella sola, automáticamente. No tienes que ir a cerrar ninguna llave; tiras del enganche y el paso se cierra. ¿Ves por qué la norma la reserva para uso doméstico? Está pensada para que en casa puedas separar la cocina o el aparato para limpiar detrás, o para cambiarlo, sin que se escape ni una burbuja de gas. En industria y comercio no se admiten esas conexiones con enchufe; allí se montan de otra forma. Enchufe de seguridad es igual a casa y a comodidad segura.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Piensa en ese enganche rápido que corta el gas solo al tirar de él. ¿Dónde se permite usarlo?</a:t>
            </a:r>
          </a:p>
          <a:p>
            <a:r>
              <a:t>N2: Es una comodidad pensada para la casa, no para la industria ni el comercio.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el porqué?</a:t>
            </a:r>
          </a:p>
          <a:p>
            <a:r>
              <a:t>N2: El enchufe de seguridad está pensado para que en casa separes el aparato sin que se escape gas. Por eso las dos filas con enchufe de la tabla son solo de uso doméstico; en comercio o industria no se admiten. Enchufe de seguridad es igual a casa.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 tabla dos en qué se diferencia?</a:t>
            </a:r>
          </a:p>
          <a:p>
            <a:r>
              <a:t>N2: La tabla dos es solo para mecheros de laboratorio, los tipo Bunsen, y para sopletes. Y aquí hay una diferencia gorda: la conexión rígida es siempre que no. Piénsalo, tiene toda la lógica: un mechero o un soplete los mueves con la mano para trabajar, no vas a soldarlos con un tubo rígido a la pared. Por eso van con tubos flexibles: con enchufe de seguridad, de elastómero, o metálico corrugado. Un detalle fino que a veces cae: el tubo de elastómero con armadura para sopletes sigue la norma de las mangueras de soldadura, la de soldeo y corte, porque un soplete al fin y al cabo es una herramienta de soldar.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esta segunda tabla en qué cambia?</a:t>
            </a:r>
          </a:p>
          <a:p>
            <a:r>
              <a:t>N2: Esta es solo para mecheros de laboratorio y para sopletes, esas herramientas que se mueven en la mano. Léela igual, fila a fila, pero fíjate en lo que salta a la vista: las tres primeras filas, la rígida y los aceros corrugados sin enchufe, son que no para los dos, porque a un mechero o a un soplete no los sueldas con tubo firme. Lo que sí vale son los flexibles con enchufe de seguridad, que dan sí en mecheros y sopletes, y los elastómeros. Ojo a un detalle que cae: el elastómero con armadura aquí va según la norma de las mangueras de soldeo y corte, distinta de la de la tabla anterior, porque un soplete al fin y al cabo es una herramienta de soldar. Ejemplo de taller: para el soplete del fontanero, un flexible de elastómero con armadura de soldeo; para un mechero de laboratorio, un flexible con enchufe de seguridad. La llamada con asterisco recuerda que el elastómero según la norma europea es solo para gas licuado.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Todo esto, ¿queda en algún papel?</a:t>
            </a:r>
          </a:p>
          <a:p>
            <a:r>
              <a:t>N2: Sí, y conviene que lo tengas claro. Dónde va el aparato y qué tipo de conexión le has puesto forma parte de lo que la empresa instaladora refleja y firma en el certificado de instalación, lo que en la calle llamamos el boletín, con su tabla de aparatos del modelo IRG tres, y también en el certificado de puesta en marcha del aparato. Ese papel se le entrega al usuario y queda a disposición de la empresa distribuidora y de la comunidad autónoma. Aquí está la parte seria: si conectas un aparato con un tubo que la tabla no permite para ese uso, estás firmando algo que no cumple la norma. Tu firma dice que está bien hecho.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Profe, si tuviera que quedarme con lo esencial de hoy, ¿qué sería?</a:t>
            </a:r>
          </a:p>
          <a:p>
            <a:r>
              <a:t>N2: Reconstruyamos el hilo. Empezamos situando la parte siete dentro de la norma: es el último metro, todo lo que va de la llave de conexión de aparato hacia el aparato, y vale igual si el gas viene de la instalación receptora o de una bombona de hasta quince kilos. Luego, dónde poner el aparato: los tipo B y C van fijos, y un aparato de circuito abierto encima de la cocina necesita cuarenta centímetros al fuego, o diez con pantalla, mientras que el tipo C, por ser estanco, se queda en diez fijos. Y por último, con qué unirlo: dos tablas, la uno para aparatos y la dos para mecheros y sopletes, gobernadas por tres ideas, rígida solo fijos, enchufe de seguridad solo casa, y elastómeros para lo móvil y el GLP.</a:t>
            </a:r>
          </a:p>
          <a:p>
            <a:r>
              <a:t>N1: ¿Y cómo cae esto en el examen?</a:t>
            </a:r>
          </a:p>
          <a:p>
            <a:r>
              <a:t>N2: Te lo preguntan cruzado: te dan un aparato móvil doméstico y te piden si vale la rígida, o te sueltan la distancia al foco de calor a ver si dices cuarenta o diez. Y en la obra decide si tu boletín cumple o te lo tumba el inspector. Hoy ya eres más gasista que ayer: sabes dónde va cada aparato y por qué. En el vídeo dos bajamos al taller y montamos los siete tipos de conexión uno a uno, con sus longitudes y sus prohibiciones.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2</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Instalación y conexión de aparatos</a:t>
            </a:r>
          </a:p>
          <a:p>
            <a:r>
              <a:rPr sz="2200" b="0" i="0">
                <a:solidFill>
                  <a:srgbClr val="CADCFC"/>
                </a:solidFill>
                <a:latin typeface="Montserrat"/>
              </a:rPr>
              <a:t>Generalidades y tipos de conexión</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14 · UNE 60670-7</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13</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partes de la norma UNE 60670</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5 bar</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presión máxima de operación</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40 cm</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distancia al foco de calor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UNE 60670</a:t>
            </a:r>
          </a:p>
          <a:p>
            <a:pPr>
              <a:spcAft>
                <a:spcPts val="900"/>
              </a:spcAft>
            </a:pPr>
            <a:r>
              <a:rPr sz="1800" b="1" i="0">
                <a:solidFill>
                  <a:srgbClr val="E8801A"/>
                </a:solidFill>
                <a:latin typeface="Montserrat"/>
              </a:rPr>
              <a:t>02   </a:t>
            </a:r>
            <a:r>
              <a:rPr sz="1700" b="0" i="0">
                <a:solidFill>
                  <a:srgbClr val="1B2330"/>
                </a:solidFill>
                <a:latin typeface="Montserrat"/>
              </a:rPr>
              <a:t>Parte 7</a:t>
            </a:r>
          </a:p>
          <a:p>
            <a:pPr>
              <a:spcAft>
                <a:spcPts val="900"/>
              </a:spcAft>
            </a:pPr>
            <a:r>
              <a:rPr sz="1800" b="1" i="0">
                <a:solidFill>
                  <a:srgbClr val="E8801A"/>
                </a:solidFill>
                <a:latin typeface="Montserrat"/>
              </a:rPr>
              <a:t>03   </a:t>
            </a:r>
            <a:r>
              <a:rPr sz="1700" b="0" i="0">
                <a:solidFill>
                  <a:srgbClr val="1B2330"/>
                </a:solidFill>
                <a:latin typeface="Montserrat"/>
              </a:rPr>
              <a:t>Campo de aplicación</a:t>
            </a:r>
          </a:p>
          <a:p>
            <a:pPr>
              <a:spcAft>
                <a:spcPts val="900"/>
              </a:spcAft>
            </a:pPr>
            <a:r>
              <a:rPr sz="1800" b="1" i="0">
                <a:solidFill>
                  <a:srgbClr val="E8801A"/>
                </a:solidFill>
                <a:latin typeface="Montserrat"/>
              </a:rPr>
              <a:t>04   </a:t>
            </a:r>
            <a:r>
              <a:rPr sz="1700" b="0" i="0">
                <a:solidFill>
                  <a:srgbClr val="1B2330"/>
                </a:solidFill>
                <a:latin typeface="Montserrat"/>
              </a:rPr>
              <a:t>Ubicación de aparatos</a:t>
            </a:r>
          </a:p>
          <a:p>
            <a:pPr>
              <a:spcAft>
                <a:spcPts val="900"/>
              </a:spcAft>
            </a:pPr>
            <a:r>
              <a:rPr sz="1800" b="1" i="0">
                <a:solidFill>
                  <a:srgbClr val="E8801A"/>
                </a:solidFill>
                <a:latin typeface="Montserrat"/>
              </a:rPr>
              <a:t>05   </a:t>
            </a:r>
            <a:r>
              <a:rPr sz="1700" b="0" i="0">
                <a:solidFill>
                  <a:srgbClr val="1B2330"/>
                </a:solidFill>
                <a:latin typeface="Montserrat"/>
              </a:rPr>
              <a:t>Distancia al calor</a:t>
            </a:r>
          </a:p>
          <a:p>
            <a:pPr>
              <a:spcAft>
                <a:spcPts val="900"/>
              </a:spcAft>
            </a:pPr>
            <a:r>
              <a:rPr sz="1800" b="1" i="0">
                <a:solidFill>
                  <a:srgbClr val="E8801A"/>
                </a:solidFill>
                <a:latin typeface="Montserrat"/>
              </a:rPr>
              <a:t>06   </a:t>
            </a:r>
            <a:r>
              <a:rPr sz="1700" b="0" i="0">
                <a:solidFill>
                  <a:srgbClr val="1B2330"/>
                </a:solidFill>
                <a:latin typeface="Montserrat"/>
              </a:rPr>
              <a:t>Tipos de conexión</a:t>
            </a:r>
          </a:p>
          <a:p>
            <a:pPr>
              <a:spcAft>
                <a:spcPts val="900"/>
              </a:spcAft>
            </a:pPr>
            <a:r>
              <a:rPr sz="1800" b="1" i="0">
                <a:solidFill>
                  <a:srgbClr val="E8801A"/>
                </a:solidFill>
                <a:latin typeface="Montserrat"/>
              </a:rPr>
              <a:t>07   </a:t>
            </a:r>
            <a:r>
              <a:rPr sz="1700" b="0" i="0">
                <a:solidFill>
                  <a:srgbClr val="1B2330"/>
                </a:solidFill>
                <a:latin typeface="Montserrat"/>
              </a:rPr>
              <a:t>Tabla 1</a:t>
            </a:r>
          </a:p>
          <a:p>
            <a:pPr>
              <a:spcAft>
                <a:spcPts val="900"/>
              </a:spcAft>
            </a:pPr>
            <a:r>
              <a:rPr sz="1800" b="1" i="0">
                <a:solidFill>
                  <a:srgbClr val="E8801A"/>
                </a:solidFill>
                <a:latin typeface="Montserrat"/>
              </a:rPr>
              <a:t>08   </a:t>
            </a:r>
            <a:r>
              <a:rPr sz="1700" b="0" i="0">
                <a:solidFill>
                  <a:srgbClr val="1B2330"/>
                </a:solidFill>
                <a:latin typeface="Montserrat"/>
              </a:rPr>
              <a:t>Concepto clave</a:t>
            </a:r>
          </a:p>
          <a:p>
            <a:pPr>
              <a:spcAft>
                <a:spcPts val="900"/>
              </a:spcAft>
            </a:pPr>
            <a:r>
              <a:rPr sz="1800" b="1" i="0">
                <a:solidFill>
                  <a:srgbClr val="E8801A"/>
                </a:solidFill>
                <a:latin typeface="Montserrat"/>
              </a:rPr>
              <a:t>09   </a:t>
            </a:r>
            <a:r>
              <a:rPr sz="1700" b="0" i="0">
                <a:solidFill>
                  <a:srgbClr val="1B2330"/>
                </a:solidFill>
                <a:latin typeface="Montserrat"/>
              </a:rPr>
              <a:t>Tabla 2</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UNE 60670 · GENERALIDADES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Una norma en trece partes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Diseñar, montar, probar y revisar</a:t>
            </a:r>
          </a:p>
          <a:p>
            <a:pPr>
              <a:spcAft>
                <a:spcPts val="1100"/>
              </a:spcAft>
            </a:pPr>
            <a:r>
              <a:rPr sz="1600" b="1" i="0">
                <a:solidFill>
                  <a:srgbClr val="E8801A"/>
                </a:solidFill>
                <a:latin typeface="Montserrat"/>
              </a:rPr>
              <a:t>▸  </a:t>
            </a:r>
            <a:r>
              <a:rPr sz="1600" b="0" i="0">
                <a:solidFill>
                  <a:srgbClr val="1B2330"/>
                </a:solidFill>
                <a:latin typeface="Montserrat"/>
              </a:rPr>
              <a:t>Instalaciones receptoras MOP ≤ 5 bar</a:t>
            </a:r>
          </a:p>
          <a:p>
            <a:pPr>
              <a:spcAft>
                <a:spcPts val="1100"/>
              </a:spcAft>
            </a:pPr>
            <a:r>
              <a:rPr sz="1600" b="1" i="0">
                <a:solidFill>
                  <a:srgbClr val="E8801A"/>
                </a:solidFill>
                <a:latin typeface="Montserrat"/>
              </a:rPr>
              <a:t>▸  </a:t>
            </a:r>
            <a:r>
              <a:rPr sz="1600" b="0" i="0">
                <a:solidFill>
                  <a:srgbClr val="1B2330"/>
                </a:solidFill>
                <a:latin typeface="Montserrat"/>
              </a:rPr>
              <a:t>Parte 7: instalar y conectar aparatos</a:t>
            </a:r>
          </a:p>
        </p:txBody>
      </p:sp>
      <p:sp>
        <p:nvSpPr>
          <p:cNvPr id="9" name="imgph" descr="IMGQ:gas boiler installation on kitchen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boiler installation on kitchen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7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último metro del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Instalar y conectar el aparato</a:t>
            </a:r>
          </a:p>
          <a:p>
            <a:pPr>
              <a:spcAft>
                <a:spcPts val="1100"/>
              </a:spcAft>
            </a:pPr>
            <a:r>
              <a:rPr sz="1600" b="1" i="0">
                <a:solidFill>
                  <a:srgbClr val="E8801A"/>
                </a:solidFill>
                <a:latin typeface="Montserrat"/>
              </a:rPr>
              <a:t>▸  </a:t>
            </a:r>
            <a:r>
              <a:rPr sz="1600" b="0" i="0">
                <a:solidFill>
                  <a:srgbClr val="1B2330"/>
                </a:solidFill>
                <a:latin typeface="Montserrat"/>
              </a:rPr>
              <a:t>De la llave de aparato hacia el aparato</a:t>
            </a:r>
          </a:p>
          <a:p>
            <a:pPr>
              <a:spcAft>
                <a:spcPts val="1100"/>
              </a:spcAft>
            </a:pPr>
            <a:r>
              <a:rPr sz="1600" b="1" i="0">
                <a:solidFill>
                  <a:srgbClr val="E8801A"/>
                </a:solidFill>
                <a:latin typeface="Montserrat"/>
              </a:rPr>
              <a:t>▸  </a:t>
            </a:r>
            <a:r>
              <a:rPr sz="1600" b="0" i="0">
                <a:solidFill>
                  <a:srgbClr val="1B2330"/>
                </a:solidFill>
                <a:latin typeface="Montserrat"/>
              </a:rPr>
              <a:t>El punto donde el gas se enchufa</a:t>
            </a:r>
          </a:p>
        </p:txBody>
      </p:sp>
      <p:sp>
        <p:nvSpPr>
          <p:cNvPr id="9" name="imgph" descr="IMGQ:gas appliance connection valve pip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appliance connection valve pipe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CAMPO DE APLICACIÓN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Dos orígenes del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Instalación receptora (gas de ciudad)</a:t>
            </a:r>
          </a:p>
          <a:p>
            <a:pPr>
              <a:spcAft>
                <a:spcPts val="1100"/>
              </a:spcAft>
            </a:pPr>
            <a:r>
              <a:rPr sz="1600" b="1" i="0">
                <a:solidFill>
                  <a:srgbClr val="E8801A"/>
                </a:solidFill>
                <a:latin typeface="Montserrat"/>
              </a:rPr>
              <a:t>▸  </a:t>
            </a:r>
            <a:r>
              <a:rPr sz="1600" b="0" i="0">
                <a:solidFill>
                  <a:srgbClr val="1B2330"/>
                </a:solidFill>
                <a:latin typeface="Montserrat"/>
              </a:rPr>
              <a:t>Envase de GLP ≤ 15 kg (bombona)</a:t>
            </a:r>
          </a:p>
          <a:p>
            <a:pPr>
              <a:spcAft>
                <a:spcPts val="1100"/>
              </a:spcAft>
            </a:pPr>
            <a:r>
              <a:rPr sz="1600" b="1" i="0">
                <a:solidFill>
                  <a:srgbClr val="E8801A"/>
                </a:solidFill>
                <a:latin typeface="Montserrat"/>
              </a:rPr>
              <a:t>▸  </a:t>
            </a:r>
            <a:r>
              <a:rPr sz="1600" b="0" i="0">
                <a:solidFill>
                  <a:srgbClr val="1B2330"/>
                </a:solidFill>
                <a:latin typeface="Montserrat"/>
              </a:rPr>
              <a:t>Mismas reglas para ambos</a:t>
            </a:r>
          </a:p>
        </p:txBody>
      </p:sp>
      <p:sp>
        <p:nvSpPr>
          <p:cNvPr id="9" name="imgph" descr="IMGQ:butane gas cylinder in kitche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butane gas cylinder in kitchen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UBICACIÓN DE APARATOS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Tipo B y C: siempre fijos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Tipo B y tipo C: instalación fija</a:t>
            </a:r>
          </a:p>
          <a:p>
            <a:pPr>
              <a:spcAft>
                <a:spcPts val="1100"/>
              </a:spcAft>
            </a:pPr>
            <a:r>
              <a:rPr sz="1600" b="1" i="0">
                <a:solidFill>
                  <a:srgbClr val="E8801A"/>
                </a:solidFill>
                <a:latin typeface="Montserrat"/>
              </a:rPr>
              <a:t>▸  </a:t>
            </a:r>
            <a:r>
              <a:rPr sz="1600" b="0" i="0">
                <a:solidFill>
                  <a:srgbClr val="1B2330"/>
                </a:solidFill>
                <a:latin typeface="Montserrat"/>
              </a:rPr>
              <a:t>Son los que llevan conducto de humos</a:t>
            </a:r>
          </a:p>
          <a:p>
            <a:pPr>
              <a:spcAft>
                <a:spcPts val="1100"/>
              </a:spcAft>
            </a:pPr>
            <a:r>
              <a:rPr sz="1600" b="1" i="0">
                <a:solidFill>
                  <a:srgbClr val="E8801A"/>
                </a:solidFill>
                <a:latin typeface="Montserrat"/>
              </a:rPr>
              <a:t>▸  </a:t>
            </a:r>
            <a:r>
              <a:rPr sz="1600" b="0" i="0">
                <a:solidFill>
                  <a:srgbClr val="1B2330"/>
                </a:solidFill>
                <a:latin typeface="Montserrat"/>
              </a:rPr>
              <a:t>Lo móvil es cosa del tipo A</a:t>
            </a:r>
          </a:p>
        </p:txBody>
      </p:sp>
      <p:sp>
        <p:nvSpPr>
          <p:cNvPr id="9" name="imgph" descr="IMGQ:wall mounted gas boiler fixed"/>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wall mounted gas boiler fixed</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DISTANCIA AL CALOR</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40 cm sobre la cocina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Circuito abierto encima de cocción</a:t>
            </a:r>
          </a:p>
          <a:p>
            <a:pPr>
              <a:spcAft>
                <a:spcPts val="1100"/>
              </a:spcAft>
            </a:pPr>
            <a:r>
              <a:rPr sz="1600" b="1" i="0">
                <a:solidFill>
                  <a:srgbClr val="E8801A"/>
                </a:solidFill>
                <a:latin typeface="Montserrat"/>
              </a:rPr>
              <a:t>▸  </a:t>
            </a:r>
            <a:r>
              <a:rPr sz="1600" b="0" i="0">
                <a:solidFill>
                  <a:srgbClr val="1B2330"/>
                </a:solidFill>
                <a:latin typeface="Montserrat"/>
              </a:rPr>
              <a:t>40 cm horizontales al quemador</a:t>
            </a:r>
          </a:p>
          <a:p>
            <a:pPr>
              <a:spcAft>
                <a:spcPts val="1100"/>
              </a:spcAft>
            </a:pPr>
            <a:r>
              <a:rPr sz="1600" b="1" i="0">
                <a:solidFill>
                  <a:srgbClr val="E8801A"/>
                </a:solidFill>
                <a:latin typeface="Montserrat"/>
              </a:rPr>
              <a:t>▸  </a:t>
            </a:r>
            <a:r>
              <a:rPr sz="1600" b="0" i="0">
                <a:solidFill>
                  <a:srgbClr val="1B2330"/>
                </a:solidFill>
                <a:latin typeface="Montserrat"/>
              </a:rPr>
              <a:t>Con pantalla de protección, hasta 10 cm</a:t>
            </a:r>
          </a:p>
        </p:txBody>
      </p:sp>
      <p:sp>
        <p:nvSpPr>
          <p:cNvPr id="9" name="imgph" descr="IMGQ:gas water heater above kitchen stov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water heater above kitchen stove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DISTANCIA AL CALOR</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tipo C, 10 cm fijos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El tipo C es estanco</a:t>
            </a:r>
          </a:p>
          <a:p>
            <a:pPr>
              <a:spcAft>
                <a:spcPts val="1100"/>
              </a:spcAft>
            </a:pPr>
            <a:r>
              <a:rPr sz="1600" b="1" i="0">
                <a:solidFill>
                  <a:srgbClr val="E8801A"/>
                </a:solidFill>
                <a:latin typeface="Montserrat"/>
              </a:rPr>
              <a:t>▸  </a:t>
            </a:r>
            <a:r>
              <a:rPr sz="1600" b="0" i="0">
                <a:solidFill>
                  <a:srgbClr val="1B2330"/>
                </a:solidFill>
                <a:latin typeface="Montserrat"/>
              </a:rPr>
              <a:t>Coge aire y saca humos por su conducto</a:t>
            </a:r>
          </a:p>
          <a:p>
            <a:pPr>
              <a:spcAft>
                <a:spcPts val="1100"/>
              </a:spcAft>
            </a:pPr>
            <a:r>
              <a:rPr sz="1600" b="1" i="0">
                <a:solidFill>
                  <a:srgbClr val="E8801A"/>
                </a:solidFill>
                <a:latin typeface="Montserrat"/>
              </a:rPr>
              <a:t>▸  </a:t>
            </a:r>
            <a:r>
              <a:rPr sz="1600" b="0" i="0">
                <a:solidFill>
                  <a:srgbClr val="1B2330"/>
                </a:solidFill>
                <a:latin typeface="Montserrat"/>
              </a:rPr>
              <a:t>10 cm, lleve pantalla o no</a:t>
            </a:r>
          </a:p>
        </p:txBody>
      </p:sp>
      <p:sp>
        <p:nvSpPr>
          <p:cNvPr id="9" name="imgph" descr="IMGQ:sealed gas boiler flue pip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sealed gas boiler flue pipe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Un calentador de circuito abierto va sobre la cocina sin pantalla. ¿Distancia horizontal mínima al quemador más cercano?</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10 cm</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25 cm</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40 cm</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60 cm</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Un calentador de circuito abierto va sobre la cocina sin pantalla. ¿Distancia horizontal mínima al quemador más cercano?</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40 cm</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Circuito abierto sin pantalla exige 40 cm; con protección baja a 10 cm, y el tipo C se queda en 10 cm siempre.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TIPOS DE CONEXIÓN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Todo pasa por la llave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Conexión tras la llave de aparato</a:t>
            </a:r>
          </a:p>
          <a:p>
            <a:pPr>
              <a:spcAft>
                <a:spcPts val="1100"/>
              </a:spcAft>
            </a:pPr>
            <a:r>
              <a:rPr sz="1600" b="1" i="0">
                <a:solidFill>
                  <a:srgbClr val="E8801A"/>
                </a:solidFill>
                <a:latin typeface="Montserrat"/>
              </a:rPr>
              <a:t>▸  </a:t>
            </a:r>
            <a:r>
              <a:rPr sz="1600" b="0" i="0">
                <a:solidFill>
                  <a:srgbClr val="1B2330"/>
                </a:solidFill>
                <a:latin typeface="Montserrat"/>
              </a:rPr>
              <a:t>Tabla 1: aparatos de gas</a:t>
            </a:r>
          </a:p>
          <a:p>
            <a:pPr>
              <a:spcAft>
                <a:spcPts val="1100"/>
              </a:spcAft>
            </a:pPr>
            <a:r>
              <a:rPr sz="1600" b="1" i="0">
                <a:solidFill>
                  <a:srgbClr val="E8801A"/>
                </a:solidFill>
                <a:latin typeface="Montserrat"/>
              </a:rPr>
              <a:t>▸  </a:t>
            </a:r>
            <a:r>
              <a:rPr sz="1600" b="0" i="0">
                <a:solidFill>
                  <a:srgbClr val="1B2330"/>
                </a:solidFill>
                <a:latin typeface="Montserrat"/>
              </a:rPr>
              <a:t>Tabla 2: mecheros y sopletes</a:t>
            </a:r>
          </a:p>
          <a:p>
            <a:pPr>
              <a:spcAft>
                <a:spcPts val="1100"/>
              </a:spcAft>
            </a:pPr>
            <a:r>
              <a:rPr sz="1600" b="1" i="0">
                <a:solidFill>
                  <a:srgbClr val="E8801A"/>
                </a:solidFill>
                <a:latin typeface="Montserrat"/>
              </a:rPr>
              <a:t>▸  </a:t>
            </a:r>
            <a:r>
              <a:rPr sz="1600" b="0" i="0">
                <a:solidFill>
                  <a:srgbClr val="1B2330"/>
                </a:solidFill>
                <a:latin typeface="Montserrat"/>
              </a:rPr>
              <a:t>Si el aparato vibra, flexible</a:t>
            </a:r>
          </a:p>
        </p:txBody>
      </p:sp>
      <p:sp>
        <p:nvSpPr>
          <p:cNvPr id="9" name="imgph" descr="IMGQ:flexible gas hose connection applianc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flexible gas hose connection appliance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TABLA 1 · APARATOS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Cómo leerla sin marearte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Rígida → solo aparatos fijos</a:t>
            </a:r>
          </a:p>
          <a:p>
            <a:pPr>
              <a:spcAft>
                <a:spcPts val="1100"/>
              </a:spcAft>
            </a:pPr>
            <a:r>
              <a:rPr sz="1600" b="1" i="0">
                <a:solidFill>
                  <a:srgbClr val="E8801A"/>
                </a:solidFill>
                <a:latin typeface="Montserrat"/>
              </a:rPr>
              <a:t>▸  </a:t>
            </a:r>
            <a:r>
              <a:rPr sz="1600" b="0" i="0">
                <a:solidFill>
                  <a:srgbClr val="1B2330"/>
                </a:solidFill>
                <a:latin typeface="Montserrat"/>
              </a:rPr>
              <a:t>Con enchufe de seguridad → solo doméstico</a:t>
            </a:r>
          </a:p>
          <a:p>
            <a:pPr>
              <a:spcAft>
                <a:spcPts val="1100"/>
              </a:spcAft>
            </a:pPr>
            <a:r>
              <a:rPr sz="1600" b="1" i="0">
                <a:solidFill>
                  <a:srgbClr val="E8801A"/>
                </a:solidFill>
                <a:latin typeface="Montserrat"/>
              </a:rPr>
              <a:t>▸  </a:t>
            </a:r>
            <a:r>
              <a:rPr sz="1600" b="0" i="0">
                <a:solidFill>
                  <a:srgbClr val="1B2330"/>
                </a:solidFill>
                <a:latin typeface="Montserrat"/>
              </a:rPr>
              <a:t>Elastómeros → lo móvil y el GLP</a:t>
            </a:r>
          </a:p>
        </p:txBody>
      </p:sp>
      <p:sp>
        <p:nvSpPr>
          <p:cNvPr id="9" name="imgph" descr="IMGQ:gas installation copper pipe wa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installation copper pipe wall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TABLA 1 · APARATOS</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Conexión de aparatos de gas</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1848612"/>
                <a:gridCol w="1848612"/>
                <a:gridCol w="1848612"/>
                <a:gridCol w="1848612"/>
                <a:gridCol w="1848612"/>
                <a:gridCol w="1848612"/>
              </a:tblGrid>
              <a:tr h="447040">
                <a:tc>
                  <a:txBody>
                    <a:bodyPr/>
                    <a:lstStyle/>
                    <a:p>
                      <a:r>
                        <a:rPr sz="1100" b="1" i="0">
                          <a:solidFill>
                            <a:srgbClr val="FFFFFF"/>
                          </a:solidFill>
                          <a:latin typeface="Montserrat"/>
                        </a:rPr>
                        <a:t>Tipo de conexión</a:t>
                      </a:r>
                    </a:p>
                  </a:txBody>
                  <a:tcPr>
                    <a:solidFill>
                      <a:srgbClr val="1E2761"/>
                    </a:solidFill>
                  </a:tcPr>
                </a:tc>
                <a:tc>
                  <a:txBody>
                    <a:bodyPr/>
                    <a:lstStyle/>
                    <a:p>
                      <a:r>
                        <a:rPr sz="1100" b="1" i="0">
                          <a:solidFill>
                            <a:srgbClr val="FFFFFF"/>
                          </a:solidFill>
                          <a:latin typeface="Montserrat"/>
                        </a:rPr>
                        <a:t>Norma</a:t>
                      </a:r>
                    </a:p>
                  </a:txBody>
                  <a:tcPr>
                    <a:solidFill>
                      <a:srgbClr val="1E2761"/>
                    </a:solidFill>
                  </a:tcPr>
                </a:tc>
                <a:tc>
                  <a:txBody>
                    <a:bodyPr/>
                    <a:lstStyle/>
                    <a:p>
                      <a:r>
                        <a:rPr sz="1100" b="1" i="0">
                          <a:solidFill>
                            <a:srgbClr val="FFFFFF"/>
                          </a:solidFill>
                          <a:latin typeface="Montserrat"/>
                        </a:rPr>
                        <a:t>Fijo D</a:t>
                      </a:r>
                    </a:p>
                  </a:txBody>
                  <a:tcPr>
                    <a:solidFill>
                      <a:srgbClr val="1E2761"/>
                    </a:solidFill>
                  </a:tcPr>
                </a:tc>
                <a:tc>
                  <a:txBody>
                    <a:bodyPr/>
                    <a:lstStyle/>
                    <a:p>
                      <a:r>
                        <a:rPr sz="1100" b="1" i="0">
                          <a:solidFill>
                            <a:srgbClr val="FFFFFF"/>
                          </a:solidFill>
                          <a:latin typeface="Montserrat"/>
                        </a:rPr>
                        <a:t>Fijo ND</a:t>
                      </a:r>
                    </a:p>
                  </a:txBody>
                  <a:tcPr>
                    <a:solidFill>
                      <a:srgbClr val="1E2761"/>
                    </a:solidFill>
                  </a:tcPr>
                </a:tc>
                <a:tc>
                  <a:txBody>
                    <a:bodyPr/>
                    <a:lstStyle/>
                    <a:p>
                      <a:r>
                        <a:rPr sz="1100" b="1" i="0">
                          <a:solidFill>
                            <a:srgbClr val="FFFFFF"/>
                          </a:solidFill>
                          <a:latin typeface="Montserrat"/>
                        </a:rPr>
                        <a:t>Móvil D</a:t>
                      </a:r>
                    </a:p>
                  </a:txBody>
                  <a:tcPr>
                    <a:solidFill>
                      <a:srgbClr val="1E2761"/>
                    </a:solidFill>
                  </a:tcPr>
                </a:tc>
                <a:tc>
                  <a:txBody>
                    <a:bodyPr/>
                    <a:lstStyle/>
                    <a:p>
                      <a:r>
                        <a:rPr sz="1100" b="1" i="0">
                          <a:solidFill>
                            <a:srgbClr val="FFFFFF"/>
                          </a:solidFill>
                          <a:latin typeface="Montserrat"/>
                        </a:rPr>
                        <a:t>Móvil ND</a:t>
                      </a:r>
                    </a:p>
                  </a:txBody>
                  <a:tcPr>
                    <a:solidFill>
                      <a:srgbClr val="1E2761"/>
                    </a:solidFill>
                  </a:tcPr>
                </a:tc>
              </a:tr>
              <a:tr h="447040">
                <a:tc>
                  <a:txBody>
                    <a:bodyPr/>
                    <a:lstStyle/>
                    <a:p>
                      <a:r>
                        <a:rPr sz="1100" b="0" i="0">
                          <a:solidFill>
                            <a:srgbClr val="1B2330"/>
                          </a:solidFill>
                          <a:latin typeface="Montserrat"/>
                        </a:rPr>
                        <a:t>Rígida</a:t>
                      </a:r>
                    </a:p>
                  </a:txBody>
                  <a:tcPr>
                    <a:solidFill>
                      <a:srgbClr val="F6F8FC"/>
                    </a:solidFill>
                  </a:tcPr>
                </a:tc>
                <a:tc>
                  <a:txBody>
                    <a:bodyPr/>
                    <a:lstStyle/>
                    <a:p>
                      <a:r>
                        <a:rPr sz="1100" b="0" i="0">
                          <a:solidFill>
                            <a:srgbClr val="1B2330"/>
                          </a:solidFill>
                          <a:latin typeface="Montserrat"/>
                        </a:rPr>
                        <a:t>UNE 60670-3; junta plana UNE 60719</a:t>
                      </a:r>
                    </a:p>
                  </a:txBody>
                  <a:tcPr>
                    <a:solidFill>
                      <a:srgbClr val="F6F8FC"/>
                    </a:solidFill>
                  </a:tcPr>
                </a:tc>
                <a:tc>
                  <a:txBody>
                    <a:bodyPr/>
                    <a:lstStyle/>
                    <a:p>
                      <a:r>
                        <a:rPr sz="1100" b="0" i="0">
                          <a:solidFill>
                            <a:srgbClr val="1B2330"/>
                          </a:solidFill>
                          <a:latin typeface="Montserrat"/>
                        </a:rPr>
                        <a:t>SÍ</a:t>
                      </a:r>
                    </a:p>
                  </a:txBody>
                  <a:tcPr>
                    <a:solidFill>
                      <a:srgbClr val="F6F8FC"/>
                    </a:solidFill>
                  </a:tcPr>
                </a:tc>
                <a:tc>
                  <a:txBody>
                    <a:bodyPr/>
                    <a:lstStyle/>
                    <a:p>
                      <a:r>
                        <a:rPr sz="1100" b="0" i="0">
                          <a:solidFill>
                            <a:srgbClr val="1B2330"/>
                          </a:solidFill>
                          <a:latin typeface="Montserrat"/>
                        </a:rPr>
                        <a:t>SÍ</a:t>
                      </a:r>
                    </a:p>
                  </a:txBody>
                  <a:tcPr>
                    <a:solidFill>
                      <a:srgbClr val="F6F8FC"/>
                    </a:solidFill>
                  </a:tcPr>
                </a:tc>
                <a:tc>
                  <a:txBody>
                    <a:bodyPr/>
                    <a:lstStyle/>
                    <a:p>
                      <a:r>
                        <a:rPr sz="1100" b="0" i="0">
                          <a:solidFill>
                            <a:srgbClr val="1B2330"/>
                          </a:solidFill>
                          <a:latin typeface="Montserrat"/>
                        </a:rPr>
                        <a:t>NO</a:t>
                      </a:r>
                    </a:p>
                  </a:txBody>
                  <a:tcPr>
                    <a:solidFill>
                      <a:srgbClr val="F6F8FC"/>
                    </a:solidFill>
                  </a:tcPr>
                </a:tc>
                <a:tc>
                  <a:txBody>
                    <a:bodyPr/>
                    <a:lstStyle/>
                    <a:p>
                      <a:r>
                        <a:rPr sz="1100" b="0" i="0">
                          <a:solidFill>
                            <a:srgbClr val="1B2330"/>
                          </a:solidFill>
                          <a:latin typeface="Montserrat"/>
                        </a:rPr>
                        <a:t>NO</a:t>
                      </a:r>
                    </a:p>
                  </a:txBody>
                  <a:tcPr>
                    <a:solidFill>
                      <a:srgbClr val="F6F8FC"/>
                    </a:solidFill>
                  </a:tcPr>
                </a:tc>
              </a:tr>
              <a:tr h="447040">
                <a:tc>
                  <a:txBody>
                    <a:bodyPr/>
                    <a:lstStyle/>
                    <a:p>
                      <a:r>
                        <a:rPr sz="1100" b="0" i="0">
                          <a:solidFill>
                            <a:srgbClr val="1B2330"/>
                          </a:solidFill>
                          <a:latin typeface="Montserrat"/>
                        </a:rPr>
                        <a:t>Acero inox corrugado (doméstico)</a:t>
                      </a:r>
                    </a:p>
                  </a:txBody>
                  <a:tcPr>
                    <a:solidFill>
                      <a:srgbClr val="FFFFFF"/>
                    </a:solidFill>
                  </a:tcPr>
                </a:tc>
                <a:tc>
                  <a:txBody>
                    <a:bodyPr/>
                    <a:lstStyle/>
                    <a:p>
                      <a:r>
                        <a:rPr sz="1100" b="0" i="0">
                          <a:solidFill>
                            <a:srgbClr val="1B2330"/>
                          </a:solidFill>
                          <a:latin typeface="Montserrat"/>
                        </a:rPr>
                        <a:t>UNE 60713</a:t>
                      </a:r>
                    </a:p>
                  </a:txBody>
                  <a:tcPr>
                    <a:solidFill>
                      <a:srgbClr val="FFFFFF"/>
                    </a:solidFill>
                  </a:tcPr>
                </a:tc>
                <a:tc>
                  <a:txBody>
                    <a:bodyPr/>
                    <a:lstStyle/>
                    <a:p>
                      <a:r>
                        <a:rPr sz="1100" b="0" i="0">
                          <a:solidFill>
                            <a:srgbClr val="1B2330"/>
                          </a:solidFill>
                          <a:latin typeface="Montserrat"/>
                        </a:rPr>
                        <a:t>SÍ</a:t>
                      </a:r>
                    </a:p>
                  </a:txBody>
                  <a:tcPr>
                    <a:solidFill>
                      <a:srgbClr val="FFFFFF"/>
                    </a:solidFill>
                  </a:tcPr>
                </a:tc>
                <a:tc>
                  <a:txBody>
                    <a:bodyPr/>
                    <a:lstStyle/>
                    <a:p>
                      <a:r>
                        <a:rPr sz="1100" b="0" i="0">
                          <a:solidFill>
                            <a:srgbClr val="1B2330"/>
                          </a:solidFill>
                          <a:latin typeface="Montserrat"/>
                        </a:rPr>
                        <a:t>SÍ</a:t>
                      </a:r>
                    </a:p>
                  </a:txBody>
                  <a:tcPr>
                    <a:solidFill>
                      <a:srgbClr val="FFFFFF"/>
                    </a:solidFill>
                  </a:tcPr>
                </a:tc>
                <a:tc>
                  <a:txBody>
                    <a:bodyPr/>
                    <a:lstStyle/>
                    <a:p>
                      <a:r>
                        <a:rPr sz="1100" b="0" i="0">
                          <a:solidFill>
                            <a:srgbClr val="1B2330"/>
                          </a:solidFill>
                          <a:latin typeface="Montserrat"/>
                        </a:rPr>
                        <a:t>NO</a:t>
                      </a:r>
                    </a:p>
                  </a:txBody>
                  <a:tcPr>
                    <a:solidFill>
                      <a:srgbClr val="FFFFFF"/>
                    </a:solidFill>
                  </a:tcPr>
                </a:tc>
                <a:tc>
                  <a:txBody>
                    <a:bodyPr/>
                    <a:lstStyle/>
                    <a:p>
                      <a:r>
                        <a:rPr sz="1100" b="0" i="0">
                          <a:solidFill>
                            <a:srgbClr val="1B2330"/>
                          </a:solidFill>
                          <a:latin typeface="Montserrat"/>
                        </a:rPr>
                        <a:t>NO</a:t>
                      </a:r>
                    </a:p>
                  </a:txBody>
                  <a:tcPr>
                    <a:solidFill>
                      <a:srgbClr val="FFFFFF"/>
                    </a:solidFill>
                  </a:tcPr>
                </a:tc>
              </a:tr>
              <a:tr h="447040">
                <a:tc>
                  <a:txBody>
                    <a:bodyPr/>
                    <a:lstStyle/>
                    <a:p>
                      <a:r>
                        <a:rPr sz="1100" b="0" i="0">
                          <a:solidFill>
                            <a:srgbClr val="1B2330"/>
                          </a:solidFill>
                          <a:latin typeface="Montserrat"/>
                        </a:rPr>
                        <a:t>Acero inox corrugado (no doméstico)</a:t>
                      </a:r>
                    </a:p>
                  </a:txBody>
                  <a:tcPr>
                    <a:solidFill>
                      <a:srgbClr val="F6F8FC"/>
                    </a:solidFill>
                  </a:tcPr>
                </a:tc>
                <a:tc>
                  <a:txBody>
                    <a:bodyPr/>
                    <a:lstStyle/>
                    <a:p>
                      <a:r>
                        <a:rPr sz="1100" b="0" i="0">
                          <a:solidFill>
                            <a:srgbClr val="1B2330"/>
                          </a:solidFill>
                          <a:latin typeface="Montserrat"/>
                        </a:rPr>
                        <a:t>UNE-EN ISO 10380</a:t>
                      </a:r>
                    </a:p>
                  </a:txBody>
                  <a:tcPr>
                    <a:solidFill>
                      <a:srgbClr val="F6F8FC"/>
                    </a:solidFill>
                  </a:tcPr>
                </a:tc>
                <a:tc>
                  <a:txBody>
                    <a:bodyPr/>
                    <a:lstStyle/>
                    <a:p>
                      <a:r>
                        <a:rPr sz="1100" b="0" i="0">
                          <a:solidFill>
                            <a:srgbClr val="1B2330"/>
                          </a:solidFill>
                          <a:latin typeface="Montserrat"/>
                        </a:rPr>
                        <a:t>NO</a:t>
                      </a:r>
                    </a:p>
                  </a:txBody>
                  <a:tcPr>
                    <a:solidFill>
                      <a:srgbClr val="F6F8FC"/>
                    </a:solidFill>
                  </a:tcPr>
                </a:tc>
                <a:tc>
                  <a:txBody>
                    <a:bodyPr/>
                    <a:lstStyle/>
                    <a:p>
                      <a:r>
                        <a:rPr sz="1100" b="0" i="0">
                          <a:solidFill>
                            <a:srgbClr val="1B2330"/>
                          </a:solidFill>
                          <a:latin typeface="Montserrat"/>
                        </a:rPr>
                        <a:t>SÍ</a:t>
                      </a:r>
                    </a:p>
                  </a:txBody>
                  <a:tcPr>
                    <a:solidFill>
                      <a:srgbClr val="F6F8FC"/>
                    </a:solidFill>
                  </a:tcPr>
                </a:tc>
                <a:tc>
                  <a:txBody>
                    <a:bodyPr/>
                    <a:lstStyle/>
                    <a:p>
                      <a:r>
                        <a:rPr sz="1100" b="0" i="0">
                          <a:solidFill>
                            <a:srgbClr val="1B2330"/>
                          </a:solidFill>
                          <a:latin typeface="Montserrat"/>
                        </a:rPr>
                        <a:t>NO</a:t>
                      </a:r>
                    </a:p>
                  </a:txBody>
                  <a:tcPr>
                    <a:solidFill>
                      <a:srgbClr val="F6F8FC"/>
                    </a:solidFill>
                  </a:tcPr>
                </a:tc>
                <a:tc>
                  <a:txBody>
                    <a:bodyPr/>
                    <a:lstStyle/>
                    <a:p>
                      <a:r>
                        <a:rPr sz="1100" b="0" i="0">
                          <a:solidFill>
                            <a:srgbClr val="1B2330"/>
                          </a:solidFill>
                          <a:latin typeface="Montserrat"/>
                        </a:rPr>
                        <a:t>SÍ</a:t>
                      </a:r>
                    </a:p>
                  </a:txBody>
                  <a:tcPr>
                    <a:solidFill>
                      <a:srgbClr val="F6F8FC"/>
                    </a:solidFill>
                  </a:tcPr>
                </a:tc>
              </a:tr>
              <a:tr h="447040">
                <a:tc>
                  <a:txBody>
                    <a:bodyPr/>
                    <a:lstStyle/>
                    <a:p>
                      <a:r>
                        <a:rPr sz="1100" b="0" i="0">
                          <a:solidFill>
                            <a:srgbClr val="1B2330"/>
                          </a:solidFill>
                          <a:latin typeface="Montserrat"/>
                        </a:rPr>
                        <a:t>Espirometálica con enchufe de seguridad</a:t>
                      </a:r>
                    </a:p>
                  </a:txBody>
                  <a:tcPr>
                    <a:solidFill>
                      <a:srgbClr val="FFFFFF"/>
                    </a:solidFill>
                  </a:tcPr>
                </a:tc>
                <a:tc>
                  <a:txBody>
                    <a:bodyPr/>
                    <a:lstStyle/>
                    <a:p>
                      <a:r>
                        <a:rPr sz="1100" b="0" i="0">
                          <a:solidFill>
                            <a:srgbClr val="1B2330"/>
                          </a:solidFill>
                          <a:latin typeface="Montserrat"/>
                        </a:rPr>
                        <a:t>UNE 60715-1 + UNE-EN 15069</a:t>
                      </a:r>
                    </a:p>
                  </a:txBody>
                  <a:tcPr>
                    <a:solidFill>
                      <a:srgbClr val="FFFFFF"/>
                    </a:solidFill>
                  </a:tcPr>
                </a:tc>
                <a:tc>
                  <a:txBody>
                    <a:bodyPr/>
                    <a:lstStyle/>
                    <a:p>
                      <a:r>
                        <a:rPr sz="1100" b="0" i="0">
                          <a:solidFill>
                            <a:srgbClr val="1B2330"/>
                          </a:solidFill>
                          <a:latin typeface="Montserrat"/>
                        </a:rPr>
                        <a:t>SÍ</a:t>
                      </a:r>
                    </a:p>
                  </a:txBody>
                  <a:tcPr>
                    <a:solidFill>
                      <a:srgbClr val="FFFFFF"/>
                    </a:solidFill>
                  </a:tcPr>
                </a:tc>
                <a:tc>
                  <a:txBody>
                    <a:bodyPr/>
                    <a:lstStyle/>
                    <a:p>
                      <a:r>
                        <a:rPr sz="1100" b="0" i="0">
                          <a:solidFill>
                            <a:srgbClr val="1B2330"/>
                          </a:solidFill>
                          <a:latin typeface="Montserrat"/>
                        </a:rPr>
                        <a:t>NO</a:t>
                      </a:r>
                    </a:p>
                  </a:txBody>
                  <a:tcPr>
                    <a:solidFill>
                      <a:srgbClr val="FFFFFF"/>
                    </a:solidFill>
                  </a:tcPr>
                </a:tc>
                <a:tc>
                  <a:txBody>
                    <a:bodyPr/>
                    <a:lstStyle/>
                    <a:p>
                      <a:r>
                        <a:rPr sz="1100" b="0" i="0">
                          <a:solidFill>
                            <a:srgbClr val="1B2330"/>
                          </a:solidFill>
                          <a:latin typeface="Montserrat"/>
                        </a:rPr>
                        <a:t>SÍ</a:t>
                      </a:r>
                    </a:p>
                  </a:txBody>
                  <a:tcPr>
                    <a:solidFill>
                      <a:srgbClr val="FFFFFF"/>
                    </a:solidFill>
                  </a:tcPr>
                </a:tc>
                <a:tc>
                  <a:txBody>
                    <a:bodyPr/>
                    <a:lstStyle/>
                    <a:p>
                      <a:r>
                        <a:rPr sz="1100" b="0" i="0">
                          <a:solidFill>
                            <a:srgbClr val="1B2330"/>
                          </a:solidFill>
                          <a:latin typeface="Montserrat"/>
                        </a:rPr>
                        <a:t>NO</a:t>
                      </a:r>
                    </a:p>
                  </a:txBody>
                  <a:tcPr>
                    <a:solidFill>
                      <a:srgbClr val="FFFFFF"/>
                    </a:solidFill>
                  </a:tcPr>
                </a:tc>
              </a:tr>
              <a:tr h="447040">
                <a:tc>
                  <a:txBody>
                    <a:bodyPr/>
                    <a:lstStyle/>
                    <a:p>
                      <a:r>
                        <a:rPr sz="1100" b="0" i="0">
                          <a:solidFill>
                            <a:srgbClr val="1B2330"/>
                          </a:solidFill>
                          <a:latin typeface="Montserrat"/>
                        </a:rPr>
                        <a:t>Acero inox corrugado con enchufe de seguridad</a:t>
                      </a:r>
                    </a:p>
                  </a:txBody>
                  <a:tcPr>
                    <a:solidFill>
                      <a:srgbClr val="F6F8FC"/>
                    </a:solidFill>
                  </a:tcPr>
                </a:tc>
                <a:tc>
                  <a:txBody>
                    <a:bodyPr/>
                    <a:lstStyle/>
                    <a:p>
                      <a:r>
                        <a:rPr sz="1100" b="0" i="0">
                          <a:solidFill>
                            <a:srgbClr val="1B2330"/>
                          </a:solidFill>
                          <a:latin typeface="Montserrat"/>
                        </a:rPr>
                        <a:t>UNE-EN 14800 + UNE-EN 15069</a:t>
                      </a:r>
                    </a:p>
                  </a:txBody>
                  <a:tcPr>
                    <a:solidFill>
                      <a:srgbClr val="F6F8FC"/>
                    </a:solidFill>
                  </a:tcPr>
                </a:tc>
                <a:tc>
                  <a:txBody>
                    <a:bodyPr/>
                    <a:lstStyle/>
                    <a:p>
                      <a:r>
                        <a:rPr sz="1100" b="0" i="0">
                          <a:solidFill>
                            <a:srgbClr val="1B2330"/>
                          </a:solidFill>
                          <a:latin typeface="Montserrat"/>
                        </a:rPr>
                        <a:t>SÍ</a:t>
                      </a:r>
                    </a:p>
                  </a:txBody>
                  <a:tcPr>
                    <a:solidFill>
                      <a:srgbClr val="F6F8FC"/>
                    </a:solidFill>
                  </a:tcPr>
                </a:tc>
                <a:tc>
                  <a:txBody>
                    <a:bodyPr/>
                    <a:lstStyle/>
                    <a:p>
                      <a:r>
                        <a:rPr sz="1100" b="0" i="0">
                          <a:solidFill>
                            <a:srgbClr val="1B2330"/>
                          </a:solidFill>
                          <a:latin typeface="Montserrat"/>
                        </a:rPr>
                        <a:t>NO</a:t>
                      </a:r>
                    </a:p>
                  </a:txBody>
                  <a:tcPr>
                    <a:solidFill>
                      <a:srgbClr val="F6F8FC"/>
                    </a:solidFill>
                  </a:tcPr>
                </a:tc>
                <a:tc>
                  <a:txBody>
                    <a:bodyPr/>
                    <a:lstStyle/>
                    <a:p>
                      <a:r>
                        <a:rPr sz="1100" b="0" i="0">
                          <a:solidFill>
                            <a:srgbClr val="1B2330"/>
                          </a:solidFill>
                          <a:latin typeface="Montserrat"/>
                        </a:rPr>
                        <a:t>SÍ</a:t>
                      </a:r>
                    </a:p>
                  </a:txBody>
                  <a:tcPr>
                    <a:solidFill>
                      <a:srgbClr val="F6F8FC"/>
                    </a:solidFill>
                  </a:tcPr>
                </a:tc>
                <a:tc>
                  <a:txBody>
                    <a:bodyPr/>
                    <a:lstStyle/>
                    <a:p>
                      <a:r>
                        <a:rPr sz="1100" b="0" i="0">
                          <a:solidFill>
                            <a:srgbClr val="1B2330"/>
                          </a:solidFill>
                          <a:latin typeface="Montserrat"/>
                        </a:rPr>
                        <a:t>NO</a:t>
                      </a:r>
                    </a:p>
                  </a:txBody>
                  <a:tcPr>
                    <a:solidFill>
                      <a:srgbClr val="F6F8FC"/>
                    </a:solidFill>
                  </a:tcPr>
                </a:tc>
              </a:tr>
              <a:tr h="447040">
                <a:tc>
                  <a:txBody>
                    <a:bodyPr/>
                    <a:lstStyle/>
                    <a:p>
                      <a:r>
                        <a:rPr sz="1100" b="0" i="0">
                          <a:solidFill>
                            <a:srgbClr val="1B2330"/>
                          </a:solidFill>
                          <a:latin typeface="Montserrat"/>
                        </a:rPr>
                        <a:t>Elastómero con armadura</a:t>
                      </a:r>
                    </a:p>
                  </a:txBody>
                  <a:tcPr>
                    <a:solidFill>
                      <a:srgbClr val="FFFFFF"/>
                    </a:solidFill>
                  </a:tcPr>
                </a:tc>
                <a:tc>
                  <a:txBody>
                    <a:bodyPr/>
                    <a:lstStyle/>
                    <a:p>
                      <a:r>
                        <a:rPr sz="1100" b="0" i="0">
                          <a:solidFill>
                            <a:srgbClr val="1B2330"/>
                          </a:solidFill>
                          <a:latin typeface="Montserrat"/>
                        </a:rPr>
                        <a:t>UNE-EN 16436 clase 3</a:t>
                      </a:r>
                    </a:p>
                  </a:txBody>
                  <a:tcPr>
                    <a:solidFill>
                      <a:srgbClr val="FFFFFF"/>
                    </a:solidFill>
                  </a:tcPr>
                </a:tc>
                <a:tc>
                  <a:txBody>
                    <a:bodyPr/>
                    <a:lstStyle/>
                    <a:p>
                      <a:r>
                        <a:rPr sz="1100" b="0" i="0">
                          <a:solidFill>
                            <a:srgbClr val="1B2330"/>
                          </a:solidFill>
                          <a:latin typeface="Montserrat"/>
                        </a:rPr>
                        <a:t>NO</a:t>
                      </a:r>
                    </a:p>
                  </a:txBody>
                  <a:tcPr>
                    <a:solidFill>
                      <a:srgbClr val="FFFFFF"/>
                    </a:solidFill>
                  </a:tcPr>
                </a:tc>
                <a:tc>
                  <a:txBody>
                    <a:bodyPr/>
                    <a:lstStyle/>
                    <a:p>
                      <a:r>
                        <a:rPr sz="1100" b="0" i="0">
                          <a:solidFill>
                            <a:srgbClr val="1B2330"/>
                          </a:solidFill>
                          <a:latin typeface="Montserrat"/>
                        </a:rPr>
                        <a:t>NO</a:t>
                      </a:r>
                    </a:p>
                  </a:txBody>
                  <a:tcPr>
                    <a:solidFill>
                      <a:srgbClr val="FFFFFF"/>
                    </a:solidFill>
                  </a:tcPr>
                </a:tc>
                <a:tc>
                  <a:txBody>
                    <a:bodyPr/>
                    <a:lstStyle/>
                    <a:p>
                      <a:r>
                        <a:rPr sz="1100" b="0" i="0">
                          <a:solidFill>
                            <a:srgbClr val="1B2330"/>
                          </a:solidFill>
                          <a:latin typeface="Montserrat"/>
                        </a:rPr>
                        <a:t>NO</a:t>
                      </a:r>
                    </a:p>
                  </a:txBody>
                  <a:tcPr>
                    <a:solidFill>
                      <a:srgbClr val="FFFFFF"/>
                    </a:solidFill>
                  </a:tcPr>
                </a:tc>
                <a:tc>
                  <a:txBody>
                    <a:bodyPr/>
                    <a:lstStyle/>
                    <a:p>
                      <a:r>
                        <a:rPr sz="1100" b="0" i="0">
                          <a:solidFill>
                            <a:srgbClr val="1B2330"/>
                          </a:solidFill>
                          <a:latin typeface="Montserrat"/>
                        </a:rPr>
                        <a:t>SÍ (1)</a:t>
                      </a:r>
                    </a:p>
                  </a:txBody>
                  <a:tcPr>
                    <a:solidFill>
                      <a:srgbClr val="FFFFFF"/>
                    </a:solidFill>
                  </a:tcPr>
                </a:tc>
              </a:tr>
              <a:tr h="447040">
                <a:tc>
                  <a:txBody>
                    <a:bodyPr/>
                    <a:lstStyle/>
                    <a:p>
                      <a:r>
                        <a:rPr sz="1100" b="0" i="0">
                          <a:solidFill>
                            <a:srgbClr val="1B2330"/>
                          </a:solidFill>
                          <a:latin typeface="Montserrat"/>
                        </a:rPr>
                        <a:t>Elastómero</a:t>
                      </a:r>
                    </a:p>
                  </a:txBody>
                  <a:tcPr>
                    <a:solidFill>
                      <a:srgbClr val="F6F8FC"/>
                    </a:solidFill>
                  </a:tcPr>
                </a:tc>
                <a:tc>
                  <a:txBody>
                    <a:bodyPr/>
                    <a:lstStyle/>
                    <a:p>
                      <a:r>
                        <a:rPr sz="1100" b="0" i="0">
                          <a:solidFill>
                            <a:srgbClr val="1B2330"/>
                          </a:solidFill>
                          <a:latin typeface="Montserrat"/>
                        </a:rPr>
                        <a:t>UNE 53539 o UNE-EN 16436 clase 1</a:t>
                      </a:r>
                    </a:p>
                  </a:txBody>
                  <a:tcPr>
                    <a:solidFill>
                      <a:srgbClr val="F6F8FC"/>
                    </a:solidFill>
                  </a:tcPr>
                </a:tc>
                <a:tc>
                  <a:txBody>
                    <a:bodyPr/>
                    <a:lstStyle/>
                    <a:p>
                      <a:r>
                        <a:rPr sz="1100" b="0" i="0">
                          <a:solidFill>
                            <a:srgbClr val="1B2330"/>
                          </a:solidFill>
                          <a:latin typeface="Montserrat"/>
                        </a:rPr>
                        <a:t>NO</a:t>
                      </a:r>
                    </a:p>
                  </a:txBody>
                  <a:tcPr>
                    <a:solidFill>
                      <a:srgbClr val="F6F8FC"/>
                    </a:solidFill>
                  </a:tcPr>
                </a:tc>
                <a:tc>
                  <a:txBody>
                    <a:bodyPr/>
                    <a:lstStyle/>
                    <a:p>
                      <a:r>
                        <a:rPr sz="1100" b="0" i="0">
                          <a:solidFill>
                            <a:srgbClr val="1B2330"/>
                          </a:solidFill>
                          <a:latin typeface="Montserrat"/>
                        </a:rPr>
                        <a:t>NO</a:t>
                      </a:r>
                    </a:p>
                  </a:txBody>
                  <a:tcPr>
                    <a:solidFill>
                      <a:srgbClr val="F6F8FC"/>
                    </a:solidFill>
                  </a:tcPr>
                </a:tc>
                <a:tc>
                  <a:txBody>
                    <a:bodyPr/>
                    <a:lstStyle/>
                    <a:p>
                      <a:r>
                        <a:rPr sz="1100" b="0" i="0">
                          <a:solidFill>
                            <a:srgbClr val="1B2330"/>
                          </a:solidFill>
                          <a:latin typeface="Montserrat"/>
                        </a:rPr>
                        <a:t>SÍ (2)</a:t>
                      </a:r>
                    </a:p>
                  </a:txBody>
                  <a:tcPr>
                    <a:solidFill>
                      <a:srgbClr val="F6F8FC"/>
                    </a:solidFill>
                  </a:tcPr>
                </a:tc>
                <a:tc>
                  <a:txBody>
                    <a:bodyPr/>
                    <a:lstStyle/>
                    <a:p>
                      <a:r>
                        <a:rPr sz="1100" b="0" i="0">
                          <a:solidFill>
                            <a:srgbClr val="1B2330"/>
                          </a:solidFill>
                          <a:latin typeface="Montserrat"/>
                        </a:rPr>
                        <a:t>SÍ (2)</a:t>
                      </a:r>
                    </a:p>
                  </a:txBody>
                  <a:tcPr>
                    <a:solidFill>
                      <a:srgbClr val="F6F8FC"/>
                    </a:solidFill>
                  </a:tcPr>
                </a:tc>
              </a:tr>
              <a:tr h="447040">
                <a:tc>
                  <a:txBody>
                    <a:bodyPr/>
                    <a:lstStyle/>
                    <a:p>
                      <a:r>
                        <a:rPr sz="1100" b="0" i="0">
                          <a:solidFill>
                            <a:srgbClr val="1B2330"/>
                          </a:solidFill>
                          <a:latin typeface="Montserrat"/>
                        </a:rPr>
                        <a:t>Metálica corrugada sin enchufe</a:t>
                      </a:r>
                    </a:p>
                  </a:txBody>
                  <a:tcPr>
                    <a:solidFill>
                      <a:srgbClr val="FFFFFF"/>
                    </a:solidFill>
                  </a:tcPr>
                </a:tc>
                <a:tc>
                  <a:txBody>
                    <a:bodyPr/>
                    <a:lstStyle/>
                    <a:p>
                      <a:r>
                        <a:rPr sz="1100" b="0" i="0">
                          <a:solidFill>
                            <a:srgbClr val="1B2330"/>
                          </a:solidFill>
                          <a:latin typeface="Montserrat"/>
                        </a:rPr>
                        <a:t>UNE-EN 14800</a:t>
                      </a:r>
                    </a:p>
                  </a:txBody>
                  <a:tcPr>
                    <a:solidFill>
                      <a:srgbClr val="FFFFFF"/>
                    </a:solidFill>
                  </a:tcPr>
                </a:tc>
                <a:tc>
                  <a:txBody>
                    <a:bodyPr/>
                    <a:lstStyle/>
                    <a:p>
                      <a:r>
                        <a:rPr sz="1100" b="0" i="0">
                          <a:solidFill>
                            <a:srgbClr val="1B2330"/>
                          </a:solidFill>
                          <a:latin typeface="Montserrat"/>
                        </a:rPr>
                        <a:t>SÍ</a:t>
                      </a:r>
                    </a:p>
                  </a:txBody>
                  <a:tcPr>
                    <a:solidFill>
                      <a:srgbClr val="FFFFFF"/>
                    </a:solidFill>
                  </a:tcPr>
                </a:tc>
                <a:tc>
                  <a:txBody>
                    <a:bodyPr/>
                    <a:lstStyle/>
                    <a:p>
                      <a:r>
                        <a:rPr sz="1100" b="0" i="0">
                          <a:solidFill>
                            <a:srgbClr val="1B2330"/>
                          </a:solidFill>
                          <a:latin typeface="Montserrat"/>
                        </a:rPr>
                        <a:t>NO</a:t>
                      </a:r>
                    </a:p>
                  </a:txBody>
                  <a:tcPr>
                    <a:solidFill>
                      <a:srgbClr val="FFFFFF"/>
                    </a:solidFill>
                  </a:tcPr>
                </a:tc>
                <a:tc>
                  <a:txBody>
                    <a:bodyPr/>
                    <a:lstStyle/>
                    <a:p>
                      <a:r>
                        <a:rPr sz="1100" b="0" i="0">
                          <a:solidFill>
                            <a:srgbClr val="1B2330"/>
                          </a:solidFill>
                          <a:latin typeface="Montserrat"/>
                        </a:rPr>
                        <a:t>SÍ (3)</a:t>
                      </a:r>
                    </a:p>
                  </a:txBody>
                  <a:tcPr>
                    <a:solidFill>
                      <a:srgbClr val="FFFFFF"/>
                    </a:solidFill>
                  </a:tcPr>
                </a:tc>
                <a:tc>
                  <a:txBody>
                    <a:bodyPr/>
                    <a:lstStyle/>
                    <a:p>
                      <a:r>
                        <a:rPr sz="1100" b="0" i="0">
                          <a:solidFill>
                            <a:srgbClr val="1B2330"/>
                          </a:solidFill>
                          <a:latin typeface="Montserrat"/>
                        </a:rPr>
                        <a:t>NO</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D es uso doméstico y ND no doméstico. (1) solo con GLP; (2) si es UNE-EN 16436 clase 1, solo envases de GLP; (3) solo desde envases de GLP con accesorios UNE 60719.</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¿Para qué aparato no se admite nunca la conexión rígida?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Un aparato fijo doméstico</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Un aparato fijo no doméstico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Un aparato móvil</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Una caldera mural fija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¿Para qué aparato no se admite nunca la conexión rígida?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Un aparato móvil</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rígida es exclusiva de aparatos fijos, dé igual doméstico o no; para cualquier aparato móvil se usa flexible.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CONCEPTO CLAVE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enchufe de seguridad</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Conexión rápida que corta el gas sola</a:t>
            </a:r>
          </a:p>
          <a:p>
            <a:pPr>
              <a:spcAft>
                <a:spcPts val="1100"/>
              </a:spcAft>
            </a:pPr>
            <a:r>
              <a:rPr sz="1600" b="1" i="0">
                <a:solidFill>
                  <a:srgbClr val="E8801A"/>
                </a:solidFill>
                <a:latin typeface="Montserrat"/>
              </a:rPr>
              <a:t>▸  </a:t>
            </a:r>
            <a:r>
              <a:rPr sz="1600" b="0" i="0">
                <a:solidFill>
                  <a:srgbClr val="1B2330"/>
                </a:solidFill>
                <a:latin typeface="Montserrat"/>
              </a:rPr>
              <a:t>Al desenchufar, no hay fuga</a:t>
            </a:r>
          </a:p>
          <a:p>
            <a:pPr>
              <a:spcAft>
                <a:spcPts val="1100"/>
              </a:spcAft>
            </a:pPr>
            <a:r>
              <a:rPr sz="1600" b="1" i="0">
                <a:solidFill>
                  <a:srgbClr val="E8801A"/>
                </a:solidFill>
                <a:latin typeface="Montserrat"/>
              </a:rPr>
              <a:t>▸  </a:t>
            </a:r>
            <a:r>
              <a:rPr sz="1600" b="0" i="0">
                <a:solidFill>
                  <a:srgbClr val="1B2330"/>
                </a:solidFill>
                <a:latin typeface="Montserrat"/>
              </a:rPr>
              <a:t>Por eso: solo uso doméstico</a:t>
            </a:r>
          </a:p>
        </p:txBody>
      </p:sp>
      <p:sp>
        <p:nvSpPr>
          <p:cNvPr id="9" name="imgph" descr="IMGQ:gas safety quick connector plug"/>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safety quick connector plug</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Las dos conexiones con enchufe de seguridad, ¿para qué uso se admiten?</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Solo uso doméstico</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Solo uso no doméstico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Doméstico y no doméstico</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Solo mecheros de laboratorio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Las dos conexiones con enchufe de seguridad, ¿para qué uso se admiten?</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Solo uso doméstico</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El enchufe de seguridad corta el gas al desenchufar y se reserva a uso doméstico; en no doméstico no se admite.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TABLA 2 · MECHEROS Y SOPLETES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Aquí, rígida nunca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Mecheros y sopletes se mueven</a:t>
            </a:r>
          </a:p>
          <a:p>
            <a:pPr>
              <a:spcAft>
                <a:spcPts val="1100"/>
              </a:spcAft>
            </a:pPr>
            <a:r>
              <a:rPr sz="1600" b="1" i="0">
                <a:solidFill>
                  <a:srgbClr val="E8801A"/>
                </a:solidFill>
                <a:latin typeface="Montserrat"/>
              </a:rPr>
              <a:t>▸  </a:t>
            </a:r>
            <a:r>
              <a:rPr sz="1600" b="0" i="0">
                <a:solidFill>
                  <a:srgbClr val="1B2330"/>
                </a:solidFill>
                <a:latin typeface="Montserrat"/>
              </a:rPr>
              <a:t>Conexión rígida: siempre NO</a:t>
            </a:r>
          </a:p>
          <a:p>
            <a:pPr>
              <a:spcAft>
                <a:spcPts val="1100"/>
              </a:spcAft>
            </a:pPr>
            <a:r>
              <a:rPr sz="1600" b="1" i="0">
                <a:solidFill>
                  <a:srgbClr val="E8801A"/>
                </a:solidFill>
                <a:latin typeface="Montserrat"/>
              </a:rPr>
              <a:t>▸  </a:t>
            </a:r>
            <a:r>
              <a:rPr sz="1600" b="0" i="0">
                <a:solidFill>
                  <a:srgbClr val="1B2330"/>
                </a:solidFill>
                <a:latin typeface="Montserrat"/>
              </a:rPr>
              <a:t>Van con flexibles adecuados</a:t>
            </a:r>
          </a:p>
        </p:txBody>
      </p:sp>
      <p:sp>
        <p:nvSpPr>
          <p:cNvPr id="9" name="imgph" descr="IMGQ:laboratory bunsen burner flam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laboratory bunsen burner flame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TABLA 2 · MECHEROS Y SOPLETES</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Conexión de mecheros y sopletes</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2772918"/>
                <a:gridCol w="2772918"/>
                <a:gridCol w="2772918"/>
                <a:gridCol w="2772918"/>
              </a:tblGrid>
              <a:tr h="447040">
                <a:tc>
                  <a:txBody>
                    <a:bodyPr/>
                    <a:lstStyle/>
                    <a:p>
                      <a:r>
                        <a:rPr sz="1200" b="1" i="0">
                          <a:solidFill>
                            <a:srgbClr val="FFFFFF"/>
                          </a:solidFill>
                          <a:latin typeface="Montserrat"/>
                        </a:rPr>
                        <a:t>Tipo de conexión</a:t>
                      </a:r>
                    </a:p>
                  </a:txBody>
                  <a:tcPr>
                    <a:solidFill>
                      <a:srgbClr val="1E2761"/>
                    </a:solidFill>
                  </a:tcPr>
                </a:tc>
                <a:tc>
                  <a:txBody>
                    <a:bodyPr/>
                    <a:lstStyle/>
                    <a:p>
                      <a:r>
                        <a:rPr sz="1200" b="1" i="0">
                          <a:solidFill>
                            <a:srgbClr val="FFFFFF"/>
                          </a:solidFill>
                          <a:latin typeface="Montserrat"/>
                        </a:rPr>
                        <a:t>Norma</a:t>
                      </a:r>
                    </a:p>
                  </a:txBody>
                  <a:tcPr>
                    <a:solidFill>
                      <a:srgbClr val="1E2761"/>
                    </a:solidFill>
                  </a:tcPr>
                </a:tc>
                <a:tc>
                  <a:txBody>
                    <a:bodyPr/>
                    <a:lstStyle/>
                    <a:p>
                      <a:r>
                        <a:rPr sz="1200" b="1" i="0">
                          <a:solidFill>
                            <a:srgbClr val="FFFFFF"/>
                          </a:solidFill>
                          <a:latin typeface="Montserrat"/>
                        </a:rPr>
                        <a:t>Mecheros</a:t>
                      </a:r>
                    </a:p>
                  </a:txBody>
                  <a:tcPr>
                    <a:solidFill>
                      <a:srgbClr val="1E2761"/>
                    </a:solidFill>
                  </a:tcPr>
                </a:tc>
                <a:tc>
                  <a:txBody>
                    <a:bodyPr/>
                    <a:lstStyle/>
                    <a:p>
                      <a:r>
                        <a:rPr sz="1200" b="1" i="0">
                          <a:solidFill>
                            <a:srgbClr val="FFFFFF"/>
                          </a:solidFill>
                          <a:latin typeface="Montserrat"/>
                        </a:rPr>
                        <a:t>Sopletes</a:t>
                      </a:r>
                    </a:p>
                  </a:txBody>
                  <a:tcPr>
                    <a:solidFill>
                      <a:srgbClr val="1E2761"/>
                    </a:solidFill>
                  </a:tcPr>
                </a:tc>
              </a:tr>
              <a:tr h="447040">
                <a:tc>
                  <a:txBody>
                    <a:bodyPr/>
                    <a:lstStyle/>
                    <a:p>
                      <a:r>
                        <a:rPr sz="1200" b="0" i="0">
                          <a:solidFill>
                            <a:srgbClr val="1B2330"/>
                          </a:solidFill>
                          <a:latin typeface="Montserrat"/>
                        </a:rPr>
                        <a:t>Rígida</a:t>
                      </a:r>
                    </a:p>
                  </a:txBody>
                  <a:tcPr>
                    <a:solidFill>
                      <a:srgbClr val="F6F8FC"/>
                    </a:solidFill>
                  </a:tcPr>
                </a:tc>
                <a:tc>
                  <a:txBody>
                    <a:bodyPr/>
                    <a:lstStyle/>
                    <a:p>
                      <a:r>
                        <a:rPr sz="1200" b="0" i="0">
                          <a:solidFill>
                            <a:srgbClr val="1B2330"/>
                          </a:solidFill>
                          <a:latin typeface="Montserrat"/>
                        </a:rPr>
                        <a:t>UNE 60670-3</a:t>
                      </a:r>
                    </a:p>
                  </a:txBody>
                  <a:tcPr>
                    <a:solidFill>
                      <a:srgbClr val="F6F8FC"/>
                    </a:solidFill>
                  </a:tcPr>
                </a:tc>
                <a:tc>
                  <a:txBody>
                    <a:bodyPr/>
                    <a:lstStyle/>
                    <a:p>
                      <a:r>
                        <a:rPr sz="1200" b="0" i="0">
                          <a:solidFill>
                            <a:srgbClr val="1B2330"/>
                          </a:solidFill>
                          <a:latin typeface="Montserrat"/>
                        </a:rPr>
                        <a:t>NO</a:t>
                      </a:r>
                    </a:p>
                  </a:txBody>
                  <a:tcPr>
                    <a:solidFill>
                      <a:srgbClr val="F6F8FC"/>
                    </a:solidFill>
                  </a:tcPr>
                </a:tc>
                <a:tc>
                  <a:txBody>
                    <a:bodyPr/>
                    <a:lstStyle/>
                    <a:p>
                      <a:r>
                        <a:rPr sz="1200" b="0" i="0">
                          <a:solidFill>
                            <a:srgbClr val="1B2330"/>
                          </a:solidFill>
                          <a:latin typeface="Montserrat"/>
                        </a:rPr>
                        <a:t>NO</a:t>
                      </a:r>
                    </a:p>
                  </a:txBody>
                  <a:tcPr>
                    <a:solidFill>
                      <a:srgbClr val="F6F8FC"/>
                    </a:solidFill>
                  </a:tcPr>
                </a:tc>
              </a:tr>
              <a:tr h="447040">
                <a:tc>
                  <a:txBody>
                    <a:bodyPr/>
                    <a:lstStyle/>
                    <a:p>
                      <a:r>
                        <a:rPr sz="1200" b="0" i="0">
                          <a:solidFill>
                            <a:srgbClr val="1B2330"/>
                          </a:solidFill>
                          <a:latin typeface="Montserrat"/>
                        </a:rPr>
                        <a:t>Acero inox corrugado (doméstico)</a:t>
                      </a:r>
                    </a:p>
                  </a:txBody>
                  <a:tcPr>
                    <a:solidFill>
                      <a:srgbClr val="FFFFFF"/>
                    </a:solidFill>
                  </a:tcPr>
                </a:tc>
                <a:tc>
                  <a:txBody>
                    <a:bodyPr/>
                    <a:lstStyle/>
                    <a:p>
                      <a:r>
                        <a:rPr sz="1200" b="0" i="0">
                          <a:solidFill>
                            <a:srgbClr val="1B2330"/>
                          </a:solidFill>
                          <a:latin typeface="Montserrat"/>
                        </a:rPr>
                        <a:t>UNE 60713</a:t>
                      </a:r>
                    </a:p>
                  </a:txBody>
                  <a:tcPr>
                    <a:solidFill>
                      <a:srgbClr val="FFFFFF"/>
                    </a:solidFill>
                  </a:tcPr>
                </a:tc>
                <a:tc>
                  <a:txBody>
                    <a:bodyPr/>
                    <a:lstStyle/>
                    <a:p>
                      <a:r>
                        <a:rPr sz="1200" b="0" i="0">
                          <a:solidFill>
                            <a:srgbClr val="1B2330"/>
                          </a:solidFill>
                          <a:latin typeface="Montserrat"/>
                        </a:rPr>
                        <a:t>NO</a:t>
                      </a:r>
                    </a:p>
                  </a:txBody>
                  <a:tcPr>
                    <a:solidFill>
                      <a:srgbClr val="FFFFFF"/>
                    </a:solidFill>
                  </a:tcPr>
                </a:tc>
                <a:tc>
                  <a:txBody>
                    <a:bodyPr/>
                    <a:lstStyle/>
                    <a:p>
                      <a:r>
                        <a:rPr sz="1200" b="0" i="0">
                          <a:solidFill>
                            <a:srgbClr val="1B2330"/>
                          </a:solidFill>
                          <a:latin typeface="Montserrat"/>
                        </a:rPr>
                        <a:t>NO</a:t>
                      </a:r>
                    </a:p>
                  </a:txBody>
                  <a:tcPr>
                    <a:solidFill>
                      <a:srgbClr val="FFFFFF"/>
                    </a:solidFill>
                  </a:tcPr>
                </a:tc>
              </a:tr>
              <a:tr h="447040">
                <a:tc>
                  <a:txBody>
                    <a:bodyPr/>
                    <a:lstStyle/>
                    <a:p>
                      <a:r>
                        <a:rPr sz="1200" b="0" i="0">
                          <a:solidFill>
                            <a:srgbClr val="1B2330"/>
                          </a:solidFill>
                          <a:latin typeface="Montserrat"/>
                        </a:rPr>
                        <a:t>Acero inox corrugado (no doméstico)</a:t>
                      </a:r>
                    </a:p>
                  </a:txBody>
                  <a:tcPr>
                    <a:solidFill>
                      <a:srgbClr val="F6F8FC"/>
                    </a:solidFill>
                  </a:tcPr>
                </a:tc>
                <a:tc>
                  <a:txBody>
                    <a:bodyPr/>
                    <a:lstStyle/>
                    <a:p>
                      <a:r>
                        <a:rPr sz="1200" b="0" i="0">
                          <a:solidFill>
                            <a:srgbClr val="1B2330"/>
                          </a:solidFill>
                          <a:latin typeface="Montserrat"/>
                        </a:rPr>
                        <a:t>UNE-EN ISO 10380</a:t>
                      </a:r>
                    </a:p>
                  </a:txBody>
                  <a:tcPr>
                    <a:solidFill>
                      <a:srgbClr val="F6F8FC"/>
                    </a:solidFill>
                  </a:tcPr>
                </a:tc>
                <a:tc>
                  <a:txBody>
                    <a:bodyPr/>
                    <a:lstStyle/>
                    <a:p>
                      <a:r>
                        <a:rPr sz="1200" b="0" i="0">
                          <a:solidFill>
                            <a:srgbClr val="1B2330"/>
                          </a:solidFill>
                          <a:latin typeface="Montserrat"/>
                        </a:rPr>
                        <a:t>NO</a:t>
                      </a:r>
                    </a:p>
                  </a:txBody>
                  <a:tcPr>
                    <a:solidFill>
                      <a:srgbClr val="F6F8FC"/>
                    </a:solidFill>
                  </a:tcPr>
                </a:tc>
                <a:tc>
                  <a:txBody>
                    <a:bodyPr/>
                    <a:lstStyle/>
                    <a:p>
                      <a:r>
                        <a:rPr sz="1200" b="0" i="0">
                          <a:solidFill>
                            <a:srgbClr val="1B2330"/>
                          </a:solidFill>
                          <a:latin typeface="Montserrat"/>
                        </a:rPr>
                        <a:t>NO</a:t>
                      </a:r>
                    </a:p>
                  </a:txBody>
                  <a:tcPr>
                    <a:solidFill>
                      <a:srgbClr val="F6F8FC"/>
                    </a:solidFill>
                  </a:tcPr>
                </a:tc>
              </a:tr>
              <a:tr h="447040">
                <a:tc>
                  <a:txBody>
                    <a:bodyPr/>
                    <a:lstStyle/>
                    <a:p>
                      <a:r>
                        <a:rPr sz="1200" b="0" i="0">
                          <a:solidFill>
                            <a:srgbClr val="1B2330"/>
                          </a:solidFill>
                          <a:latin typeface="Montserrat"/>
                        </a:rPr>
                        <a:t>Espirometálica con enchufe de seguridad</a:t>
                      </a:r>
                    </a:p>
                  </a:txBody>
                  <a:tcPr>
                    <a:solidFill>
                      <a:srgbClr val="FFFFFF"/>
                    </a:solidFill>
                  </a:tcPr>
                </a:tc>
                <a:tc>
                  <a:txBody>
                    <a:bodyPr/>
                    <a:lstStyle/>
                    <a:p>
                      <a:r>
                        <a:rPr sz="1200" b="0" i="0">
                          <a:solidFill>
                            <a:srgbClr val="1B2330"/>
                          </a:solidFill>
                          <a:latin typeface="Montserrat"/>
                        </a:rPr>
                        <a:t>UNE 60715-1 + UNE-EN 15069</a:t>
                      </a:r>
                    </a:p>
                  </a:txBody>
                  <a:tcPr>
                    <a:solidFill>
                      <a:srgbClr val="FFFFFF"/>
                    </a:solidFill>
                  </a:tcPr>
                </a:tc>
                <a:tc>
                  <a:txBody>
                    <a:bodyPr/>
                    <a:lstStyle/>
                    <a:p>
                      <a:r>
                        <a:rPr sz="1200" b="0" i="0">
                          <a:solidFill>
                            <a:srgbClr val="1B2330"/>
                          </a:solidFill>
                          <a:latin typeface="Montserrat"/>
                        </a:rPr>
                        <a:t>SÍ</a:t>
                      </a:r>
                    </a:p>
                  </a:txBody>
                  <a:tcPr>
                    <a:solidFill>
                      <a:srgbClr val="FFFFFF"/>
                    </a:solidFill>
                  </a:tcPr>
                </a:tc>
                <a:tc>
                  <a:txBody>
                    <a:bodyPr/>
                    <a:lstStyle/>
                    <a:p>
                      <a:r>
                        <a:rPr sz="1200" b="0" i="0">
                          <a:solidFill>
                            <a:srgbClr val="1B2330"/>
                          </a:solidFill>
                          <a:latin typeface="Montserrat"/>
                        </a:rPr>
                        <a:t>SÍ</a:t>
                      </a:r>
                    </a:p>
                  </a:txBody>
                  <a:tcPr>
                    <a:solidFill>
                      <a:srgbClr val="FFFFFF"/>
                    </a:solidFill>
                  </a:tcPr>
                </a:tc>
              </a:tr>
              <a:tr h="447040">
                <a:tc>
                  <a:txBody>
                    <a:bodyPr/>
                    <a:lstStyle/>
                    <a:p>
                      <a:r>
                        <a:rPr sz="1200" b="0" i="0">
                          <a:solidFill>
                            <a:srgbClr val="1B2330"/>
                          </a:solidFill>
                          <a:latin typeface="Montserrat"/>
                        </a:rPr>
                        <a:t>Acero inox corrugado con enchufe de seguridad</a:t>
                      </a:r>
                    </a:p>
                  </a:txBody>
                  <a:tcPr>
                    <a:solidFill>
                      <a:srgbClr val="F6F8FC"/>
                    </a:solidFill>
                  </a:tcPr>
                </a:tc>
                <a:tc>
                  <a:txBody>
                    <a:bodyPr/>
                    <a:lstStyle/>
                    <a:p>
                      <a:r>
                        <a:rPr sz="1200" b="0" i="0">
                          <a:solidFill>
                            <a:srgbClr val="1B2330"/>
                          </a:solidFill>
                          <a:latin typeface="Montserrat"/>
                        </a:rPr>
                        <a:t>UNE-EN 14800 + UNE-EN 15069</a:t>
                      </a:r>
                    </a:p>
                  </a:txBody>
                  <a:tcPr>
                    <a:solidFill>
                      <a:srgbClr val="F6F8FC"/>
                    </a:solidFill>
                  </a:tcPr>
                </a:tc>
                <a:tc>
                  <a:txBody>
                    <a:bodyPr/>
                    <a:lstStyle/>
                    <a:p>
                      <a:r>
                        <a:rPr sz="1200" b="0" i="0">
                          <a:solidFill>
                            <a:srgbClr val="1B2330"/>
                          </a:solidFill>
                          <a:latin typeface="Montserrat"/>
                        </a:rPr>
                        <a:t>SÍ</a:t>
                      </a:r>
                    </a:p>
                  </a:txBody>
                  <a:tcPr>
                    <a:solidFill>
                      <a:srgbClr val="F6F8FC"/>
                    </a:solidFill>
                  </a:tcPr>
                </a:tc>
                <a:tc>
                  <a:txBody>
                    <a:bodyPr/>
                    <a:lstStyle/>
                    <a:p>
                      <a:r>
                        <a:rPr sz="1200" b="0" i="0">
                          <a:solidFill>
                            <a:srgbClr val="1B2330"/>
                          </a:solidFill>
                          <a:latin typeface="Montserrat"/>
                        </a:rPr>
                        <a:t>SÍ</a:t>
                      </a:r>
                    </a:p>
                  </a:txBody>
                  <a:tcPr>
                    <a:solidFill>
                      <a:srgbClr val="F6F8FC"/>
                    </a:solidFill>
                  </a:tcPr>
                </a:tc>
              </a:tr>
              <a:tr h="447040">
                <a:tc>
                  <a:txBody>
                    <a:bodyPr/>
                    <a:lstStyle/>
                    <a:p>
                      <a:r>
                        <a:rPr sz="1200" b="0" i="0">
                          <a:solidFill>
                            <a:srgbClr val="1B2330"/>
                          </a:solidFill>
                          <a:latin typeface="Montserrat"/>
                        </a:rPr>
                        <a:t>Elastómero con armadura</a:t>
                      </a:r>
                    </a:p>
                  </a:txBody>
                  <a:tcPr>
                    <a:solidFill>
                      <a:srgbClr val="FFFFFF"/>
                    </a:solidFill>
                  </a:tcPr>
                </a:tc>
                <a:tc>
                  <a:txBody>
                    <a:bodyPr/>
                    <a:lstStyle/>
                    <a:p>
                      <a:r>
                        <a:rPr sz="1200" b="0" i="0">
                          <a:solidFill>
                            <a:srgbClr val="1B2330"/>
                          </a:solidFill>
                          <a:latin typeface="Montserrat"/>
                        </a:rPr>
                        <a:t>UNE-EN ISO 3821</a:t>
                      </a:r>
                    </a:p>
                  </a:txBody>
                  <a:tcPr>
                    <a:solidFill>
                      <a:srgbClr val="FFFFFF"/>
                    </a:solidFill>
                  </a:tcPr>
                </a:tc>
                <a:tc>
                  <a:txBody>
                    <a:bodyPr/>
                    <a:lstStyle/>
                    <a:p>
                      <a:r>
                        <a:rPr sz="1200" b="0" i="0">
                          <a:solidFill>
                            <a:srgbClr val="1B2330"/>
                          </a:solidFill>
                          <a:latin typeface="Montserrat"/>
                        </a:rPr>
                        <a:t>NO</a:t>
                      </a:r>
                    </a:p>
                  </a:txBody>
                  <a:tcPr>
                    <a:solidFill>
                      <a:srgbClr val="FFFFFF"/>
                    </a:solidFill>
                  </a:tcPr>
                </a:tc>
                <a:tc>
                  <a:txBody>
                    <a:bodyPr/>
                    <a:lstStyle/>
                    <a:p>
                      <a:r>
                        <a:rPr sz="1200" b="0" i="0">
                          <a:solidFill>
                            <a:srgbClr val="1B2330"/>
                          </a:solidFill>
                          <a:latin typeface="Montserrat"/>
                        </a:rPr>
                        <a:t>SÍ</a:t>
                      </a:r>
                    </a:p>
                  </a:txBody>
                  <a:tcPr>
                    <a:solidFill>
                      <a:srgbClr val="FFFFFF"/>
                    </a:solidFill>
                  </a:tcPr>
                </a:tc>
              </a:tr>
              <a:tr h="447040">
                <a:tc>
                  <a:txBody>
                    <a:bodyPr/>
                    <a:lstStyle/>
                    <a:p>
                      <a:r>
                        <a:rPr sz="1200" b="0" i="0">
                          <a:solidFill>
                            <a:srgbClr val="1B2330"/>
                          </a:solidFill>
                          <a:latin typeface="Montserrat"/>
                        </a:rPr>
                        <a:t>Elastómero</a:t>
                      </a:r>
                    </a:p>
                  </a:txBody>
                  <a:tcPr>
                    <a:solidFill>
                      <a:srgbClr val="F6F8FC"/>
                    </a:solidFill>
                  </a:tcPr>
                </a:tc>
                <a:tc>
                  <a:txBody>
                    <a:bodyPr/>
                    <a:lstStyle/>
                    <a:p>
                      <a:r>
                        <a:rPr sz="1200" b="0" i="0">
                          <a:solidFill>
                            <a:srgbClr val="1B2330"/>
                          </a:solidFill>
                          <a:latin typeface="Montserrat"/>
                        </a:rPr>
                        <a:t>UNE 53539 o UNE-EN 16436 clase 1</a:t>
                      </a:r>
                    </a:p>
                  </a:txBody>
                  <a:tcPr>
                    <a:solidFill>
                      <a:srgbClr val="F6F8FC"/>
                    </a:solidFill>
                  </a:tcPr>
                </a:tc>
                <a:tc>
                  <a:txBody>
                    <a:bodyPr/>
                    <a:lstStyle/>
                    <a:p>
                      <a:r>
                        <a:rPr sz="1200" b="0" i="0">
                          <a:solidFill>
                            <a:srgbClr val="1B2330"/>
                          </a:solidFill>
                          <a:latin typeface="Montserrat"/>
                        </a:rPr>
                        <a:t>SÍ (*)</a:t>
                      </a:r>
                    </a:p>
                  </a:txBody>
                  <a:tcPr>
                    <a:solidFill>
                      <a:srgbClr val="F6F8FC"/>
                    </a:solidFill>
                  </a:tcPr>
                </a:tc>
                <a:tc>
                  <a:txBody>
                    <a:bodyPr/>
                    <a:lstStyle/>
                    <a:p>
                      <a:r>
                        <a:rPr sz="1200" b="0" i="0">
                          <a:solidFill>
                            <a:srgbClr val="1B2330"/>
                          </a:solidFill>
                          <a:latin typeface="Montserrat"/>
                        </a:rPr>
                        <a:t>SÍ (*)</a:t>
                      </a:r>
                    </a:p>
                  </a:txBody>
                  <a:tcPr>
                    <a:solidFill>
                      <a:srgbClr val="F6F8FC"/>
                    </a:solidFill>
                  </a:tcPr>
                </a:tc>
              </a:tr>
              <a:tr h="447040">
                <a:tc>
                  <a:txBody>
                    <a:bodyPr/>
                    <a:lstStyle/>
                    <a:p>
                      <a:r>
                        <a:rPr sz="1200" b="0" i="0">
                          <a:solidFill>
                            <a:srgbClr val="1B2330"/>
                          </a:solidFill>
                          <a:latin typeface="Montserrat"/>
                        </a:rPr>
                        <a:t>Metálica corrugada sin enchufe</a:t>
                      </a:r>
                    </a:p>
                  </a:txBody>
                  <a:tcPr>
                    <a:solidFill>
                      <a:srgbClr val="FFFFFF"/>
                    </a:solidFill>
                  </a:tcPr>
                </a:tc>
                <a:tc>
                  <a:txBody>
                    <a:bodyPr/>
                    <a:lstStyle/>
                    <a:p>
                      <a:r>
                        <a:rPr sz="1200" b="0" i="0">
                          <a:solidFill>
                            <a:srgbClr val="1B2330"/>
                          </a:solidFill>
                          <a:latin typeface="Montserrat"/>
                        </a:rPr>
                        <a:t>UNE-EN 14800</a:t>
                      </a:r>
                    </a:p>
                  </a:txBody>
                  <a:tcPr>
                    <a:solidFill>
                      <a:srgbClr val="FFFFFF"/>
                    </a:solidFill>
                  </a:tcPr>
                </a:tc>
                <a:tc>
                  <a:txBody>
                    <a:bodyPr/>
                    <a:lstStyle/>
                    <a:p>
                      <a:r>
                        <a:rPr sz="1200" b="0" i="0">
                          <a:solidFill>
                            <a:srgbClr val="1B2330"/>
                          </a:solidFill>
                          <a:latin typeface="Montserrat"/>
                        </a:rPr>
                        <a:t>SÍ</a:t>
                      </a:r>
                    </a:p>
                  </a:txBody>
                  <a:tcPr>
                    <a:solidFill>
                      <a:srgbClr val="FFFFFF"/>
                    </a:solidFill>
                  </a:tcPr>
                </a:tc>
                <a:tc>
                  <a:txBody>
                    <a:bodyPr/>
                    <a:lstStyle/>
                    <a:p>
                      <a:r>
                        <a:rPr sz="1200" b="0" i="0">
                          <a:solidFill>
                            <a:srgbClr val="1B2330"/>
                          </a:solidFill>
                          <a:latin typeface="Montserrat"/>
                        </a:rPr>
                        <a:t>NO</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Mecheros y sopletes se mueven: la conexión rígida siempre es no. (*) según UNE-EN 16436 clase 1, solo para suministro con GLP.</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EL PAPELEO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 que firmas queda escrito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Certificado de instalación (el boletín)</a:t>
            </a:r>
          </a:p>
          <a:p>
            <a:pPr>
              <a:spcAft>
                <a:spcPts val="1100"/>
              </a:spcAft>
            </a:pPr>
            <a:r>
              <a:rPr sz="1600" b="1" i="0">
                <a:solidFill>
                  <a:srgbClr val="E8801A"/>
                </a:solidFill>
                <a:latin typeface="Montserrat"/>
              </a:rPr>
              <a:t>▸  </a:t>
            </a:r>
            <a:r>
              <a:rPr sz="1600" b="0" i="0">
                <a:solidFill>
                  <a:srgbClr val="1B2330"/>
                </a:solidFill>
                <a:latin typeface="Montserrat"/>
              </a:rPr>
              <a:t>Tabla de aparatos, modelo IRG-3</a:t>
            </a:r>
          </a:p>
          <a:p>
            <a:pPr>
              <a:spcAft>
                <a:spcPts val="1100"/>
              </a:spcAft>
            </a:pPr>
            <a:r>
              <a:rPr sz="1600" b="1" i="0">
                <a:solidFill>
                  <a:srgbClr val="E8801A"/>
                </a:solidFill>
                <a:latin typeface="Montserrat"/>
              </a:rPr>
              <a:t>▸  </a:t>
            </a:r>
            <a:r>
              <a:rPr sz="1600" b="0" i="0">
                <a:solidFill>
                  <a:srgbClr val="1B2330"/>
                </a:solidFill>
                <a:latin typeface="Montserrat"/>
              </a:rPr>
              <a:t>Se entrega al usuario</a:t>
            </a:r>
          </a:p>
        </p:txBody>
      </p:sp>
      <p:sp>
        <p:nvSpPr>
          <p:cNvPr id="9" name="imgph" descr="IMGQ:technician filling gas installation certificat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filling gas installation certificate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colgar cualquier aparato</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Parte 7: el último metro, tras la llave de aparato</a:t>
            </a:r>
          </a:p>
          <a:p>
            <a:pPr>
              <a:spcAft>
                <a:spcPts val="1200"/>
              </a:spcAft>
            </a:pPr>
            <a:r>
              <a:rPr sz="2000" b="1" i="0">
                <a:solidFill>
                  <a:srgbClr val="F4A24C"/>
                </a:solidFill>
                <a:latin typeface="Montserrat"/>
              </a:rPr>
              <a:t>✓  </a:t>
            </a:r>
            <a:r>
              <a:rPr sz="1900" b="0" i="0">
                <a:solidFill>
                  <a:srgbClr val="FFFFFF"/>
                </a:solidFill>
                <a:latin typeface="Montserrat"/>
              </a:rPr>
              <a:t>40/10 cm al calor; el tipo C, 10 fijos</a:t>
            </a:r>
          </a:p>
          <a:p>
            <a:pPr>
              <a:spcAft>
                <a:spcPts val="1200"/>
              </a:spcAft>
            </a:pPr>
            <a:r>
              <a:rPr sz="2000" b="1" i="0">
                <a:solidFill>
                  <a:srgbClr val="F4A24C"/>
                </a:solidFill>
                <a:latin typeface="Montserrat"/>
              </a:rPr>
              <a:t>✓  </a:t>
            </a:r>
            <a:r>
              <a:rPr sz="1900" b="0" i="0">
                <a:solidFill>
                  <a:srgbClr val="FFFFFF"/>
                </a:solidFill>
                <a:latin typeface="Montserrat"/>
              </a:rPr>
              <a:t>Dos tablas: aparatos, y mecheros y sopletes</a:t>
            </a:r>
          </a:p>
          <a:p>
            <a:pPr>
              <a:spcAft>
                <a:spcPts val="1200"/>
              </a:spcAft>
            </a:pPr>
            <a:r>
              <a:rPr sz="2000" b="1" i="0">
                <a:solidFill>
                  <a:srgbClr val="F4A24C"/>
                </a:solidFill>
                <a:latin typeface="Montserrat"/>
              </a:rPr>
              <a:t>✓  </a:t>
            </a:r>
            <a:r>
              <a:rPr sz="1900" b="0" i="0">
                <a:solidFill>
                  <a:srgbClr val="FFFFFF"/>
                </a:solidFill>
                <a:latin typeface="Montserrat"/>
              </a:rPr>
              <a:t>Fijo → rígida; lo móvil y el GLP → flexible</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Con esto ya no improvisas delante de un aparato. En el vídeo 2 montamos cada conexión al detalle.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